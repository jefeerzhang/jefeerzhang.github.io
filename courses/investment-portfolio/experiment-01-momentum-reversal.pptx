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slides/slide13.xml" Type="http://schemas.openxmlformats.org/officeDocument/2006/relationships/slide"/><Relationship Id="rId22" Target="notesSlides/notesSlide1.xml" Type="http://schemas.openxmlformats.org/officeDocument/2006/relationships/notesSlide"/><Relationship Id="rId23" Target="notesSlides/notesSlide2.xml" Type="http://schemas.openxmlformats.org/officeDocument/2006/relationships/notesSlide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notesSlides/notesSlide5.xml" Type="http://schemas.openxmlformats.org/officeDocument/2006/relationships/notesSlide"/><Relationship Id="rId27" Target="notesSlides/notesSlide6.xml" Type="http://schemas.openxmlformats.org/officeDocument/2006/relationships/notesSlide"/><Relationship Id="rId28" Target="notesSlides/notesSlide7.xml" Type="http://schemas.openxmlformats.org/officeDocument/2006/relationships/notesSlide"/><Relationship Id="rId29" Target="notesSlides/notesSlide8.xml" Type="http://schemas.openxmlformats.org/officeDocument/2006/relationships/notesSlide"/><Relationship Id="rId3" Target="presProps.xml" Type="http://schemas.openxmlformats.org/officeDocument/2006/relationships/presProps"/><Relationship Id="rId30" Target="notesSlides/notesSlide9.xml" Type="http://schemas.openxmlformats.org/officeDocument/2006/relationships/notesSlide"/><Relationship Id="rId31" Target="notesSlides/notesSlide10.xml" Type="http://schemas.openxmlformats.org/officeDocument/2006/relationships/notesSlide"/><Relationship Id="rId32" Target="notesSlides/notesSlide11.xml" Type="http://schemas.openxmlformats.org/officeDocument/2006/relationships/notesSlide"/><Relationship Id="rId33" Target="notesSlides/notesSlide12.xml" Type="http://schemas.openxmlformats.org/officeDocument/2006/relationships/notesSlide"/><Relationship Id="rId34" Target="notesSlides/notesSlide13.xml" Type="http://schemas.openxmlformats.org/officeDocument/2006/relationships/notesSlide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同学们好，今天用十几分钟把这份实验手册讲清楚。整个实验分两项任务，各占一半成绩：任务一是按规则完成两个信号的基准回测，任务二是自己提一个问题并做数据比较。我们先看全貌，再逐个拆解关键口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整份导读分四块：先看你要做什么，再看数据和口径怎么定，然后是两个信号本身和回测流程，最后是交什么、怎么自查。建议大家把手册打开对着看。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整个实验由两块组成，各占一半分数。任务一是老师给好规则，你按规则把两个信号的回测跑出来，重点是口径正确、结果可复现。任务二是开放题，你要自己提问题、自己设计比较。注意顺序：必须先完成任务一，任务二的问题最好从任务一的结果里长出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股票池是老师给好的，481只，2026年10月8日冻结，整个实验期内不要自己增删。注意取数要从2018年12月开始，不是2019年12月——因为算MOM12-1需要回看11个月的价格。取数时用tushare的交易日历、日线、复权因子和历史简称四个接口，所有字段都要在manifest.csv里登记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是全实验最容易搞混的地方。记住三个日子：形成日是月末最后一天收盘后，用来算信号和分组；建仓日是下一个交易日，按收盘价买入；退出日是下个月月末选股后的第一个交易日，卖出旧的、同时买新的。我们算的一期收益，是建仓日收盘到退出日收盘，不是月末到月末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实验要检验两个方向相反的信号。REV1是一月反转：上个月跌得多的股票，下个月会不会反弹；MOM12-1是中期动量：跳过最近一个月，看过去11个月涨得多的股票能不能继续涨。注意Q1和Q5在两个信号里代表的人群是不一样的——REV1的Q5是上月输家，MOM的Q5是过去赢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每个形成日，把所有可分组的股票按信号值从低到高排队，切成五组。481只全部可用时，Q1是97只，其他四组各96只。组内等权，但注意权重是按形成日的分组只数算的——如果某只股票建仓日停牌买不进去，它那份钱就留现金，不补到别的股票上。我们最关心的数字是Q5减Q1的价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复权用收盘价乘复权因子比。缺失情况最容易出错，记住三条红线：不补造价格、不给缺价股票记零收益、未建仓的钱留现金。建仓日买不进去的股票，它那份钱就躺着，不能因为它缺席就把组收益率重新除以实际只数——分母还是形成日的分组只数。所有异常都要登记到missing.csv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怎么判断价差是不是真的存在？对逐期价差做带Newey-West修正的t检验，滞后3阶，因为月度收益序列有自相关。累计收益图要用复利连乘，不能简单把收益率加起来，更不能直接把Q5-Q1的价差复利当成多空净值。缺期就断线，不要补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任务一的交付物是一整套：1-2页报告，加上dates、groups、returns、summary、missing这几个CSV，一张累计收益图，以及能跑出全部结果的代码和README。重点是诚实——不显著或者方向反了也要写，不要只挑好看的数字。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任务二是开放题，但不是随便拍脑袋。先从任务一的结果里找一个让你困惑的点，写成问句；然后写150到200字的计划存下来，再开始算。比较时只改一个条件，其他都和任务一保持一致。上面给了六个启发方向，你也可以自己提。最后报告按问题、方法、结果、判断四部分写2-3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跑完代码先不要急着交，对着这六条自查：日期表是不是完整、Q1有没有取负、价差符号是不是一致、缺价股票有没有被错误地记成零收益。右边是提交链接和时限，建议一周内交，所有报告数字都要能从代码重跑出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最后一句话：先把任务一这把基准尺子量准，再谈任务二的开放研究。口径一致、缺价不补零、每个数字都能复现，这三件事比结果显著更重要。祝大家实验顺利。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https://send2me.cn/3xHoO1MW/T82uuxFqG-bdyA" TargetMode="External" Type="http://schemas.openxmlformats.org/officeDocument/2006/relationships/hyperlink"/><Relationship Id="rId3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F1E37">
                <a:alpha val="100000"/>
              </a:srgbClr>
            </a:gs>
            <a:gs pos="100000">
              <a:srgbClr val="1A2E4B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1143000"/>
            <a:ext cx="635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学生实验手册 · 实证金融</a:t>
            </a:r>
            <a:endParaRPr lang="en-US" sz="1100"/>
          </a:p>
        </p:txBody>
      </p:sp>
      <p:cxnSp>
        <p:nvCxnSpPr>
          <p:cNvPr name="Connector 3" id="3"/>
          <p:cNvCxnSpPr/>
          <p:nvPr/>
        </p:nvCxnSpPr>
        <p:spPr>
          <a:xfrm rot="-57290" flipH="false" flipV="false">
            <a:off x="1016053" y="17081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mpd="sng" cap="flat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4" id="4"/>
          <p:cNvSpPr txBox="true"/>
          <p:nvPr/>
        </p:nvSpPr>
        <p:spPr>
          <a:xfrm rot="0" flipH="false" flipV="false">
            <a:off x="1016000" y="2159000"/>
            <a:ext cx="10160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4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中证500成分股的</a:t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true" i="false" strike="noStrike" u="none" sz="4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动量与反转</a:t>
            </a:r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1016000" y="4191000"/>
            <a:ext cx="889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8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从两个信号出发，读懂月度选股回测的完整流程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4297" flipH="false" flipV="false">
            <a:off x="1016004" y="532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 txBox="true"/>
          <p:nvPr/>
        </p:nvSpPr>
        <p:spPr>
          <a:xfrm rot="0" flipH="false" flipV="false">
            <a:off x="1016000" y="5588000"/>
            <a:ext cx="1016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B4C3D7"/>
                </a:solidFill>
                <a:latin typeface="微软雅黑"/>
                <a:ea typeface="微软雅黑"/>
                <a:cs typeface="微软雅黑"/>
                <a:sym typeface="微软雅黑"/>
              </a:rPr>
              <a:t>股票池 481 只　·　形成期 80 个月（2019-12 至 2026-07）　·　两项任务各占 50%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5F6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762000"/>
            <a:ext cx="508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CONTENTS · 目录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206500"/>
            <a:ext cx="1016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本次导读讲四件事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215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540000"/>
            <a:ext cx="101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4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01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2286000" y="2603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实验概览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2286000" y="3048000"/>
            <a:ext cx="355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两项任务各占 50%，先做基准回测再做自主研究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6350000" y="2540000"/>
            <a:ext cx="101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4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02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7620000" y="2603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股票池、日期与复权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7620000" y="3048000"/>
            <a:ext cx="355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481 只固定名单、80 期时间线、统一复权口径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016000" y="4191000"/>
            <a:ext cx="101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4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03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2286000" y="425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两个信号与回测流程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2286000" y="4699000"/>
            <a:ext cx="355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REV1 一月反转、MOM12-1 中期动量、五组等权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6350000" y="4191000"/>
            <a:ext cx="101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4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04</a:t>
            </a:r>
            <a:endParaRPr lang="en-US" sz="1100"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7620000" y="4254500"/>
            <a:ext cx="355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交付物与自查清单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7620000" y="4699000"/>
            <a:ext cx="355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报告、CSV、图、代码；一条都不能少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1016000" y="62230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资料来源：实验任务手册 · 中证500动量与反转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01 · 实验概览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两件事，各占一半成绩；先做一，再做二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222500"/>
            <a:ext cx="1270000" cy="330200"/>
          </a:xfrm>
          <a:prstGeom prst="roundRect">
            <a:avLst>
              <a:gd name="adj" fmla="val 0"/>
            </a:avLst>
          </a:prstGeom>
          <a:solidFill>
            <a:srgbClr val="1A2E4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16000" y="2222500"/>
            <a:ext cx="127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任务一　50%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16000" y="2794000"/>
            <a:ext cx="4826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完成基准回测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16000" y="3365500"/>
            <a:ext cx="4826000" cy="215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  <a:defRPr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REV1 与 MOM12-1 两个信号</a:t>
            </a:r>
            <a:endParaRPr lang="en-US" sz="1100"/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五组等权、一期持有回测</a:t>
            </a:r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结果与代码输出一致</a:t>
            </a:r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报告正文 1–2 页</a:t>
            </a:r>
          </a:p>
        </p:txBody>
      </p:sp>
      <p:cxnSp>
        <p:nvCxnSpPr>
          <p:cNvPr name="Connector 9" id="9"/>
          <p:cNvCxnSpPr/>
          <p:nvPr/>
        </p:nvCxnSpPr>
        <p:spPr>
          <a:xfrm rot="5386249" flipH="false" flipV="false">
            <a:off x="4508500" y="3867163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6477000" y="2222500"/>
            <a:ext cx="1270000" cy="330200"/>
          </a:xfrm>
          <a:prstGeom prst="roundRect">
            <a:avLst>
              <a:gd name="adj" fmla="val 0"/>
            </a:avLst>
          </a:prstGeom>
          <a:solidFill>
            <a:srgbClr val="E8720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6477000" y="2222500"/>
            <a:ext cx="127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任务二　50%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6477000" y="2794000"/>
            <a:ext cx="4826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自己提出一个问题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6477000" y="3365500"/>
            <a:ext cx="4826000" cy="2159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  <a:defRPr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围绕动量与反转提一个具体问题</a:t>
            </a:r>
            <a:endParaRPr lang="en-US" sz="1100"/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设计并完成至少一次有针对性的数据比较</a:t>
            </a:r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先写计划再扩展计算</a:t>
            </a:r>
          </a:p>
          <a:p>
            <a:pPr algn="l" indent="-177800" marL="1778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4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报告正文 2–3 页</a:t>
            </a:r>
          </a:p>
        </p:txBody>
      </p:sp>
      <p:cxnSp>
        <p:nvCxnSpPr>
          <p:cNvPr name="Connector 14" id="14"/>
          <p:cNvCxnSpPr/>
          <p:nvPr/>
        </p:nvCxnSpPr>
        <p:spPr>
          <a:xfrm rot="-4297" flipH="false" flipV="false">
            <a:off x="1016004" y="5772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8720C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5" id="15"/>
          <p:cNvSpPr txBox="true"/>
          <p:nvPr/>
        </p:nvSpPr>
        <p:spPr>
          <a:xfrm rot="0" flipH="false" flipV="false">
            <a:off x="1016000" y="5943600"/>
            <a:ext cx="1016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顺序不能反：</a:t>
            </a:r>
            <a:r>
              <a:rPr lang="en-US" b="true" i="false" strike="noStrike" u="none" sz="13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先跑通任务一，再从它的结果或疑点出发提任务二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；两项共用数据与代码，建议一周内提交。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5F6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02 · 股票池与数据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股票池是冻结的：481 只，全程不变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286000"/>
            <a:ext cx="2794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481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16000" y="3175000"/>
            <a:ext cx="279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固定名单股票数</a:t>
            </a:r>
            <a:b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2019-12-31 中证500成分股筛出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4318000" y="2286000"/>
            <a:ext cx="2794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80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4318000" y="3175000"/>
            <a:ext cx="279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形成月期数</a:t>
            </a:r>
            <a:b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2019-12 至 2026-07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7620000" y="2286000"/>
            <a:ext cx="355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0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2018-12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7620000" y="3175000"/>
            <a:ext cx="355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取数起点，比实验期早一整年</a:t>
            </a:r>
            <a:b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为 MOM12-1 信号预留回看窗口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rot="-4297" flipH="false" flipV="false">
            <a:off x="1016004" y="418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2" id="12"/>
          <p:cNvSpPr txBox="true"/>
          <p:nvPr/>
        </p:nvSpPr>
        <p:spPr>
          <a:xfrm rot="0" flipH="false" flipV="false">
            <a:off x="1016000" y="44450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要取哪些数据（以 tushare 为例）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1016000" y="4889500"/>
            <a:ext cx="10160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  <a:defRPr/>
            </a:pPr>
            <a:r>
              <a:rPr lang="en-US" b="tru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trade_cal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：交易日历，定形成日 / 建仓日 / 退出日</a:t>
            </a:r>
            <a:endParaRPr lang="en-US" sz="1100"/>
          </a:p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tru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daily + adj_factor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：日线收盘价与复权因子，2018-12-01 至 2026-09-01</a:t>
            </a:r>
          </a:p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tru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namechange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：历史简称，用来判断形成日当天是否 ST / *ST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02 · 核心概念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三个日子，决定了一期收益从哪算到哪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-4774" flipH="false" flipV="false">
            <a:off x="1524004" y="3676650"/>
            <a:ext cx="914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1A2E4B">
                <a:alpha val="4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1968500" y="3530600"/>
            <a:ext cx="304800" cy="304800"/>
          </a:xfrm>
          <a:prstGeom prst="ellipse">
            <a:avLst/>
          </a:prstGeom>
          <a:solidFill>
            <a:srgbClr val="1A2E4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270000" y="2286000"/>
            <a:ext cx="228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形成日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16000" y="2730500"/>
            <a:ext cx="279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当月最后一个交易日</a:t>
            </a:r>
            <a:b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收盘后算信号、排序、分组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270000" y="4000500"/>
            <a:ext cx="228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例：2019-12-31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5181600" y="3530600"/>
            <a:ext cx="304800" cy="304800"/>
          </a:xfrm>
          <a:prstGeom prst="ellipse">
            <a:avLst/>
          </a:prstGeom>
          <a:solidFill>
            <a:srgbClr val="E8720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4318000" y="2286000"/>
            <a:ext cx="228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建仓日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4064000" y="2730500"/>
            <a:ext cx="279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形成日之后的第一个交易日</a:t>
            </a:r>
            <a:b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按收盘价买入，开始计收益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4318000" y="4000500"/>
            <a:ext cx="228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例：2020-01-02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382000" y="3530600"/>
            <a:ext cx="304800" cy="304800"/>
          </a:xfrm>
          <a:prstGeom prst="ellipse">
            <a:avLst/>
          </a:prstGeom>
          <a:solidFill>
            <a:srgbClr val="1A2E4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7493000" y="2286000"/>
            <a:ext cx="228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退出日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7239000" y="2730500"/>
            <a:ext cx="2794000" cy="698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下个月月末选股后的第一个交易日</a:t>
            </a:r>
            <a:b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</a:b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卖出旧组合，同时建仓新组合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7493000" y="4000500"/>
            <a:ext cx="228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例：2020-02-03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13641" flipH="false" flipV="false">
            <a:off x="5334013" y="4629150"/>
            <a:ext cx="320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8720C">
                <a:alpha val="7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 txBox="true"/>
          <p:nvPr/>
        </p:nvSpPr>
        <p:spPr>
          <a:xfrm rot="0" flipH="false" flipV="false">
            <a:off x="5334000" y="4724400"/>
            <a:ext cx="32004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一期持有收益（约一个自然月）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016000" y="5334000"/>
            <a:ext cx="10160000" cy="762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1270000" y="5486400"/>
            <a:ext cx="965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3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关键口径：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历史收益用于选股，建仓后的收益用于检验表现，两者严格分开；不计形成日收盘到建仓日收盘之间的涨跌。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5F6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03 · 两个信号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同一个股票池，两套相反的预测逻辑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222500"/>
            <a:ext cx="48260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1A2E4B">
                <a:alpha val="15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270000" y="2413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REV1 · 一月反转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270000" y="27940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上个月跌得多，下个月会反弹？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270000" y="3492500"/>
            <a:ext cx="4318000" cy="635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270000" y="3492500"/>
            <a:ext cx="431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R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E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V</m:t>
                  </m:r>
                  <m:sSub>
                    <m:e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1</m:t>
                      </m:r>
                    </m:e>
                    <m:sub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t</m:t>
                      </m:r>
                    </m:sub>
                  </m:sSub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=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-</m:t>
                  </m:r>
                  <m:d>
                    <m:dPr>
                      <m:sepChr m:val=","/>
                    </m:dPr>
                    <m:e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P</m:t>
                              </m:r>
                            </m:e>
                            <m:sub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t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P</m:t>
                              </m:r>
                            </m:e>
                            <m:sub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-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1400">
                                      <a:solidFill>
                                        <a:srgbClr val="1A2E4B"/>
                                      </a:solidFill>
                                      <a:latin typeface="微软雅黑"/>
                                      <a:ea typeface="微软雅黑"/>
                                      <a:cs typeface="微软雅黑"/>
                                      <a:sym typeface="微软雅黑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-</m:t>
                      </m:r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1</m:t>
                      </m:r>
                    </m:e>
                  </m:d>
                </m:oMath>
              </m:oMathPara>
            </a14:m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1270000" y="4318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形成月涨 8%，信号 = −8%；跌 6%，信号 = +6%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tru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Q1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：上月最强（赢家）　</a:t>
            </a:r>
            <a:r>
              <a:rPr lang="en-US" b="tru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Q5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：上月最弱（输家）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价差为正 = 输家跑赢赢家 → 短期反转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0" y="2222500"/>
            <a:ext cx="48260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1A2E4B">
                <a:alpha val="15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6604000" y="2413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MOM12-1 · 中期动量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6604000" y="27940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过去一年涨得多，下个月继续涨？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604000" y="3492500"/>
            <a:ext cx="4318000" cy="635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6604000" y="3492500"/>
            <a:ext cx="431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M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O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M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12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-</m:t>
                  </m:r>
                  <m:sSub>
                    <m:e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1</m:t>
                      </m:r>
                    </m:e>
                    <m:sub>
                      <m:r>
                        <m:rPr>
                          <m:sty m:val="p"/>
                        </m:rP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t</m:t>
                      </m:r>
                    </m:sub>
                  </m:sSub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=</m:t>
                  </m:r>
                  <m:f>
                    <m:fPr>
                      <m:type m:val="bar"/>
                    </m:fPr>
                    <m:num>
                      <m:sSub>
                        <m:e>
                          <m:r>
                            <m:rPr>
                              <m:sty m:val="p"/>
                            </m:rPr>
                            <a:rPr sz="1400">
                              <a:solidFill>
                                <a:srgbClr val="1A2E4B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P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-</m:t>
                              </m:r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num>
                    <m:den>
                      <m:sSub>
                        <m:e>
                          <m:r>
                            <m:rPr>
                              <m:sty m:val="p"/>
                            </m:rPr>
                            <a:rPr sz="1400">
                              <a:solidFill>
                                <a:srgbClr val="1A2E4B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P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-</m:t>
                              </m:r>
                              <m:r>
                                <m:rPr>
                                  <m:sty m:val="p"/>
                                </m:rP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12</m:t>
                              </m:r>
                            </m:sub>
                          </m:sSub>
                        </m:sub>
                      </m:sSub>
                    </m:den>
                  </m:f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-</m:t>
                  </m:r>
                  <m:r>
                    <m:rPr>
                      <m:sty m:val="p"/>
                    </m:rP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1</m:t>
                  </m:r>
                </m:oMath>
              </m:oMathPara>
            </a14:m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604000" y="4318000"/>
            <a:ext cx="4318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跳过最近 1 个月，算此前 11 个月累计收益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tru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Q1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：过去输家　</a:t>
            </a:r>
            <a:r>
              <a:rPr lang="en-US" b="tru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Q5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：过去赢家</a:t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价差为正 = 赢家继续跑赢 → 中期动量</a:t>
            </a:r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1016000" y="60325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P 为按复权因子调整后的复权价格；两个信号各自独立分组，股票数与完整收益期数可以不同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03 · 分组与收益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信号值从低到高，切成 Q1 到 Q5 五组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2225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同一形成日，按信号值排序（信号相同按股票代码升序）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2667000"/>
            <a:ext cx="1930400" cy="1016000"/>
          </a:xfrm>
          <a:prstGeom prst="roundRect">
            <a:avLst>
              <a:gd name="adj" fmla="val 0"/>
            </a:avLst>
          </a:prstGeom>
          <a:solidFill>
            <a:srgbClr val="1A2E4B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016000" y="27940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Q1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16000" y="32385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信号最低 · 97 只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3048000" y="2667000"/>
            <a:ext cx="1930400" cy="1016000"/>
          </a:xfrm>
          <a:prstGeom prst="roundRect">
            <a:avLst>
              <a:gd name="adj" fmla="val 0"/>
            </a:avLst>
          </a:prstGeom>
          <a:solidFill>
            <a:srgbClr val="1A2E4B">
              <a:alpha val="2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3048000" y="27940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Q2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048000" y="32385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96 只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067300" y="2667000"/>
            <a:ext cx="1930400" cy="1016000"/>
          </a:xfrm>
          <a:prstGeom prst="roundRect">
            <a:avLst>
              <a:gd name="adj" fmla="val 0"/>
            </a:avLst>
          </a:prstGeom>
          <a:solidFill>
            <a:srgbClr val="1A2E4B">
              <a:alpha val="6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5067300" y="27940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Q3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5067300" y="32385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FFFFFF">
                    <a:alpha val="90196"/>
                  </a:srgbClr>
                </a:solidFill>
                <a:latin typeface="微软雅黑"/>
                <a:ea typeface="微软雅黑"/>
                <a:cs typeface="微软雅黑"/>
                <a:sym typeface="微软雅黑"/>
              </a:rPr>
              <a:t>96 只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7086600" y="2667000"/>
            <a:ext cx="1930400" cy="1016000"/>
          </a:xfrm>
          <a:prstGeom prst="roundRect">
            <a:avLst>
              <a:gd name="adj" fmla="val 0"/>
            </a:avLst>
          </a:prstGeom>
          <a:solidFill>
            <a:srgbClr val="E8720C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7086600" y="27940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Q4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7086600" y="3238500"/>
            <a:ext cx="1930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FFFFFF">
                    <a:alpha val="90196"/>
                  </a:srgbClr>
                </a:solidFill>
                <a:latin typeface="微软雅黑"/>
                <a:ea typeface="微软雅黑"/>
                <a:cs typeface="微软雅黑"/>
                <a:sym typeface="微软雅黑"/>
              </a:rPr>
              <a:t>96 只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9105900" y="2667000"/>
            <a:ext cx="2070100" cy="1016000"/>
          </a:xfrm>
          <a:prstGeom prst="roundRect">
            <a:avLst>
              <a:gd name="adj" fmla="val 0"/>
            </a:avLst>
          </a:prstGeom>
          <a:solidFill>
            <a:srgbClr val="E8720C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 txBox="true"/>
          <p:nvPr/>
        </p:nvSpPr>
        <p:spPr>
          <a:xfrm rot="0" flipH="false" flipV="false">
            <a:off x="9105900" y="2794000"/>
            <a:ext cx="20701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Q5</a:t>
            </a:r>
            <a:endParaRPr lang="en-US" sz="1100"/>
          </a:p>
        </p:txBody>
      </p:sp>
      <p:sp>
        <p:nvSpPr>
          <p:cNvPr name="AutoShape 20" id="20"/>
          <p:cNvSpPr txBox="true"/>
          <p:nvPr/>
        </p:nvSpPr>
        <p:spPr>
          <a:xfrm rot="0" flipH="false" flipV="false">
            <a:off x="9105900" y="3238500"/>
            <a:ext cx="20701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FFFFFF">
                    <a:alpha val="94902"/>
                  </a:srgbClr>
                </a:solidFill>
                <a:latin typeface="微软雅黑"/>
                <a:ea typeface="微软雅黑"/>
                <a:cs typeface="微软雅黑"/>
                <a:sym typeface="微软雅黑"/>
              </a:rPr>
              <a:t>信号最高 · 96 只</a:t>
            </a:r>
            <a:endParaRPr lang="en-US" sz="1100"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1016000" y="39370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组号按 </a:t>
            </a:r>
            <a14:m xmlns:a14="http://schemas.microsoft.com/office/drawing/2010/main">
              <m:oMath xmlns:m="http://schemas.openxmlformats.org/officeDocument/2006/math" xmlns:mml="http://www.w3.org/1998/Math/MathML">
                <m:r>
                  <a:rPr sz="1200">
                    <a:solidFill>
                      <a:srgbClr val="5A6473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m:t>⌊5i/n⌋+1</m:t>
                </m:r>
              </m:oMath>
            </a14:m>
            <a:r>
              <a:rPr lang="en-US" b="false" i="false" strike="noStrike" u="none" sz="12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 计算，五组只数相差最多 1 只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4297" flipH="false" flipV="false">
            <a:off x="1016004" y="4502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 txBox="true"/>
          <p:nvPr/>
        </p:nvSpPr>
        <p:spPr>
          <a:xfrm rot="0" flipH="false" flipV="false">
            <a:off x="1016000" y="47625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3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等权口径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按形成日分组只数分配资金；建仓日缺价的股票，对应资金留作现金（收益 0），不重新分给其他股票。</a:t>
            </a:r>
          </a:p>
        </p:txBody>
      </p:sp>
      <p:sp>
        <p:nvSpPr>
          <p:cNvPr name="AutoShape 24" id="24"/>
          <p:cNvSpPr txBox="true"/>
          <p:nvPr/>
        </p:nvSpPr>
        <p:spPr>
          <a:xfrm rot="0" flipH="false" flipV="false">
            <a:off x="6350000" y="4762500"/>
            <a:ext cx="4826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true" i="false" strike="noStrike" u="none" sz="13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收益率差 spread</a:t>
            </a: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41666"/>
              </a:lnSpc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s</m:t>
                  </m:r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p</m:t>
                  </m:r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r</m:t>
                  </m:r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e</m:t>
                  </m:r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a</m:t>
                  </m:r>
                  <m:sSub>
                    <m:e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d</m:t>
                      </m:r>
                    </m:e>
                    <m:sub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t</m:t>
                      </m:r>
                    </m:sub>
                  </m:sSub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=</m:t>
                  </m:r>
                  <m:sSub>
                    <m:e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r</m:t>
                      </m:r>
                    </m:e>
                    <m:sub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Q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5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,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t</m:t>
                      </m:r>
                    </m:sub>
                  </m:sSub>
                  <m:r>
                    <m:rPr>
                      <m:sty m:val="p"/>
                    </m:rP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-</m:t>
                  </m:r>
                  <m:sSub>
                    <m:e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r</m:t>
                      </m:r>
                    </m:e>
                    <m:sub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Q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1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,</m:t>
                      </m:r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t</m:t>
                      </m:r>
                    </m:sub>
                  </m:sSub>
                </m:oMath>
              </m:oMathPara>
            </a14:m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REV1 价差为正 = 输家跑赢；MOM 价差为正 = 赢家跑赢。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02 · 复权与缺失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缺价不补零，不造价；每一种情况都有统一口径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159000"/>
            <a:ext cx="10160000" cy="1016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270000" y="2286000"/>
            <a:ext cx="254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5A6473"/>
                </a:solidFill>
                <a:latin typeface="微软雅黑"/>
                <a:ea typeface="微软雅黑"/>
                <a:cs typeface="微软雅黑"/>
                <a:sym typeface="微软雅黑"/>
              </a:rPr>
              <a:t>统一复权口径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270000" y="2565400"/>
            <a:ext cx="9652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14:m xmlns:a14="http://schemas.microsoft.com/office/drawing/2010/main">
              <m:oMath xmlns:m="http://schemas.openxmlformats.org/officeDocument/2006/math" xmlns:mml="http://www.w3.org/1998/Math/MathML">
                <m:r>
                  <a:rPr sz="1400">
                    <a:solidFill>
                      <a:srgbClr val="1A2E4B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m:t>R</m:t>
                </m:r>
                <m:d>
                  <m:dPr>
                    <m:sepChr m:val=","/>
                  </m:dPr>
                  <m:e>
                    <m: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a</m:t>
                    </m:r>
                  </m:e>
                  <m:e>
                    <m: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b</m:t>
                    </m:r>
                  </m:e>
                </m:d>
                <m:r>
                  <a:rPr sz="1400">
                    <a:solidFill>
                      <a:srgbClr val="1A2E4B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m:t>=</m:t>
                </m:r>
                <m:f>
                  <m:fPr>
                    <m:type m:val="bar"/>
                  </m:fPr>
                  <m:num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c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l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o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s</m:t>
                    </m:r>
                    <m:sSub>
                      <m:e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b</m:t>
                        </m:r>
                      </m:sub>
                    </m:sSub>
                  </m:num>
                  <m:den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c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l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o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s</m:t>
                    </m:r>
                    <m:sSub>
                      <m:e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a</m:t>
                        </m:r>
                      </m:sub>
                    </m:sSub>
                  </m:den>
                </m:f>
                <m:r>
                  <a:rPr sz="1400">
                    <a:solidFill>
                      <a:srgbClr val="1A2E4B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m:t>×</m:t>
                </m:r>
                <m:f>
                  <m:fPr>
                    <m:type m:val="bar"/>
                  </m:fPr>
                  <m:num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a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d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j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_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f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a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c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t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o</m:t>
                    </m:r>
                    <m:sSub>
                      <m:e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b</m:t>
                        </m:r>
                      </m:sub>
                    </m:sSub>
                  </m:num>
                  <m:den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a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d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j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_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f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a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c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t</m:t>
                    </m:r>
                    <m:r>
                      <m:rPr>
                        <m:sty m:val="p"/>
                      </m:rPr>
                      <a:rPr sz="1400">
                        <a:solidFill>
                          <a:srgbClr val="1A2E4B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rPr>
                      <m:t>o</m:t>
                    </m:r>
                    <m:sSub>
                      <m:e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sz="1400">
                            <a:solidFill>
                              <a:srgbClr val="1A2E4B"/>
                            </a:solidFill>
                            <a:latin typeface="微软雅黑"/>
                            <a:ea typeface="微软雅黑"/>
                            <a:cs typeface="微软雅黑"/>
                            <a:sym typeface="微软雅黑"/>
                          </a:rPr>
                          <m:t>a</m:t>
                        </m:r>
                      </m:sub>
                    </m:sSub>
                  </m:den>
                </m:f>
                <m:r>
                  <a:rPr sz="1400">
                    <a:solidFill>
                      <a:srgbClr val="1A2E4B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m:t>-1</m:t>
                </m:r>
              </m:oMath>
            </a14:m>
            <a:r>
              <a:rPr lang="en-US" b="fals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　　同一股票当日 close&gt;0 且 adj_factor&gt;0 才算可核验</a:t>
            </a:r>
            <a:endParaRPr lang="en-US" sz="1100"/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016000" y="3429000"/>
          <a:ext cx="10160000" cy="2540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3556000"/>
                <a:gridCol w="4064000"/>
                <a:gridCol w="2540000"/>
              </a:tblGrid>
              <a:tr h="4826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情形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统一处理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登记到 missing.csv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形成日停牌 / 价格不可核验 / 当天 ST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当期不参加两个信号分组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代码、期次、原因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历史不足 / 某信号端点缺价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不参加该信号；另一信号符合条件仍可参加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代码、信号、缺哪天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建仓日价格或因子不可核验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E8720C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保留分组，资金留现金（收益 0），不分给别人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代码、期次、现金比例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退出日价格或因子不可核验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沿用此前最近可核验估值，不删股、不重配权重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1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代码、期次、报价日期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9" id="9"/>
          <p:cNvSpPr txBox="true"/>
          <p:nvPr/>
        </p:nvSpPr>
        <p:spPr>
          <a:xfrm rot="0" flipH="false" flipV="false">
            <a:off x="1016000" y="60706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三条红线：不补造上市前价格 · 不给退出缺价股票记零收益 · 未建仓资金按零收益现金计入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5F6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03 · 统计与绘图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价差是否显著：用 Newey–West 标准误，滞后 3 阶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222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对逐期价差做常数项回归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16000" y="2730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1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524000" y="2730500"/>
            <a:ext cx="431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把 80 期里能算出完整收益的 spread 排成序列，因变量只有一列常数 1。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1016000" y="3619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2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524000" y="3619500"/>
            <a:ext cx="431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用 HAC 协方差，maxlags=3；常数项估计值就是价差均值。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1016000" y="4508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3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524000" y="4508500"/>
            <a:ext cx="4318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r>
                    <a:rPr sz="1300">
                      <a:solidFill>
                        <a:srgbClr val="3C4655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t=</m:t>
                  </m:r>
                  <m:f>
                    <m:fPr>
                      <m:type m:val="bar"/>
                    </m:fPr>
                    <m:num>
                      <m:acc>
                        <m:accPr>
                          <m:chr m:val="̅"/>
                        </m:accPr>
                        <m:e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r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d</m:t>
                          </m:r>
                        </m:e>
                      </m:acc>
                    </m:num>
                    <m:den>
                      <m:r>
                        <m:rPr>
                          <m:sty m:val="p"/>
                        </m:rPr>
                        <a:rPr sz="1300">
                          <a:solidFill>
                            <a:srgbClr val="3C4655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S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sz="1300">
                              <a:solidFill>
                                <a:srgbClr val="3C4655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W</m:t>
                          </m:r>
                        </m:sub>
                      </m:sSub>
                    </m:den>
                  </m:f>
                </m:oMath>
              </m:oMathPara>
            </a14:m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95% CI = 均值 ± 1.96 × SE；SE 是均值的标准误，不是逐期价差的标准差。</a:t>
            </a:r>
          </a:p>
        </p:txBody>
      </p:sp>
      <p:cxnSp>
        <p:nvCxnSpPr>
          <p:cNvPr name="Connector 12" id="12"/>
          <p:cNvCxnSpPr/>
          <p:nvPr/>
        </p:nvCxnSpPr>
        <p:spPr>
          <a:xfrm rot="5386777" flipH="false" flipV="false">
            <a:off x="4191000" y="3930662"/>
            <a:ext cx="330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3" id="13"/>
          <p:cNvSpPr txBox="true"/>
          <p:nvPr/>
        </p:nvSpPr>
        <p:spPr>
          <a:xfrm rot="0" flipH="false" flipV="false">
            <a:off x="6223000" y="2222500"/>
            <a:ext cx="482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画 Q1、Q5 累计收益曲线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223000" y="2730500"/>
            <a:ext cx="4826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6223000" y="2730500"/>
            <a:ext cx="482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C</m:t>
                      </m:r>
                    </m:e>
                    <m:sub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g,n</m:t>
                      </m:r>
                    </m:sub>
                  </m:sSub>
                  <m: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=</m:t>
                  </m:r>
                  <m:nary>
                    <m:naryPr>
                      <m:chr m:val="∏"/>
                      <m:limLoc m:val="undOvr"/>
                      <m:grow m:val="1"/>
                      <m:subHide m:val="off"/>
                      <m:supHide m:val="off"/>
                    </m:naryPr>
                    <m:sub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j=1</m:t>
                      </m:r>
                    </m:sub>
                    <m:sup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n</m:t>
                      </m:r>
                    </m:sup>
                    <m:e>
                      <m:d>
                        <m:dPr>
                          <m:sepChr m:val=","/>
                        </m:dPr>
                        <m:e>
                          <m:r>
                            <a:rPr sz="1400">
                              <a:solidFill>
                                <a:srgbClr val="1A2E4B"/>
                              </a:solidFill>
                              <a:latin typeface="微软雅黑"/>
                              <a:ea typeface="微软雅黑"/>
                              <a:cs typeface="微软雅黑"/>
                              <a:sym typeface="微软雅黑"/>
                            </a:rPr>
                            <m:t>1+</m:t>
                          </m:r>
                          <m:sSub>
                            <m:e>
                              <m: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r</m:t>
                              </m:r>
                            </m:e>
                            <m:sub>
                              <m:r>
                                <a:rPr sz="1400">
                                  <a:solidFill>
                                    <a:srgbClr val="1A2E4B"/>
                                  </a:solidFill>
                                  <a:latin typeface="微软雅黑"/>
                                  <a:ea typeface="微软雅黑"/>
                                  <a:cs typeface="微软雅黑"/>
                                  <a:sym typeface="微软雅黑"/>
                                </a:rPr>
                                <m:t>Qg,j</m:t>
                              </m:r>
                            </m:sub>
                          </m:sSub>
                        </m:e>
                      </m:d>
                    </m:e>
                  </m:nary>
                  <m:r>
                    <a:rPr sz="1400">
                      <a:solidFill>
                        <a:srgbClr val="1A2E4B"/>
                      </a:solidFill>
                      <a:latin typeface="微软雅黑"/>
                      <a:ea typeface="微软雅黑"/>
                      <a:cs typeface="微软雅黑"/>
                      <a:sym typeface="微软雅黑"/>
                    </a:rPr>
                    <m:t>-1, g∈</m:t>
                  </m:r>
                  <m:d>
                    <m:dPr>
                      <m:begChr m:val="{"/>
                      <m:sepChr m:val=","/>
                      <m:endChr m:val="}"/>
                    </m:dPr>
                    <m:e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1</m:t>
                      </m:r>
                    </m:e>
                    <m:e>
                      <m:r>
                        <a:rPr sz="1400">
                          <a:solidFill>
                            <a:srgbClr val="1A2E4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m:t>5</m:t>
                      </m:r>
                    </m:e>
                  </m:d>
                </m:oMath>
              </m:oMathPara>
            </a14:m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223000" y="3746500"/>
            <a:ext cx="4826000" cy="190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  <a:defRPr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逐期 (1+r) 连乘再减 1，不能把价差直接复利</a:t>
            </a:r>
            <a:endParaRPr lang="en-US" sz="1100"/>
          </a:p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缺期处断线，后续从累计值继续；不填零、不补仓</a:t>
            </a:r>
          </a:p>
          <a:p>
            <a:pPr algn="l" indent="-165100" marL="165100">
              <a:lnSpc>
                <a:spcPct val="141666"/>
              </a:lnSpc>
              <a:buClr>
                <a:srgbClr val="3C4655"/>
              </a:buClr>
              <a:buChar char="•"/>
            </a:pPr>
            <a:r>
              <a:rPr lang="en-US" b="false" i="false" strike="noStrike" u="none" sz="13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横轴是退出日，纵轴从 0 起，标注统计期数与排除期次</a:t>
            </a:r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1016000" y="60706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实际统计期数 = 五组收益都能算出且持有期已结束的期数；逐期收益可能相关，不能视为相互独立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04 · 任务一交付物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交什么：一份报告、一张图、一批 CSV、能复现的代码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/>
          <p:nvPr/>
        </p:nvSpPr>
        <p:spPr>
          <a:xfrm rot="0" flipH="false" flipV="false">
            <a:off x="1016000" y="2159000"/>
            <a:ext cx="4826000" cy="1651000"/>
          </a:xfrm>
          <a:prstGeom prst="roundRect">
            <a:avLst>
              <a:gd name="adj" fmla="val 0"/>
            </a:avLst>
          </a:prstGeom>
          <a:solidFill>
            <a:srgbClr val="1A2E4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270000" y="2349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report_task1.pdf　1–2 页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270000" y="27686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· 数据与方法：名单、取数时间、统计期数、信号规则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· 结果：一张汇总表 + 累计收益图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· 简短说明：结果概括与局限，深入分析留给任务二</a:t>
            </a:r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350000" y="2159000"/>
            <a:ext cx="4826000" cy="1651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6604000" y="2349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data/ 与 results/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6604000" y="27686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manifest.csv：取数时间、接口、参数、行数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dates / groups / returns / summary / missing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figure_cum.png：Q1、Q5 累计收益曲线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16000" y="4064000"/>
            <a:ext cx="4826000" cy="1651000"/>
          </a:xfrm>
          <a:prstGeom prst="roundRect">
            <a:avLst>
              <a:gd name="adj" fmla="val 0"/>
            </a:avLst>
          </a:prstGeom>
          <a:solidFill>
            <a:srgbClr val="F5F6F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1270000" y="4254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scripts/ 与 README.md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1270000" y="46736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代码能跑出下面全部结果表图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README 写清环境、运行方法、如何复现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两项任务共用数据与代码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350000" y="4064000"/>
            <a:ext cx="4826000" cy="1651000"/>
          </a:xfrm>
          <a:prstGeom prst="roundRect">
            <a:avLst>
              <a:gd name="adj" fmla="val 0"/>
            </a:avLst>
          </a:prstGeom>
          <a:solidFill>
            <a:srgbClr val="E8720C">
              <a:alpha val="10000"/>
            </a:srgbClr>
          </a:solidFill>
          <a:ln w="12700" cmpd="sng" cap="flat">
            <a:solidFill>
              <a:srgbClr val="E8720C">
                <a:alpha val="5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 txBox="true"/>
          <p:nvPr/>
        </p:nvSpPr>
        <p:spPr>
          <a:xfrm rot="0" flipH="false" flipV="false">
            <a:off x="6604000" y="4254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诚实报告原则</a:t>
            </a:r>
            <a:endParaRPr lang="en-US" sz="1100"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6604000" y="46736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不显著、方向与预期相反也要如实写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报告里每个数字都能用代码重跑出来</a:t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· 提交包不含密码或密钥</a:t>
            </a:r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1016000" y="60706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文件名可以不同，但每项都要交，并在 README 里指到对应文件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5F6F8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04 · 任务二自主提问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先写计划再算：从一个疑点出发，做一次有针对性的比较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159000"/>
            <a:ext cx="228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三步走，不要跳步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016000" y="2540000"/>
            <a:ext cx="2413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① 提问题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从任务一结果里找一个疑点，写成可被数据回答的问句。</a:t>
            </a:r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3683000" y="2540000"/>
            <a:ext cx="2413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② 写计划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150–200 字存 plans/task2_plan.md：比什么、什么不变、不同结果说明什么。</a:t>
            </a:r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6350000" y="2540000"/>
            <a:ext cx="2413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tru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③ 做比较</a:t>
            </a: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3C4655"/>
                </a:solidFill>
                <a:latin typeface="微软雅黑"/>
                <a:ea typeface="微软雅黑"/>
                <a:cs typeface="微软雅黑"/>
                <a:sym typeface="微软雅黑"/>
              </a:rPr>
              <a:t>只改一个条件，其余口径与任务一保持一致；共同样本上比。</a:t>
            </a:r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016000" y="4127500"/>
            <a:ext cx="1016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可参考的启发方向（不限于这些）</a:t>
            </a:r>
            <a:endParaRPr lang="en-US" sz="1100"/>
          </a:p>
        </p:txBody>
      </p: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1016000" y="4508500"/>
          <a:ext cx="10160000" cy="1397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5080000"/>
                <a:gridCol w="5080000"/>
              </a:tblGrid>
              <a:tr h="469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1 个月反转 vs 3 个月反转，结果是否一致？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6-1 动量 vs 12-1 动量，方向是否相同？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699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平均收益是否主要由少数几个月贡献？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形成日前市场涨/跌时，信号表现是否不同？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等权 vs 市值加权，差异来自少数大票吗？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2B2B2B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· 扣掉交易成本、涨跌停约束后还剩多少？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11" id="11"/>
          <p:cNvSpPr txBox="true"/>
          <p:nvPr/>
        </p:nvSpPr>
        <p:spPr>
          <a:xfrm rot="0" flipH="false" flipV="false">
            <a:off x="1016000" y="60706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6A0AF"/>
                </a:solidFill>
                <a:latin typeface="微软雅黑"/>
                <a:ea typeface="微软雅黑"/>
                <a:cs typeface="微软雅黑"/>
                <a:sym typeface="微软雅黑"/>
              </a:rPr>
              <a:t>报告 2–3 页：问题 · 比较方法 · 结果 · 判断与边界；关联不等于因果，尝试结果要保留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635000"/>
            <a:ext cx="508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04 · 跑完成后先自查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1016000" y="1016000"/>
            <a:ext cx="1016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1A2E4B"/>
                </a:solidFill>
                <a:latin typeface="微软雅黑"/>
                <a:ea typeface="微软雅黑"/>
                <a:cs typeface="微软雅黑"/>
                <a:sym typeface="微软雅黑"/>
              </a:rPr>
              <a:t>六条清单全部打勾，再提交</a:t>
            </a:r>
            <a:endParaRPr lang="en-US" sz="1100"/>
          </a:p>
        </p:txBody>
      </p:sp>
      <p:cxnSp>
        <p:nvCxnSpPr>
          <p:cNvPr name="Connector 4" id="4"/>
          <p:cNvCxnSpPr/>
          <p:nvPr/>
        </p:nvCxnSpPr>
        <p:spPr>
          <a:xfrm rot="-4297" flipH="false" flipV="false">
            <a:off x="1016004" y="18351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1A2E4B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5" id="5"/>
          <p:cNvSpPr txBox="true"/>
          <p:nvPr/>
        </p:nvSpPr>
        <p:spPr>
          <a:xfrm rot="0" flipH="false" flipV="false">
            <a:off x="1016000" y="2222500"/>
            <a:ext cx="5080000" cy="355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66666"/>
              </a:lnSpc>
              <a:defRPr/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80 个形成月（2019-12 至 2026-07）都在日期表里</a:t>
            </a:r>
            <a:endParaRPr lang="en-US" sz="1100"/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三个日期全部由交易日历推出，不靠手填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两个信号各有一套分组名单和逐期收益表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Q1 栏填组收益率，没有预先取负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收益率差 = Q5 − Q1，汇总表、逐期表、图上符号一致</a:t>
            </a:r>
          </a:p>
          <a:p>
            <a:pPr algn="l" marL="0" indent="0">
              <a:lnSpc>
                <a:spcPct val="166666"/>
              </a:lnSpc>
            </a:pPr>
            <a:r>
              <a:rPr lang="en-US" b="false" i="false" strike="noStrike" u="none" sz="1300">
                <a:solidFill>
                  <a:srgbClr val="2B2B2B"/>
                </a:solidFill>
                <a:latin typeface="微软雅黑"/>
                <a:ea typeface="微软雅黑"/>
                <a:cs typeface="微软雅黑"/>
                <a:sym typeface="微软雅黑"/>
              </a:rPr>
              <a:t>☐　missing.csv 每条都对应到日期表期次，没有给缺价股票填零</a:t>
            </a:r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6858000" y="2222500"/>
            <a:ext cx="4318000" cy="3556000"/>
          </a:xfrm>
          <a:prstGeom prst="roundRect">
            <a:avLst>
              <a:gd name="adj" fmla="val 0"/>
            </a:avLst>
          </a:prstGeom>
          <a:gradFill rotWithShape="true">
            <a:gsLst>
              <a:gs pos="0">
                <a:srgbClr val="0F1E37">
                  <a:alpha val="100000"/>
                </a:srgbClr>
              </a:gs>
              <a:gs pos="100000">
                <a:srgbClr val="1A2E4B">
                  <a:alpha val="100000"/>
                </a:srgbClr>
              </a:gs>
            </a:gsLst>
            <a:lin ang="270000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7175500" y="2540000"/>
            <a:ext cx="3683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SUBMIT · 提交方式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7175500" y="3048000"/>
            <a:ext cx="368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一周内提交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7175500" y="3683000"/>
            <a:ext cx="3683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2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提交链接：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2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  <a:hlinkClick r:id="rId2" tooltip="https://send2me.cn/3xHoO1MW/T82uuxFqG-bdy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send2me.cn/3xHoO1MW</a:t>
            </a:r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7175500" y="4889500"/>
            <a:ext cx="3683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100">
                <a:solidFill>
                  <a:srgbClr val="B4C3D7"/>
                </a:solidFill>
                <a:latin typeface="微软雅黑"/>
                <a:ea typeface="微软雅黑"/>
                <a:cs typeface="微软雅黑"/>
                <a:sym typeface="微软雅黑"/>
              </a:rPr>
              <a:t>报告数字须与程序输出一致；结论由你审阅后确定。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F1E37">
                <a:alpha val="100000"/>
              </a:srgbClr>
            </a:gs>
            <a:gs pos="100000">
              <a:srgbClr val="1A2E4B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1016000" y="1270000"/>
            <a:ext cx="635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8720C"/>
                </a:solidFill>
                <a:latin typeface="微软雅黑"/>
                <a:ea typeface="微软雅黑"/>
                <a:cs typeface="微软雅黑"/>
                <a:sym typeface="微软雅黑"/>
              </a:rPr>
              <a:t>FINAL · 一句话收束</a:t>
            </a:r>
            <a:endParaRPr lang="en-US" sz="1100"/>
          </a:p>
        </p:txBody>
      </p:sp>
      <p:cxnSp>
        <p:nvCxnSpPr>
          <p:cNvPr name="Connector 3" id="3"/>
          <p:cNvCxnSpPr/>
          <p:nvPr/>
        </p:nvCxnSpPr>
        <p:spPr>
          <a:xfrm rot="-57290" flipH="false" flipV="false">
            <a:off x="1016053" y="18351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mpd="sng" cap="flat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name="AutoShape 4" id="4"/>
          <p:cNvSpPr txBox="true"/>
          <p:nvPr/>
        </p:nvSpPr>
        <p:spPr>
          <a:xfrm rot="0" flipH="false" flipV="false">
            <a:off x="1016000" y="2413000"/>
            <a:ext cx="101600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先把任务一跑通，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再让任务二的问题自己长出来。</a:t>
            </a:r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1016000" y="48260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41666"/>
              </a:lnSpc>
              <a:defRPr/>
            </a:pPr>
            <a:r>
              <a:rPr lang="en-US" b="false" i="false" strike="noStrike" u="none" sz="15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口径一致、缺价不补零、每个数字都能复现——</a:t>
            </a:r>
            <a:endParaRPr lang="en-US" sz="1100"/>
          </a:p>
          <a:p>
            <a:pPr algn="l" marL="0" indent="0">
              <a:lnSpc>
                <a:spcPct val="141666"/>
              </a:lnSpc>
            </a:pPr>
            <a:r>
              <a:rPr lang="en-US" b="false" i="false" strike="noStrike" u="none" sz="1500">
                <a:solidFill>
                  <a:srgbClr val="C8D2E1"/>
                </a:solidFill>
                <a:latin typeface="微软雅黑"/>
                <a:ea typeface="微软雅黑"/>
                <a:cs typeface="微软雅黑"/>
                <a:sym typeface="微软雅黑"/>
              </a:rPr>
              <a:t>这比"结果显著"更重要。祝实验顺利。</a:t>
            </a:r>
          </a:p>
        </p:txBody>
      </p:sp>
      <p:cxnSp>
        <p:nvCxnSpPr>
          <p:cNvPr name="Connector 6" id="6"/>
          <p:cNvCxnSpPr/>
          <p:nvPr/>
        </p:nvCxnSpPr>
        <p:spPr>
          <a:xfrm rot="-4297" flipH="false" flipV="false">
            <a:off x="1016004" y="596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 txBox="true"/>
          <p:nvPr/>
        </p:nvSpPr>
        <p:spPr>
          <a:xfrm rot="0" flipH="false" flipV="false">
            <a:off x="1016000" y="6159500"/>
            <a:ext cx="1016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B4C3D7"/>
                </a:solidFill>
                <a:latin typeface="微软雅黑"/>
                <a:ea typeface="微软雅黑"/>
                <a:cs typeface="微软雅黑"/>
                <a:sym typeface="微软雅黑"/>
              </a:rPr>
              <a:t>学生实验手册 · 中证500动量与反转　|　提交链接见上一页</a:t>
            </a:r>
            <a:endParaRPr lang="en-US" sz="1100"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318250"/>
            <a:ext cx="1524000" cy="539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