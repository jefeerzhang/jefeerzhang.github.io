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32.xml" ContentType="application/vnd.openxmlformats-officedocument.presentationml.notesSlide+xml"/>
  <Override PartName="/ppt/tags/tag34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notesSlides/notesSlide34.xml" ContentType="application/vnd.openxmlformats-officedocument.presentationml.notesSlide+xml"/>
  <Override PartName="/ppt/tags/tag36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ppt/notesSlides/notesSlide36.xml" ContentType="application/vnd.openxmlformats-officedocument.presentationml.notesSlide+xml"/>
  <Override PartName="/ppt/tags/tag38.xml" ContentType="application/vnd.openxmlformats-officedocument.presentationml.tags+xml"/>
  <Override PartName="/ppt/notesSlides/notesSlide37.xml" ContentType="application/vnd.openxmlformats-officedocument.presentationml.notesSlide+xml"/>
  <Override PartName="/ppt/tags/tag39.xml" ContentType="application/vnd.openxmlformats-officedocument.presentationml.tags+xml"/>
  <Override PartName="/ppt/notesSlides/notesSlide38.xml" ContentType="application/vnd.openxmlformats-officedocument.presentationml.notesSlide+xml"/>
  <Override PartName="/ppt/tags/tag40.xml" ContentType="application/vnd.openxmlformats-officedocument.presentationml.tags+xml"/>
  <Override PartName="/ppt/notesSlides/notesSlide39.xml" ContentType="application/vnd.openxmlformats-officedocument.presentationml.notesSlide+xml"/>
  <Override PartName="/ppt/tags/tag41.xml" ContentType="application/vnd.openxmlformats-officedocument.presentationml.tags+xml"/>
  <Override PartName="/ppt/notesSlides/notesSlide40.xml" ContentType="application/vnd.openxmlformats-officedocument.presentationml.notesSlide+xml"/>
  <Override PartName="/ppt/tags/tag42.xml" ContentType="application/vnd.openxmlformats-officedocument.presentationml.tags+xml"/>
  <Override PartName="/ppt/notesSlides/notesSlide41.xml" ContentType="application/vnd.openxmlformats-officedocument.presentationml.notesSlide+xml"/>
  <Override PartName="/ppt/tags/tag43.xml" ContentType="application/vnd.openxmlformats-officedocument.presentationml.tags+xml"/>
  <Override PartName="/ppt/notesSlides/notesSlide42.xml" ContentType="application/vnd.openxmlformats-officedocument.presentationml.notesSlide+xml"/>
  <Override PartName="/ppt/tags/tag44.xml" ContentType="application/vnd.openxmlformats-officedocument.presentationml.tags+xml"/>
  <Override PartName="/ppt/notesSlides/notesSlide43.xml" ContentType="application/vnd.openxmlformats-officedocument.presentationml.notesSlide+xml"/>
  <Override PartName="/ppt/tags/tag45.xml" ContentType="application/vnd.openxmlformats-officedocument.presentationml.tags+xml"/>
  <Override PartName="/ppt/notesSlides/notesSlide44.xml" ContentType="application/vnd.openxmlformats-officedocument.presentationml.notesSlide+xml"/>
  <Override PartName="/ppt/tags/tag46.xml" ContentType="application/vnd.openxmlformats-officedocument.presentationml.tags+xml"/>
  <Override PartName="/ppt/notesSlides/notesSlide45.xml" ContentType="application/vnd.openxmlformats-officedocument.presentationml.notesSlide+xml"/>
  <Override PartName="/ppt/tags/tag47.xml" ContentType="application/vnd.openxmlformats-officedocument.presentationml.tags+xml"/>
  <Override PartName="/ppt/notesSlides/notesSlide46.xml" ContentType="application/vnd.openxmlformats-officedocument.presentationml.notesSlide+xml"/>
  <Override PartName="/ppt/tags/tag48.xml" ContentType="application/vnd.openxmlformats-officedocument.presentationml.tags+xml"/>
  <Override PartName="/ppt/notesSlides/notesSlide47.xml" ContentType="application/vnd.openxmlformats-officedocument.presentationml.notesSlide+xml"/>
  <Override PartName="/ppt/tags/tag49.xml" ContentType="application/vnd.openxmlformats-officedocument.presentationml.tags+xml"/>
  <Override PartName="/ppt/notesSlides/notesSlide48.xml" ContentType="application/vnd.openxmlformats-officedocument.presentationml.notesSlide+xml"/>
  <Override PartName="/ppt/tags/tag50.xml" ContentType="application/vnd.openxmlformats-officedocument.presentationml.tags+xml"/>
  <Override PartName="/ppt/notesSlides/notesSlide49.xml" ContentType="application/vnd.openxmlformats-officedocument.presentationml.notesSlide+xml"/>
  <Override PartName="/ppt/tags/tag51.xml" ContentType="application/vnd.openxmlformats-officedocument.presentationml.tags+xml"/>
  <Override PartName="/ppt/notesSlides/notesSlide50.xml" ContentType="application/vnd.openxmlformats-officedocument.presentationml.notesSlide+xml"/>
  <Override PartName="/ppt/tags/tag52.xml" ContentType="application/vnd.openxmlformats-officedocument.presentationml.tags+xml"/>
  <Override PartName="/ppt/notesSlides/notesSlide51.xml" ContentType="application/vnd.openxmlformats-officedocument.presentationml.notesSlide+xml"/>
  <Override PartName="/ppt/tags/tag53.xml" ContentType="application/vnd.openxmlformats-officedocument.presentationml.tags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开场白：前三课我们学习了如何分散风险、衡量市场风险、识别多种风险来源；今天把问题推进一步——知道这些之后，投资者为什么仍会做出与原计划不一致的交易？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强调：本课判断是行为金融有助于解释选择和制定纪律；能否形成有效交易策略，要另外检验。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本课所有实证数字来自2026-09-29运行并核验的教学快照，不是现场最新行情。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学习目标页快速带过，让学生知道本课要建立四种能力：分层、辨析、检验、复算。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四条目标分别对应讲稿中的BPT、前景理论、动量反转实验、Agent任务卡。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课程框架页：向学生预告本课八环节的推进顺序，从现象（赌局）到理论（BPT/BAPM）到检验（动量反转实验）再到管理（M指标与纪律）。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强调：第25-35分钟的Agent演示是课堂核心，其余环节服务于它。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章节过渡语：前面三课我们学习了如何分散风险、如何衡量市场风险、如何识别多种风险来源。今天把问题推进一步——知道这些之后，投资者为什么仍会做出与原计划不一致的交易？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先做举手投票，不给学生贴"非理性"标签。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现场操作：请大家分别选择方案A或B，举手投票。两行各自期望金额相同。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如果第一行选A、第二行选B，就是收益区间求稳、损失区间愿意冒险——这体现前景理论中的反射效应。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提醒：一次投票不能据此诊断其稳定人格，也不能代表所有人；损失厌恶是同额损失比收益更难受，风险厌恶是对不确定性的偏好，两者不是同义词。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这一页把展望效用理论讲成三件套：参考点、价值函数、概率权重。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价值函数定义在相对参考点的损益上，不是最终财富；亏损端更陡，损失厌恶约为盈利端的两倍。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权重函数说明小概率被高估，因此彩票与保险可以并存。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公式只讲结构，不必让学生背参数，重点是 v 与 w 各回答什么问题。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教师讲述：股票波动30%是一种风险描述；明年交不出学费，是另一种风险描述。第一种针对收益分布，第二种针对目标失败，我们需要把两种语言连起来。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强调：这是教学上的目标规划表达，不是声称已复现原论文的完整偏好函数；不能把受情绪影响的期望财富换成普通期望后仍称为原始BPT模型。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这一页给 BPT 画骨架：资产不是摊在一张收益—风险地图上，而是按目标装进不同的心理账户。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金字塔自下而上，目标从保底走向搏高收益；越往上，承担的风险和预期收益越高。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关键在“独立”：每个心理账户有自己的目标与底线，不与其他层合并算总风险。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可以提醒学生：这解释了为什么同一个投资者可以同时持有国债和高风险成长股。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安全层回答“钱要完成什么任务”里的保底任务：明年要交的学费、退休后的基本生活。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工具以几乎不承担市场风险为主：现金、国债、存款、保险和年金。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数学上就是原页那个约束：到期财富低于底线的概率不超过允许的失败概率。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连接展望理论：因为损失端更陡，先保住下限才敢谈冒险——这就是保险的逻辑。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增长层回答“钱要完成什么任务”里的增长任务：在保住底线之后，去搏更高的收益。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期权、成长股、新兴市场这类资产，收益分布右偏：大概率小赚或不赚，小概率大涨。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展望理论的概率权重解释了为什么有人愿意为这种“几乎不中”的高收益支付溢价——小概率被高估。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把保险和彩票放在同一句话里并不矛盾：它们服务两个不同的心理账户。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 BPT 从理论落到可观察的行为，讲三层表现即可，不需要背定义。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保守与激进并存：同一账户里既放国债又放成长股，在 MPT 框架下看似矛盾，BPT 下是常态。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对单层波动反应不同：安全层是底线，微跌就会紧张；增长层本来就买波动。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最后点出局限：分层配置是为了“每个目标各有交代”，可能牺牲组合层面的整体效率——留作课堂讨论。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教师讲述：先明确硬底线，再优化可选目标。80/20配置在给定压力下满足底线，代价是上涨情景少赚6万元。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强调25%上限依赖给定压力情景，不是最佳仓位；把激进账户取名为"长期投资"，不会改变到期现金缺口。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Agent连接：用提示词P1生成目标账户表、压力结果和合并风险表；先审查假设，再看答案。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先不急着算，把任务讲清楚：85 万是一年后必须到手的钱，不是希望赚到的钱。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100 万里只有 15 万是真正能冒险的余量，所以风险占比必然很小。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本例按不允许跌破处理，三种情景不赋概率，因此不谈失败概率，只看最坏情景。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把问题收成一句话：风险部分最多放多少？下一页用两个具体配置回答。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两张卡只差 10 万的风险头寸，但最坏情景一个跌破底线、一个守住底线。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70/30 的最好情景 118 万比 80/20 的 112 万多 6 万，这正是多冒 10 万风险的价差。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判断标准不是平均收益，而是底线：85 万是必须到手的钱，最坏情景要先过这一关。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提醒学生：持平情景两边都是 100 万，可见差别只在风险情景，不在无风险部分。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把上一页两个配置推广成一个公式：最坏情景下一年后财富 W 是风险占比 x 的减函数。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令 W 不低于 85 万，解得 x 不超过 25%；若更保守假设风险全损，上限降为 15%。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强调这两个数是给定压力幅度的上限，不是最优仓位，也不是对真实失败概率的估计。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收束回 BPT：安全层先定底线，再倒推风险敞口——这就是目标驱动的配置思路。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这一页把公式逐项拆开，学生要先知道每个符号对应哪笔钱，才看得懂不等式。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x 是风险占比（0 到 1 之间的小数），(1−x) 就是安全占比；上一页的 30%、20% 就是这里的 x。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×0.4 来自“跌 60% 后剩 40%”，是给定压力情景的假设，不是模型结论。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底部把 x=0.3 与 x=0.2 代回，呼应第 14 页的 82 万与 88 万，让学生看到公式与表格是同一次计算。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这一页把不等式四步走完整展示，学生可以跟着每一步走一遍，而不是只看结论。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第 3 步是关键：100−60x≥85 移项得 60x≤15，很多学生在这里丢掉负号，要重点讲。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右侧把 25% 换算成具体金额并回代验证，x=25% 恰好等于 85 万、x=30% 只有 82 万。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底部一句话收束：上限是底线约束倒推出来的，不是先定仓位再找理由。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本页为课时4_BPT_交互可视化.html 的静态呈现，默认态 70/30 与压力情景 −60%。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左图：70/30 在最坏情景 82 万跌破底线（红柱），80/20 为 88 万守住底线。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右图：两条曲线分别对应风险层 −60% 与 −100%；与 85 万底线的交点即最大可行比例 25% 与 15%。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讲课时可回到 HTML 切换按钮现场演示：改配置、改压力情景，图表与 KPI 同步变化。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这一页是案例一的收束：前面七页是过程，这里只留三句话。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核心结论先亮出来：85 万底线把风险占比压到 25%（−60% 压力）或 15%（全损），80/20 守住、70/30 跌破。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三条结论分别是配置层（哪个方案合格）、推导层（上限怎么来的）、行为学层（对应 BPT 安全层）。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最后强调边界：没赋概率，所以是压力约束不是失败概率；可以在这里停下，进入心理账户部分。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本页为课时4_BPT_交互可视化.html 图 3 的静态呈现：心理账户合并风险。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左图为账户分层视角（安全/增值），右图为合并视角：单只股票 10%、行业 27%。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关键结论：改名或分开记账不改变合并风险——把高波动个股放进名为「安全」的账户，不会让它变安全。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呼应下一页（心理账户局限）：心理分层不消除经济相关性。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教师讲述：账户分层是决策工具，不是风险隔离装置。底线层、增长层、试验层分别对应：必须可用的钱、可以长期波动的钱、允许试错的钱。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每个问题都必须给出可操作的评价方式；把名字改成"养老""长期"，不会改变资产的收益与波动。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与第7页连接：合并看各层暴露，才能判断总风险是否可接受。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章节过渡：BAPM把不同信念的投资者放回同一个市场；有情绪不等于马上有套利机会，还要看交易约束。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本部分以924案例收束，让学生看到：上涨本身不证明情绪归因，下跌本身也不证明。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这一页在讲机制链之前，先把 BAPM 是什么讲清楚：它是对 CAPM 的行为化修正。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定义要点：均衡价格由理性套利者与噪声交易者共同决定，不再由单一理性代表投资者决定。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三张卡分别回答：与 CAPM 的差别、价格如何形成、为什么值得检验。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讲课时可提示：本章节页（情绪性定价偏差不必然伴随可实现的套利机会）就是 BAPM 的核心含义，本页展开其出处与机制。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教师讲述：BAPM把市场视为不同投资者交易的结果，价格不是来自某个代表性投资者的优化。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强调机制链是假说：信息如何变成价格，需要每一步的证据；没有证据就把链条写实，就是讲故事。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三条"不能"用于约束课堂讨论，避免把相关当因果、把重命名当检验。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这一页讲机制链的前半段：外部信息如何变成投资者的信念。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关键不是信息本身，而是注意力：同样一条消息，有人看到、有人看不到，价格只反映被加工的那部分。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信念变化可以是预期调整，也可以是情绪波动——乐观和恐慌都改变后续的交易意愿。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提醒学生：这是假说链，每一步都需要证据，不能把链条写实。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这一页讲机制链的后半段：信念如何落地成订单，订单又如何改变价格。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处置效应和羊群行为说明，买卖不是随机的：偏差是有方向的，会系统性地推着价格走。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强调边际定价：价格由最后成交的人决定，而不是由最理性的人决定。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融资、融券、流动性与风险约束贯穿全程，把“想交易”变成“能交易”要过这些门槛。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三条“不能”是课堂讨论的边界，防止把相关当因果、把重命名当检验。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不能贴人群标签：有效性取决于定价过程，散户占比高不等于市场必然无效。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不能只改名：把普通 β 改名行为 β，没有新增任何可检验的内容。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不能不设检验：验证 BAPM 需要事前可检验的预测与识别策略，不能事后挑情绪指标。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回到总页：机制假说链是假说，每一步都要证据。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教师讲述：924上涨让"情绪"看起来很好解释，但要把政策事实、指数涨跌和投资者动机分开陈述，避免叙事式因果。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图显示了以9月23日收盘为起点的三指数归一化走势，涨与跌是同一段过程的两个时点。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中证2000数据在制作时未独立联网复核，课堂请以实时行情为准。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教师讲述：两个账户分开看都不夸张，合并后仍然下跌——名称不能替代对实际持仓的分析。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关键教训：单独看每个账户都"合理"，合并后总风险才是该管的数字。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强调这是事后选样的一日回放，不推断通常波动排序，也不是交易建议。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这一页回答“为什么案例二能推出结论”：不是把结论贴上去，而是把证据→推导→结论的每一步讲出来。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证据A（28页）：同一指数先涨后跌，同一段价格可被两种相反叙事解释——说明价格序列本身不携带动机信息。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推导1：如果拿涨跌当情绪证据，任何结果都能事后讲圆（不可证伪），所以情绪归因必须对照事前规则、区分信息与噪声。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证据B（29页）：名为“防御”的账户在压力日跌得比“进取”账户还多——名称与实际跌幅排序相反。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推导2：名称来自心理账户划分，不来自持仓风险；所以决策要回到实际持仓与合并组合，而不是标签。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边界：案例二是教学演示（illustration），用两个实测场景排除两种误读；不是统计证明，也不构成交易建议。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这一页收束案例二，回答学生“到底要说明什么问题”。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要点一（第28页）：924先涨后跌本身不携带投资者动机信息，情绪归因必须对照事前规则并区分信息与噪声，否则就是叙事式因果。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要点二（第29页）：账户名称是心理账户标签，“防御”不代表本金安全；压力日实测跌幅甚至高于“进取”账户。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要点三：单独看每个账户都合理，合并后相关性才暴露真实风险；风险管理的对象是合并组合，不是标签。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教学收束：把结论接回 BAPM 的含义——检验情绪定价要可证伪，管理风险要盯组合。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章节过渡：动量与反转都是经验现象，定义必须精确到股票池、形成期、持有期与成本。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本部分先用三个问题把概念分开，再给出本次实验的信号定义，最后回到中外证据。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这一页在第33页“三个问题”之前，先把动量/反转的直觉建立起来，避免定义悬空。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01：分组用“过去收益排序”，涨得多=赢家，跌得多=输家。例子：过去11个月A涨30%、B跌20%。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02：动量=买赢家卖输家，赌涨得多的继续涨；学术定义是“过去赢家组合后续相对领先”。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03：反转=买输家卖赢家，赌跌多了会反弹；学术定义是“过去输家组合后续相对领先”。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底部：形成期与持有期是两个参数，第34页的12–2/6–2 就是参数化的例子。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教师讲述：用同一句话"涨得多的继续涨"同时回答三个问题，是最常见的错误。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第二行的数据需求提醒：用事后选出的赢家去解释收益，属于数据窥探。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本页为后续Agent演示的统计口径做铺垫。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这一页把第34页的“12–2动量”公式翻译成一条可见的时间轴。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时间轴（以2024年9月交易为例）：2023-08为起点（t−13），2023-09至2024-07为收益区间（t−12至t−2共11个月），2024-08跳过（t−1缓冲），2024-09决策（t），2024-10成交（t+1）。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01：跳过 t 与 t−1 是因为月末数据有公布滞后，避免前视偏差。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02：P_{t−2}/P_{t−13}−1 用两个月末收盘价比值，覆盖11个月收益。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底部：6–2 动量覆盖5个月；一月反转用上月收益取反。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教师讲述：三个信号都用月末收盘价计算，决策期 t 在月末形成、次月成交，中间保留一个月缓冲。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强调t−2的含义：当期和上一期月份都跳过，避免用未公布的月末数据。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示例：2024年9月交易使用2023年9月至2024年7月的月收益。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这一页给第35页文献表一个“读法”：为什么四篇结论不同，先看三件事。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01 数据范围：美国/中国、A股/B股、样本期不同，结论不能直接迁移。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02 口径参数：形成期与持有期不同（3–12个月 vs 短于一周），动量/反转的表现可以完全不同。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03 结论强度：记录现象、证明机制、扣费后可获利是三个不同强度，Jegadeesh–Titman 止于现象记录。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底部：读文献时先标数据与口径，再判断外推。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教师讲述：中外证据的差异提示投资者结构与制度约束的作用，但不要直接读成"中国必然动量弱"。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强调证据边界：文献结论只在其数据范围与口径内成立。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章节过渡：进入Agent实证部分，演示分为三个画面，每个画面回答一类问题。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先声明口径，再展示结果，避免把教学池结果读成全市场结论。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教师讲述：回测的每一条约定都会改变结果，先声明口径再展示收益。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强调教学池是事后选定的，用于教学，不构成真实策略的可比业绩。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教师讲述：动量策略收益最高，但波动与回撤也最大；反转策略换手率惊人，成本将显著侵蚀。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先读收益再读风险，先看表再看图；图展示的是累计净值，不是逐期收益。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强调这是教学池结果，不是全市场平均收益。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教师讲述：第一屏看绝对表现，第二屏看相对基准的统计可靠性。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三个区间都包含0，即不足以确认稳定的平均超额收益；不显著不等于"没有效应"，而是证据不足。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强调这里是收益差而非α，不要过度解读。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教师讲述：把股票池换掉几只科技股，所有策略年化收益显著下降——结论依赖选样。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成本与成交时序两项敏感性都提示：现实约束会改变方向。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强调这不是因素分解，而是演示"结果对设定敏感"这一事实。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章节过渡：最后一章讲两件事——如何测量"跟随市场情绪交易"的指标，以及如何把偏差管理成规则。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这一页在进入公式前，先建立直觉：M 指标回答“投资者是不是在追涨杀跌”。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01：价格涨跌本身不携带动机信息，所以要同时看持仓动作（ΔH）与收益。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02：ΔH 是持仓比例变化（加仓为正）；超额收益 = 个股收益 − 市场收益，目的是剔除大盘整体涨跌。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03：同向（ΔH 与超额同号）= 顺势读数；反向（异号）= 逆势读数。用“涨了还加仓/跌了还加仓”这样的口语帮助理解。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提醒：M 只是相关性的尺子，不是因果证据；口径必须事先写清楚。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教师讲述：同一段持仓变化，换一个时间口径就得到相反方向的读数——所以指标构造必须事前写清楚。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强调同期指标只是相关性，不构成因果；股本变化会污染H的度量。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这一页把上一页的公式算例一步步拆成表格，学生可以直接对照数字演算。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重点演示：持仓变化 ΔH 都是 +0.2 个百分点（同一动作），只是“用哪一期超额收益”不同。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同期：用本期超额 +10%，0.002×0.10=+0.00020 &gt; 0，读作顺势（涨了还加仓）。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滞后：用上期超额 −8%，0.002×(−0.08)=−0.00016 &lt; 0，读作逆势（上期跌的股票本期加仓）。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教学收束：同一动作因时间口径不同得到相反结论，所以指标构造必须事前写清口径。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教师讲述：教材截图不能直接作为"反转优于动量"的证据，逐一指出不可复现与编码问题。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Sargan检验的解释：未拒绝≠证明有效；报告精度不等于效应大小。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这一页把教材 7–4 的四个问题提炼成可复用的审查清单，让学生离开案例也能用。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01 复现：没有完整方程/数据，结论无法独立验证，不能直接采用。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02 编码：β₂ 为负却被解释为正贡献，通常是变量编码（如反转变量保留负值）未对齐。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03 量纲：未标准化系数不可比大小；显著性是统计概念，重要性是经济概念。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04 检验：Sargan 未拒绝（p=0.9684）≠ 证明有效；p=0.000 只是显示精度。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收束：审查顺序固定为复现→编码→量纲→检验，先过四问再采用结论。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教师讲述：六种偏差各对应一条可执行规则，规则要能被第三人检查。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课堂重点在"合并看暴露"与"预先写条件"两条，与心理账户和过度交易呼应。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教师讲述：Memo Part 4延续项目，四格交付：目标、假说、证据、纪律。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评分鼓励诚实报告：没有优势也是合格结果，选择性展示高收益不算合格。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收尾：用三句退出题检查学生是否仍然混淆"行为—收益—机制"三层。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课后任务接续小组项目；结语呼应封面，强调规则与数据。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>
            <a:extLst>
              <a:ext uri="{FF2B5EF4-FFF2-40B4-BE49-F238E27FC236}">
                <a16:creationId xmlns:a16="http://schemas.microsoft.com/office/drawing/2014/main" id="{7A08CA06-2CDF-47D8-BD69-CA3D31811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>
            <a:extLst>
              <a:ext uri="{FF2B5EF4-FFF2-40B4-BE49-F238E27FC236}">
                <a16:creationId xmlns:a16="http://schemas.microsoft.com/office/drawing/2014/main" id="{5733A5B6-8384-4548-94D7-0E5FCF136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>
            <a:extLst>
              <a:ext uri="{FF2B5EF4-FFF2-40B4-BE49-F238E27FC236}">
                <a16:creationId xmlns:a16="http://schemas.microsoft.com/office/drawing/2014/main" id="{0453788A-2B32-4233-BC8F-1AC4ECDFDC8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>
            <a:extLst>
              <a:ext uri="{FF2B5EF4-FFF2-40B4-BE49-F238E27FC236}">
                <a16:creationId xmlns:a16="http://schemas.microsoft.com/office/drawing/2014/main" id="{3270C638-F5ED-498A-846A-B4C2F07AE85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>
            <a:extLst>
              <a:ext uri="{FF2B5EF4-FFF2-40B4-BE49-F238E27FC236}">
                <a16:creationId xmlns:a16="http://schemas.microsoft.com/office/drawing/2014/main" id="{24316735-7541-41AB-9D62-FDEC41FB8E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>
            <a:extLst>
              <a:ext uri="{FF2B5EF4-FFF2-40B4-BE49-F238E27FC236}">
                <a16:creationId xmlns:a16="http://schemas.microsoft.com/office/drawing/2014/main" id="{9D3510C6-26EA-416F-9F84-FF14052F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>
            <a:extLst>
              <a:ext uri="{FF2B5EF4-FFF2-40B4-BE49-F238E27FC236}">
                <a16:creationId xmlns:a16="http://schemas.microsoft.com/office/drawing/2014/main" id="{08908697-979C-4FF9-92E7-6F9AE618A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>
            <a:extLst>
              <a:ext uri="{FF2B5EF4-FFF2-40B4-BE49-F238E27FC236}">
                <a16:creationId xmlns:a16="http://schemas.microsoft.com/office/drawing/2014/main" id="{CA1A180B-1DB2-4A78-B7A8-3B00ECFEFEC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>
            <a:extLst>
              <a:ext uri="{FF2B5EF4-FFF2-40B4-BE49-F238E27FC236}">
                <a16:creationId xmlns:a16="http://schemas.microsoft.com/office/drawing/2014/main" id="{464E6117-EA4A-4778-8ED2-1D1752A347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>
            <a:extLst>
              <a:ext uri="{FF2B5EF4-FFF2-40B4-BE49-F238E27FC236}">
                <a16:creationId xmlns:a16="http://schemas.microsoft.com/office/drawing/2014/main" id="{C10836A5-8D11-4666-8129-3A7B496E70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>
            <a:extLst>
              <a:ext uri="{FF2B5EF4-FFF2-40B4-BE49-F238E27FC236}">
                <a16:creationId xmlns:a16="http://schemas.microsoft.com/office/drawing/2014/main" id="{54784F57-4845-436D-BA28-7AF573ED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>
            <a:extLst>
              <a:ext uri="{FF2B5EF4-FFF2-40B4-BE49-F238E27FC236}">
                <a16:creationId xmlns:a16="http://schemas.microsoft.com/office/drawing/2014/main" id="{CDB934E5-CDAC-4FF4-A7A6-BB2F79778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>
            <a:extLst>
              <a:ext uri="{FF2B5EF4-FFF2-40B4-BE49-F238E27FC236}">
                <a16:creationId xmlns:a16="http://schemas.microsoft.com/office/drawing/2014/main" id="{D4902B8A-E168-42CD-9503-6ECF8F3CA0C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>
            <a:extLst>
              <a:ext uri="{FF2B5EF4-FFF2-40B4-BE49-F238E27FC236}">
                <a16:creationId xmlns:a16="http://schemas.microsoft.com/office/drawing/2014/main" id="{A32DA64C-59CE-4512-ADA4-28939E0A3F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>
            <a:extLst>
              <a:ext uri="{FF2B5EF4-FFF2-40B4-BE49-F238E27FC236}">
                <a16:creationId xmlns:a16="http://schemas.microsoft.com/office/drawing/2014/main" id="{816D251A-1C63-4AB7-95EE-33BF303E8A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>
            <a:extLst>
              <a:ext uri="{FF2B5EF4-FFF2-40B4-BE49-F238E27FC236}">
                <a16:creationId xmlns:a16="http://schemas.microsoft.com/office/drawing/2014/main" id="{AB6F94AE-517D-4046-8CAD-E1B8B90C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7D529DAC-B199-4458-9919-833AE589F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A940012-4214-4760-BECC-85D2FFD182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D3EB9730-DC73-419F-A0CD-01BFC26BE26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AA4FC894-EC64-49A9-AA90-F2B30C8C8CC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4D62C6B8-57C8-469E-B045-B1E0590D2A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>
            <a:extLst>
              <a:ext uri="{FF2B5EF4-FFF2-40B4-BE49-F238E27FC236}">
                <a16:creationId xmlns:a16="http://schemas.microsoft.com/office/drawing/2014/main" id="{BBF48011-C278-4C31-9BB9-25D84D7E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65543EC-8707-494D-8D2A-4D8C2C3D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974B0CD-2102-4777-A0F5-C8FC24A89C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1B7C1FB-E8B7-4F15-A6CA-2AB3279C138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E4D02F7-A5D4-4B62-A0F5-84BBF866729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A18ED0F-8961-4CA6-A253-4F518CC327C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8A765CD-0558-4CAE-BF32-344CB4E82C7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A504642-AC7F-436D-BC57-1F0569FEF6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>
            <a:extLst>
              <a:ext uri="{FF2B5EF4-FFF2-40B4-BE49-F238E27FC236}">
                <a16:creationId xmlns:a16="http://schemas.microsoft.com/office/drawing/2014/main" id="{59A58C4E-3A49-4C71-A577-2C2E5AEE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041FD3C4-ADAB-4FC7-92E4-BD4313FACF3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2CFD4626-57F1-41B8-BDDF-1A0C72F8D5B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6E892DA1-8C24-4B69-A923-00030FF0DA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>
            <a:extLst>
              <a:ext uri="{FF2B5EF4-FFF2-40B4-BE49-F238E27FC236}">
                <a16:creationId xmlns:a16="http://schemas.microsoft.com/office/drawing/2014/main" id="{87D1C7D6-D396-499D-8844-56BEDD2DE7F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CD156287-BAB4-49FC-ADEE-9CD2AAC08CC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80D20BD8-36DD-48E7-9E4B-F8B457940B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>
            <a:extLst>
              <a:ext uri="{FF2B5EF4-FFF2-40B4-BE49-F238E27FC236}">
                <a16:creationId xmlns:a16="http://schemas.microsoft.com/office/drawing/2014/main" id="{9F74F914-4668-4466-8B3E-EED72DB5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>
            <a:extLst>
              <a:ext uri="{FF2B5EF4-FFF2-40B4-BE49-F238E27FC236}">
                <a16:creationId xmlns:a16="http://schemas.microsoft.com/office/drawing/2014/main" id="{A3230F31-2FC6-4463-A639-9DCB2425A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>
            <a:extLst>
              <a:ext uri="{FF2B5EF4-FFF2-40B4-BE49-F238E27FC236}">
                <a16:creationId xmlns:a16="http://schemas.microsoft.com/office/drawing/2014/main" id="{1FBCAB55-D751-4A50-8F2B-23DF75C8749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>
            <a:extLst>
              <a:ext uri="{FF2B5EF4-FFF2-40B4-BE49-F238E27FC236}">
                <a16:creationId xmlns:a16="http://schemas.microsoft.com/office/drawing/2014/main" id="{A2AA870B-D899-432A-9621-D8252A4E3DC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>
            <a:extLst>
              <a:ext uri="{FF2B5EF4-FFF2-40B4-BE49-F238E27FC236}">
                <a16:creationId xmlns:a16="http://schemas.microsoft.com/office/drawing/2014/main" id="{733C6CCA-183B-42C2-9328-20246D79C74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>
            <a:extLst>
              <a:ext uri="{FF2B5EF4-FFF2-40B4-BE49-F238E27FC236}">
                <a16:creationId xmlns:a16="http://schemas.microsoft.com/office/drawing/2014/main" id="{EE190383-35EE-4E5E-88AE-D7F5D81611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>
            <a:extLst>
              <a:ext uri="{FF2B5EF4-FFF2-40B4-BE49-F238E27FC236}">
                <a16:creationId xmlns:a16="http://schemas.microsoft.com/office/drawing/2014/main" id="{2FC4A14E-FD25-447F-80CE-C90CD382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2E943400-E72C-43C2-A6CB-D1185183AA0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F10142AE-2E59-4936-A703-A955604B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B03BEB44-4C44-49C2-98B1-F1D81990C35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9458660D-E185-4BF9-B73F-98B9296036D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216FD686-F194-42F7-BBD7-27A7471B40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>
            <a:extLst>
              <a:ext uri="{FF2B5EF4-FFF2-40B4-BE49-F238E27FC236}">
                <a16:creationId xmlns:a16="http://schemas.microsoft.com/office/drawing/2014/main" id="{01DC13A8-D98C-4F91-947E-58F605F6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>
            <a:extLst>
              <a:ext uri="{FF2B5EF4-FFF2-40B4-BE49-F238E27FC236}">
                <a16:creationId xmlns:a16="http://schemas.microsoft.com/office/drawing/2014/main" id="{EC98B550-3094-4609-92C1-5A1B14FD6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>
            <a:extLst>
              <a:ext uri="{FF2B5EF4-FFF2-40B4-BE49-F238E27FC236}">
                <a16:creationId xmlns:a16="http://schemas.microsoft.com/office/drawing/2014/main" id="{DD8AEAAE-2EC7-466D-A031-D23EBFC6F50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>
            <a:extLst>
              <a:ext uri="{FF2B5EF4-FFF2-40B4-BE49-F238E27FC236}">
                <a16:creationId xmlns:a16="http://schemas.microsoft.com/office/drawing/2014/main" id="{E919DE2D-BF22-4264-BB5B-3EFA297105E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>
            <a:extLst>
              <a:ext uri="{FF2B5EF4-FFF2-40B4-BE49-F238E27FC236}">
                <a16:creationId xmlns:a16="http://schemas.microsoft.com/office/drawing/2014/main" id="{60FA8614-55E8-4051-AD8E-3D343027FD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>
            <a:extLst>
              <a:ext uri="{FF2B5EF4-FFF2-40B4-BE49-F238E27FC236}">
                <a16:creationId xmlns:a16="http://schemas.microsoft.com/office/drawing/2014/main" id="{C00A7390-1B49-48FF-836C-A5B66EB2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C686939E-07A9-44B9-A8E0-6E4AA76C0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0E97730A-DE8A-4AC5-8C7B-7A72BCC9A7D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>
            <a:extLst>
              <a:ext uri="{FF2B5EF4-FFF2-40B4-BE49-F238E27FC236}">
                <a16:creationId xmlns:a16="http://schemas.microsoft.com/office/drawing/2014/main" id="{52A458B8-7CCA-47E2-A587-A0204E69449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03C13A0F-5677-4E8F-8E1B-D32D60C899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DFDB8CAE-4D25-4551-B037-42AF9743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C8E8ECE-23DE-4BB3-B3C0-5E2EE3CEF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4048A1BB-F943-4E0B-80E3-7A44F30491A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B3DE5CE-9CE1-4E31-AA1F-254D402437D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1D4264D-718D-4D3B-A29D-4F459DC25A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2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6B001C9-015B-4F5B-BA03-B158C6EB7128}"/>
              </a:ext>
            </a:extLst>
          </p:cNvPr>
          <p:cNvSpPr>
            <a:spLocks noGrp="1"/>
          </p:cNvSpPr>
          <p:nvPr/>
        </p:nvSpPr>
        <p:spPr>
          <a:xfrm>
            <a:off x="50800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E648702-89F9-4572-B1C1-96D23F522BC2}"/>
              </a:ext>
            </a:extLst>
          </p:cNvPr>
          <p:cNvSpPr>
            <a:spLocks noGrp="1"/>
          </p:cNvSpPr>
          <p:nvPr/>
        </p:nvSpPr>
        <p:spPr>
          <a:xfrm>
            <a:off x="952500" y="1549400"/>
            <a:ext cx="381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第7章·第4课时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11C4028-382C-46D4-B8D4-E775AA37F5A2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8636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行为投资学与投资行为管理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8CB6652-F5F4-46E5-9336-681960FC5A98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F79AB24-3501-4EEA-80A9-3AF07C81C0E5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10414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6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为什么有了模型，决策仍会偏离计划——行为金融能解释什么，不能证明什么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0665818-1037-4DC5-AD06-1E53ADA4A4D9}"/>
              </a:ext>
            </a:extLst>
          </p:cNvPr>
          <p:cNvSpPr>
            <a:spLocks noGrp="1"/>
          </p:cNvSpPr>
          <p:nvPr/>
        </p:nvSpPr>
        <p:spPr>
          <a:xfrm>
            <a:off x="952500" y="5867400"/>
            <a:ext cx="406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投资学·2026秋季学期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54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52217D-F536-46C0-963F-8632A6249E9D}"/>
              </a:ext>
            </a:extLst>
          </p:cNvPr>
          <p:cNvSpPr>
            <a:spLocks noGrp="1"/>
          </p:cNvSpPr>
          <p:nvPr/>
        </p:nvSpPr>
        <p:spPr>
          <a:xfrm>
            <a:off x="952500" y="1397000"/>
            <a:ext cx="6350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本课时学习目标与能力要求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893791A-FD55-4C74-A52E-67624F9E2047}"/>
              </a:ext>
            </a:extLst>
          </p:cNvPr>
          <p:cNvSpPr>
            <a:spLocks noGrp="1"/>
          </p:cNvSpPr>
          <p:nvPr/>
        </p:nvSpPr>
        <p:spPr>
          <a:xfrm>
            <a:off x="952500" y="2006600"/>
            <a:ext cx="76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569EBD0-5460-4373-AB9E-1096C25EC574}"/>
              </a:ext>
            </a:extLst>
          </p:cNvPr>
          <p:cNvSpPr>
            <a:spLocks noGrp="1"/>
          </p:cNvSpPr>
          <p:nvPr/>
        </p:nvSpPr>
        <p:spPr>
          <a:xfrm>
            <a:off x="1841500" y="2057400"/>
            <a:ext cx="8890000" cy="406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区分 BPT（行为投资组合理论）、BAPM（行为资产定价模型）与行为管理三个层次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5455B7E-B81D-4094-9847-1BD684A1B3A3}"/>
              </a:ext>
            </a:extLst>
          </p:cNvPr>
          <p:cNvSpPr>
            <a:spLocks noGrp="1"/>
          </p:cNvSpPr>
          <p:nvPr/>
        </p:nvSpPr>
        <p:spPr>
          <a:xfrm>
            <a:off x="1841500" y="2489200"/>
            <a:ext cx="9144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行为组合理论、行为资产定价、行为管理回答的问题不同，不能混为一谈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68F9D18-C6D1-4F00-9C12-3847A3770C2C}"/>
              </a:ext>
            </a:extLst>
          </p:cNvPr>
          <p:cNvSpPr>
            <a:spLocks noGrp="1"/>
          </p:cNvSpPr>
          <p:nvPr/>
        </p:nvSpPr>
        <p:spPr>
          <a:xfrm>
            <a:off x="952500" y="3073400"/>
            <a:ext cx="76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0754588-0AA5-4E9B-8060-52809CC7F654}"/>
              </a:ext>
            </a:extLst>
          </p:cNvPr>
          <p:cNvSpPr>
            <a:spLocks noGrp="1"/>
          </p:cNvSpPr>
          <p:nvPr/>
        </p:nvSpPr>
        <p:spPr>
          <a:xfrm>
            <a:off x="1841500" y="3124200"/>
            <a:ext cx="8890000" cy="406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区分损失厌恶和风险厌恶，说明心理账户的用途与局限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9CCE90F-D3E4-441F-B312-3C40AE937363}"/>
              </a:ext>
            </a:extLst>
          </p:cNvPr>
          <p:cNvSpPr>
            <a:spLocks noGrp="1"/>
          </p:cNvSpPr>
          <p:nvPr/>
        </p:nvSpPr>
        <p:spPr>
          <a:xfrm>
            <a:off x="1841500" y="3556000"/>
            <a:ext cx="9144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同额损失比收益更难受，不等于讨厌不确定性；分开记账不消除经济相关性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DB5B4BD-91EA-4FDB-80F6-7EC8E5473FA1}"/>
              </a:ext>
            </a:extLst>
          </p:cNvPr>
          <p:cNvSpPr>
            <a:spLocks noGrp="1"/>
          </p:cNvSpPr>
          <p:nvPr/>
        </p:nvSpPr>
        <p:spPr>
          <a:xfrm>
            <a:off x="952500" y="4140200"/>
            <a:ext cx="76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73A63D7-AEE1-46FB-B470-349FF68D8192}"/>
              </a:ext>
            </a:extLst>
          </p:cNvPr>
          <p:cNvSpPr>
            <a:spLocks noGrp="1"/>
          </p:cNvSpPr>
          <p:nvPr/>
        </p:nvSpPr>
        <p:spPr>
          <a:xfrm>
            <a:off x="1841500" y="4191000"/>
            <a:ext cx="8890000" cy="406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分清交易行为、价格可预测性与扣费后策略绩效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2CDE232-2D10-43BE-8A5F-4837E34930BE}"/>
              </a:ext>
            </a:extLst>
          </p:cNvPr>
          <p:cNvSpPr>
            <a:spLocks noGrp="1"/>
          </p:cNvSpPr>
          <p:nvPr/>
        </p:nvSpPr>
        <p:spPr>
          <a:xfrm>
            <a:off x="1841500" y="4622800"/>
            <a:ext cx="9144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观察到追涨杀跌，不等于这样交易有利可图；相关性不能推出因果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49B3D79-C2D9-4409-B875-CF8E709776D1}"/>
              </a:ext>
            </a:extLst>
          </p:cNvPr>
          <p:cNvSpPr>
            <a:spLocks noGrp="1"/>
          </p:cNvSpPr>
          <p:nvPr/>
        </p:nvSpPr>
        <p:spPr>
          <a:xfrm>
            <a:off x="952500" y="5207000"/>
            <a:ext cx="76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D748EC0-8D59-464F-9672-BD2BCD893594}"/>
              </a:ext>
            </a:extLst>
          </p:cNvPr>
          <p:cNvSpPr>
            <a:spLocks noGrp="1"/>
          </p:cNvSpPr>
          <p:nvPr/>
        </p:nvSpPr>
        <p:spPr>
          <a:xfrm>
            <a:off x="1841500" y="5257800"/>
            <a:ext cx="8890000" cy="406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驱动 Agent（智能体）运行一项可复算实验，并指出样本与推断的边界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344E570-F271-463F-B1D2-CEE9154ABB22}"/>
              </a:ext>
            </a:extLst>
          </p:cNvPr>
          <p:cNvSpPr>
            <a:spLocks noGrp="1"/>
          </p:cNvSpPr>
          <p:nvPr/>
        </p:nvSpPr>
        <p:spPr>
          <a:xfrm>
            <a:off x="1841500" y="5689600"/>
            <a:ext cx="9144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能复现、能指出局限的结果才可检验——不把教学样本写成全市场证明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DAE2572B-3302-4CA5-AE10-A29276D0419F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第4课时·学习目标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833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1EDC60-0FD2-43C3-AC88-A0457E37D35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660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本课时教学框架与环节安排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2FFE8A7-27F4-43DB-867A-06C5178FBD4A}"/>
              </a:ext>
            </a:extLst>
          </p:cNvPr>
          <p:cNvSpPr>
            <a:spLocks noGrp="1"/>
          </p:cNvSpPr>
          <p:nvPr/>
        </p:nvSpPr>
        <p:spPr>
          <a:xfrm>
            <a:off x="952500" y="1879600"/>
            <a:ext cx="9906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八个环节：从决策偏差出发，走向一条可被第三人检查的执行纪律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41B7762-C8A2-4262-A254-E0B0A9405D76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078D7DE-E1DA-4394-810C-06A36C663C81}"/>
              </a:ext>
            </a:extLst>
          </p:cNvPr>
          <p:cNvSpPr>
            <a:spLocks noGrp="1"/>
          </p:cNvSpPr>
          <p:nvPr/>
        </p:nvSpPr>
        <p:spPr>
          <a:xfrm>
            <a:off x="1765300" y="2463800"/>
            <a:ext cx="431800" cy="431800"/>
          </a:xfrm>
          <a:prstGeom prst="ellipse">
            <a:avLst/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0C7C032-E6D4-4AFE-B48F-9C376310FE3B}"/>
              </a:ext>
            </a:extLst>
          </p:cNvPr>
          <p:cNvSpPr>
            <a:spLocks noGrp="1"/>
          </p:cNvSpPr>
          <p:nvPr/>
        </p:nvSpPr>
        <p:spPr>
          <a:xfrm>
            <a:off x="1765300" y="25400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DE5BD15-5B88-46D1-A571-AB4838510D3E}"/>
              </a:ext>
            </a:extLst>
          </p:cNvPr>
          <p:cNvSpPr>
            <a:spLocks noGrp="1"/>
          </p:cNvSpPr>
          <p:nvPr/>
        </p:nvSpPr>
        <p:spPr>
          <a:xfrm>
            <a:off x="1168400" y="29972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开场·两个同值赌局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0B10D30-DC11-419C-8BBC-6B80A0F63CB4}"/>
              </a:ext>
            </a:extLst>
          </p:cNvPr>
          <p:cNvSpPr>
            <a:spLocks noGrp="1"/>
          </p:cNvSpPr>
          <p:nvPr/>
        </p:nvSpPr>
        <p:spPr>
          <a:xfrm>
            <a:off x="1130300" y="33020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连接前三课，不给学生贴标签</a:t>
            </a:r>
            <a:endParaRPr sz="1100"/>
          </a:p>
        </p:txBody>
      </p:sp>
      <p:cxnSp>
        <p:nvCxnSpPr>
          <p:cNvPr id="60" name="Connector 9"/>
          <p:cNvCxnSpPr/>
          <p:nvPr/>
        </p:nvCxnSpPr>
        <p:spPr>
          <a:xfrm rot="-342635">
            <a:off x="3530917" y="29400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>
            <a:extLst>
              <a:ext uri="{FF2B5EF4-FFF2-40B4-BE49-F238E27FC236}">
                <a16:creationId xmlns:a16="http://schemas.microsoft.com/office/drawing/2014/main" id="{110DC26F-921D-4097-92C6-65928F62DDB2}"/>
              </a:ext>
            </a:extLst>
          </p:cNvPr>
          <p:cNvSpPr>
            <a:spLocks noGrp="1"/>
          </p:cNvSpPr>
          <p:nvPr/>
        </p:nvSpPr>
        <p:spPr>
          <a:xfrm>
            <a:off x="3708400" y="2362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7607437-E752-42EF-9E72-2261A35C1E14}"/>
              </a:ext>
            </a:extLst>
          </p:cNvPr>
          <p:cNvSpPr>
            <a:spLocks noGrp="1"/>
          </p:cNvSpPr>
          <p:nvPr/>
        </p:nvSpPr>
        <p:spPr>
          <a:xfrm>
            <a:off x="4521200" y="2463800"/>
            <a:ext cx="431800" cy="431800"/>
          </a:xfrm>
          <a:prstGeom prst="ellipse">
            <a:avLst/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8774919-86D1-41A9-A052-A803A1A53B0F}"/>
              </a:ext>
            </a:extLst>
          </p:cNvPr>
          <p:cNvSpPr>
            <a:spLocks noGrp="1"/>
          </p:cNvSpPr>
          <p:nvPr/>
        </p:nvSpPr>
        <p:spPr>
          <a:xfrm>
            <a:off x="4521200" y="25400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6E1CFAB2-04BD-4692-86D1-3CC2D6037366}"/>
              </a:ext>
            </a:extLst>
          </p:cNvPr>
          <p:cNvSpPr>
            <a:spLocks noGrp="1"/>
          </p:cNvSpPr>
          <p:nvPr/>
        </p:nvSpPr>
        <p:spPr>
          <a:xfrm>
            <a:off x="3924300" y="29972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BPT·目标与心理账户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3A29318-011F-469D-AE88-681539AF60CA}"/>
              </a:ext>
            </a:extLst>
          </p:cNvPr>
          <p:cNvSpPr>
            <a:spLocks noGrp="1"/>
          </p:cNvSpPr>
          <p:nvPr/>
        </p:nvSpPr>
        <p:spPr>
          <a:xfrm>
            <a:off x="3886200" y="33020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100万元目标约束算例</a:t>
            </a:r>
            <a:endParaRPr sz="1100"/>
          </a:p>
        </p:txBody>
      </p:sp>
      <p:cxnSp>
        <p:nvCxnSpPr>
          <p:cNvPr id="66" name="Connector 15"/>
          <p:cNvCxnSpPr/>
          <p:nvPr/>
        </p:nvCxnSpPr>
        <p:spPr>
          <a:xfrm rot="-342635">
            <a:off x="6286817" y="29400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>
            <a:extLst>
              <a:ext uri="{FF2B5EF4-FFF2-40B4-BE49-F238E27FC236}">
                <a16:creationId xmlns:a16="http://schemas.microsoft.com/office/drawing/2014/main" id="{B9F7EA62-CB44-4B02-8AFC-4EAB1F319619}"/>
              </a:ext>
            </a:extLst>
          </p:cNvPr>
          <p:cNvSpPr>
            <a:spLocks noGrp="1"/>
          </p:cNvSpPr>
          <p:nvPr/>
        </p:nvSpPr>
        <p:spPr>
          <a:xfrm>
            <a:off x="6464300" y="2362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9B10101A-0832-465E-8224-FDF454B6EBE8}"/>
              </a:ext>
            </a:extLst>
          </p:cNvPr>
          <p:cNvSpPr>
            <a:spLocks noGrp="1"/>
          </p:cNvSpPr>
          <p:nvPr/>
        </p:nvSpPr>
        <p:spPr>
          <a:xfrm>
            <a:off x="7277100" y="2463800"/>
            <a:ext cx="431800" cy="431800"/>
          </a:xfrm>
          <a:prstGeom prst="ellipse">
            <a:avLst/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AB07F54E-35D7-4CDD-AA75-5586F6BD321F}"/>
              </a:ext>
            </a:extLst>
          </p:cNvPr>
          <p:cNvSpPr>
            <a:spLocks noGrp="1"/>
          </p:cNvSpPr>
          <p:nvPr/>
        </p:nvSpPr>
        <p:spPr>
          <a:xfrm>
            <a:off x="7277100" y="25400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865E3FB-6118-43EB-995F-0C1CC648C8C8}"/>
              </a:ext>
            </a:extLst>
          </p:cNvPr>
          <p:cNvSpPr>
            <a:spLocks noGrp="1"/>
          </p:cNvSpPr>
          <p:nvPr/>
        </p:nvSpPr>
        <p:spPr>
          <a:xfrm>
            <a:off x="6680200" y="29972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BAPM·924案例</a:t>
            </a:r>
            <a:endParaRPr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62324C65-5046-4296-B371-6917003F402B}"/>
              </a:ext>
            </a:extLst>
          </p:cNvPr>
          <p:cNvSpPr>
            <a:spLocks noGrp="1"/>
          </p:cNvSpPr>
          <p:nvPr/>
        </p:nvSpPr>
        <p:spPr>
          <a:xfrm>
            <a:off x="6642100" y="33020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有情绪不等于有套利</a:t>
            </a:r>
            <a:endParaRPr sz="1100"/>
          </a:p>
        </p:txBody>
      </p:sp>
      <p:cxnSp>
        <p:nvCxnSpPr>
          <p:cNvPr id="72" name="Connector 21"/>
          <p:cNvCxnSpPr/>
          <p:nvPr/>
        </p:nvCxnSpPr>
        <p:spPr>
          <a:xfrm rot="-342635">
            <a:off x="9042717" y="29400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>
            <a:extLst>
              <a:ext uri="{FF2B5EF4-FFF2-40B4-BE49-F238E27FC236}">
                <a16:creationId xmlns:a16="http://schemas.microsoft.com/office/drawing/2014/main" id="{7F85E0F1-F85B-413F-8FF1-93513FBF3CA3}"/>
              </a:ext>
            </a:extLst>
          </p:cNvPr>
          <p:cNvSpPr>
            <a:spLocks noGrp="1"/>
          </p:cNvSpPr>
          <p:nvPr/>
        </p:nvSpPr>
        <p:spPr>
          <a:xfrm>
            <a:off x="9220200" y="2362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CC21EC5-9ED7-4724-8E3A-AD21364CF61E}"/>
              </a:ext>
            </a:extLst>
          </p:cNvPr>
          <p:cNvSpPr>
            <a:spLocks noGrp="1"/>
          </p:cNvSpPr>
          <p:nvPr/>
        </p:nvSpPr>
        <p:spPr>
          <a:xfrm>
            <a:off x="10033000" y="2463800"/>
            <a:ext cx="431800" cy="431800"/>
          </a:xfrm>
          <a:prstGeom prst="ellipse">
            <a:avLst/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B92A5C9B-EA0A-414D-A8EC-6B85655A2019}"/>
              </a:ext>
            </a:extLst>
          </p:cNvPr>
          <p:cNvSpPr>
            <a:spLocks noGrp="1"/>
          </p:cNvSpPr>
          <p:nvPr/>
        </p:nvSpPr>
        <p:spPr>
          <a:xfrm>
            <a:off x="10033000" y="25400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21C894DF-D3AD-44C2-92C8-2BE27267C1B8}"/>
              </a:ext>
            </a:extLst>
          </p:cNvPr>
          <p:cNvSpPr>
            <a:spLocks noGrp="1"/>
          </p:cNvSpPr>
          <p:nvPr/>
        </p:nvSpPr>
        <p:spPr>
          <a:xfrm>
            <a:off x="9436100" y="29972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动量与反转</a:t>
            </a:r>
            <a:endParaRPr sz="1100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7DD4D62-DE2E-482F-B719-C35E2D8A0B3A}"/>
              </a:ext>
            </a:extLst>
          </p:cNvPr>
          <p:cNvSpPr>
            <a:spLocks noGrp="1"/>
          </p:cNvSpPr>
          <p:nvPr/>
        </p:nvSpPr>
        <p:spPr>
          <a:xfrm>
            <a:off x="9398000" y="33020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先把时间轴写对</a:t>
            </a:r>
            <a:endParaRPr sz="1100"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30C4D84-5736-4CE6-A041-72F1C6A8F0BF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218730AE-02D2-4E20-9FB2-D50BA7BECE04}"/>
              </a:ext>
            </a:extLst>
          </p:cNvPr>
          <p:cNvSpPr>
            <a:spLocks noGrp="1"/>
          </p:cNvSpPr>
          <p:nvPr/>
        </p:nvSpPr>
        <p:spPr>
          <a:xfrm>
            <a:off x="1765300" y="4140200"/>
            <a:ext cx="431800" cy="431800"/>
          </a:xfrm>
          <a:prstGeom prst="ellipse">
            <a:avLst/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AECCF2ED-4544-42A8-9E9B-0550082BE10C}"/>
              </a:ext>
            </a:extLst>
          </p:cNvPr>
          <p:cNvSpPr>
            <a:spLocks noGrp="1"/>
          </p:cNvSpPr>
          <p:nvPr/>
        </p:nvSpPr>
        <p:spPr>
          <a:xfrm>
            <a:off x="1765300" y="42164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100"/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9EBC6D52-0349-4D6E-B4A1-1B86C1C9EB74}"/>
              </a:ext>
            </a:extLst>
          </p:cNvPr>
          <p:cNvSpPr>
            <a:spLocks noGrp="1"/>
          </p:cNvSpPr>
          <p:nvPr/>
        </p:nvSpPr>
        <p:spPr>
          <a:xfrm>
            <a:off x="1168400" y="46736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Agent实证演示</a:t>
            </a:r>
            <a:endParaRPr sz="1100"/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B0A2D755-1B2E-45A6-BFEA-AFEB10467378}"/>
              </a:ext>
            </a:extLst>
          </p:cNvPr>
          <p:cNvSpPr>
            <a:spLocks noGrp="1"/>
          </p:cNvSpPr>
          <p:nvPr/>
        </p:nvSpPr>
        <p:spPr>
          <a:xfrm>
            <a:off x="1130300" y="49784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20股教学池实测三屏</a:t>
            </a:r>
            <a:endParaRPr sz="1100"/>
          </a:p>
        </p:txBody>
      </p:sp>
      <p:cxnSp>
        <p:nvCxnSpPr>
          <p:cNvPr id="83" name="Connector 32"/>
          <p:cNvCxnSpPr/>
          <p:nvPr/>
        </p:nvCxnSpPr>
        <p:spPr>
          <a:xfrm rot="-342635">
            <a:off x="3530917" y="46164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3" name="AutoShape 33">
            <a:extLst>
              <a:ext uri="{FF2B5EF4-FFF2-40B4-BE49-F238E27FC236}">
                <a16:creationId xmlns:a16="http://schemas.microsoft.com/office/drawing/2014/main" id="{74B1EADD-C4E1-4EF8-8D1D-519AE53BD142}"/>
              </a:ext>
            </a:extLst>
          </p:cNvPr>
          <p:cNvSpPr>
            <a:spLocks noGrp="1"/>
          </p:cNvSpPr>
          <p:nvPr/>
        </p:nvSpPr>
        <p:spPr>
          <a:xfrm>
            <a:off x="3708400" y="40386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0C7BB3FB-DFA6-4FDF-AD04-B6DADC702F30}"/>
              </a:ext>
            </a:extLst>
          </p:cNvPr>
          <p:cNvSpPr>
            <a:spLocks noGrp="1"/>
          </p:cNvSpPr>
          <p:nvPr/>
        </p:nvSpPr>
        <p:spPr>
          <a:xfrm>
            <a:off x="4521200" y="4140200"/>
            <a:ext cx="431800" cy="431800"/>
          </a:xfrm>
          <a:prstGeom prst="ellipse">
            <a:avLst/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153AC5DE-9B97-4A97-B1C7-0351C7F824F3}"/>
              </a:ext>
            </a:extLst>
          </p:cNvPr>
          <p:cNvSpPr>
            <a:spLocks noGrp="1"/>
          </p:cNvSpPr>
          <p:nvPr/>
        </p:nvSpPr>
        <p:spPr>
          <a:xfrm>
            <a:off x="4521200" y="42164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100"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D680F5E4-5750-4B1B-A501-4F24C90C3DFD}"/>
              </a:ext>
            </a:extLst>
          </p:cNvPr>
          <p:cNvSpPr>
            <a:spLocks noGrp="1"/>
          </p:cNvSpPr>
          <p:nvPr/>
        </p:nvSpPr>
        <p:spPr>
          <a:xfrm>
            <a:off x="3924300" y="46736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M指标（同向变动）</a:t>
            </a:r>
            <a:endParaRPr sz="1100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D23178F5-1886-41DC-9258-BBB755AADCE1}"/>
              </a:ext>
            </a:extLst>
          </p:cNvPr>
          <p:cNvSpPr>
            <a:spLocks noGrp="1"/>
          </p:cNvSpPr>
          <p:nvPr/>
        </p:nvSpPr>
        <p:spPr>
          <a:xfrm>
            <a:off x="3886200" y="49784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同向变动不等于交易动机</a:t>
            </a:r>
            <a:endParaRPr sz="1100"/>
          </a:p>
        </p:txBody>
      </p:sp>
      <p:cxnSp>
        <p:nvCxnSpPr>
          <p:cNvPr id="89" name="Connector 38"/>
          <p:cNvCxnSpPr/>
          <p:nvPr/>
        </p:nvCxnSpPr>
        <p:spPr>
          <a:xfrm rot="-342635">
            <a:off x="6286817" y="46164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9" name="AutoShape 39">
            <a:extLst>
              <a:ext uri="{FF2B5EF4-FFF2-40B4-BE49-F238E27FC236}">
                <a16:creationId xmlns:a16="http://schemas.microsoft.com/office/drawing/2014/main" id="{AC05CB1E-9C8C-4DEE-96BB-0C06312871DC}"/>
              </a:ext>
            </a:extLst>
          </p:cNvPr>
          <p:cNvSpPr>
            <a:spLocks noGrp="1"/>
          </p:cNvSpPr>
          <p:nvPr/>
        </p:nvSpPr>
        <p:spPr>
          <a:xfrm>
            <a:off x="6464300" y="40386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0A2EC086-15E7-4742-A47C-15A978C69921}"/>
              </a:ext>
            </a:extLst>
          </p:cNvPr>
          <p:cNvSpPr>
            <a:spLocks noGrp="1"/>
          </p:cNvSpPr>
          <p:nvPr/>
        </p:nvSpPr>
        <p:spPr>
          <a:xfrm>
            <a:off x="7277100" y="4140200"/>
            <a:ext cx="431800" cy="431800"/>
          </a:xfrm>
          <a:prstGeom prst="ellipse">
            <a:avLst/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EFCF3CBB-27CE-427E-8CFC-6D6A4FB040FF}"/>
              </a:ext>
            </a:extLst>
          </p:cNvPr>
          <p:cNvSpPr>
            <a:spLocks noGrp="1"/>
          </p:cNvSpPr>
          <p:nvPr/>
        </p:nvSpPr>
        <p:spPr>
          <a:xfrm>
            <a:off x="7277100" y="42164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100"/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E865CD3C-C928-46DB-8AA0-94F8175F6293}"/>
              </a:ext>
            </a:extLst>
          </p:cNvPr>
          <p:cNvSpPr>
            <a:spLocks noGrp="1"/>
          </p:cNvSpPr>
          <p:nvPr/>
        </p:nvSpPr>
        <p:spPr>
          <a:xfrm>
            <a:off x="6680200" y="4673600"/>
            <a:ext cx="228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小组任务·Memo（备忘录）</a:t>
            </a:r>
            <a:endParaRPr sz="1100"/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0BBF072-1283-4A06-A752-371D0868B0B8}"/>
              </a:ext>
            </a:extLst>
          </p:cNvPr>
          <p:cNvSpPr>
            <a:spLocks noGrp="1"/>
          </p:cNvSpPr>
          <p:nvPr/>
        </p:nvSpPr>
        <p:spPr>
          <a:xfrm>
            <a:off x="6642100" y="49784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目标-假说-证据-纪律</a:t>
            </a:r>
            <a:endParaRPr sz="1100"/>
          </a:p>
        </p:txBody>
      </p:sp>
      <p:cxnSp>
        <p:nvCxnSpPr>
          <p:cNvPr id="95" name="Connector 44"/>
          <p:cNvCxnSpPr/>
          <p:nvPr/>
        </p:nvCxnSpPr>
        <p:spPr>
          <a:xfrm rot="-342635">
            <a:off x="9042717" y="4616450"/>
            <a:ext cx="127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5" name="AutoShape 45">
            <a:extLst>
              <a:ext uri="{FF2B5EF4-FFF2-40B4-BE49-F238E27FC236}">
                <a16:creationId xmlns:a16="http://schemas.microsoft.com/office/drawing/2014/main" id="{B65D653C-0A46-439C-BC43-ECBBA099F959}"/>
              </a:ext>
            </a:extLst>
          </p:cNvPr>
          <p:cNvSpPr>
            <a:spLocks noGrp="1"/>
          </p:cNvSpPr>
          <p:nvPr/>
        </p:nvSpPr>
        <p:spPr>
          <a:xfrm>
            <a:off x="9220200" y="40386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6" name="AutoShape 46">
            <a:extLst>
              <a:ext uri="{FF2B5EF4-FFF2-40B4-BE49-F238E27FC236}">
                <a16:creationId xmlns:a16="http://schemas.microsoft.com/office/drawing/2014/main" id="{ADA58076-8AB1-456C-81A1-AE9905FEFDAC}"/>
              </a:ext>
            </a:extLst>
          </p:cNvPr>
          <p:cNvSpPr>
            <a:spLocks noGrp="1"/>
          </p:cNvSpPr>
          <p:nvPr/>
        </p:nvSpPr>
        <p:spPr>
          <a:xfrm>
            <a:off x="10033000" y="4140200"/>
            <a:ext cx="431800" cy="431800"/>
          </a:xfrm>
          <a:prstGeom prst="ellipse">
            <a:avLst/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47" name="AutoShape 47">
            <a:extLst>
              <a:ext uri="{FF2B5EF4-FFF2-40B4-BE49-F238E27FC236}">
                <a16:creationId xmlns:a16="http://schemas.microsoft.com/office/drawing/2014/main" id="{7CFDE13B-A154-4F0B-A191-0FF4FB256737}"/>
              </a:ext>
            </a:extLst>
          </p:cNvPr>
          <p:cNvSpPr>
            <a:spLocks noGrp="1"/>
          </p:cNvSpPr>
          <p:nvPr/>
        </p:nvSpPr>
        <p:spPr>
          <a:xfrm>
            <a:off x="10033000" y="4216400"/>
            <a:ext cx="4318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100"/>
          </a:p>
        </p:txBody>
      </p:sp>
      <p:sp>
        <p:nvSpPr>
          <p:cNvPr id="48" name="AutoShape 48">
            <a:extLst>
              <a:ext uri="{FF2B5EF4-FFF2-40B4-BE49-F238E27FC236}">
                <a16:creationId xmlns:a16="http://schemas.microsoft.com/office/drawing/2014/main" id="{99203BA7-B606-4294-8398-C852104EBFF1}"/>
              </a:ext>
            </a:extLst>
          </p:cNvPr>
          <p:cNvSpPr>
            <a:spLocks noGrp="1"/>
          </p:cNvSpPr>
          <p:nvPr/>
        </p:nvSpPr>
        <p:spPr>
          <a:xfrm>
            <a:off x="9436100" y="4673600"/>
            <a:ext cx="21082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退出题</a:t>
            </a:r>
            <a:endParaRPr sz="1100"/>
          </a:p>
        </p:txBody>
      </p:sp>
      <p:sp>
        <p:nvSpPr>
          <p:cNvPr id="49" name="AutoShape 49">
            <a:extLst>
              <a:ext uri="{FF2B5EF4-FFF2-40B4-BE49-F238E27FC236}">
                <a16:creationId xmlns:a16="http://schemas.microsoft.com/office/drawing/2014/main" id="{F101DE79-B406-4191-AEDE-4CA191565560}"/>
              </a:ext>
            </a:extLst>
          </p:cNvPr>
          <p:cNvSpPr>
            <a:spLocks noGrp="1"/>
          </p:cNvSpPr>
          <p:nvPr/>
        </p:nvSpPr>
        <p:spPr>
          <a:xfrm>
            <a:off x="9398000" y="4978400"/>
            <a:ext cx="21844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区分赚了钱、有超额、证明机制</a:t>
            </a:r>
            <a:endParaRPr sz="1100"/>
          </a:p>
        </p:txBody>
      </p:sp>
      <p:sp>
        <p:nvSpPr>
          <p:cNvPr id="50" name="AutoShape 50">
            <a:extLst>
              <a:ext uri="{FF2B5EF4-FFF2-40B4-BE49-F238E27FC236}">
                <a16:creationId xmlns:a16="http://schemas.microsoft.com/office/drawing/2014/main" id="{B3298BF8-F7EF-4D43-AC2F-E96B8A05BF8C}"/>
              </a:ext>
            </a:extLst>
          </p:cNvPr>
          <p:cNvSpPr>
            <a:spLocks noGrp="1"/>
          </p:cNvSpPr>
          <p:nvPr/>
        </p:nvSpPr>
        <p:spPr>
          <a:xfrm>
            <a:off x="952500" y="5486400"/>
            <a:ext cx="10363200" cy="482600"/>
          </a:xfrm>
          <a:prstGeom prst="roundRect">
            <a:avLst>
              <a:gd name="adj" fmla="val 2105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1" name="AutoShape 51">
            <a:extLst>
              <a:ext uri="{FF2B5EF4-FFF2-40B4-BE49-F238E27FC236}">
                <a16:creationId xmlns:a16="http://schemas.microsoft.com/office/drawing/2014/main" id="{4F032A83-02F9-45D9-B1D4-59B4DB6DF7DD}"/>
              </a:ext>
            </a:extLst>
          </p:cNvPr>
          <p:cNvSpPr>
            <a:spLocks noGrp="1"/>
          </p:cNvSpPr>
          <p:nvPr/>
        </p:nvSpPr>
        <p:spPr>
          <a:xfrm>
            <a:off x="1206500" y="5588000"/>
            <a:ext cx="9906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核心主线：先把目标写清楚，再把规则固定下来，让数据检验规则，让记录约束事后解释</a:t>
            </a:r>
            <a:endParaRPr sz="1100"/>
          </a:p>
        </p:txBody>
      </p:sp>
      <p:sp>
        <p:nvSpPr>
          <p:cNvPr id="52" name="AutoShape 52">
            <a:extLst>
              <a:ext uri="{FF2B5EF4-FFF2-40B4-BE49-F238E27FC236}">
                <a16:creationId xmlns:a16="http://schemas.microsoft.com/office/drawing/2014/main" id="{18ABBCCE-3FBD-4CAB-9AC6-92EC83B7376A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第4课时·课程路线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999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EDAFC8A-4B6E-4C68-98B7-732286F56184}"/>
              </a:ext>
            </a:extLst>
          </p:cNvPr>
          <p:cNvSpPr>
            <a:spLocks noGrp="1"/>
          </p:cNvSpPr>
          <p:nvPr/>
        </p:nvSpPr>
        <p:spPr>
          <a:xfrm>
            <a:off x="990600" y="2349500"/>
            <a:ext cx="5080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第一部分·行为与决策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23EBA46-696E-493C-A846-1983F115712A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60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0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两个同值赌局，为什么选择会反转？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2A7C85B-8CA8-4142-B1D3-533D1BA48899}"/>
              </a:ext>
            </a:extLst>
          </p:cNvPr>
          <p:cNvSpPr>
            <a:spLocks noGrp="1"/>
          </p:cNvSpPr>
          <p:nvPr/>
        </p:nvSpPr>
        <p:spPr>
          <a:xfrm>
            <a:off x="1041400" y="3784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7E636C2-C986-4DD3-8A4E-FD6426EC9948}"/>
              </a:ext>
            </a:extLst>
          </p:cNvPr>
          <p:cNvSpPr>
            <a:spLocks noGrp="1"/>
          </p:cNvSpPr>
          <p:nvPr/>
        </p:nvSpPr>
        <p:spPr>
          <a:xfrm>
            <a:off x="990600" y="4826000"/>
            <a:ext cx="9906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模型之外，还有做决定的人——先从"为什么偏离计划"开始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47FF107-FED6-4B9B-817E-BBA614B9E010}"/>
              </a:ext>
            </a:extLst>
          </p:cNvPr>
          <p:cNvSpPr>
            <a:spLocks noGrp="1"/>
          </p:cNvSpPr>
          <p:nvPr/>
        </p:nvSpPr>
        <p:spPr>
          <a:xfrm>
            <a:off x="990600" y="6184900"/>
            <a:ext cx="381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第4课时·行为与决策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430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26C5A5E-2B48-4C52-8011-F6D8A1A2855E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两个同值赌局：同一批人，选择会反转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D454F29-4CE8-4328-9D00-CDD7957D18F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两行中各方案的期望金额相同。若第一行选A、第二行选B，就是收益区间求稳、损失区间愿意冒险；一次投票不能据此诊断人格。</a:t>
            </a:r>
            <a:endParaRPr sz="1100"/>
          </a:p>
        </p:txBody>
      </p:sp>
      <p:graphicFrame>
        <p:nvGraphicFramePr>
          <p:cNvPr id="12" name="Table 4"/>
          <p:cNvGraphicFramePr/>
          <p:nvPr/>
        </p:nvGraphicFramePr>
        <p:xfrm>
          <a:off x="952500" y="2489200"/>
          <a:ext cx="10287000" cy="150622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情境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方案A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方案B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确定获得500元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50%获得1000元，50%获得0元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损失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确定损失500元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50%损失1000元，50%损失0元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43225E1A-043E-4806-8309-9AB37A701C40}"/>
              </a:ext>
            </a:extLst>
          </p:cNvPr>
          <p:cNvSpPr>
            <a:spLocks noGrp="1"/>
          </p:cNvSpPr>
          <p:nvPr/>
        </p:nvSpPr>
        <p:spPr>
          <a:xfrm>
            <a:off x="952500" y="4368800"/>
            <a:ext cx="3302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参考点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按相对于参考点的变化做判断，而不是绝对财富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11EC1F0-A60B-4D26-8DE3-501CFAE6264F}"/>
              </a:ext>
            </a:extLst>
          </p:cNvPr>
          <p:cNvSpPr>
            <a:spLocks noGrp="1"/>
          </p:cNvSpPr>
          <p:nvPr/>
        </p:nvSpPr>
        <p:spPr>
          <a:xfrm>
            <a:off x="4572000" y="4368800"/>
            <a:ext cx="3302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不对称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损失一侧更陡——损失厌恶不等于风险厌恶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8F2A195-840F-4F45-8ED0-B244C48BBCDA}"/>
              </a:ext>
            </a:extLst>
          </p:cNvPr>
          <p:cNvSpPr>
            <a:spLocks noGrp="1"/>
          </p:cNvSpPr>
          <p:nvPr/>
        </p:nvSpPr>
        <p:spPr>
          <a:xfrm>
            <a:off x="8191500" y="4368800"/>
            <a:ext cx="3048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概率权重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风险偏好会随概率和情境改变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EC8E99C5-98B6-4745-A09B-C6BDE8BE9181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第4课时·行为与决策·出处：Kahneman &amp; Tversky (1979)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937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E635A5A-0682-41E7-8D3E-315184EEF8E1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展望效用理论：价值函数与权重函数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25A08CC-95C9-46E2-9DEB-82ACF47F95DA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它把上一页的三种直觉——参考点、不对称、概率权重——放进一个统一框架。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2AED245-7031-4645-9BF6-166E39FAD907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5651500" cy="1041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参考点依赖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价值按“相对于参考点的损益”编码，参考点通常是现状或目标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A61EB83-C261-477B-B5C2-11766A3602BC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5651500" cy="1041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价值函数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盈利区凹（求稳）、亏损区凸（冒险）；亏损端更陡，损失厌恶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DAF16F3-A6AE-442F-9775-D9F47C42E8C1}"/>
              </a:ext>
            </a:extLst>
          </p:cNvPr>
          <p:cNvSpPr>
            <a:spLocks noGrp="1"/>
          </p:cNvSpPr>
          <p:nvPr/>
        </p:nvSpPr>
        <p:spPr>
          <a:xfrm>
            <a:off x="952500" y="4749800"/>
            <a:ext cx="5651500" cy="1041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概率权重</a:t>
            </a:r>
            <a:br/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小概率被高估（彩票与保险并存）、大概率被低估</a:t>
            </a:r>
            <a:endParaRPr sz="1100"/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1500" y="2413000"/>
            <a:ext cx="4318000" cy="2667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AutoShape 8">
                <a:extLst>
                  <a:ext uri="{FF2B5EF4-FFF2-40B4-BE49-F238E27FC236}">
                    <a16:creationId xmlns:a16="http://schemas.microsoft.com/office/drawing/2014/main" id="{65D6820A-0B61-4EB4-89DB-0B712A3EBC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921500" y="5156200"/>
                <a:ext cx="4318000" cy="2540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sz="1100" b="0" i="0" u="none">
                    <a:solidFill>
                      <a:srgbClr val="787C84"/>
                    </a:solidFill>
                    <a:latin typeface="微软雅黑"/>
                    <a:ea typeface="微软雅黑"/>
                    <a:cs typeface="微软雅黑"/>
                  </a:rPr>
                  <a:t>价值函数 </a:t>
                </a:r>
                <a14:m>
                  <m:oMath xmlns:m="http://schemas.openxmlformats.org/officeDocument/2006/math">
                    <m:r>
                      <a:rPr sz="1100">
                        <a:solidFill>
                          <a:srgbClr val="787C84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𝑣</m:t>
                    </m:r>
                    <m:d>
                      <m:dPr>
                        <m:ctrlPr>
                          <a:rPr sz="1100">
                            <a:solidFill>
                              <a:srgbClr val="787C84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dPr>
                      <m:e>
                        <m:r>
                          <a:rPr sz="1100">
                            <a:solidFill>
                              <a:srgbClr val="787C84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𝛥</m:t>
                        </m:r>
                      </m:e>
                    </m:d>
                  </m:oMath>
                </a14:m>
                <a:r>
                  <a:rPr sz="1100" b="0" i="0" u="none">
                    <a:solidFill>
                      <a:srgbClr val="787C84"/>
                    </a:solidFill>
                    <a:latin typeface="微软雅黑"/>
                    <a:ea typeface="微软雅黑"/>
                    <a:cs typeface="微软雅黑"/>
                  </a:rPr>
                  <a:t>：过参考点的 S 形，亏损端更陡</a:t>
                </a:r>
                <a:endParaRPr sz="1100"/>
              </a:p>
            </p:txBody>
          </p:sp>
        </mc:Choice>
        <mc:Fallback>
          <p:sp>
            <p:nvSpPr>
              <p:cNvPr id="8" name="AutoShape 8">
                <a:extLst>
                  <a:ext uri="{FF2B5EF4-FFF2-40B4-BE49-F238E27FC236}">
                    <a16:creationId xmlns:a16="http://schemas.microsoft.com/office/drawing/2014/main" id="{65D6820A-0B61-4EB4-89DB-0B712A3EBC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500" y="5156200"/>
                <a:ext cx="4318000" cy="254000"/>
              </a:xfrm>
              <a:prstGeom prst="rect">
                <a:avLst/>
              </a:prstGeom>
              <a:blipFill>
                <a:blip r:embed="rId5"/>
                <a:stretch>
                  <a:fillRect b="-23810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9">
            <a:extLst>
              <a:ext uri="{FF2B5EF4-FFF2-40B4-BE49-F238E27FC236}">
                <a16:creationId xmlns:a16="http://schemas.microsoft.com/office/drawing/2014/main" id="{ABB06B07-6E61-4281-8FD8-7191A7271EE4}"/>
              </a:ext>
            </a:extLst>
          </p:cNvPr>
          <p:cNvSpPr>
            <a:spLocks noGrp="1"/>
          </p:cNvSpPr>
          <p:nvPr/>
        </p:nvSpPr>
        <p:spPr>
          <a:xfrm>
            <a:off x="952500" y="5842000"/>
            <a:ext cx="1066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总价值：V=Σπ(pᵢ)v(xᵢ−r)；先评估相对得失，再用决策权重加总。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3BBA033-7AA8-439F-A36C-6A680C23E2A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第4课时·行为与决策·出处：Kahneman &amp; Tversky (1979, Econometrica)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497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98B8CF4-6206-4548-984C-9E82EC842FA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BPT：从波动最小，到目标不落空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336F5ED-A600-4373-ADED-F5CA8D9C5E07}"/>
              </a:ext>
            </a:extLst>
          </p:cNvPr>
          <p:cNvSpPr>
            <a:spLocks noGrp="1"/>
          </p:cNvSpPr>
          <p:nvPr/>
        </p:nvSpPr>
        <p:spPr>
          <a:xfrm>
            <a:off x="952500" y="2235200"/>
            <a:ext cx="4572000" cy="152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MPT（现代组合理论）问：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收益与风险怎么权衡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CDCF360-EA50-4634-97E2-6729217A2E6C}"/>
              </a:ext>
            </a:extLst>
          </p:cNvPr>
          <p:cNvSpPr>
            <a:spLocks noGrp="1"/>
          </p:cNvSpPr>
          <p:nvPr/>
        </p:nvSpPr>
        <p:spPr>
          <a:xfrm>
            <a:off x="952500" y="2743200"/>
            <a:ext cx="4699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有效前沿与最优组合；所有钱放在同一张收益—风险地图上比较</a:t>
            </a:r>
            <a:endParaRPr sz="1100"/>
          </a:p>
        </p:txBody>
      </p:sp>
      <p:cxnSp>
        <p:nvCxnSpPr>
          <p:cNvPr id="15" name="Connector 5"/>
          <p:cNvCxnSpPr/>
          <p:nvPr/>
        </p:nvCxnSpPr>
        <p:spPr>
          <a:xfrm rot="5374345">
            <a:off x="4889500" y="3079774"/>
            <a:ext cx="1701800" cy="12700"/>
          </a:xfrm>
          <a:prstGeom prst="straightConnector1">
            <a:avLst/>
          </a:prstGeom>
          <a:ln w="12700" cap="flat">
            <a:solidFill>
              <a:srgbClr val="C8C4B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B1AF2D20-C1E5-4BC3-B760-E4866B9AA8BD}"/>
              </a:ext>
            </a:extLst>
          </p:cNvPr>
          <p:cNvSpPr>
            <a:spLocks noGrp="1"/>
          </p:cNvSpPr>
          <p:nvPr/>
        </p:nvSpPr>
        <p:spPr>
          <a:xfrm>
            <a:off x="5994400" y="2235200"/>
            <a:ext cx="4572000" cy="152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BPT 问：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钱要完成什么任务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5CD70CE-F488-4418-94E8-8CCF7D0832C2}"/>
              </a:ext>
            </a:extLst>
          </p:cNvPr>
          <p:cNvSpPr>
            <a:spLocks noGrp="1"/>
          </p:cNvSpPr>
          <p:nvPr/>
        </p:nvSpPr>
        <p:spPr>
          <a:xfrm>
            <a:off x="5994400" y="2743200"/>
            <a:ext cx="5334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目标、底线与心理账户；同一个人可以同时追求安全与小概率的高收益（Shefrin &amp; Statman, 2000）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1D56526-E14F-4144-96F7-A3E97080A990}"/>
              </a:ext>
            </a:extLst>
          </p:cNvPr>
          <p:cNvSpPr>
            <a:spLocks noGrp="1"/>
          </p:cNvSpPr>
          <p:nvPr/>
        </p:nvSpPr>
        <p:spPr>
          <a:xfrm>
            <a:off x="952500" y="4470400"/>
            <a:ext cx="10287000" cy="1168400"/>
          </a:xfrm>
          <a:prstGeom prst="roundRect">
            <a:avLst>
              <a:gd name="adj" fmla="val 8695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E3CF057-3107-45D8-B35D-1E6ECE32CABC}"/>
              </a:ext>
            </a:extLst>
          </p:cNvPr>
          <p:cNvSpPr>
            <a:spLocks noGrp="1"/>
          </p:cNvSpPr>
          <p:nvPr/>
        </p:nvSpPr>
        <p:spPr>
          <a:xfrm>
            <a:off x="1206500" y="4622800"/>
            <a:ext cx="6604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把目标写成约束（课堂目标规划表达）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14135C96-31D2-4C2F-8150-B35FFBB748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6500" y="5054600"/>
                <a:ext cx="9779000" cy="4572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08333"/>
                  </a:lnSpc>
                  <a:buNone/>
                </a:pPr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初始财富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𝑊</m:t>
                        </m:r>
                      </m:e>
                      <m:sub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0</m:t>
                        </m:r>
                      </m:sub>
                    </m:sSub>
                  </m:oMath>
                </a14:m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，到期财富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𝑊</m:t>
                        </m:r>
                      </m:e>
                      <m:sub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𝑇</m:t>
                        </m:r>
                      </m:sub>
                    </m:sSub>
                  </m:oMath>
                </a14:m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，目标底线 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𝐴</m:t>
                    </m:r>
                  </m:oMath>
                </a14:m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，允许失败概率 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𝜀</m:t>
                    </m:r>
                  </m:oMath>
                </a14:m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：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𝑃𝑟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(</m:t>
                    </m:r>
                    <m:sSub>
                      <m:sSubPr>
                        <m:ctrlP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sSubPr>
                      <m:e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𝑊</m:t>
                        </m:r>
                      </m:e>
                      <m:sub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𝑇</m:t>
                        </m:r>
                      </m:sub>
                    </m:sSub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&lt;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𝐴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)≤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𝜀</m:t>
                    </m:r>
                  </m:oMath>
                </a14:m>
                <a:endParaRPr sz="1100"/>
              </a:p>
            </p:txBody>
          </p:sp>
        </mc:Choice>
        <mc:Fallback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14135C96-31D2-4C2F-8150-B35FFBB74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5054600"/>
                <a:ext cx="9779000" cy="457200"/>
              </a:xfrm>
              <a:prstGeom prst="rect">
                <a:avLst/>
              </a:prstGeom>
              <a:blipFill>
                <a:blip r:embed="rId4"/>
                <a:stretch>
                  <a:fillRect l="-1122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11">
            <a:extLst>
              <a:ext uri="{FF2B5EF4-FFF2-40B4-BE49-F238E27FC236}">
                <a16:creationId xmlns:a16="http://schemas.microsoft.com/office/drawing/2014/main" id="{DB8D929C-D056-47D2-B4AD-4F9859EE9F66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431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第4课时·行为与决策·出处：Shefrin &amp; Statman (2000, JFQA·金融与数量分析季刊)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16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380FDF-1C9F-488B-A421-B2554D2B5C0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BPT 的心理账户：一座分层金字塔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8546FC-F87F-492C-A527-EF3361CFADB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5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心理账户把资产按目标分三层：保底、稳健、增长，各层独立设限、独立评估。</a:t>
            </a:r>
            <a:endParaRPr sz="1100"/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362200"/>
            <a:ext cx="4445000" cy="33020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CF2488CB-2F58-4CFF-A3C9-B6FFB28E430E}"/>
              </a:ext>
            </a:extLst>
          </p:cNvPr>
          <p:cNvSpPr>
            <a:spLocks noGrp="1"/>
          </p:cNvSpPr>
          <p:nvPr/>
        </p:nvSpPr>
        <p:spPr>
          <a:xfrm>
            <a:off x="5778500" y="2362200"/>
            <a:ext cx="5969000" cy="152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r>
              <a:rPr sz="1600" b="1">
                <a:solidFill>
                  <a:srgbClr val="F36C21"/>
                </a:solidFill>
              </a:rPr>
              <a:t>增长层　</a:t>
            </a:r>
            <a:r>
              <a:rPr sz="1600"/>
              <a:t>小概率高收益：期权、成长股、彩票式资产</a:t>
            </a:r>
          </a:p>
          <a:p>
            <a:r>
              <a:rPr sz="1600" b="1">
                <a:solidFill>
                  <a:srgbClr val="F36C21"/>
                </a:solidFill>
              </a:rPr>
              <a:t>稳健层　</a:t>
            </a:r>
            <a:r>
              <a:rPr sz="1600"/>
              <a:t>平衡波动与增长：债券、蓝筹、指数定投</a:t>
            </a:r>
          </a:p>
          <a:p>
            <a:r>
              <a:rPr sz="1600" b="1">
                <a:solidFill>
                  <a:srgbClr val="F36C21"/>
                </a:solidFill>
              </a:rPr>
              <a:t>安全层　</a:t>
            </a:r>
            <a:r>
              <a:rPr sz="1600"/>
              <a:t>现金、国债等；保险/年金须核验合同、期限与流动性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F774736-C3F7-460B-AE8E-11AE0C618AD0}"/>
              </a:ext>
            </a:extLst>
          </p:cNvPr>
          <p:cNvSpPr>
            <a:spLocks noGrp="1"/>
          </p:cNvSpPr>
          <p:nvPr/>
        </p:nvSpPr>
        <p:spPr>
          <a:xfrm>
            <a:off x="5778500" y="5588000"/>
            <a:ext cx="5969000" cy="457200"/>
          </a:xfrm>
          <a:prstGeom prst="roundRect">
            <a:avLst>
              <a:gd name="adj" fmla="val 2222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60ADE26-6971-4F30-8A24-0AB5F7900158}"/>
              </a:ext>
            </a:extLst>
          </p:cNvPr>
          <p:cNvSpPr>
            <a:spLocks noGrp="1"/>
          </p:cNvSpPr>
          <p:nvPr/>
        </p:nvSpPr>
        <p:spPr>
          <a:xfrm>
            <a:off x="5905500" y="5676900"/>
            <a:ext cx="5715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MPT 摊开一张收益—风险地图；BPT 按目标分层、独立管理。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2C77DA7-67E6-4C8C-BBE2-6A14A99F9353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第4课时·行为与决策·出处：Shefrin &amp; Statman (2000, JFQA·金融与数量分析季刊)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965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00A541-C2F9-41E3-A4F4-70318C71C62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底层：先让“目标不落空”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DE5E4ED-9646-49E7-B313-1D86FBC14021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安全层只做一件事：把到期财富跌破底线的概率，压到允许范围内。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D076CF2-FFA0-4842-88BD-851F2C800F49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3175000" cy="2032000"/>
          </a:xfrm>
          <a:prstGeom prst="roundRect">
            <a:avLst>
              <a:gd name="adj" fmla="val 50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5D15C4B-6C07-471C-BBDA-F18B2BA1196A}"/>
              </a:ext>
            </a:extLst>
          </p:cNvPr>
          <p:cNvSpPr>
            <a:spLocks noGrp="1"/>
          </p:cNvSpPr>
          <p:nvPr/>
        </p:nvSpPr>
        <p:spPr>
          <a:xfrm>
            <a:off x="1206500" y="2641600"/>
            <a:ext cx="266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服务的任务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9F45B37-9F74-44EB-9C0C-761F5E8F0F6E}"/>
              </a:ext>
            </a:extLst>
          </p:cNvPr>
          <p:cNvSpPr>
            <a:spLocks noGrp="1"/>
          </p:cNvSpPr>
          <p:nvPr/>
        </p:nvSpPr>
        <p:spPr>
          <a:xfrm>
            <a:off x="1206500" y="3048000"/>
            <a:ext cx="2667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未来必需支出：学费、养老、房贷、应急金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8A22D2F-11D3-4481-89EE-470EB074F247}"/>
              </a:ext>
            </a:extLst>
          </p:cNvPr>
          <p:cNvSpPr>
            <a:spLocks noGrp="1"/>
          </p:cNvSpPr>
          <p:nvPr/>
        </p:nvSpPr>
        <p:spPr>
          <a:xfrm>
            <a:off x="4318000" y="2413000"/>
            <a:ext cx="3175000" cy="2032000"/>
          </a:xfrm>
          <a:prstGeom prst="roundRect">
            <a:avLst>
              <a:gd name="adj" fmla="val 50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BB3EA1D-3463-494D-A912-59CB38570DB4}"/>
              </a:ext>
            </a:extLst>
          </p:cNvPr>
          <p:cNvSpPr>
            <a:spLocks noGrp="1"/>
          </p:cNvSpPr>
          <p:nvPr/>
        </p:nvSpPr>
        <p:spPr>
          <a:xfrm>
            <a:off x="4572000" y="2641600"/>
            <a:ext cx="266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典型工具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56D59B52-159C-4D45-8752-EF045E1FD823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2667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无风险资产、国债、存款、保险与年金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C3FB2BB-B7DE-4470-BFA8-C65B50A6453F}"/>
              </a:ext>
            </a:extLst>
          </p:cNvPr>
          <p:cNvSpPr>
            <a:spLocks noGrp="1"/>
          </p:cNvSpPr>
          <p:nvPr/>
        </p:nvSpPr>
        <p:spPr>
          <a:xfrm>
            <a:off x="7683500" y="2413000"/>
            <a:ext cx="3175000" cy="2032000"/>
          </a:xfrm>
          <a:prstGeom prst="roundRect">
            <a:avLst>
              <a:gd name="adj" fmla="val 50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CBC4B7C2-55CE-490A-9451-0070ADBC5A44}"/>
              </a:ext>
            </a:extLst>
          </p:cNvPr>
          <p:cNvSpPr>
            <a:spLocks noGrp="1"/>
          </p:cNvSpPr>
          <p:nvPr/>
        </p:nvSpPr>
        <p:spPr>
          <a:xfrm>
            <a:off x="7937500" y="2641600"/>
            <a:ext cx="266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数学约束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>
                <a:extLst>
                  <a:ext uri="{FF2B5EF4-FFF2-40B4-BE49-F238E27FC236}">
                    <a16:creationId xmlns:a16="http://schemas.microsoft.com/office/drawing/2014/main" id="{EDE337EF-D317-48B1-A7D7-C467A7B72EC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937500" y="3022600"/>
                <a:ext cx="2667000" cy="3810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𝑃𝑟</m:t>
                      </m:r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(</m:t>
                      </m:r>
                      <m:sSub>
                        <m:sSubPr>
                          <m:ctrlPr>
                            <a:rPr sz="14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4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𝑊</m:t>
                          </m:r>
                        </m:e>
                        <m:sub>
                          <m:r>
                            <a:rPr sz="14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𝑇</m:t>
                          </m:r>
                        </m:sub>
                      </m:sSub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&lt;</m:t>
                      </m:r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𝐴</m:t>
                      </m:r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)≤</m:t>
                      </m:r>
                      <m:r>
                        <a:rPr sz="14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𝜀</m:t>
                      </m:r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12" name="AutoShape 12">
                <a:extLst>
                  <a:ext uri="{FF2B5EF4-FFF2-40B4-BE49-F238E27FC236}">
                    <a16:creationId xmlns:a16="http://schemas.microsoft.com/office/drawing/2014/main" id="{EDE337EF-D317-48B1-A7D7-C467A7B72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0" y="3022600"/>
                <a:ext cx="2667000" cy="381000"/>
              </a:xfrm>
              <a:prstGeom prst="rect">
                <a:avLst/>
              </a:prstGeom>
              <a:blipFill>
                <a:blip r:embed="rId4"/>
                <a:stretch>
                  <a:fillRect l="-2283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13">
            <a:extLst>
              <a:ext uri="{FF2B5EF4-FFF2-40B4-BE49-F238E27FC236}">
                <a16:creationId xmlns:a16="http://schemas.microsoft.com/office/drawing/2014/main" id="{BBC27D62-55AA-4BED-9A7C-EF84CC676713}"/>
              </a:ext>
            </a:extLst>
          </p:cNvPr>
          <p:cNvSpPr>
            <a:spLocks noGrp="1"/>
          </p:cNvSpPr>
          <p:nvPr/>
        </p:nvSpPr>
        <p:spPr>
          <a:xfrm>
            <a:off x="7937500" y="3505200"/>
            <a:ext cx="2667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到期财富跌破底线 A 的概率，不超过允许失败概率 ε（示意 5%）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CE913A8-10B7-4B1C-90D5-BE4A992B0DBF}"/>
              </a:ext>
            </a:extLst>
          </p:cNvPr>
          <p:cNvSpPr>
            <a:spLocks noGrp="1"/>
          </p:cNvSpPr>
          <p:nvPr/>
        </p:nvSpPr>
        <p:spPr>
          <a:xfrm>
            <a:off x="952500" y="4826000"/>
            <a:ext cx="10287000" cy="1143000"/>
          </a:xfrm>
          <a:prstGeom prst="roundRect">
            <a:avLst>
              <a:gd name="adj" fmla="val 8888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10B93DC-67D8-4C20-8148-F65D10729799}"/>
              </a:ext>
            </a:extLst>
          </p:cNvPr>
          <p:cNvSpPr>
            <a:spLocks noGrp="1"/>
          </p:cNvSpPr>
          <p:nvPr/>
        </p:nvSpPr>
        <p:spPr>
          <a:xfrm>
            <a:off x="1206500" y="5003800"/>
            <a:ext cx="254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与展望理论衔接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808F8AD-3AB1-4BEE-B2B9-0DA91580E530}"/>
              </a:ext>
            </a:extLst>
          </p:cNvPr>
          <p:cNvSpPr>
            <a:spLocks noGrp="1"/>
          </p:cNvSpPr>
          <p:nvPr/>
        </p:nvSpPr>
        <p:spPr>
          <a:xfrm>
            <a:off x="1206500" y="5384800"/>
            <a:ext cx="9652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亏损端更陡——先锁死下限，再谈冒险；“先买保险，再买彩票”的保险，就放在这一层。</a:t>
            </a:r>
            <a:endParaRPr sz="11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524ECE0-4F48-4D1C-BD12-2AC3FDF5C854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第4课时·行为与决策·出处：Shefrin &amp; Statman (2000, JFQA·金融与数量分析季刊)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115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94E673-FD2B-4428-AA8E-9CE36472C9A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上层：用小概率高收益，满足“搏一把”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0854772-65DF-47AB-8632-9F29020BA3FB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增长层买的是“可能大涨”的机会，而不是稳稳的收益。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197974B-5376-4F0C-87A6-8FAE823A4FD0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4889500" cy="2540000"/>
          </a:xfrm>
          <a:prstGeom prst="roundRect">
            <a:avLst>
              <a:gd name="adj" fmla="val 4000"/>
            </a:avLst>
          </a:prstGeom>
          <a:solidFill>
            <a:srgbClr val="1E3C72">
              <a:alpha val="1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E2B4993-481F-4092-AD26-3460431660FE}"/>
              </a:ext>
            </a:extLst>
          </p:cNvPr>
          <p:cNvSpPr>
            <a:spLocks noGrp="1"/>
          </p:cNvSpPr>
          <p:nvPr/>
        </p:nvSpPr>
        <p:spPr>
          <a:xfrm>
            <a:off x="1206500" y="2616200"/>
            <a:ext cx="304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保险侧：确定的小支出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61B0133-CB69-447C-A985-40D0C8563A35}"/>
              </a:ext>
            </a:extLst>
          </p:cNvPr>
          <p:cNvSpPr>
            <a:spLocks noGrp="1"/>
          </p:cNvSpPr>
          <p:nvPr/>
        </p:nvSpPr>
        <p:spPr>
          <a:xfrm>
            <a:off x="1206500" y="3048000"/>
            <a:ext cx="43815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小概率的大损失被高估，愿付超过精算公平价的保费，买一个确定性。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1B18D3C-F7C0-4E46-B41B-45ED7791F316}"/>
              </a:ext>
            </a:extLst>
          </p:cNvPr>
          <p:cNvSpPr>
            <a:spLocks noGrp="1"/>
          </p:cNvSpPr>
          <p:nvPr/>
        </p:nvSpPr>
        <p:spPr>
          <a:xfrm>
            <a:off x="1206500" y="4013200"/>
            <a:ext cx="4381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对应概率权重：小概率损失被高估，确定性被看重。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83EE345-FC41-42E0-8056-A63E69FA799A}"/>
              </a:ext>
            </a:extLst>
          </p:cNvPr>
          <p:cNvSpPr>
            <a:spLocks noGrp="1"/>
          </p:cNvSpPr>
          <p:nvPr/>
        </p:nvSpPr>
        <p:spPr>
          <a:xfrm>
            <a:off x="6096000" y="2413000"/>
            <a:ext cx="5143500" cy="2540000"/>
          </a:xfrm>
          <a:prstGeom prst="roundRect">
            <a:avLst>
              <a:gd name="adj" fmla="val 4000"/>
            </a:avLst>
          </a:prstGeom>
          <a:solidFill>
            <a:srgbClr val="E8762C">
              <a:alpha val="12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56F1797-661C-4C37-B9F4-470008E2793B}"/>
              </a:ext>
            </a:extLst>
          </p:cNvPr>
          <p:cNvSpPr>
            <a:spLocks noGrp="1"/>
          </p:cNvSpPr>
          <p:nvPr/>
        </p:nvSpPr>
        <p:spPr>
          <a:xfrm>
            <a:off x="6350000" y="2616200"/>
            <a:ext cx="304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彩票侧：小概率高收益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EEE08F2-3E4A-4645-BDEF-BF3E8172ECA0}"/>
              </a:ext>
            </a:extLst>
          </p:cNvPr>
          <p:cNvSpPr>
            <a:spLocks noGrp="1"/>
          </p:cNvSpPr>
          <p:nvPr/>
        </p:nvSpPr>
        <p:spPr>
          <a:xfrm>
            <a:off x="6350000" y="3048000"/>
            <a:ext cx="46355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期权、成长股、新兴市场、彩票式资产；小概率高收益被高估，愿为“几乎不中”支付溢价。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A88CF1C-A219-4083-804A-E07AD921F720}"/>
              </a:ext>
            </a:extLst>
          </p:cNvPr>
          <p:cNvSpPr>
            <a:spLocks noGrp="1"/>
          </p:cNvSpPr>
          <p:nvPr/>
        </p:nvSpPr>
        <p:spPr>
          <a:xfrm>
            <a:off x="6350000" y="4013200"/>
            <a:ext cx="46355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对应概率权重：小概率收益被高估——同样来自展望理论。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C1DBA34-0F95-46E7-B3A6-53A070D061E1}"/>
              </a:ext>
            </a:extLst>
          </p:cNvPr>
          <p:cNvSpPr>
            <a:spLocks noGrp="1"/>
          </p:cNvSpPr>
          <p:nvPr/>
        </p:nvSpPr>
        <p:spPr>
          <a:xfrm>
            <a:off x="952500" y="5080000"/>
            <a:ext cx="10287000" cy="914400"/>
          </a:xfrm>
          <a:prstGeom prst="roundRect">
            <a:avLst>
              <a:gd name="adj" fmla="val 11111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C65D5E3-0246-40CE-B820-9CC8B905FB6D}"/>
              </a:ext>
            </a:extLst>
          </p:cNvPr>
          <p:cNvSpPr>
            <a:spLocks noGrp="1"/>
          </p:cNvSpPr>
          <p:nvPr/>
        </p:nvSpPr>
        <p:spPr>
          <a:xfrm>
            <a:off x="1206500" y="5232400"/>
            <a:ext cx="3048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一个投资者，两副面孔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EAF306E1-820E-4C4A-829A-53DFD03FAC50}"/>
              </a:ext>
            </a:extLst>
          </p:cNvPr>
          <p:cNvSpPr>
            <a:spLocks noGrp="1"/>
          </p:cNvSpPr>
          <p:nvPr/>
        </p:nvSpPr>
        <p:spPr>
          <a:xfrm>
            <a:off x="1206500" y="5562600"/>
            <a:ext cx="9779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“既买保险、又买彩票”不是矛盾：安全层保下限、增长层博上限，两个心理账户各自成立。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BE125AC-08EB-4007-A80A-3F5764098F58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787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第4课时·行为与决策·出处：Shefrin &amp; Statman (2000)；概率权重见 Kahneman &amp; Tversky (1979)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121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6A4F7A-1148-481F-8B93-5C8B5862A6D9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分层之后：看得见的投资行为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B3FB1CD-5BF6-4E69-9FF5-1DF606275CA2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把目标装进不同的心理账户，会改变可观察的投资行为。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2FD9FA1-FEF6-4EC9-8C41-28414313815F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FF2DE15-AE9A-445A-BE9E-4FF977A3D832}"/>
              </a:ext>
            </a:extLst>
          </p:cNvPr>
          <p:cNvSpPr>
            <a:spLocks noGrp="1"/>
          </p:cNvSpPr>
          <p:nvPr/>
        </p:nvSpPr>
        <p:spPr>
          <a:xfrm>
            <a:off x="1206500" y="2616200"/>
            <a:ext cx="762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8A74E7D-591A-4055-A41D-C2B794EF555C}"/>
              </a:ext>
            </a:extLst>
          </p:cNvPr>
          <p:cNvSpPr>
            <a:spLocks noGrp="1"/>
          </p:cNvSpPr>
          <p:nvPr/>
        </p:nvSpPr>
        <p:spPr>
          <a:xfrm>
            <a:off x="1206500" y="3022600"/>
            <a:ext cx="266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保守与激进并存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2B6F7B2-D5E1-462A-A776-63C24745F699}"/>
              </a:ext>
            </a:extLst>
          </p:cNvPr>
          <p:cNvSpPr>
            <a:spLocks noGrp="1"/>
          </p:cNvSpPr>
          <p:nvPr/>
        </p:nvSpPr>
        <p:spPr>
          <a:xfrm>
            <a:off x="1206500" y="3454400"/>
            <a:ext cx="2667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同一资金池里国债与成长股并存，各自独立管理，不再被视为矛盾。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DB50B83-5C2F-4EB5-9AFF-F98C46011E9A}"/>
              </a:ext>
            </a:extLst>
          </p:cNvPr>
          <p:cNvSpPr>
            <a:spLocks noGrp="1"/>
          </p:cNvSpPr>
          <p:nvPr/>
        </p:nvSpPr>
        <p:spPr>
          <a:xfrm>
            <a:off x="4318000" y="2413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EF58051-9EA5-4DFA-9EFB-83B84859E391}"/>
              </a:ext>
            </a:extLst>
          </p:cNvPr>
          <p:cNvSpPr>
            <a:spLocks noGrp="1"/>
          </p:cNvSpPr>
          <p:nvPr/>
        </p:nvSpPr>
        <p:spPr>
          <a:xfrm>
            <a:off x="4572000" y="2616200"/>
            <a:ext cx="762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6FFF260-E8C2-43F3-B045-7C152E7DC326}"/>
              </a:ext>
            </a:extLst>
          </p:cNvPr>
          <p:cNvSpPr>
            <a:spLocks noGrp="1"/>
          </p:cNvSpPr>
          <p:nvPr/>
        </p:nvSpPr>
        <p:spPr>
          <a:xfrm>
            <a:off x="4572000" y="3022600"/>
            <a:ext cx="266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对单层波动反应不同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8F631B14-EA6C-4C9E-A129-62901F69371E}"/>
              </a:ext>
            </a:extLst>
          </p:cNvPr>
          <p:cNvSpPr>
            <a:spLocks noGrp="1"/>
          </p:cNvSpPr>
          <p:nvPr/>
        </p:nvSpPr>
        <p:spPr>
          <a:xfrm>
            <a:off x="4572000" y="3454400"/>
            <a:ext cx="2667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增长层大跌不急于赎回，安全层微跌就警惕——两层的心情不一样。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9739407-043D-41E9-8C00-0AF0C9EE3C8B}"/>
              </a:ext>
            </a:extLst>
          </p:cNvPr>
          <p:cNvSpPr>
            <a:spLocks noGrp="1"/>
          </p:cNvSpPr>
          <p:nvPr/>
        </p:nvSpPr>
        <p:spPr>
          <a:xfrm>
            <a:off x="7683500" y="24130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696FA1FB-FD57-494D-941F-1AD4A936F57C}"/>
              </a:ext>
            </a:extLst>
          </p:cNvPr>
          <p:cNvSpPr>
            <a:spLocks noGrp="1"/>
          </p:cNvSpPr>
          <p:nvPr/>
        </p:nvSpPr>
        <p:spPr>
          <a:xfrm>
            <a:off x="7937500" y="2616200"/>
            <a:ext cx="762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BF09022-D13E-44C4-8AB1-F49E3F4B71D4}"/>
              </a:ext>
            </a:extLst>
          </p:cNvPr>
          <p:cNvSpPr>
            <a:spLocks noGrp="1"/>
          </p:cNvSpPr>
          <p:nvPr/>
        </p:nvSpPr>
        <p:spPr>
          <a:xfrm>
            <a:off x="7937500" y="3022600"/>
            <a:ext cx="266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层内调仓多于再平衡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7B62BFB-AB84-4421-8987-FF362B2C7F94}"/>
              </a:ext>
            </a:extLst>
          </p:cNvPr>
          <p:cNvSpPr>
            <a:spLocks noGrp="1"/>
          </p:cNvSpPr>
          <p:nvPr/>
        </p:nvSpPr>
        <p:spPr>
          <a:xfrm>
            <a:off x="7937500" y="3454400"/>
            <a:ext cx="2667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哪里缺目标补哪里，不按总组合风险统一操作。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CA8A1B9D-0C6E-4C1A-9BE1-D818F600BA60}"/>
              </a:ext>
            </a:extLst>
          </p:cNvPr>
          <p:cNvSpPr>
            <a:spLocks noGrp="1"/>
          </p:cNvSpPr>
          <p:nvPr/>
        </p:nvSpPr>
        <p:spPr>
          <a:xfrm>
            <a:off x="952500" y="5080000"/>
            <a:ext cx="10287000" cy="914400"/>
          </a:xfrm>
          <a:prstGeom prst="roundRect">
            <a:avLst>
              <a:gd name="adj" fmla="val 11111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2A51F0E8-700E-4ECD-89A3-59D29207C88D}"/>
              </a:ext>
            </a:extLst>
          </p:cNvPr>
          <p:cNvSpPr>
            <a:spLocks noGrp="1"/>
          </p:cNvSpPr>
          <p:nvPr/>
        </p:nvSpPr>
        <p:spPr>
          <a:xfrm>
            <a:off x="1206500" y="5232400"/>
            <a:ext cx="254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BPT 小结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BF0DC084-EDF5-48C3-AB56-36F09C87291E}"/>
              </a:ext>
            </a:extLst>
          </p:cNvPr>
          <p:cNvSpPr>
            <a:spLocks noGrp="1"/>
          </p:cNvSpPr>
          <p:nvPr/>
        </p:nvSpPr>
        <p:spPr>
          <a:xfrm>
            <a:off x="1206500" y="5562600"/>
            <a:ext cx="9779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BPT解释分层目标，但仍须合并检查整体风险与目标；局部达标不等于整体组合最优。</a:t>
            </a:r>
            <a:endParaRPr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9864122D-38FA-491D-9651-0A234772FFB8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第4课时·行为与决策·出处：Shefrin &amp; Statman (2000, JFQA·金融与数量分析季刊)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440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09624B6-F1A4-4A85-B4C7-6DC34E2FE334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案例一：100万元投资，一年后至少保留85万元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849883F-A3E6-4E15-AF62-2B9D93ACDB4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假设算例，不是市场预测。安全部分收益为0且可随时使用；风险部分只考虑下跌60%、持平、上涨60%三种情景，不为情景赋予概率。</a:t>
            </a:r>
            <a:endParaRPr sz="1100"/>
          </a:p>
        </p:txBody>
      </p:sp>
      <p:graphicFrame>
        <p:nvGraphicFramePr>
          <p:cNvPr id="13" name="Table 4"/>
          <p:cNvGraphicFramePr/>
          <p:nvPr/>
        </p:nvGraphicFramePr>
        <p:xfrm>
          <a:off x="952500" y="2387600"/>
          <a:ext cx="10287000" cy="1506220"/>
        </p:xfrm>
        <a:graphic>
          <a:graphicData uri="http://schemas.openxmlformats.org/drawingml/2006/table">
            <a:tbl>
              <a:tblPr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风险资产跌60%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持平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风险资产涨60%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70万安全＋30万风险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B03C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82万元，未达底线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100万元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118万元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80万安全＋20万风险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2278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88万元，满足底线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100万元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112万元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D61ED866-70E7-4CC2-A594-7CE34F0A9203}"/>
              </a:ext>
            </a:extLst>
          </p:cNvPr>
          <p:cNvSpPr>
            <a:spLocks noGrp="1"/>
          </p:cNvSpPr>
          <p:nvPr/>
        </p:nvSpPr>
        <p:spPr>
          <a:xfrm>
            <a:off x="952500" y="4140200"/>
            <a:ext cx="10287000" cy="914400"/>
          </a:xfrm>
          <a:prstGeom prst="roundRect">
            <a:avLst>
              <a:gd name="adj" fmla="val 11111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8592A283-A134-4BEF-A6AF-10F9636375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6500" y="4267200"/>
                <a:ext cx="9779000" cy="3302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08333"/>
                  </a:lnSpc>
                  <a:buNone/>
                </a:pPr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压力情景推导：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100</m:t>
                    </m:r>
                    <m:d>
                      <m:dPr>
                        <m:ctrlP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dPr>
                      <m:e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1−0.60</m:t>
                        </m:r>
                        <m:r>
                          <a:rPr sz="1400">
                            <a:solidFill>
                              <a:srgbClr val="2B2F36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𝑥</m:t>
                        </m:r>
                      </m:e>
                    </m:d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≥85 ⇒ 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𝑥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≤25%</m:t>
                    </m:r>
                  </m:oMath>
                </a14:m>
                <a:r>
                  <a:rPr sz="1400" b="0" i="0" u="none">
                    <a:solidFill>
                      <a:srgbClr val="2B2F36"/>
                    </a:solidFill>
                    <a:latin typeface="微软雅黑"/>
                    <a:ea typeface="微软雅黑"/>
                    <a:cs typeface="微软雅黑"/>
                  </a:rPr>
                  <a:t>；若风险部分可能全部损失，上限为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𝑥</m:t>
                    </m:r>
                    <m:r>
                      <a:rPr sz="1400">
                        <a:solidFill>
                          <a:srgbClr val="2B2F36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≤15%</m:t>
                    </m:r>
                  </m:oMath>
                </a14:m>
                <a:endParaRPr sz="1100"/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8592A283-A134-4BEF-A6AF-10F963637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4267200"/>
                <a:ext cx="9779000" cy="330200"/>
              </a:xfrm>
              <a:prstGeom prst="rect">
                <a:avLst/>
              </a:prstGeom>
              <a:blipFill>
                <a:blip r:embed="rId4"/>
                <a:stretch>
                  <a:fillRect l="-1122" b="-14815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>
            <a:extLst>
              <a:ext uri="{FF2B5EF4-FFF2-40B4-BE49-F238E27FC236}">
                <a16:creationId xmlns:a16="http://schemas.microsoft.com/office/drawing/2014/main" id="{524CAEC6-5546-49EB-B149-975122DB3FAD}"/>
              </a:ext>
            </a:extLst>
          </p:cNvPr>
          <p:cNvSpPr>
            <a:spLocks noGrp="1"/>
          </p:cNvSpPr>
          <p:nvPr/>
        </p:nvSpPr>
        <p:spPr>
          <a:xfrm>
            <a:off x="1206500" y="4622800"/>
            <a:ext cx="9779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25%来自给定压力幅度，不是普遍适用的最佳仓位；没有可靠分布，就不能从三种情景计算真实失败概率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BC8AE3F-72B9-4507-BD52-8BADC73A494C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追问：为了多赚6万元而让85万元的底线落空，是计算错误，还是目标排序错误？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4781C069-B53B-4570-A089-A40D8525088E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19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92BDACC-9246-43B2-B903-A02E02C0B8D2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案例一：先看清这笔钱的任务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A702B93-E9D9-41CF-80AA-8621EB3A58CA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一年后有一笔 85 万元的硬支出，今天手里有 100 万元。问题不是怎么赚最多，而是哪些钱可以拿去冒险。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5D8C688-FF56-4B45-BA0B-C3E9050DB25D}"/>
              </a:ext>
            </a:extLst>
          </p:cNvPr>
          <p:cNvSpPr>
            <a:spLocks noGrp="1"/>
          </p:cNvSpPr>
          <p:nvPr/>
        </p:nvSpPr>
        <p:spPr>
          <a:xfrm>
            <a:off x="952500" y="2489200"/>
            <a:ext cx="5461000" cy="1524000"/>
          </a:xfrm>
          <a:prstGeom prst="roundRect">
            <a:avLst>
              <a:gd name="adj" fmla="val 6666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C8AF33A-9C66-4F8C-80B0-F0E0B8AE5FAA}"/>
              </a:ext>
            </a:extLst>
          </p:cNvPr>
          <p:cNvSpPr>
            <a:spLocks noGrp="1"/>
          </p:cNvSpPr>
          <p:nvPr/>
        </p:nvSpPr>
        <p:spPr>
          <a:xfrm>
            <a:off x="1206500" y="26924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这笔钱的任务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F5A0A3B-8DF6-405F-8AFF-7E3D8295EE39}"/>
              </a:ext>
            </a:extLst>
          </p:cNvPr>
          <p:cNvSpPr>
            <a:spLocks noGrp="1"/>
          </p:cNvSpPr>
          <p:nvPr/>
        </p:nvSpPr>
        <p:spPr>
          <a:xfrm>
            <a:off x="1206500" y="3073400"/>
            <a:ext cx="4953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一年后必须拿出 85 万元（如学费、房款）；今天手里有 100 万元，多出的 15 万是安全垫。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B941D69-7966-44DB-9A93-E8713181B528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5461000" cy="1397000"/>
          </a:xfrm>
          <a:prstGeom prst="roundRect">
            <a:avLst>
              <a:gd name="adj" fmla="val 727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F359DD0-4024-4362-A544-B4A3C7F801AC}"/>
              </a:ext>
            </a:extLst>
          </p:cNvPr>
          <p:cNvSpPr>
            <a:spLocks noGrp="1"/>
          </p:cNvSpPr>
          <p:nvPr/>
        </p:nvSpPr>
        <p:spPr>
          <a:xfrm>
            <a:off x="1206500" y="43942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硬底线 A = 85 万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A34AB85-1863-4CE4-880D-1016E05A69BC}"/>
              </a:ext>
            </a:extLst>
          </p:cNvPr>
          <p:cNvSpPr>
            <a:spLocks noGrp="1"/>
          </p:cNvSpPr>
          <p:nvPr/>
        </p:nvSpPr>
        <p:spPr>
          <a:xfrm>
            <a:off x="1206500" y="4775200"/>
            <a:ext cx="4953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一年后财富不得低于 85 万；本例按不允许跌破处理，不讨论失败概率。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30181E3-E599-4AC7-A601-5FE44CDE1243}"/>
              </a:ext>
            </a:extLst>
          </p:cNvPr>
          <p:cNvSpPr>
            <a:spLocks noGrp="1"/>
          </p:cNvSpPr>
          <p:nvPr/>
        </p:nvSpPr>
        <p:spPr>
          <a:xfrm>
            <a:off x="6667500" y="2489200"/>
            <a:ext cx="4572000" cy="1524000"/>
          </a:xfrm>
          <a:prstGeom prst="roundRect">
            <a:avLst>
              <a:gd name="adj" fmla="val 6666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491446C-C5CB-4168-90C4-1CC44CB69D75}"/>
              </a:ext>
            </a:extLst>
          </p:cNvPr>
          <p:cNvSpPr>
            <a:spLocks noGrp="1"/>
          </p:cNvSpPr>
          <p:nvPr/>
        </p:nvSpPr>
        <p:spPr>
          <a:xfrm>
            <a:off x="6921500" y="26924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钱怎么分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20B3E820-8D95-4868-A437-0FB697DB019D}"/>
              </a:ext>
            </a:extLst>
          </p:cNvPr>
          <p:cNvSpPr>
            <a:spLocks noGrp="1"/>
          </p:cNvSpPr>
          <p:nvPr/>
        </p:nvSpPr>
        <p:spPr>
          <a:xfrm>
            <a:off x="6921500" y="3073400"/>
            <a:ext cx="4064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100 万 = 安全部分（一年后仍可用）＋风险部分（可能跌 60%）。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494CB839-9780-4857-9BF2-CF58E7078ED0}"/>
              </a:ext>
            </a:extLst>
          </p:cNvPr>
          <p:cNvSpPr>
            <a:spLocks noGrp="1"/>
          </p:cNvSpPr>
          <p:nvPr/>
        </p:nvSpPr>
        <p:spPr>
          <a:xfrm>
            <a:off x="6667500" y="4191000"/>
            <a:ext cx="4572000" cy="1397000"/>
          </a:xfrm>
          <a:prstGeom prst="roundRect">
            <a:avLst>
              <a:gd name="adj" fmla="val 727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26F60BA-C215-4D89-89E4-79DB58DDE0AE}"/>
              </a:ext>
            </a:extLst>
          </p:cNvPr>
          <p:cNvSpPr>
            <a:spLocks noGrp="1"/>
          </p:cNvSpPr>
          <p:nvPr/>
        </p:nvSpPr>
        <p:spPr>
          <a:xfrm>
            <a:off x="6921500" y="43942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要回答的问题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0B193AF-0457-424B-83BD-5EF775B30D1E}"/>
              </a:ext>
            </a:extLst>
          </p:cNvPr>
          <p:cNvSpPr>
            <a:spLocks noGrp="1"/>
          </p:cNvSpPr>
          <p:nvPr/>
        </p:nvSpPr>
        <p:spPr>
          <a:xfrm>
            <a:off x="6921500" y="4775200"/>
            <a:ext cx="4064000" cy="635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风险部分最多放多少，才能保证一年后不低于 85 万？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4BD7434-0355-416E-974D-36453A7D6F18}"/>
              </a:ext>
            </a:extLst>
          </p:cNvPr>
          <p:cNvSpPr>
            <a:spLocks noGrp="1"/>
          </p:cNvSpPr>
          <p:nvPr/>
        </p:nvSpPr>
        <p:spPr>
          <a:xfrm>
            <a:off x="952500" y="5740400"/>
            <a:ext cx="10287000" cy="355600"/>
          </a:xfrm>
          <a:prstGeom prst="roundRect">
            <a:avLst>
              <a:gd name="adj" fmla="val 28571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233CD8A0-E8B7-4C95-9924-3A042A35DA24}"/>
              </a:ext>
            </a:extLst>
          </p:cNvPr>
          <p:cNvSpPr>
            <a:spLocks noGrp="1"/>
          </p:cNvSpPr>
          <p:nvPr/>
        </p:nvSpPr>
        <p:spPr>
          <a:xfrm>
            <a:off x="1206500" y="5816600"/>
            <a:ext cx="9779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设风险占比为 x，下一页从最坏情景倒推 x 的上限。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91B1143-34FA-4720-A752-E28602E39065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865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305D385-3F1B-44F1-BCB2-EF77AE8EB571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案例一：两种配置，差在哪儿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578391-8A46-49F0-ADD1-34386860AA97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同样 100 万，风险放 30 万还是 20 万，决定最坏情景下底线保不保得住。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3F9C0A5-EE7C-4F4A-A8A9-569F993547CC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5080000" cy="2794000"/>
          </a:xfrm>
          <a:prstGeom prst="roundRect">
            <a:avLst>
              <a:gd name="adj" fmla="val 3636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D55D386-75A7-4CA0-AE9D-6ACF94AD0CB8}"/>
              </a:ext>
            </a:extLst>
          </p:cNvPr>
          <p:cNvSpPr>
            <a:spLocks noGrp="1"/>
          </p:cNvSpPr>
          <p:nvPr/>
        </p:nvSpPr>
        <p:spPr>
          <a:xfrm>
            <a:off x="1206500" y="2616200"/>
            <a:ext cx="3302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70 万安全＋30 万风险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F8B457BB-6B19-4DD6-8F61-35A7BC82B8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06500" y="3149600"/>
                <a:ext cx="4572000" cy="16510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跌 60%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30×0.4=12</m:t>
                    </m:r>
                  </m:oMath>
                </a14:m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70＋12＝</a:t>
                </a:r>
                <a:r>
                  <a:rPr sz="1400" b="1" i="0" u="none">
                    <a:solidFill>
                      <a:srgbClr val="B03C28"/>
                    </a:solidFill>
                    <a:latin typeface="微软雅黑"/>
                    <a:ea typeface="微软雅黑"/>
                    <a:cs typeface="微软雅黑"/>
                  </a:rPr>
                  <a:t>82 万，未达底线</a:t>
                </a:r>
                <a:endParaRPr sz="1100"/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持平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100 万</a:t>
                </a:r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涨 60%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30×1.6=48</m:t>
                    </m:r>
                  </m:oMath>
                </a14:m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70＋48＝118 万</a:t>
                </a:r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F8B457BB-6B19-4DD6-8F61-35A7BC82B8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3149600"/>
                <a:ext cx="4572000" cy="1651000"/>
              </a:xfrm>
              <a:prstGeom prst="rect">
                <a:avLst/>
              </a:prstGeom>
              <a:blipFill>
                <a:blip r:embed="rId4"/>
                <a:stretch>
                  <a:fillRect l="-2400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>
            <a:extLst>
              <a:ext uri="{FF2B5EF4-FFF2-40B4-BE49-F238E27FC236}">
                <a16:creationId xmlns:a16="http://schemas.microsoft.com/office/drawing/2014/main" id="{7DC7FAE9-2E02-4796-8D47-16C7E3663E3D}"/>
              </a:ext>
            </a:extLst>
          </p:cNvPr>
          <p:cNvSpPr>
            <a:spLocks noGrp="1"/>
          </p:cNvSpPr>
          <p:nvPr/>
        </p:nvSpPr>
        <p:spPr>
          <a:xfrm>
            <a:off x="6286500" y="2413000"/>
            <a:ext cx="4953000" cy="2794000"/>
          </a:xfrm>
          <a:prstGeom prst="roundRect">
            <a:avLst>
              <a:gd name="adj" fmla="val 3636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853FBC2-6073-4C17-9F2C-1EA667CAD425}"/>
              </a:ext>
            </a:extLst>
          </p:cNvPr>
          <p:cNvSpPr>
            <a:spLocks noGrp="1"/>
          </p:cNvSpPr>
          <p:nvPr/>
        </p:nvSpPr>
        <p:spPr>
          <a:xfrm>
            <a:off x="6540500" y="2616200"/>
            <a:ext cx="3302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80 万安全＋20 万风险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2E0EB12-B1A7-4F83-8A04-9DB2E8F93B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540500" y="3149600"/>
                <a:ext cx="4445000" cy="16510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跌 60%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20×0.4=8</m:t>
                    </m:r>
                  </m:oMath>
                </a14:m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80＋8＝</a:t>
                </a:r>
                <a:r>
                  <a:rPr sz="1400" b="1" i="0" u="none">
                    <a:solidFill>
                      <a:srgbClr val="227850"/>
                    </a:solidFill>
                    <a:latin typeface="微软雅黑"/>
                    <a:ea typeface="微软雅黑"/>
                    <a:cs typeface="微软雅黑"/>
                  </a:rPr>
                  <a:t>88 万，满足底线</a:t>
                </a:r>
                <a:endParaRPr sz="1100"/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持平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100 万</a:t>
                </a:r>
              </a:p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400" b="1" i="0" u="none">
                    <a:solidFill>
                      <a:srgbClr val="1E3C72"/>
                    </a:solidFill>
                    <a:latin typeface="微软雅黑"/>
                    <a:ea typeface="微软雅黑"/>
                    <a:cs typeface="微软雅黑"/>
                  </a:rPr>
                  <a:t>涨 60%</a:t>
                </a:r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</a:t>
                </a:r>
                <a14:m>
                  <m:oMath xmlns:m="http://schemas.openxmlformats.org/officeDocument/2006/math">
                    <m:r>
                      <a:rPr sz="14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20×1.6=32</m:t>
                    </m:r>
                  </m:oMath>
                </a14:m>
                <a:r>
                  <a:rPr sz="14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　80＋32＝112 万</a:t>
                </a:r>
              </a:p>
            </p:txBody>
          </p:sp>
        </mc:Choice>
        <mc:Fallback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2E0EB12-B1A7-4F83-8A04-9DB2E8F93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0" y="3149600"/>
                <a:ext cx="4445000" cy="1651000"/>
              </a:xfrm>
              <a:prstGeom prst="rect">
                <a:avLst/>
              </a:prstGeom>
              <a:blipFill>
                <a:blip r:embed="rId5"/>
                <a:stretch>
                  <a:fillRect l="-2469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10">
            <a:extLst>
              <a:ext uri="{FF2B5EF4-FFF2-40B4-BE49-F238E27FC236}">
                <a16:creationId xmlns:a16="http://schemas.microsoft.com/office/drawing/2014/main" id="{5542FD75-6031-4F49-A18E-47C912E2F51F}"/>
              </a:ext>
            </a:extLst>
          </p:cNvPr>
          <p:cNvSpPr>
            <a:spLocks noGrp="1"/>
          </p:cNvSpPr>
          <p:nvPr/>
        </p:nvSpPr>
        <p:spPr>
          <a:xfrm>
            <a:off x="952500" y="5410200"/>
            <a:ext cx="10287000" cy="711200"/>
          </a:xfrm>
          <a:prstGeom prst="roundRect">
            <a:avLst>
              <a:gd name="adj" fmla="val 14285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44B9F97-D222-4025-B935-B13C23C1448B}"/>
              </a:ext>
            </a:extLst>
          </p:cNvPr>
          <p:cNvSpPr>
            <a:spLocks noGrp="1"/>
          </p:cNvSpPr>
          <p:nvPr/>
        </p:nvSpPr>
        <p:spPr>
          <a:xfrm>
            <a:off x="1206500" y="5537200"/>
            <a:ext cx="254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差别在哪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5FD7408-762C-4061-99DB-294867D25780}"/>
              </a:ext>
            </a:extLst>
          </p:cNvPr>
          <p:cNvSpPr>
            <a:spLocks noGrp="1"/>
          </p:cNvSpPr>
          <p:nvPr/>
        </p:nvSpPr>
        <p:spPr>
          <a:xfrm>
            <a:off x="1206500" y="5867400"/>
            <a:ext cx="9779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多赚的 6 万（118−112）来自拿 10 万去冒险；代价是最坏情景 82 万低于 85 万，底线落空。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3F384A8-0377-4950-8FF3-49384707A876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913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A235D8-77B7-4861-8721-2D1C98B9755C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案例一：倒推风险占比上限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3F1C9ED-AD8A-4965-B2EB-CAC931B76B9C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给定最坏情景“风险跌 60%”，反解风险占比 x 的上限。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F802800-C62D-4DFF-AFFE-F25429F38870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6096000" cy="2540000"/>
          </a:xfrm>
          <a:prstGeom prst="roundRect">
            <a:avLst>
              <a:gd name="adj" fmla="val 40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B8F0F21-B571-4A50-9318-4D28CF42F93D}"/>
              </a:ext>
            </a:extLst>
          </p:cNvPr>
          <p:cNvSpPr>
            <a:spLocks noGrp="1"/>
          </p:cNvSpPr>
          <p:nvPr/>
        </p:nvSpPr>
        <p:spPr>
          <a:xfrm>
            <a:off x="1206500" y="2616200"/>
            <a:ext cx="330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最坏情景推导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A8E1513-90B4-4E6C-AEED-6E9CA60087B1}"/>
              </a:ext>
            </a:extLst>
          </p:cNvPr>
          <p:cNvSpPr>
            <a:spLocks noGrp="1"/>
          </p:cNvSpPr>
          <p:nvPr/>
        </p:nvSpPr>
        <p:spPr>
          <a:xfrm>
            <a:off x="1206500" y="3048000"/>
            <a:ext cx="5588000" cy="165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r>
              <a:rPr sz="1400" b="1">
                <a:solidFill>
                  <a:srgbClr val="243F77"/>
                </a:solidFill>
              </a:rPr>
              <a:t>压力假设：</a:t>
            </a:r>
            <a:r>
              <a:rPr sz="1400"/>
              <a:t>安全部分收益为0，风险部分下跌60%。</a:t>
            </a:r>
          </a:p>
          <a:p>
            <a:r>
              <a:rPr sz="1400" b="1">
                <a:solidFill>
                  <a:srgbClr val="243F77"/>
                </a:solidFill>
              </a:rPr>
              <a:t>财富：</a:t>
            </a:r>
            <a:r>
              <a:rPr sz="1400"/>
              <a:t>W=100(1−x)+100x×0.4=100−60x。</a:t>
            </a:r>
          </a:p>
          <a:p>
            <a:r>
              <a:rPr sz="1400" b="1">
                <a:solidFill>
                  <a:srgbClr val="243F77"/>
                </a:solidFill>
              </a:rPr>
              <a:t>约束：</a:t>
            </a:r>
            <a:r>
              <a:rPr sz="1400"/>
              <a:t>W≥85 ⇒ x≤15/60=25%。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1C20CD3-6B01-47B9-9F62-365785946C38}"/>
              </a:ext>
            </a:extLst>
          </p:cNvPr>
          <p:cNvSpPr>
            <a:spLocks noGrp="1"/>
          </p:cNvSpPr>
          <p:nvPr/>
        </p:nvSpPr>
        <p:spPr>
          <a:xfrm>
            <a:off x="7302500" y="2413000"/>
            <a:ext cx="3937000" cy="2540000"/>
          </a:xfrm>
          <a:prstGeom prst="roundRect">
            <a:avLst>
              <a:gd name="adj" fmla="val 4000"/>
            </a:avLst>
          </a:prstGeom>
          <a:solidFill>
            <a:srgbClr val="E8762C">
              <a:alpha val="12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030BAAE-2D4D-43D8-9620-230DF871A48C}"/>
              </a:ext>
            </a:extLst>
          </p:cNvPr>
          <p:cNvSpPr>
            <a:spLocks noGrp="1"/>
          </p:cNvSpPr>
          <p:nvPr/>
        </p:nvSpPr>
        <p:spPr>
          <a:xfrm>
            <a:off x="7556500" y="2616200"/>
            <a:ext cx="279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更保守的情形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4D9C0E4-2FB7-4224-9EAF-3E14E0543C62}"/>
              </a:ext>
            </a:extLst>
          </p:cNvPr>
          <p:cNvSpPr>
            <a:spLocks noGrp="1"/>
          </p:cNvSpPr>
          <p:nvPr/>
        </p:nvSpPr>
        <p:spPr>
          <a:xfrm>
            <a:off x="7556500" y="3048000"/>
            <a:ext cx="3429000" cy="165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r>
              <a:rPr sz="1400" b="1">
                <a:solidFill>
                  <a:srgbClr val="C9551E"/>
                </a:solidFill>
              </a:rPr>
              <a:t>若风险资产可能全部损失：</a:t>
            </a:r>
            <a:r>
              <a:rPr sz="1400"/>
              <a:t>100(1−x)≥85，故x≤15%。</a:t>
            </a:r>
          </a:p>
          <a:p>
            <a:r>
              <a:rPr sz="1400"/>
              <a:t>25%和15%都是给定压力情景下的上限，不是普遍最优仓位。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E88B73C-B362-4963-ABE6-866FFE8EB44D}"/>
              </a:ext>
            </a:extLst>
          </p:cNvPr>
          <p:cNvSpPr>
            <a:spLocks noGrp="1"/>
          </p:cNvSpPr>
          <p:nvPr/>
        </p:nvSpPr>
        <p:spPr>
          <a:xfrm>
            <a:off x="952500" y="5207000"/>
            <a:ext cx="10287000" cy="787400"/>
          </a:xfrm>
          <a:prstGeom prst="roundRect">
            <a:avLst>
              <a:gd name="adj" fmla="val 12903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54E94BC1-9D72-4170-89B8-E7A6E59C38E6}"/>
              </a:ext>
            </a:extLst>
          </p:cNvPr>
          <p:cNvSpPr>
            <a:spLocks noGrp="1"/>
          </p:cNvSpPr>
          <p:nvPr/>
        </p:nvSpPr>
        <p:spPr>
          <a:xfrm>
            <a:off x="1206500" y="5359400"/>
            <a:ext cx="254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回到 BPT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23151D6-0EA9-4392-8D6B-67C001C63D86}"/>
              </a:ext>
            </a:extLst>
          </p:cNvPr>
          <p:cNvSpPr>
            <a:spLocks noGrp="1"/>
          </p:cNvSpPr>
          <p:nvPr/>
        </p:nvSpPr>
        <p:spPr>
          <a:xfrm>
            <a:off x="1206500" y="5689600"/>
            <a:ext cx="9779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先定目标底线，风险敞口是被约束出来的——这正是安全层“先保目标，再谈收益”的做法。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29B4091-C0A4-434C-956E-AE98DA367AE7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315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937AEC6-60ED-458C-A9B2-048614B4F488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案例一拆解：公式里的每一部分是什么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2CFE74-FD70-446B-BD74-08286929199C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风险占比为x：安全部分100(1−x)，风险部分100x；若风险资产跌60%，剩余价值为40x，因此W=100−60x。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DBDB8C4-C8E8-431D-B240-CC4CA60614A9}"/>
              </a:ext>
            </a:extLst>
          </p:cNvPr>
          <p:cNvSpPr>
            <a:spLocks noGrp="1"/>
          </p:cNvSpPr>
          <p:nvPr/>
        </p:nvSpPr>
        <p:spPr>
          <a:xfrm>
            <a:off x="952500" y="2387600"/>
            <a:ext cx="10287000" cy="711200"/>
          </a:xfrm>
          <a:prstGeom prst="roundRect">
            <a:avLst>
              <a:gd name="adj" fmla="val 14285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AutoShape 5">
                <a:extLst>
                  <a:ext uri="{FF2B5EF4-FFF2-40B4-BE49-F238E27FC236}">
                    <a16:creationId xmlns:a16="http://schemas.microsoft.com/office/drawing/2014/main" id="{CB8B48EA-4A96-4637-AFE0-61993A38CDC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52500" y="2565400"/>
                <a:ext cx="10287000" cy="4064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ctr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sz="18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𝑊</m:t>
                      </m:r>
                      <m:r>
                        <a:rPr sz="18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=100</m:t>
                      </m:r>
                      <m:d>
                        <m:dPr>
                          <m:ctrlPr>
                            <a:rPr sz="1800" b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dPr>
                        <m:e>
                          <m:r>
                            <a:rPr sz="1800" b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1−</m:t>
                          </m:r>
                          <m:r>
                            <a:rPr sz="1800" b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𝑥</m:t>
                          </m:r>
                        </m:e>
                      </m:d>
                      <m:r>
                        <a:rPr sz="18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+100</m:t>
                      </m:r>
                      <m:r>
                        <a:rPr sz="18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𝑥</m:t>
                      </m:r>
                      <m:r>
                        <a:rPr sz="18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×0.4</m:t>
                      </m:r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5" name="AutoShape 5">
                <a:extLst>
                  <a:ext uri="{FF2B5EF4-FFF2-40B4-BE49-F238E27FC236}">
                    <a16:creationId xmlns:a16="http://schemas.microsoft.com/office/drawing/2014/main" id="{CB8B48EA-4A96-4637-AFE0-61993A38C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565400"/>
                <a:ext cx="10287000" cy="406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>
            <a:extLst>
              <a:ext uri="{FF2B5EF4-FFF2-40B4-BE49-F238E27FC236}">
                <a16:creationId xmlns:a16="http://schemas.microsoft.com/office/drawing/2014/main" id="{0DFDEE0A-E7FD-4EAC-81AB-9A383CDDCAB8}"/>
              </a:ext>
            </a:extLst>
          </p:cNvPr>
          <p:cNvSpPr>
            <a:spLocks noGrp="1"/>
          </p:cNvSpPr>
          <p:nvPr/>
        </p:nvSpPr>
        <p:spPr>
          <a:xfrm>
            <a:off x="952500" y="3302000"/>
            <a:ext cx="3175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4DD2348-3636-46F2-9147-87580755DCA3}"/>
              </a:ext>
            </a:extLst>
          </p:cNvPr>
          <p:cNvSpPr>
            <a:spLocks noGrp="1"/>
          </p:cNvSpPr>
          <p:nvPr/>
        </p:nvSpPr>
        <p:spPr>
          <a:xfrm>
            <a:off x="1206500" y="35052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第一项 100(1−x)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91C3C08-E37A-4E44-854A-8DD0CE61629D}"/>
              </a:ext>
            </a:extLst>
          </p:cNvPr>
          <p:cNvSpPr>
            <a:spLocks noGrp="1"/>
          </p:cNvSpPr>
          <p:nvPr/>
        </p:nvSpPr>
        <p:spPr>
          <a:xfrm>
            <a:off x="1206500" y="39116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x 是风险占比，(1−x) 是安全占比；安全部分一年后不变，收益为 0。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EABB1BD-ACC2-4AFE-94F2-26263A364A7B}"/>
              </a:ext>
            </a:extLst>
          </p:cNvPr>
          <p:cNvSpPr>
            <a:spLocks noGrp="1"/>
          </p:cNvSpPr>
          <p:nvPr/>
        </p:nvSpPr>
        <p:spPr>
          <a:xfrm>
            <a:off x="4508500" y="3302000"/>
            <a:ext cx="3175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F50B9C10-5131-4324-A96D-B4E02BB26C6C}"/>
              </a:ext>
            </a:extLst>
          </p:cNvPr>
          <p:cNvSpPr>
            <a:spLocks noGrp="1"/>
          </p:cNvSpPr>
          <p:nvPr/>
        </p:nvSpPr>
        <p:spPr>
          <a:xfrm>
            <a:off x="4762500" y="35052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第二项 100x×0.4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881DFCD5-46B7-4272-8DC5-60BFB9E729AB}"/>
              </a:ext>
            </a:extLst>
          </p:cNvPr>
          <p:cNvSpPr>
            <a:spLocks noGrp="1"/>
          </p:cNvSpPr>
          <p:nvPr/>
        </p:nvSpPr>
        <p:spPr>
          <a:xfrm>
            <a:off x="4762500" y="39116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100x 是投入风险部分的金额；跌 60% 后只剩 40%，所以乘以 0.4。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FCD6A32-D2CE-4628-8222-CFCB499A9362}"/>
              </a:ext>
            </a:extLst>
          </p:cNvPr>
          <p:cNvSpPr>
            <a:spLocks noGrp="1"/>
          </p:cNvSpPr>
          <p:nvPr/>
        </p:nvSpPr>
        <p:spPr>
          <a:xfrm>
            <a:off x="8064500" y="3302000"/>
            <a:ext cx="3175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858F287-0AC9-44D7-90BB-C5D67E84CB3D}"/>
              </a:ext>
            </a:extLst>
          </p:cNvPr>
          <p:cNvSpPr>
            <a:spLocks noGrp="1"/>
          </p:cNvSpPr>
          <p:nvPr/>
        </p:nvSpPr>
        <p:spPr>
          <a:xfrm>
            <a:off x="8318500" y="35052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两部分相加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2FE5C5B-545D-4B73-8A36-77713464C0EC}"/>
              </a:ext>
            </a:extLst>
          </p:cNvPr>
          <p:cNvSpPr>
            <a:spLocks noGrp="1"/>
          </p:cNvSpPr>
          <p:nvPr/>
        </p:nvSpPr>
        <p:spPr>
          <a:xfrm>
            <a:off x="8318500" y="39116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W 就是最坏情景下一年后总共还有的钱；要求它不低于 85 万。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0CB0F32-CF5E-4BE1-A989-3E48BBD794DA}"/>
              </a:ext>
            </a:extLst>
          </p:cNvPr>
          <p:cNvSpPr>
            <a:spLocks noGrp="1"/>
          </p:cNvSpPr>
          <p:nvPr/>
        </p:nvSpPr>
        <p:spPr>
          <a:xfrm>
            <a:off x="952500" y="5638800"/>
            <a:ext cx="10287000" cy="457200"/>
          </a:xfrm>
          <a:prstGeom prst="roundRect">
            <a:avLst>
              <a:gd name="adj" fmla="val 2222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5BF6FDF-CB18-43C5-BB6C-A7EA75FBE907}"/>
              </a:ext>
            </a:extLst>
          </p:cNvPr>
          <p:cNvSpPr>
            <a:spLocks noGrp="1"/>
          </p:cNvSpPr>
          <p:nvPr/>
        </p:nvSpPr>
        <p:spPr>
          <a:xfrm>
            <a:off x="1206500" y="57404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代回验证：x＝0.3 时 82 万，低于 85 万；x＝0.2 时 88 万，达到 85 万。</a:t>
            </a:r>
            <a:endParaRPr sz="11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F0A04C07-C791-412D-9211-A18FF08736DF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217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81AA003-4E68-47D6-99B7-808A23A7B473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案例一拆解：不等式怎么一步步解出 25%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015D91-3B31-447C-8EF5-8224633E2B14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要求最坏情景不低于 85 万，解不等式，风险占比的上限就出来了。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54ABF35-94A8-486B-BCD1-D12B16E87D28}"/>
              </a:ext>
            </a:extLst>
          </p:cNvPr>
          <p:cNvSpPr>
            <a:spLocks noGrp="1"/>
          </p:cNvSpPr>
          <p:nvPr/>
        </p:nvSpPr>
        <p:spPr>
          <a:xfrm>
            <a:off x="952500" y="2413000"/>
            <a:ext cx="5969000" cy="3073400"/>
          </a:xfrm>
          <a:prstGeom prst="roundRect">
            <a:avLst>
              <a:gd name="adj" fmla="val 33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57A61F9-85EA-4168-8A93-C412B9E78D5F}"/>
              </a:ext>
            </a:extLst>
          </p:cNvPr>
          <p:cNvSpPr>
            <a:spLocks noGrp="1"/>
          </p:cNvSpPr>
          <p:nvPr/>
        </p:nvSpPr>
        <p:spPr>
          <a:xfrm>
            <a:off x="1206500" y="2616200"/>
            <a:ext cx="279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逐步求解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BF7269E-79F3-4F21-A0B7-866A0D9E943C}"/>
              </a:ext>
            </a:extLst>
          </p:cNvPr>
          <p:cNvSpPr>
            <a:spLocks noGrp="1"/>
          </p:cNvSpPr>
          <p:nvPr/>
        </p:nvSpPr>
        <p:spPr>
          <a:xfrm>
            <a:off x="1206500" y="3073400"/>
            <a:ext cx="5461000" cy="215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r>
              <a:rPr sz="1400" b="1">
                <a:solidFill>
                  <a:srgbClr val="F36C21"/>
                </a:solidFill>
              </a:rPr>
              <a:t>第1步　目标：</a:t>
            </a:r>
            <a:r>
              <a:rPr sz="1400"/>
              <a:t>最坏情景财富W≥85万元。</a:t>
            </a:r>
          </a:p>
          <a:p>
            <a:r>
              <a:rPr sz="1400" b="1">
                <a:solidFill>
                  <a:srgbClr val="F36C21"/>
                </a:solidFill>
              </a:rPr>
              <a:t>第2步　代入：</a:t>
            </a:r>
            <a:r>
              <a:rPr sz="1400"/>
              <a:t>100(1−x)+100x×0.4≥85。</a:t>
            </a:r>
          </a:p>
          <a:p>
            <a:r>
              <a:rPr sz="1400" b="1">
                <a:solidFill>
                  <a:srgbClr val="F36C21"/>
                </a:solidFill>
              </a:rPr>
              <a:t>第3步　展开：</a:t>
            </a:r>
            <a:r>
              <a:rPr sz="1400"/>
              <a:t>100−60x≥85。</a:t>
            </a:r>
          </a:p>
          <a:p>
            <a:r>
              <a:rPr sz="1400" b="1">
                <a:solidFill>
                  <a:srgbClr val="F36C21"/>
                </a:solidFill>
              </a:rPr>
              <a:t>第4步　求解：</a:t>
            </a:r>
            <a:r>
              <a:rPr sz="1400"/>
              <a:t>x≤15/60=25%。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2D785B8-A52D-4AF3-8BD6-21A2BB616D9D}"/>
              </a:ext>
            </a:extLst>
          </p:cNvPr>
          <p:cNvSpPr>
            <a:spLocks noGrp="1"/>
          </p:cNvSpPr>
          <p:nvPr/>
        </p:nvSpPr>
        <p:spPr>
          <a:xfrm>
            <a:off x="7175500" y="2413000"/>
            <a:ext cx="4064000" cy="3073400"/>
          </a:xfrm>
          <a:prstGeom prst="roundRect">
            <a:avLst>
              <a:gd name="adj" fmla="val 3305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F4A479D-FDA5-4140-A623-814CB9DD2998}"/>
              </a:ext>
            </a:extLst>
          </p:cNvPr>
          <p:cNvSpPr>
            <a:spLocks noGrp="1"/>
          </p:cNvSpPr>
          <p:nvPr/>
        </p:nvSpPr>
        <p:spPr>
          <a:xfrm>
            <a:off x="7429500" y="26162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25% 落地成金额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BCE4B82B-E42B-47F1-B3CC-D43A7FC1B409}"/>
              </a:ext>
            </a:extLst>
          </p:cNvPr>
          <p:cNvSpPr>
            <a:spLocks noGrp="1"/>
          </p:cNvSpPr>
          <p:nvPr/>
        </p:nvSpPr>
        <p:spPr>
          <a:xfrm>
            <a:off x="7429500" y="3073400"/>
            <a:ext cx="3556000" cy="215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>
              <a:defRPr sz="1400"/>
            </a:pPr>
            <a:r>
              <a:rPr sz="1238"/>
              <a:t>配置：风险25万元，安全75万元。</a:t>
            </a:r>
          </a:p>
          <a:p>
            <a:pPr>
              <a:defRPr sz="1400"/>
            </a:pPr>
            <a:r>
              <a:rPr sz="1238"/>
              <a:t>x=25%：75+25×40%=85万元，达标。</a:t>
            </a:r>
          </a:p>
          <a:p>
            <a:pPr>
              <a:defRPr sz="1400"/>
            </a:pPr>
            <a:r>
              <a:rPr sz="1238"/>
              <a:t>x=30%：70+30×40%=82万元，低于85万元。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BBC29DF-F90D-424A-8EB2-F7524CD3AB48}"/>
              </a:ext>
            </a:extLst>
          </p:cNvPr>
          <p:cNvSpPr>
            <a:spLocks noGrp="1"/>
          </p:cNvSpPr>
          <p:nvPr/>
        </p:nvSpPr>
        <p:spPr>
          <a:xfrm>
            <a:off x="952500" y="5638800"/>
            <a:ext cx="10287000" cy="457200"/>
          </a:xfrm>
          <a:prstGeom prst="roundRect">
            <a:avLst>
              <a:gd name="adj" fmla="val 22222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707B9B2A-E4CD-4D9C-A640-FCE963FE5F6B}"/>
              </a:ext>
            </a:extLst>
          </p:cNvPr>
          <p:cNvSpPr>
            <a:spLocks noGrp="1"/>
          </p:cNvSpPr>
          <p:nvPr/>
        </p:nvSpPr>
        <p:spPr>
          <a:xfrm>
            <a:off x="1206500" y="57404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任何 x 超过 25%，最坏情景都会跌破 85 万——上限由底线约束倒推，这正是安全层的做法。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F89F606-B2B4-4676-A64B-9F50D60A72A6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9199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CD05B26-3C3C-4310-A60B-7ED6066C0C76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 · 课堂算例可视化：到期财富与可行上限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7814A3-FCC4-4FD8-B5C1-B13306035131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交互可视化静态呈现（默认态 70/30 ＋ 压力 −60%）：左图对比到期财富与 85 万底线，右图给出风险层可行上限。</a:t>
            </a:r>
            <a:endParaRPr sz="1100"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4"/>
          <a:srcRect t="44" b="44"/>
          <a:stretch>
            <a:fillRect/>
          </a:stretch>
        </p:blipFill>
        <p:spPr>
          <a:xfrm>
            <a:off x="952500" y="2438400"/>
            <a:ext cx="5270500" cy="34036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pic>
        <p:nvPicPr>
          <p:cNvPr id="12" name="Picture 5"/>
          <p:cNvPicPr>
            <a:picLocks noChangeAspect="1"/>
          </p:cNvPicPr>
          <p:nvPr/>
        </p:nvPicPr>
        <p:blipFill>
          <a:blip r:embed="rId5"/>
          <a:srcRect l="7" r="7"/>
          <a:stretch>
            <a:fillRect/>
          </a:stretch>
        </p:blipFill>
        <p:spPr>
          <a:xfrm>
            <a:off x="6375400" y="2438400"/>
            <a:ext cx="5753100" cy="34036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F8F9E367-2DDF-4B00-9D74-09CAD18E5DA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第4课时·行为与决策·课堂算例可视化，非行情预测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953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A95C5AF-FAE3-4BE7-B440-10961F5493DF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案例一 · 结论：先保住底线，再谈收益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961915-0F31-4A25-B050-AA6DD721B54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七页算例讲完，收束成三条结论。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A2C0FD5-EF6F-4179-AC92-463FEDB5B5E1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0287000" cy="1066800"/>
          </a:xfrm>
          <a:prstGeom prst="roundRect">
            <a:avLst>
              <a:gd name="adj" fmla="val 9523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E21246A-73F3-4E81-B85A-E58B714EFB4D}"/>
              </a:ext>
            </a:extLst>
          </p:cNvPr>
          <p:cNvSpPr>
            <a:spLocks noGrp="1"/>
          </p:cNvSpPr>
          <p:nvPr/>
        </p:nvSpPr>
        <p:spPr>
          <a:xfrm>
            <a:off x="1206500" y="24638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核心结论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6DA64A2-D480-4DA0-9A70-7772DA60A7DA}"/>
              </a:ext>
            </a:extLst>
          </p:cNvPr>
          <p:cNvSpPr>
            <a:spLocks noGrp="1"/>
          </p:cNvSpPr>
          <p:nvPr/>
        </p:nvSpPr>
        <p:spPr>
          <a:xfrm>
            <a:off x="1206500" y="28194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5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85 万底线是硬约束：风险占比上限 25%（压力 −60%）或 15%（压力全损）；80/20 守住底线，70/30 跌破底线。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5A8BEAA-86F2-4D12-9056-25CB995766E8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D97579E-C688-4C0C-88F3-EF976BC9204C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177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配置结论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439A67B-BBF2-4D70-8616-09E96E415980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168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同样 100 万，80/20 最差情况 88 万守住底线，70/30 最差情况 82 万跌破；多赚的 6 万弥补不了底线落空。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2BFF143-5196-400F-A01F-71FE2634B8AC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1F79AB71-BFA3-4088-85E1-33A24812800B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177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推导结论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>
                <a:extLst>
                  <a:ext uri="{FF2B5EF4-FFF2-40B4-BE49-F238E27FC236}">
                    <a16:creationId xmlns:a16="http://schemas.microsoft.com/office/drawing/2014/main" id="{D9FF3E3C-8F97-476E-8699-148E5BC2BA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62500" y="4140200"/>
                <a:ext cx="2667000" cy="11684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:r>
                  <a:rPr sz="13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上限由公式倒推：</a:t>
                </a:r>
                <a14:m>
                  <m:oMath xmlns:m="http://schemas.openxmlformats.org/officeDocument/2006/math">
                    <m:r>
                      <a:rPr sz="13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100</m:t>
                    </m:r>
                    <m:d>
                      <m:dPr>
                        <m:ctrlPr>
                          <a:rPr sz="1300">
                            <a:solidFill>
                              <a:srgbClr val="3C4048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</m:ctrlPr>
                      </m:dPr>
                      <m:e>
                        <m:r>
                          <a:rPr sz="1300">
                            <a:solidFill>
                              <a:srgbClr val="3C4048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1−0.6</m:t>
                        </m:r>
                        <m:r>
                          <a:rPr sz="1300">
                            <a:solidFill>
                              <a:srgbClr val="3C4048"/>
                            </a:solidFill>
                            <a:latin typeface="Cambria Math" panose="02040503050406030204" pitchFamily="18" charset="0"/>
                            <a:ea typeface="微软雅黑"/>
                            <a:cs typeface="微软雅黑"/>
                          </a:rPr>
                          <m:t>𝑥</m:t>
                        </m:r>
                      </m:e>
                    </m:d>
                    <m:r>
                      <a:rPr sz="13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≥85⇒</m:t>
                    </m:r>
                    <m:r>
                      <a:rPr sz="13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𝑥</m:t>
                    </m:r>
                    <m:r>
                      <a:rPr sz="1300">
                        <a:solidFill>
                          <a:srgbClr val="3C4048"/>
                        </a:solidFill>
                        <a:latin typeface="Cambria Math" panose="02040503050406030204" pitchFamily="18" charset="0"/>
                        <a:ea typeface="微软雅黑"/>
                        <a:cs typeface="微软雅黑"/>
                      </a:rPr>
                      <m:t>≤25%</m:t>
                    </m:r>
                  </m:oMath>
                </a14:m>
                <a:r>
                  <a:rPr sz="1300" b="0" i="0" u="none">
                    <a:solidFill>
                      <a:srgbClr val="3C4048"/>
                    </a:solidFill>
                    <a:latin typeface="微软雅黑"/>
                    <a:ea typeface="微软雅黑"/>
                    <a:cs typeface="微软雅黑"/>
                  </a:rPr>
                  <a:t>；若风险全损，上限 x≤15%。</a:t>
                </a:r>
                <a:endParaRPr sz="1100"/>
              </a:p>
            </p:txBody>
          </p:sp>
        </mc:Choice>
        <mc:Fallback>
          <p:sp>
            <p:nvSpPr>
              <p:cNvPr id="12" name="AutoShape 12">
                <a:extLst>
                  <a:ext uri="{FF2B5EF4-FFF2-40B4-BE49-F238E27FC236}">
                    <a16:creationId xmlns:a16="http://schemas.microsoft.com/office/drawing/2014/main" id="{D9FF3E3C-8F97-476E-8699-148E5BC2B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140200"/>
                <a:ext cx="2667000" cy="1168400"/>
              </a:xfrm>
              <a:prstGeom prst="rect">
                <a:avLst/>
              </a:prstGeom>
              <a:blipFill>
                <a:blip r:embed="rId4"/>
                <a:stretch>
                  <a:fillRect l="-3653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13">
            <a:extLst>
              <a:ext uri="{FF2B5EF4-FFF2-40B4-BE49-F238E27FC236}">
                <a16:creationId xmlns:a16="http://schemas.microsoft.com/office/drawing/2014/main" id="{00F1BD8C-566D-433F-88EB-0968ABA95637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82119305-8E4E-4B9B-9296-2641413915DF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177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行为学结论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BA432D3-B761-4E88-8C31-8B05877B0606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168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对应 BPT 安全层：先保目标、再谈收益；风险敞口由底线约束出来，不是偏好参数。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9D17D9C-AE02-4347-8BFE-F7BFE3C131D0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05AAA15F-9749-47E1-AC5C-E2285E509417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边界：三种情景未赋概率，结论是压力约束而非失败概率；本例为假设算例，非行情预测。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83E450E-E125-4D3F-95EE-EB844A06EDC2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第4课时·行为与决策·假设算例，非行情预测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4261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E5F5E5E-2DF3-4169-A63A-8DA0F19DC552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心理账户 · 课堂算例可视化：合并风险不因命名改变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08A43F5-EDD7-4FF0-ABFD-3969BF8614B8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招商银行在「安全」账户占 7%、在「增值」账户占 3%，单只合计 10%；两个账户的银行行业合计 27%。</a:t>
            </a:r>
            <a:endParaRPr sz="1100"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4"/>
          <a:srcRect t="20" b="20"/>
          <a:stretch>
            <a:fillRect/>
          </a:stretch>
        </p:blipFill>
        <p:spPr>
          <a:xfrm>
            <a:off x="1714500" y="2387600"/>
            <a:ext cx="8763000" cy="37084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9A4A2C50-53D7-4282-869C-EA7D24A47BF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第4课时·行为与决策·课堂算例可视化，非行情预测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3051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6A9D211-35F1-4629-9E22-5B5EC1F7D918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心理账户：分开记账，不等于分开风险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A18973-F212-4D97-BCC2-9C6BFB137793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把账户分层的目的是把问题问清楚；每层都要有可操作的评价方式，而不是把名字改成"安全"就真的安全。</a:t>
            </a:r>
            <a:endParaRPr sz="1100"/>
          </a:p>
        </p:txBody>
      </p:sp>
      <p:graphicFrame>
        <p:nvGraphicFramePr>
          <p:cNvPr id="11" name="Table 4"/>
          <p:cNvGraphicFramePr/>
          <p:nvPr/>
        </p:nvGraphicFramePr>
        <p:xfrm>
          <a:off x="952500" y="2387600"/>
          <a:ext cx="10287000" cy="20650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账户层次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首先问什么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可操作的评价方式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底线层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什么钱在什么日期必须可用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到期现金缺口、亏损容忍、流动性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增长层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为长期目标可以承受多大波动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分散程度、风险暴露、回撤与期限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试验层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最多能损失多少，何时停止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资金上限、可验证假说、退出条件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91302EE3-C769-4DAA-82A3-0F60F2FEEF8F}"/>
              </a:ext>
            </a:extLst>
          </p:cNvPr>
          <p:cNvSpPr>
            <a:spLocks noGrp="1"/>
          </p:cNvSpPr>
          <p:nvPr/>
        </p:nvSpPr>
        <p:spPr>
          <a:xfrm>
            <a:off x="952500" y="4724400"/>
            <a:ext cx="10287000" cy="812800"/>
          </a:xfrm>
          <a:prstGeom prst="roundRect">
            <a:avLst>
              <a:gd name="adj" fmla="val 12500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16BF76B-DB6F-4051-B123-9F41A1A59F54}"/>
              </a:ext>
            </a:extLst>
          </p:cNvPr>
          <p:cNvSpPr>
            <a:spLocks noGrp="1"/>
          </p:cNvSpPr>
          <p:nvPr/>
        </p:nvSpPr>
        <p:spPr>
          <a:xfrm>
            <a:off x="1206500" y="49022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关键提醒：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心理上分层不会消除经济上的相关性——股票不能因为放在叫"养老账户"的抽屉里，就变成安全资产；收益率或波动率也不因账户名称而改变。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4C3A685-CD7C-4CC9-9674-EA38D9E12A23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第4课时·行为与决策·教学管理层次，非产品风险等级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1948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351FE7B-E6A5-4589-B492-163D80CCD59F}"/>
              </a:ext>
            </a:extLst>
          </p:cNvPr>
          <p:cNvSpPr>
            <a:spLocks noGrp="1"/>
          </p:cNvSpPr>
          <p:nvPr/>
        </p:nvSpPr>
        <p:spPr>
          <a:xfrm>
            <a:off x="990600" y="2349500"/>
            <a:ext cx="5080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第二部分·BAPM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0A82DB9-532F-43AB-A6F9-E628F80E1435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60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0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情绪性定价偏差不必然伴随可实现的套利机会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310430F-0AC4-4128-928E-CD7DEF6C1B14}"/>
              </a:ext>
            </a:extLst>
          </p:cNvPr>
          <p:cNvSpPr>
            <a:spLocks noGrp="1"/>
          </p:cNvSpPr>
          <p:nvPr/>
        </p:nvSpPr>
        <p:spPr>
          <a:xfrm>
            <a:off x="1041400" y="3784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455CF40-C630-401E-94E2-1089D8BC1006}"/>
              </a:ext>
            </a:extLst>
          </p:cNvPr>
          <p:cNvSpPr>
            <a:spLocks noGrp="1"/>
          </p:cNvSpPr>
          <p:nvPr/>
        </p:nvSpPr>
        <p:spPr>
          <a:xfrm>
            <a:off x="990600" y="4826000"/>
            <a:ext cx="10033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定价偏离的持续，取决于套利者的风险承受能力、融资可得性与卖空约束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953E275-4282-440B-8865-483EB9299F8A}"/>
              </a:ext>
            </a:extLst>
          </p:cNvPr>
          <p:cNvSpPr>
            <a:spLocks noGrp="1"/>
          </p:cNvSpPr>
          <p:nvPr/>
        </p:nvSpPr>
        <p:spPr>
          <a:xfrm>
            <a:off x="990600" y="6184900"/>
            <a:ext cx="381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第4课时·BAPM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495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D1CE7FE-6F3D-410B-88A1-EFE8A74B8F4C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BAPM：行为资产定价模型是什么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85A995-3F5E-4544-B6FD-F1FCE118BE18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Behavioral Asset Pricing Model（行为资产定价模型）：在均衡定价中纳入投资者的异质信念与情绪。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2E763D6-E873-4D41-82BE-AA88E98B4C40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0287000" cy="1066800"/>
          </a:xfrm>
          <a:prstGeom prst="roundRect">
            <a:avLst>
              <a:gd name="adj" fmla="val 9523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61BB04E-1515-41E5-A53C-1155F3CC216B}"/>
              </a:ext>
            </a:extLst>
          </p:cNvPr>
          <p:cNvSpPr>
            <a:spLocks noGrp="1"/>
          </p:cNvSpPr>
          <p:nvPr/>
        </p:nvSpPr>
        <p:spPr>
          <a:xfrm>
            <a:off x="1206500" y="2463800"/>
            <a:ext cx="177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定义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7E8ADCD-AD62-4D6F-8D9E-44DEA7805CB6}"/>
              </a:ext>
            </a:extLst>
          </p:cNvPr>
          <p:cNvSpPr>
            <a:spLocks noGrp="1"/>
          </p:cNvSpPr>
          <p:nvPr/>
        </p:nvSpPr>
        <p:spPr>
          <a:xfrm>
            <a:off x="1206500" y="28194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5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均衡价格不再由单一理性代表投资者决定，而是由理性套利者与噪声交易者的相互作用共同形成。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4D3F178-639D-455E-8673-7A31962B7CDC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CF87280-072E-4459-A112-B0D1BA5BCA8C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与传统模型的差别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3FFC5E5-10E1-4AA2-B758-80408E430409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CAPM（资本资产定价模型）假定投资者同质、理性、信念一致；BAPM 允许异质信念——噪声交易者凭情绪交易，套利者按基本面交易。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61C1277-78FB-4254-8EEA-C35376D3FA53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C7B5756B-3229-47C3-A13F-DA5AA735E911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价格如何形成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6159437-4DB5-4151-BE3A-9B00B7ADB510}"/>
              </a:ext>
            </a:extLst>
          </p:cNvPr>
          <p:cNvSpPr>
            <a:spLocks noGrp="1"/>
          </p:cNvSpPr>
          <p:nvPr/>
        </p:nvSpPr>
        <p:spPr>
          <a:xfrm>
            <a:off x="4762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教学直觉，不是原始定价方程：交易价格受基本面信息与交易者信念共同影响；套利受资金、卖空、流动性和风险约束，偏离未必立即消失。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EEF514B-A25B-421C-BC54-1E2A2300D32D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977C257-6B5A-4B73-925A-7EA30634F6E5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为什么重要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36C6DE5-04D5-40AA-9FCB-940B0D2F3B05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情绪真实进入均衡价格与交易量；检验情绪定价含义须区分信息与噪声（见 924 案例）。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CEB9139-5660-40B6-9BBE-4C2A192F5BC3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BE210C89-9802-4B09-96CE-AE0FD5E3A695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一句话：BAPM 把“人不是同质理性的”写进定价模型，均衡价格与交易量随之改变。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D5D137E-D1CE-44DF-9F52-834B5EB39E14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第4课时·BAPM·Shefrin &amp; Statman (1994)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0122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75E310-F1A6-453B-8968-5F1E1B62B43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BAPM：不同投资者共同交易，价格怎样形成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897BB82-6039-4ED6-A62F-6E00C0B5417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8890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机制假说链（假说，不是已证明的规律）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3C7F962-B2A8-4DA9-8FF3-52E4C929292B}"/>
              </a:ext>
            </a:extLst>
          </p:cNvPr>
          <p:cNvSpPr>
            <a:spLocks noGrp="1"/>
          </p:cNvSpPr>
          <p:nvPr/>
        </p:nvSpPr>
        <p:spPr>
          <a:xfrm>
            <a:off x="952500" y="2260600"/>
            <a:ext cx="1028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上侧约束：融资、融券、流动性与风险约束作用于整条链条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22CEE32-1A73-4163-8D35-3BA30F60AA15}"/>
              </a:ext>
            </a:extLst>
          </p:cNvPr>
          <p:cNvSpPr>
            <a:spLocks noGrp="1"/>
          </p:cNvSpPr>
          <p:nvPr/>
        </p:nvSpPr>
        <p:spPr>
          <a:xfrm>
            <a:off x="952500" y="26416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A152366-C350-4F8A-8B3F-8D5BCAB37BF3}"/>
              </a:ext>
            </a:extLst>
          </p:cNvPr>
          <p:cNvSpPr>
            <a:spLocks noGrp="1"/>
          </p:cNvSpPr>
          <p:nvPr/>
        </p:nvSpPr>
        <p:spPr>
          <a:xfrm>
            <a:off x="1117600" y="2794000"/>
            <a:ext cx="18288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信息或叙事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AED76A4-55D9-460F-A135-49D7407742A1}"/>
              </a:ext>
            </a:extLst>
          </p:cNvPr>
          <p:cNvSpPr>
            <a:spLocks noGrp="1"/>
          </p:cNvSpPr>
          <p:nvPr/>
        </p:nvSpPr>
        <p:spPr>
          <a:xfrm>
            <a:off x="1066800" y="3149600"/>
            <a:ext cx="1930400" cy="482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4166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新信息、政策与市场叙事</a:t>
            </a:r>
            <a:endParaRPr sz="1100"/>
          </a:p>
        </p:txBody>
      </p:sp>
      <p:cxnSp>
        <p:nvCxnSpPr>
          <p:cNvPr id="31" name="Connector 8"/>
          <p:cNvCxnSpPr/>
          <p:nvPr/>
        </p:nvCxnSpPr>
        <p:spPr>
          <a:xfrm rot="-285818">
            <a:off x="3162564" y="3168650"/>
            <a:ext cx="1524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>
            <a:extLst>
              <a:ext uri="{FF2B5EF4-FFF2-40B4-BE49-F238E27FC236}">
                <a16:creationId xmlns:a16="http://schemas.microsoft.com/office/drawing/2014/main" id="{3FBD2918-DBC2-47A9-ACC2-8E5BA823F3C6}"/>
              </a:ext>
            </a:extLst>
          </p:cNvPr>
          <p:cNvSpPr>
            <a:spLocks noGrp="1"/>
          </p:cNvSpPr>
          <p:nvPr/>
        </p:nvSpPr>
        <p:spPr>
          <a:xfrm>
            <a:off x="3365500" y="26416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A4BE69B-D0FC-4D67-962A-45984A2181EE}"/>
              </a:ext>
            </a:extLst>
          </p:cNvPr>
          <p:cNvSpPr>
            <a:spLocks noGrp="1"/>
          </p:cNvSpPr>
          <p:nvPr/>
        </p:nvSpPr>
        <p:spPr>
          <a:xfrm>
            <a:off x="3530600" y="2794000"/>
            <a:ext cx="18288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注意力与信念变化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9EBF7EA4-54BD-4CAF-8640-ABC6665F67B0}"/>
              </a:ext>
            </a:extLst>
          </p:cNvPr>
          <p:cNvSpPr>
            <a:spLocks noGrp="1"/>
          </p:cNvSpPr>
          <p:nvPr/>
        </p:nvSpPr>
        <p:spPr>
          <a:xfrm>
            <a:off x="3479800" y="3149600"/>
            <a:ext cx="1930400" cy="482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4166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关注度、预期与情绪改变</a:t>
            </a:r>
            <a:endParaRPr sz="1100"/>
          </a:p>
        </p:txBody>
      </p:sp>
      <p:cxnSp>
        <p:nvCxnSpPr>
          <p:cNvPr id="35" name="Connector 12"/>
          <p:cNvCxnSpPr/>
          <p:nvPr/>
        </p:nvCxnSpPr>
        <p:spPr>
          <a:xfrm rot="-285818">
            <a:off x="5575564" y="3168650"/>
            <a:ext cx="1524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>
            <a:extLst>
              <a:ext uri="{FF2B5EF4-FFF2-40B4-BE49-F238E27FC236}">
                <a16:creationId xmlns:a16="http://schemas.microsoft.com/office/drawing/2014/main" id="{0B22E856-7A45-415D-A078-2E3205B8D2FA}"/>
              </a:ext>
            </a:extLst>
          </p:cNvPr>
          <p:cNvSpPr>
            <a:spLocks noGrp="1"/>
          </p:cNvSpPr>
          <p:nvPr/>
        </p:nvSpPr>
        <p:spPr>
          <a:xfrm>
            <a:off x="5778500" y="26416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269B1AF-632E-409B-BF0E-A471AA6710D1}"/>
              </a:ext>
            </a:extLst>
          </p:cNvPr>
          <p:cNvSpPr>
            <a:spLocks noGrp="1"/>
          </p:cNvSpPr>
          <p:nvPr/>
        </p:nvSpPr>
        <p:spPr>
          <a:xfrm>
            <a:off x="5943600" y="2794000"/>
            <a:ext cx="18288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订单与持仓变化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A3699BE-C486-4056-8CBF-5B69B6D3C6FA}"/>
              </a:ext>
            </a:extLst>
          </p:cNvPr>
          <p:cNvSpPr>
            <a:spLocks noGrp="1"/>
          </p:cNvSpPr>
          <p:nvPr/>
        </p:nvSpPr>
        <p:spPr>
          <a:xfrm>
            <a:off x="5892800" y="3149600"/>
            <a:ext cx="1930400" cy="482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4166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买入卖出与仓位调整</a:t>
            </a:r>
            <a:endParaRPr sz="1100"/>
          </a:p>
        </p:txBody>
      </p:sp>
      <p:cxnSp>
        <p:nvCxnSpPr>
          <p:cNvPr id="39" name="Connector 16"/>
          <p:cNvCxnSpPr/>
          <p:nvPr/>
        </p:nvCxnSpPr>
        <p:spPr>
          <a:xfrm rot="-285818">
            <a:off x="7988564" y="3168650"/>
            <a:ext cx="1524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>
            <a:extLst>
              <a:ext uri="{FF2B5EF4-FFF2-40B4-BE49-F238E27FC236}">
                <a16:creationId xmlns:a16="http://schemas.microsoft.com/office/drawing/2014/main" id="{524C6409-AE5A-4BF3-A40B-1B01068AF0E3}"/>
              </a:ext>
            </a:extLst>
          </p:cNvPr>
          <p:cNvSpPr>
            <a:spLocks noGrp="1"/>
          </p:cNvSpPr>
          <p:nvPr/>
        </p:nvSpPr>
        <p:spPr>
          <a:xfrm>
            <a:off x="8191500" y="2641600"/>
            <a:ext cx="2159000" cy="1066800"/>
          </a:xfrm>
          <a:prstGeom prst="roundRect">
            <a:avLst>
              <a:gd name="adj" fmla="val 1190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772CD18E-E7C8-4C09-A88F-FD75AB243ECA}"/>
              </a:ext>
            </a:extLst>
          </p:cNvPr>
          <p:cNvSpPr>
            <a:spLocks noGrp="1"/>
          </p:cNvSpPr>
          <p:nvPr/>
        </p:nvSpPr>
        <p:spPr>
          <a:xfrm>
            <a:off x="8356600" y="2794000"/>
            <a:ext cx="18288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价格变化</a:t>
            </a:r>
            <a:endParaRPr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FEB2653-138B-4007-B577-C894C95B7985}"/>
              </a:ext>
            </a:extLst>
          </p:cNvPr>
          <p:cNvSpPr>
            <a:spLocks noGrp="1"/>
          </p:cNvSpPr>
          <p:nvPr/>
        </p:nvSpPr>
        <p:spPr>
          <a:xfrm>
            <a:off x="8305800" y="3149600"/>
            <a:ext cx="1930400" cy="482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04166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收益与估值的当期变动</a:t>
            </a:r>
            <a:endParaRPr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5C54BBD4-679B-4D51-978B-3193F45B7FB8}"/>
              </a:ext>
            </a:extLst>
          </p:cNvPr>
          <p:cNvSpPr>
            <a:spLocks noGrp="1"/>
          </p:cNvSpPr>
          <p:nvPr/>
        </p:nvSpPr>
        <p:spPr>
          <a:xfrm>
            <a:off x="952500" y="4013200"/>
            <a:ext cx="5080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说清机制时，三条不能（避免常见误用）</a:t>
            </a:r>
            <a:endParaRPr sz="110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BBA9FAF6-3B16-42B4-BCAF-E1A9692A7649}"/>
              </a:ext>
            </a:extLst>
          </p:cNvPr>
          <p:cNvSpPr>
            <a:spLocks noGrp="1"/>
          </p:cNvSpPr>
          <p:nvPr/>
        </p:nvSpPr>
        <p:spPr>
          <a:xfrm>
            <a:off x="952500" y="4470400"/>
            <a:ext cx="3556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不能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简化为"散户多就无效，机构多就有效"</a:t>
            </a:r>
            <a:endParaRPr sz="110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49FDC5F5-9B85-43EB-8C8C-8636F6E182C9}"/>
              </a:ext>
            </a:extLst>
          </p:cNvPr>
          <p:cNvSpPr>
            <a:spLocks noGrp="1"/>
          </p:cNvSpPr>
          <p:nvPr/>
        </p:nvSpPr>
        <p:spPr>
          <a:xfrm>
            <a:off x="4762500" y="4470400"/>
            <a:ext cx="3556000" cy="1016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不能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把普通β（贝塔）改名"行为β"</a:t>
            </a:r>
            <a:endParaRPr sz="1100"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68B0D0A0-1B71-49E4-B08C-CDEC677FA4F0}"/>
              </a:ext>
            </a:extLst>
          </p:cNvPr>
          <p:cNvSpPr>
            <a:spLocks noGrp="1"/>
          </p:cNvSpPr>
          <p:nvPr/>
        </p:nvSpPr>
        <p:spPr>
          <a:xfrm>
            <a:off x="8572500" y="4470400"/>
            <a:ext cx="3048000" cy="1219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不能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以任意情绪回归声称验证BAPM</a:t>
            </a:r>
            <a:endParaRPr sz="1100"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9F584F8-0BC4-40CC-A3E6-76E228F5ED6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第4课时·BAPM·出处：Shefrin &amp; Statman (1994)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33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3499E0A-4F48-4860-BF6D-E469AFD1BE3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 机制拆解：信息怎样变成信念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355C275-3C50-4430-A180-9045A31AF11A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机制链前半段：市场叙事进入注意力，再变成预期与情绪。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1F81667-D978-4119-BE1A-E65245E052CC}"/>
              </a:ext>
            </a:extLst>
          </p:cNvPr>
          <p:cNvSpPr>
            <a:spLocks noGrp="1"/>
          </p:cNvSpPr>
          <p:nvPr/>
        </p:nvSpPr>
        <p:spPr>
          <a:xfrm>
            <a:off x="952500" y="2489200"/>
            <a:ext cx="4826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55F86EF-47D0-4AEF-BC34-FA102233182C}"/>
              </a:ext>
            </a:extLst>
          </p:cNvPr>
          <p:cNvSpPr>
            <a:spLocks noGrp="1"/>
          </p:cNvSpPr>
          <p:nvPr/>
        </p:nvSpPr>
        <p:spPr>
          <a:xfrm>
            <a:off x="1206500" y="2692400"/>
            <a:ext cx="3556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环节 1｜信息或叙事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FCA88FD-0312-414E-8AA3-D30070F2C366}"/>
              </a:ext>
            </a:extLst>
          </p:cNvPr>
          <p:cNvSpPr>
            <a:spLocks noGrp="1"/>
          </p:cNvSpPr>
          <p:nvPr/>
        </p:nvSpPr>
        <p:spPr>
          <a:xfrm>
            <a:off x="1206500" y="3149600"/>
            <a:ext cx="4318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新信息、政策、传闻与市场故事；只有被注意到的部分，才会进入价格。</a:t>
            </a:r>
            <a:endParaRPr sz="1100"/>
          </a:p>
        </p:txBody>
      </p:sp>
      <p:cxnSp>
        <p:nvCxnSpPr>
          <p:cNvPr id="20" name="Connector 7"/>
          <p:cNvCxnSpPr/>
          <p:nvPr/>
        </p:nvCxnSpPr>
        <p:spPr>
          <a:xfrm rot="-114549">
            <a:off x="5867506" y="3562350"/>
            <a:ext cx="381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>
            <a:extLst>
              <a:ext uri="{FF2B5EF4-FFF2-40B4-BE49-F238E27FC236}">
                <a16:creationId xmlns:a16="http://schemas.microsoft.com/office/drawing/2014/main" id="{25A165C1-406A-4D1B-8A13-49B846CAF0BD}"/>
              </a:ext>
            </a:extLst>
          </p:cNvPr>
          <p:cNvSpPr>
            <a:spLocks noGrp="1"/>
          </p:cNvSpPr>
          <p:nvPr/>
        </p:nvSpPr>
        <p:spPr>
          <a:xfrm>
            <a:off x="6350000" y="2489200"/>
            <a:ext cx="4889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1B69657-419E-48BB-9B05-DB8D67F08C33}"/>
              </a:ext>
            </a:extLst>
          </p:cNvPr>
          <p:cNvSpPr>
            <a:spLocks noGrp="1"/>
          </p:cNvSpPr>
          <p:nvPr/>
        </p:nvSpPr>
        <p:spPr>
          <a:xfrm>
            <a:off x="6604000" y="2692400"/>
            <a:ext cx="3810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环节 2｜注意力与信念变化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B32CAD45-36DD-4232-9FDC-D235DC7AE85A}"/>
              </a:ext>
            </a:extLst>
          </p:cNvPr>
          <p:cNvSpPr>
            <a:spLocks noGrp="1"/>
          </p:cNvSpPr>
          <p:nvPr/>
        </p:nvSpPr>
        <p:spPr>
          <a:xfrm>
            <a:off x="6604000" y="3149600"/>
            <a:ext cx="4381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有限注意力决定哪些信息被加工；预期与情绪随之改变，乐观与恐慌都是信念。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2D6678E6-7BF9-4C55-AB79-0D47AC0763C6}"/>
              </a:ext>
            </a:extLst>
          </p:cNvPr>
          <p:cNvSpPr>
            <a:spLocks noGrp="1"/>
          </p:cNvSpPr>
          <p:nvPr/>
        </p:nvSpPr>
        <p:spPr>
          <a:xfrm>
            <a:off x="952500" y="4978400"/>
            <a:ext cx="10287000" cy="1066800"/>
          </a:xfrm>
          <a:prstGeom prst="roundRect">
            <a:avLst>
              <a:gd name="adj" fmla="val 9523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F39129E-5D29-4F8F-A4B5-DE11ACC72A44}"/>
              </a:ext>
            </a:extLst>
          </p:cNvPr>
          <p:cNvSpPr>
            <a:spLocks noGrp="1"/>
          </p:cNvSpPr>
          <p:nvPr/>
        </p:nvSpPr>
        <p:spPr>
          <a:xfrm>
            <a:off x="1206500" y="5130800"/>
            <a:ext cx="254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行为学依据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A9B4A742-7A79-435A-B22C-2C8CF4405814}"/>
              </a:ext>
            </a:extLst>
          </p:cNvPr>
          <p:cNvSpPr>
            <a:spLocks noGrp="1"/>
          </p:cNvSpPr>
          <p:nvPr/>
        </p:nvSpPr>
        <p:spPr>
          <a:xfrm>
            <a:off x="1206500" y="55118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有限注意力、锚定与叙事传播——信息不是等权进入价格，注意力是稀缺资源。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EC756E8-6321-4443-A265-382864F51B29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第4课时·BAPM·出处：Shefrin &amp; Statman (1994)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5308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F31BF5-41A3-4C62-9663-86F199CF90A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 机制拆解：信念怎样变成订单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4BA661-60F8-4C52-9922-022AD11004A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机制链后半段：信念变成买卖，买卖变成价格。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F156DDD-44D6-4ABE-A8DA-E770136CBC70}"/>
              </a:ext>
            </a:extLst>
          </p:cNvPr>
          <p:cNvSpPr>
            <a:spLocks noGrp="1"/>
          </p:cNvSpPr>
          <p:nvPr/>
        </p:nvSpPr>
        <p:spPr>
          <a:xfrm>
            <a:off x="952500" y="2489200"/>
            <a:ext cx="4826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95F1C2E-BABF-4A15-8A32-33203342377B}"/>
              </a:ext>
            </a:extLst>
          </p:cNvPr>
          <p:cNvSpPr>
            <a:spLocks noGrp="1"/>
          </p:cNvSpPr>
          <p:nvPr/>
        </p:nvSpPr>
        <p:spPr>
          <a:xfrm>
            <a:off x="1206500" y="2692400"/>
            <a:ext cx="3556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环节 3｜订单与持仓变化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28CFAB7-A3C0-47AB-9BCC-19A1FCA4BDC7}"/>
              </a:ext>
            </a:extLst>
          </p:cNvPr>
          <p:cNvSpPr>
            <a:spLocks noGrp="1"/>
          </p:cNvSpPr>
          <p:nvPr/>
        </p:nvSpPr>
        <p:spPr>
          <a:xfrm>
            <a:off x="1206500" y="3149600"/>
            <a:ext cx="43180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买入卖出与仓位调整；处置效应（卖盈留亏）与羊群行为，让交易带有系统性偏差。</a:t>
            </a:r>
            <a:endParaRPr sz="1100"/>
          </a:p>
        </p:txBody>
      </p:sp>
      <p:cxnSp>
        <p:nvCxnSpPr>
          <p:cNvPr id="20" name="Connector 7"/>
          <p:cNvCxnSpPr/>
          <p:nvPr/>
        </p:nvCxnSpPr>
        <p:spPr>
          <a:xfrm rot="-114549">
            <a:off x="5867506" y="3562350"/>
            <a:ext cx="381000" cy="12700"/>
          </a:xfrm>
          <a:prstGeom prst="straightConnector1">
            <a:avLst/>
          </a:prstGeom>
          <a:ln w="25400" cap="flat">
            <a:solidFill>
              <a:srgbClr val="E876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>
            <a:extLst>
              <a:ext uri="{FF2B5EF4-FFF2-40B4-BE49-F238E27FC236}">
                <a16:creationId xmlns:a16="http://schemas.microsoft.com/office/drawing/2014/main" id="{CBB5AC7F-ED54-4627-9B01-0F02979CCAA7}"/>
              </a:ext>
            </a:extLst>
          </p:cNvPr>
          <p:cNvSpPr>
            <a:spLocks noGrp="1"/>
          </p:cNvSpPr>
          <p:nvPr/>
        </p:nvSpPr>
        <p:spPr>
          <a:xfrm>
            <a:off x="6350000" y="2489200"/>
            <a:ext cx="4889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2D00DF9-E5E0-447E-B131-5463D81BAA0D}"/>
              </a:ext>
            </a:extLst>
          </p:cNvPr>
          <p:cNvSpPr>
            <a:spLocks noGrp="1"/>
          </p:cNvSpPr>
          <p:nvPr/>
        </p:nvSpPr>
        <p:spPr>
          <a:xfrm>
            <a:off x="6604000" y="2692400"/>
            <a:ext cx="3810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环节 4｜价格变化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EA717BF-5C8D-4548-8257-67BFF7596F93}"/>
              </a:ext>
            </a:extLst>
          </p:cNvPr>
          <p:cNvSpPr>
            <a:spLocks noGrp="1"/>
          </p:cNvSpPr>
          <p:nvPr/>
        </p:nvSpPr>
        <p:spPr>
          <a:xfrm>
            <a:off x="6604000" y="3149600"/>
            <a:ext cx="43815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买卖不平衡推动价格移动；最后成交的边际交易者决定价格，而不是“最理性的人”。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41B1011-BB17-4B59-A4D3-E6CE8D4BF466}"/>
              </a:ext>
            </a:extLst>
          </p:cNvPr>
          <p:cNvSpPr>
            <a:spLocks noGrp="1"/>
          </p:cNvSpPr>
          <p:nvPr/>
        </p:nvSpPr>
        <p:spPr>
          <a:xfrm>
            <a:off x="952500" y="4978400"/>
            <a:ext cx="10287000" cy="1066800"/>
          </a:xfrm>
          <a:prstGeom prst="roundRect">
            <a:avLst>
              <a:gd name="adj" fmla="val 9523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BFE1EEA-7D3E-438E-9988-548D1CAD4709}"/>
              </a:ext>
            </a:extLst>
          </p:cNvPr>
          <p:cNvSpPr>
            <a:spLocks noGrp="1"/>
          </p:cNvSpPr>
          <p:nvPr/>
        </p:nvSpPr>
        <p:spPr>
          <a:xfrm>
            <a:off x="1206500" y="5130800"/>
            <a:ext cx="304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贯穿链条的约束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B21EF96-D454-4BB8-80BE-CC7F588F7F26}"/>
              </a:ext>
            </a:extLst>
          </p:cNvPr>
          <p:cNvSpPr>
            <a:spLocks noGrp="1"/>
          </p:cNvSpPr>
          <p:nvPr/>
        </p:nvSpPr>
        <p:spPr>
          <a:xfrm>
            <a:off x="1206500" y="55118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融资、融券、流动性与风险约束作用于整条链条——限制“想交易”能不能真正落地。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480C963-5747-4A06-87DF-89C75E272A78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第4课时·BAPM·出处：Shefrin &amp; Statman (1994)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46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7E7CB1-A21B-4609-849D-F43931A34748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BAPM 机制拆解：三条“不能”与小结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42AF1C5-6949-45B5-A1C3-2A373A13BF1B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把机制讲清楚之后，还要知道怎么避免误用。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9255228-7B38-44EF-AA97-89A6D3C19A49}"/>
              </a:ext>
            </a:extLst>
          </p:cNvPr>
          <p:cNvSpPr>
            <a:spLocks noGrp="1"/>
          </p:cNvSpPr>
          <p:nvPr/>
        </p:nvSpPr>
        <p:spPr>
          <a:xfrm>
            <a:off x="952500" y="24892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83915BF-7E11-4082-AD94-2B5194306B7E}"/>
              </a:ext>
            </a:extLst>
          </p:cNvPr>
          <p:cNvSpPr>
            <a:spLocks noGrp="1"/>
          </p:cNvSpPr>
          <p:nvPr/>
        </p:nvSpPr>
        <p:spPr>
          <a:xfrm>
            <a:off x="1206500" y="2692400"/>
            <a:ext cx="228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不能① 贴人群标签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C2F31B9-341A-47C5-8175-B2A7B9F1BDFB}"/>
              </a:ext>
            </a:extLst>
          </p:cNvPr>
          <p:cNvSpPr>
            <a:spLocks noGrp="1"/>
          </p:cNvSpPr>
          <p:nvPr/>
        </p:nvSpPr>
        <p:spPr>
          <a:xfrm>
            <a:off x="1206500" y="3124200"/>
            <a:ext cx="2667000" cy="1397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有效与否看定价过程，不看“散户多”还是“机构多”。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4E0DFDF-B444-4007-A7BA-B1EBCE69130E}"/>
              </a:ext>
            </a:extLst>
          </p:cNvPr>
          <p:cNvSpPr>
            <a:spLocks noGrp="1"/>
          </p:cNvSpPr>
          <p:nvPr/>
        </p:nvSpPr>
        <p:spPr>
          <a:xfrm>
            <a:off x="4508500" y="24892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38E1CA2-321E-406A-9F96-609B1BB4D4AD}"/>
              </a:ext>
            </a:extLst>
          </p:cNvPr>
          <p:cNvSpPr>
            <a:spLocks noGrp="1"/>
          </p:cNvSpPr>
          <p:nvPr/>
        </p:nvSpPr>
        <p:spPr>
          <a:xfrm>
            <a:off x="4762500" y="26924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不能② 只改名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0973AE9-02FC-46A3-9D65-76E680EBC2B9}"/>
              </a:ext>
            </a:extLst>
          </p:cNvPr>
          <p:cNvSpPr>
            <a:spLocks noGrp="1"/>
          </p:cNvSpPr>
          <p:nvPr/>
        </p:nvSpPr>
        <p:spPr>
          <a:xfrm>
            <a:off x="4762500" y="3124200"/>
            <a:ext cx="2667000" cy="1397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把普通 β（贝塔）改名“行为 β”，不是检验，只是换标签。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C90EF4C-E866-48F7-A209-188C8775CC0C}"/>
              </a:ext>
            </a:extLst>
          </p:cNvPr>
          <p:cNvSpPr>
            <a:spLocks noGrp="1"/>
          </p:cNvSpPr>
          <p:nvPr/>
        </p:nvSpPr>
        <p:spPr>
          <a:xfrm>
            <a:off x="8064500" y="2489200"/>
            <a:ext cx="3175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328BA207-61D9-4C9F-9C5D-69C9C364FCFE}"/>
              </a:ext>
            </a:extLst>
          </p:cNvPr>
          <p:cNvSpPr>
            <a:spLocks noGrp="1"/>
          </p:cNvSpPr>
          <p:nvPr/>
        </p:nvSpPr>
        <p:spPr>
          <a:xfrm>
            <a:off x="8318500" y="26924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不能③ 不设检验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A70F6D1-FEEB-4135-9B85-5239EF4DD910}"/>
              </a:ext>
            </a:extLst>
          </p:cNvPr>
          <p:cNvSpPr>
            <a:spLocks noGrp="1"/>
          </p:cNvSpPr>
          <p:nvPr/>
        </p:nvSpPr>
        <p:spPr>
          <a:xfrm>
            <a:off x="8318500" y="3124200"/>
            <a:ext cx="2667000" cy="1397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以任意情绪回归声称验证 BAPM，等于用故事代替证据。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C9BF62B-DDE7-4F30-9B4A-7AB3A5F7FC50}"/>
              </a:ext>
            </a:extLst>
          </p:cNvPr>
          <p:cNvSpPr>
            <a:spLocks noGrp="1"/>
          </p:cNvSpPr>
          <p:nvPr/>
        </p:nvSpPr>
        <p:spPr>
          <a:xfrm>
            <a:off x="952500" y="5130800"/>
            <a:ext cx="10287000" cy="812800"/>
          </a:xfrm>
          <a:prstGeom prst="roundRect">
            <a:avLst>
              <a:gd name="adj" fmla="val 125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775C56F-B0F6-4081-9DAC-3E499DB9D6CB}"/>
              </a:ext>
            </a:extLst>
          </p:cNvPr>
          <p:cNvSpPr>
            <a:spLocks noGrp="1"/>
          </p:cNvSpPr>
          <p:nvPr/>
        </p:nvSpPr>
        <p:spPr>
          <a:xfrm>
            <a:off x="1206500" y="5283200"/>
            <a:ext cx="2794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课堂小结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3E13FAA0-0540-41EB-8F35-71225DB2BE01}"/>
              </a:ext>
            </a:extLst>
          </p:cNvPr>
          <p:cNvSpPr>
            <a:spLocks noGrp="1"/>
          </p:cNvSpPr>
          <p:nvPr/>
        </p:nvSpPr>
        <p:spPr>
          <a:xfrm>
            <a:off x="1206500" y="56134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机制假说链的每一环都需要证据；没有证据就把链条写实，就是讲故事。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DFD1C35-7E81-4AE8-9404-241573D297D6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第4课时·BAPM·出处：Shefrin &amp; Statman (1994)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0335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A374B09-0794-48BE-AE4E-0B65993A586F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16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案例二：924上涨之后，为什么仍要检查交易条件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4C92111-372C-48C2-9C70-524E325C0BC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2024-09-24宣布货币与资本市场支持措施；以9月23日收盘为起点，把"上涨"与"兑现"分开看。沪深300、创业板指已联网核对。</a:t>
            </a:r>
            <a:endParaRPr sz="1100"/>
          </a:p>
        </p:txBody>
      </p:sp>
      <p:graphicFrame>
        <p:nvGraphicFramePr>
          <p:cNvPr id="14" name="Table 4"/>
          <p:cNvGraphicFramePr/>
          <p:nvPr/>
        </p:nvGraphicFramePr>
        <p:xfrm>
          <a:off x="952500" y="2387600"/>
          <a:ext cx="7112000" cy="191262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指数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9-23收盘→10-08收盘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10-08→10-09收盘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沪深300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B03C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+32.47%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2278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−7.05%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创业板指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B03C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+66.63%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2278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−10.59%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中证2000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B03C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+36.11%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2278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−9.36%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5"/>
          <p:cNvPicPr>
            <a:picLocks noChangeAspect="1"/>
          </p:cNvPicPr>
          <p:nvPr/>
        </p:nvPicPr>
        <p:blipFill>
          <a:blip r:embed="rId4"/>
          <a:srcRect l="81" r="81"/>
          <a:stretch>
            <a:fillRect/>
          </a:stretch>
        </p:blipFill>
        <p:spPr>
          <a:xfrm>
            <a:off x="8318500" y="2387600"/>
            <a:ext cx="3302000" cy="17272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A91C519E-4D95-4C29-8E8B-097DCBD741E2}"/>
              </a:ext>
            </a:extLst>
          </p:cNvPr>
          <p:cNvSpPr>
            <a:spLocks noGrp="1"/>
          </p:cNvSpPr>
          <p:nvPr/>
        </p:nvSpPr>
        <p:spPr>
          <a:xfrm>
            <a:off x="8318500" y="4165600"/>
            <a:ext cx="3302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三指数归一化走势（results/case_924.png）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6408D7B-606A-40EE-9887-7CEE7AEBABF4}"/>
              </a:ext>
            </a:extLst>
          </p:cNvPr>
          <p:cNvSpPr>
            <a:spLocks noGrp="1"/>
          </p:cNvSpPr>
          <p:nvPr/>
        </p:nvSpPr>
        <p:spPr>
          <a:xfrm>
            <a:off x="952500" y="4597400"/>
            <a:ext cx="10287000" cy="838200"/>
          </a:xfrm>
          <a:prstGeom prst="roundRect">
            <a:avLst>
              <a:gd name="adj" fmla="val 12121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10F3480-03F0-449A-900A-10D3FBF8EA24}"/>
              </a:ext>
            </a:extLst>
          </p:cNvPr>
          <p:cNvSpPr>
            <a:spLocks noGrp="1"/>
          </p:cNvSpPr>
          <p:nvPr/>
        </p:nvSpPr>
        <p:spPr>
          <a:xfrm>
            <a:off x="1206500" y="4749800"/>
            <a:ext cx="9779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课堂规则：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故事可以变，事先写下的交易规则不能随结果更改——先涨后跌本身，不证明追涨是情绪，也不证明抄底是理性。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51808C07-836B-42AD-8B45-AF8487AA7DD1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第4课时·BAPM·来源：results/case_events.csv；沪深300、创业板指已联网核对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692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4184EC-56E0-447F-B84C-6A2417D3FA82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一日压力回放："防御"这个名称，不等于本金安全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778D0D7-A031-49DF-8E6B-FC0149FA0D47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五只科技股等权放进30%的"进取账户"，长江电力、中国神华、工商银行等权放进70%的"防御账户"；按10月8日至9日前复权收益计算。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1D1A0F6-97DF-42CB-B703-55BCAC4F0970}"/>
              </a:ext>
            </a:extLst>
          </p:cNvPr>
          <p:cNvSpPr>
            <a:spLocks noGrp="1"/>
          </p:cNvSpPr>
          <p:nvPr/>
        </p:nvSpPr>
        <p:spPr>
          <a:xfrm>
            <a:off x="952500" y="2438400"/>
            <a:ext cx="3175000" cy="1625600"/>
          </a:xfrm>
          <a:prstGeom prst="roundRect">
            <a:avLst>
              <a:gd name="adj" fmla="val 781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8C2B75D-3925-44C8-B26E-923C8703B077}"/>
              </a:ext>
            </a:extLst>
          </p:cNvPr>
          <p:cNvSpPr>
            <a:spLocks noGrp="1"/>
          </p:cNvSpPr>
          <p:nvPr/>
        </p:nvSpPr>
        <p:spPr>
          <a:xfrm>
            <a:off x="1168400" y="2616200"/>
            <a:ext cx="27432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进取账户（30%）科技5股等权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C9B0FB0-90BF-4296-BEB9-234B657E7AC7}"/>
              </a:ext>
            </a:extLst>
          </p:cNvPr>
          <p:cNvSpPr>
            <a:spLocks noGrp="1"/>
          </p:cNvSpPr>
          <p:nvPr/>
        </p:nvSpPr>
        <p:spPr>
          <a:xfrm>
            <a:off x="1168400" y="3048000"/>
            <a:ext cx="27432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3200" b="1" i="0" u="none">
                <a:solidFill>
                  <a:srgbClr val="B03C28"/>
                </a:solidFill>
                <a:latin typeface="微软雅黑"/>
                <a:ea typeface="微软雅黑"/>
                <a:cs typeface="微软雅黑"/>
              </a:rPr>
              <a:t>−2.49%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F91EE43-47D2-4677-97EE-2EFAFD62BB05}"/>
              </a:ext>
            </a:extLst>
          </p:cNvPr>
          <p:cNvSpPr>
            <a:spLocks noGrp="1"/>
          </p:cNvSpPr>
          <p:nvPr/>
        </p:nvSpPr>
        <p:spPr>
          <a:xfrm>
            <a:off x="1168400" y="3683000"/>
            <a:ext cx="27432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账户单独看并不"激进而亏大"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3A9AB87-0F7B-4AC4-9B63-A401278C60BE}"/>
              </a:ext>
            </a:extLst>
          </p:cNvPr>
          <p:cNvSpPr>
            <a:spLocks noGrp="1"/>
          </p:cNvSpPr>
          <p:nvPr/>
        </p:nvSpPr>
        <p:spPr>
          <a:xfrm>
            <a:off x="4508500" y="2438400"/>
            <a:ext cx="3175000" cy="1625600"/>
          </a:xfrm>
          <a:prstGeom prst="roundRect">
            <a:avLst>
              <a:gd name="adj" fmla="val 781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523602D-5ADB-4DAB-A140-69588CC0620C}"/>
              </a:ext>
            </a:extLst>
          </p:cNvPr>
          <p:cNvSpPr>
            <a:spLocks noGrp="1"/>
          </p:cNvSpPr>
          <p:nvPr/>
        </p:nvSpPr>
        <p:spPr>
          <a:xfrm>
            <a:off x="4724400" y="2616200"/>
            <a:ext cx="27432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防御账户（70%）防御3股等权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5A7124D8-65B7-437A-9A85-FE7F6F0D7E6E}"/>
              </a:ext>
            </a:extLst>
          </p:cNvPr>
          <p:cNvSpPr>
            <a:spLocks noGrp="1"/>
          </p:cNvSpPr>
          <p:nvPr/>
        </p:nvSpPr>
        <p:spPr>
          <a:xfrm>
            <a:off x="4724400" y="3048000"/>
            <a:ext cx="27432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3200" b="1" i="0" u="none">
                <a:solidFill>
                  <a:srgbClr val="B03C28"/>
                </a:solidFill>
                <a:latin typeface="微软雅黑"/>
                <a:ea typeface="微软雅黑"/>
                <a:cs typeface="微软雅黑"/>
              </a:rPr>
              <a:t>−2.84%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72A540CD-0006-47C1-A4A6-C3770E1DEC1E}"/>
              </a:ext>
            </a:extLst>
          </p:cNvPr>
          <p:cNvSpPr>
            <a:spLocks noGrp="1"/>
          </p:cNvSpPr>
          <p:nvPr/>
        </p:nvSpPr>
        <p:spPr>
          <a:xfrm>
            <a:off x="4724400" y="3683000"/>
            <a:ext cx="27432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叫"防御"的两天里跌得更多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7F24901-A3F1-421B-9D79-C27DAE0C9116}"/>
              </a:ext>
            </a:extLst>
          </p:cNvPr>
          <p:cNvSpPr>
            <a:spLocks noGrp="1"/>
          </p:cNvSpPr>
          <p:nvPr/>
        </p:nvSpPr>
        <p:spPr>
          <a:xfrm>
            <a:off x="8064500" y="2438400"/>
            <a:ext cx="3175000" cy="1625600"/>
          </a:xfrm>
          <a:prstGeom prst="roundRect">
            <a:avLst>
              <a:gd name="adj" fmla="val 781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EA05250-355F-4DAB-B5FB-87BB9DC6488F}"/>
              </a:ext>
            </a:extLst>
          </p:cNvPr>
          <p:cNvSpPr>
            <a:spLocks noGrp="1"/>
          </p:cNvSpPr>
          <p:nvPr/>
        </p:nvSpPr>
        <p:spPr>
          <a:xfrm>
            <a:off x="8280400" y="2616200"/>
            <a:ext cx="27432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合并 30/70 组合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2FB4A76-95F5-4885-A1AF-99DDA9126528}"/>
              </a:ext>
            </a:extLst>
          </p:cNvPr>
          <p:cNvSpPr>
            <a:spLocks noGrp="1"/>
          </p:cNvSpPr>
          <p:nvPr/>
        </p:nvSpPr>
        <p:spPr>
          <a:xfrm>
            <a:off x="8280400" y="3048000"/>
            <a:ext cx="27432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3200" b="1" i="0" u="none">
                <a:solidFill>
                  <a:srgbClr val="B03C28"/>
                </a:solidFill>
                <a:latin typeface="微软雅黑"/>
                <a:ea typeface="微软雅黑"/>
                <a:cs typeface="微软雅黑"/>
              </a:rPr>
              <a:t>−2.74%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BD85D70-F663-4D94-BFE4-F929BBED9D39}"/>
              </a:ext>
            </a:extLst>
          </p:cNvPr>
          <p:cNvSpPr>
            <a:spLocks noGrp="1"/>
          </p:cNvSpPr>
          <p:nvPr/>
        </p:nvSpPr>
        <p:spPr>
          <a:xfrm>
            <a:off x="8280400" y="3683000"/>
            <a:ext cx="27432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合并后两个账户的相关性暴露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95BFDA5-396E-4B0E-91C0-3F22C370278C}"/>
              </a:ext>
            </a:extLst>
          </p:cNvPr>
          <p:cNvSpPr>
            <a:spLocks noGrp="1"/>
          </p:cNvSpPr>
          <p:nvPr/>
        </p:nvSpPr>
        <p:spPr>
          <a:xfrm>
            <a:off x="952500" y="4470400"/>
            <a:ext cx="10287000" cy="812800"/>
          </a:xfrm>
          <a:prstGeom prst="roundRect">
            <a:avLst>
              <a:gd name="adj" fmla="val 125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755DFD0D-17E1-4620-938A-BC32E73314BE}"/>
              </a:ext>
            </a:extLst>
          </p:cNvPr>
          <p:cNvSpPr>
            <a:spLocks noGrp="1"/>
          </p:cNvSpPr>
          <p:nvPr/>
        </p:nvSpPr>
        <p:spPr>
          <a:xfrm>
            <a:off x="1206500" y="46482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边界：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事后选样的一日压力回放，只能演示"名称不等于属性"，不能推断通常的波动排序，更不能作为卖出依据。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AB8E788-73A7-4569-99BD-EE45684407D9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第4课时·BAPM·明细：results/account_stress.csv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6665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56F16A1-12C1-4756-9946-2E46B148BDF8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案例二逻辑链：两个场景如何推出结论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7EBE1C0-B760-4EC9-B9C0-99106A3B6CCF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两步走：先用第28页排除“事后叙事”，再用第29页排除“名称标签”；每一步都标明推导依据。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53CB079-DE4F-49BF-94AF-64B8BA4F50B9}"/>
              </a:ext>
            </a:extLst>
          </p:cNvPr>
          <p:cNvSpPr>
            <a:spLocks noGrp="1"/>
          </p:cNvSpPr>
          <p:nvPr/>
        </p:nvSpPr>
        <p:spPr>
          <a:xfrm>
            <a:off x="952500" y="2336800"/>
            <a:ext cx="4953000" cy="1219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4E1C65C-C3CE-4C63-B428-D25707CE96D0}"/>
              </a:ext>
            </a:extLst>
          </p:cNvPr>
          <p:cNvSpPr>
            <a:spLocks noGrp="1"/>
          </p:cNvSpPr>
          <p:nvPr/>
        </p:nvSpPr>
        <p:spPr>
          <a:xfrm>
            <a:off x="1206500" y="2489200"/>
            <a:ext cx="4318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证据 A · 924涨跌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3026848-B049-4715-84BE-E2005BA5C053}"/>
              </a:ext>
            </a:extLst>
          </p:cNvPr>
          <p:cNvSpPr>
            <a:spLocks noGrp="1"/>
          </p:cNvSpPr>
          <p:nvPr/>
        </p:nvSpPr>
        <p:spPr>
          <a:xfrm>
            <a:off x="1206500" y="28194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同一指数先 +32%（9-23→10-08）后 −7%（10-08→10-09）；同一段价格可被“情绪狂热”与“情绪崩溃”两种叙事解释。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8B955A3-0EA1-44BD-B494-C95602E2CFD6}"/>
              </a:ext>
            </a:extLst>
          </p:cNvPr>
          <p:cNvSpPr>
            <a:spLocks noGrp="1"/>
          </p:cNvSpPr>
          <p:nvPr/>
        </p:nvSpPr>
        <p:spPr>
          <a:xfrm>
            <a:off x="6286500" y="2336800"/>
            <a:ext cx="4953000" cy="1219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5FF1122-0A6B-400C-99A4-FC239FAF87F8}"/>
              </a:ext>
            </a:extLst>
          </p:cNvPr>
          <p:cNvSpPr>
            <a:spLocks noGrp="1"/>
          </p:cNvSpPr>
          <p:nvPr/>
        </p:nvSpPr>
        <p:spPr>
          <a:xfrm>
            <a:off x="6540500" y="2489200"/>
            <a:ext cx="4318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证据 B · 防御账户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336E7FF-90E2-4451-80E1-1E1293D4EA43}"/>
              </a:ext>
            </a:extLst>
          </p:cNvPr>
          <p:cNvSpPr>
            <a:spLocks noGrp="1"/>
          </p:cNvSpPr>
          <p:nvPr/>
        </p:nvSpPr>
        <p:spPr>
          <a:xfrm>
            <a:off x="6540500" y="28194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压力日“防御”账户 −2.84%，跌幅大于“进取”账户 −2.49%；名称与实际跌幅排序相反。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DC7BD8BC-6292-42E3-A2FE-6F631EEC75C0}"/>
              </a:ext>
            </a:extLst>
          </p:cNvPr>
          <p:cNvSpPr>
            <a:spLocks noGrp="1"/>
          </p:cNvSpPr>
          <p:nvPr/>
        </p:nvSpPr>
        <p:spPr>
          <a:xfrm>
            <a:off x="952500" y="3606800"/>
            <a:ext cx="50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4114B5B-6A0C-42B9-A922-EAB1C6CD9A19}"/>
              </a:ext>
            </a:extLst>
          </p:cNvPr>
          <p:cNvSpPr>
            <a:spLocks noGrp="1"/>
          </p:cNvSpPr>
          <p:nvPr/>
        </p:nvSpPr>
        <p:spPr>
          <a:xfrm>
            <a:off x="6286500" y="3606800"/>
            <a:ext cx="50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93944E4D-B318-41C7-A3C2-F9CE92BA3575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4953000" cy="1219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D5AE0BF-92E7-4562-8AE5-EA2984A26DAF}"/>
              </a:ext>
            </a:extLst>
          </p:cNvPr>
          <p:cNvSpPr>
            <a:spLocks noGrp="1"/>
          </p:cNvSpPr>
          <p:nvPr/>
        </p:nvSpPr>
        <p:spPr>
          <a:xfrm>
            <a:off x="1206500" y="3962400"/>
            <a:ext cx="4318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推导 1 → 结论 01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3071154-B436-4F42-8DC4-FE418F442391}"/>
              </a:ext>
            </a:extLst>
          </p:cNvPr>
          <p:cNvSpPr>
            <a:spLocks noGrp="1"/>
          </p:cNvSpPr>
          <p:nvPr/>
        </p:nvSpPr>
        <p:spPr>
          <a:xfrm>
            <a:off x="1206500" y="42926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价格序列不含动机信息；把涨跌当情绪证据，任何结果都能事后讲圆 → 情绪归因不可证伪。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90CF412-CEC0-4965-8A71-798A8FCE5E14}"/>
              </a:ext>
            </a:extLst>
          </p:cNvPr>
          <p:cNvSpPr>
            <a:spLocks noGrp="1"/>
          </p:cNvSpPr>
          <p:nvPr/>
        </p:nvSpPr>
        <p:spPr>
          <a:xfrm>
            <a:off x="6286500" y="3810000"/>
            <a:ext cx="4953000" cy="1219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5ED6DFD-64AC-47B6-90FB-85C3BD398BB4}"/>
              </a:ext>
            </a:extLst>
          </p:cNvPr>
          <p:cNvSpPr>
            <a:spLocks noGrp="1"/>
          </p:cNvSpPr>
          <p:nvPr/>
        </p:nvSpPr>
        <p:spPr>
          <a:xfrm>
            <a:off x="6540500" y="3962400"/>
            <a:ext cx="4318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推导 2 → 结论 02/03</a:t>
            </a:r>
            <a:endParaRPr sz="11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805B3466-8331-4389-AC74-532D96814684}"/>
              </a:ext>
            </a:extLst>
          </p:cNvPr>
          <p:cNvSpPr>
            <a:spLocks noGrp="1"/>
          </p:cNvSpPr>
          <p:nvPr/>
        </p:nvSpPr>
        <p:spPr>
          <a:xfrm>
            <a:off x="6540500" y="42926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2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名称来自账户划分而非持仓风险；标签与跌幅排序相反 → 风险须看合并持仓，而非名称。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AF40B53-FA1D-406A-9CEE-0FBD60910F1D}"/>
              </a:ext>
            </a:extLst>
          </p:cNvPr>
          <p:cNvSpPr>
            <a:spLocks noGrp="1"/>
          </p:cNvSpPr>
          <p:nvPr/>
        </p:nvSpPr>
        <p:spPr>
          <a:xfrm>
            <a:off x="952500" y="5207000"/>
            <a:ext cx="10287000" cy="508000"/>
          </a:xfrm>
          <a:prstGeom prst="roundRect">
            <a:avLst>
              <a:gd name="adj" fmla="val 20000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24E5ECB6-83AB-4259-8E5E-90BE066DC072}"/>
              </a:ext>
            </a:extLst>
          </p:cNvPr>
          <p:cNvSpPr>
            <a:spLocks noGrp="1"/>
          </p:cNvSpPr>
          <p:nvPr/>
        </p:nvSpPr>
        <p:spPr>
          <a:xfrm>
            <a:off x="1206500" y="5308600"/>
            <a:ext cx="977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结论：01 叙事≠证据（由A推出）· 02 名称≠属性（由B推出）· 03 合并才是风险（B延伸）</a:t>
            </a:r>
            <a:endParaRPr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D91838E8-81A9-442C-853A-EDFCC98E034F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0287000" cy="381000"/>
          </a:xfrm>
          <a:prstGeom prst="roundRect">
            <a:avLst>
              <a:gd name="adj" fmla="val 26666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17E34ED-B8C9-483D-93BA-533A467C5FE2}"/>
              </a:ext>
            </a:extLst>
          </p:cNvPr>
          <p:cNvSpPr>
            <a:spLocks noGrp="1"/>
          </p:cNvSpPr>
          <p:nvPr/>
        </p:nvSpPr>
        <p:spPr>
          <a:xfrm>
            <a:off x="1206500" y="58674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边界：教学演示而非统计证明；不推断普适规律，不构成交易建议。</a:t>
            </a:r>
            <a:endParaRPr sz="110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87939178-E9E0-4707-A6E7-AD06B4C5E70E}"/>
              </a:ext>
            </a:extLst>
          </p:cNvPr>
          <p:cNvSpPr>
            <a:spLocks noGrp="1"/>
          </p:cNvSpPr>
          <p:nvPr/>
        </p:nvSpPr>
        <p:spPr>
          <a:xfrm>
            <a:off x="952500" y="62484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第4课时·BAPM·案例二逻辑链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1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0D40A31-4111-4AAA-9DED-9C64045A22AC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652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案例二结论：检验情绪定价，须对照事前条件而非事后叙事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7019538-A064-41D3-89DE-658E03402192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160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第28–29页两个场景分别说明：涨跌本身不构成情绪归因的证据；账户名称不代表风险属性。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16874B1-639A-41C7-AB3D-9D9DB521DA1B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0287000" cy="1066800"/>
          </a:xfrm>
          <a:prstGeom prst="roundRect">
            <a:avLst>
              <a:gd name="adj" fmla="val 9523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2785A00-4544-4143-930F-6CC6983F74DD}"/>
              </a:ext>
            </a:extLst>
          </p:cNvPr>
          <p:cNvSpPr>
            <a:spLocks noGrp="1"/>
          </p:cNvSpPr>
          <p:nvPr/>
        </p:nvSpPr>
        <p:spPr>
          <a:xfrm>
            <a:off x="1206500" y="2463800"/>
            <a:ext cx="177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核心结论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A1BFF1A-23AD-45E2-AE62-BAA08AEB1EE0}"/>
              </a:ext>
            </a:extLst>
          </p:cNvPr>
          <p:cNvSpPr>
            <a:spLocks noGrp="1"/>
          </p:cNvSpPr>
          <p:nvPr/>
        </p:nvSpPr>
        <p:spPr>
          <a:xfrm>
            <a:off x="1206500" y="28194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5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价格上涨与下跌本身，都不构成“情绪驱动”的证据；账户名称也不代表实际风险，合并组合才是风险管理的对象。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A9763E1-5D67-492E-AD5A-4BB2F422B03B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70419DF-186A-4DB9-9408-5DC5672842D1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叙事≠证据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8C046ED-8B76-4444-A5FF-5DBC23D61DC7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先涨后跌不证明追涨是情绪、抄底是理性；情绪归因须对照事前写下的规则，区分信息与噪声。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B34B92F-E4D1-4EFE-8A14-2DB8BA5063B9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27794911-FD13-4EBC-90EE-188B6DB019C6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名称≠属性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1FD6D90-13E5-4F1F-A4DF-3C4B2EEA422F}"/>
              </a:ext>
            </a:extLst>
          </p:cNvPr>
          <p:cNvSpPr>
            <a:spLocks noGrp="1"/>
          </p:cNvSpPr>
          <p:nvPr/>
        </p:nvSpPr>
        <p:spPr>
          <a:xfrm>
            <a:off x="4762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“防御”账户压力日跌幅 −2.84% ＞“进取”账户 −2.49%；名称不等于风险属性。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4004FF7-7BA5-484F-9E2F-373AF554D6F3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D220344-310E-47BF-AFEF-803E2F6FAEFF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203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合并才是风险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4F68592-A920-4AEA-A233-1ADC6ABB69C7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两账户分开看都“合理”，合并后 −2.74%；相关性决定组合真实风险，这才是该管的数字。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6E492F6-0BCF-42E7-AEBF-80E16E65A025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68B2EEB5-A5DD-43C2-B181-09493E7E4DB7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回到 BAPM：情绪定价要有可证伪的事前条件；风险管理要盯合并组合，而不是账户标签。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FD959879-C9D6-4045-B0E6-22E2E2A86501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第4课时·BAPM·案例二结论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6398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6B6C96F-3352-43CF-BF0E-063E3DB61828}"/>
              </a:ext>
            </a:extLst>
          </p:cNvPr>
          <p:cNvSpPr>
            <a:spLocks noGrp="1"/>
          </p:cNvSpPr>
          <p:nvPr/>
        </p:nvSpPr>
        <p:spPr>
          <a:xfrm>
            <a:off x="990600" y="2349500"/>
            <a:ext cx="5080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第三部分·动量与反转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EB06A7-A818-4D4A-97B4-65C4AC1F46E8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60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0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动量与反转：界定、时间参数与可检验条件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81D6F40-EB3B-4FD6-870B-9CAE4B80B720}"/>
              </a:ext>
            </a:extLst>
          </p:cNvPr>
          <p:cNvSpPr>
            <a:spLocks noGrp="1"/>
          </p:cNvSpPr>
          <p:nvPr/>
        </p:nvSpPr>
        <p:spPr>
          <a:xfrm>
            <a:off x="1041400" y="3784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EEFD3E5-1745-4522-9B1A-51A656BFA950}"/>
              </a:ext>
            </a:extLst>
          </p:cNvPr>
          <p:cNvSpPr>
            <a:spLocks noGrp="1"/>
          </p:cNvSpPr>
          <p:nvPr/>
        </p:nvSpPr>
        <p:spPr>
          <a:xfrm>
            <a:off x="990600" y="4826000"/>
            <a:ext cx="10033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动量与反转都不是无条件规律——先问：哪一组股票、过去多久、持有多久、以什么成本成交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5890929-4ECB-4C9C-9AAF-F22247E1DD8E}"/>
              </a:ext>
            </a:extLst>
          </p:cNvPr>
          <p:cNvSpPr>
            <a:spLocks noGrp="1"/>
          </p:cNvSpPr>
          <p:nvPr/>
        </p:nvSpPr>
        <p:spPr>
          <a:xfrm>
            <a:off x="990600" y="6184900"/>
            <a:ext cx="381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第4课时·动量与反转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26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575DBB8-B234-46FA-A261-98EACF02FDAD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动量与反转：先用例子讲清“赢家组合”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2786921-5752-463D-BE08-0D2193E3F6B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先看股票怎么分组、策略赌什么，再对照第33页的学术定义——动量与反转说的是“过去表现”与“未来相对表现”的关系。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901CA35-9605-4326-ACC8-76C460B48360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FE428DC-AAC3-4449-B490-64EB02104AEE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怎么分组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8E05216-D43C-4EAF-8786-8C51EC58D9A6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把过去一段时间的收益排序：涨得多的叫“赢家组合”，跌得多的叫“输家组合”。例如过去 11 个月，A 涨 30%、B 跌 20%。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E7D2E12-51F4-4B1A-B8C7-4A921B8FE5A1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F1D1155B-1ED9-4DCB-B631-98398C5C607F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动量策略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F4617D02-5CC6-46F0-99B1-8E899072C583}"/>
              </a:ext>
            </a:extLst>
          </p:cNvPr>
          <p:cNvSpPr>
            <a:spLocks noGrp="1"/>
          </p:cNvSpPr>
          <p:nvPr/>
        </p:nvSpPr>
        <p:spPr>
          <a:xfrm>
            <a:off x="4762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买赢家、卖输家，赌过去强者继续强。学术策略中的“卖输家”可涉及做空；本课A股回测只做多，不假设融券。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DE98EE5-060A-48F9-8A74-0C1275016187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85D54EE3-B47C-4D5F-A088-7EDDEC67788A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反转策略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0CE8C37-8298-4124-A219-6672FBA80FE7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买输家、卖赢家，赌“跌多了会反弹”。学术定义：过去输家组合后续相对领先。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033729A-D5A2-4658-8CFA-FB1A0DC15D8C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EFC97AF-28A7-4AD2-BE71-9DDEFDA463AE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两个关键参数：形成期（用哪段过去收益分组）与持有期（分组后持有多久）——第34页的“12–2”“6–2”就是这两组参数。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5395FDB-E5A6-43A6-92C0-E9C3276ABD7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7941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49A35B-2D0D-4F81-A753-84CF792E813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三个问题不要混在一起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A9D864C-0D8F-480D-B029-18186D09BE1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行为现象、价格可预测性、扣费后可获利是三件不同的事，回答它们需要不同的数据，证据强度也不同。</a:t>
            </a:r>
            <a:endParaRPr sz="1100"/>
          </a:p>
        </p:txBody>
      </p:sp>
      <p:graphicFrame>
        <p:nvGraphicFramePr>
          <p:cNvPr id="11" name="Table 4"/>
          <p:cNvGraphicFramePr/>
          <p:nvPr/>
        </p:nvGraphicFramePr>
        <p:xfrm>
          <a:off x="952500" y="2387600"/>
          <a:ext cx="10287000" cy="236982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要回答的问题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需要的数据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不能直接推出什么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投资者是否追涨杀跌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交易记录或经调整的持仓变化，加上此前收益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不能推出这样交易有利可图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过去收益是否预测未来收益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事前形成的股票分组，加上后续收益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不能单凭相关性证明心理机制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策略能否扣费后获利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可交易股票池、真实时序、成本与成交约束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不能仅凭毛收益推出现实可复制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DC5517E5-E95E-4ED8-B3BA-A323037C0085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10287000" cy="787400"/>
          </a:xfrm>
          <a:prstGeom prst="roundRect">
            <a:avLst>
              <a:gd name="adj" fmla="val 12903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69BA814-DB31-401D-B322-80754B841CE3}"/>
              </a:ext>
            </a:extLst>
          </p:cNvPr>
          <p:cNvSpPr>
            <a:spLocks noGrp="1"/>
          </p:cNvSpPr>
          <p:nvPr/>
        </p:nvSpPr>
        <p:spPr>
          <a:xfrm>
            <a:off x="1206500" y="51816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定义与口径：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动量＝过去赢家组合后续相对领先；反转＝过去输家组合后续相对领先。必须声明形成期与持有期；截面动量不等于时间序列动量。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5E69F06-770B-4BEF-847F-EDEE5AC66304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19608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D060CC1-68B8-4A99-A568-0736416FC5F1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12–2 动量：把时间轴画出来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EA06C22-16EE-4000-803D-73E850BC18F5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以2024年9月持有期为例：信号用2023年9月至2024年7月收益，跳过8月，9月建仓、10月退出。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5240B4E-4584-431B-9BAE-0F1B807D5789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4B55010-CEA9-4941-8D71-08C91C64C3FC}"/>
              </a:ext>
            </a:extLst>
          </p:cNvPr>
          <p:cNvSpPr>
            <a:spLocks noGrp="1"/>
          </p:cNvSpPr>
          <p:nvPr/>
        </p:nvSpPr>
        <p:spPr>
          <a:xfrm>
            <a:off x="1079500" y="2819400"/>
            <a:ext cx="1651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2023-08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起点 t−13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3B02CC6-DDE3-49C2-84FE-CC9EE87B7B2A}"/>
              </a:ext>
            </a:extLst>
          </p:cNvPr>
          <p:cNvSpPr>
            <a:spLocks noGrp="1"/>
          </p:cNvSpPr>
          <p:nvPr/>
        </p:nvSpPr>
        <p:spPr>
          <a:xfrm>
            <a:off x="2882900" y="2921000"/>
            <a:ext cx="2032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436A49C-7FBB-4579-AE11-7C8B5D8B2984}"/>
              </a:ext>
            </a:extLst>
          </p:cNvPr>
          <p:cNvSpPr>
            <a:spLocks noGrp="1"/>
          </p:cNvSpPr>
          <p:nvPr/>
        </p:nvSpPr>
        <p:spPr>
          <a:xfrm>
            <a:off x="3111500" y="2667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19ED78B-C7B2-47F5-8F2C-B4EADB183B67}"/>
              </a:ext>
            </a:extLst>
          </p:cNvPr>
          <p:cNvSpPr>
            <a:spLocks noGrp="1"/>
          </p:cNvSpPr>
          <p:nvPr/>
        </p:nvSpPr>
        <p:spPr>
          <a:xfrm>
            <a:off x="3238500" y="2794000"/>
            <a:ext cx="1651000" cy="685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2023-09至2024-07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11个月收益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（t−12→t−2）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CA41789-C2E7-44A9-A324-2B496FCF17FE}"/>
              </a:ext>
            </a:extLst>
          </p:cNvPr>
          <p:cNvSpPr>
            <a:spLocks noGrp="1"/>
          </p:cNvSpPr>
          <p:nvPr/>
        </p:nvSpPr>
        <p:spPr>
          <a:xfrm>
            <a:off x="5041900" y="2921000"/>
            <a:ext cx="2032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69F68449-454F-4251-A218-42DD4F1F8A19}"/>
              </a:ext>
            </a:extLst>
          </p:cNvPr>
          <p:cNvSpPr>
            <a:spLocks noGrp="1"/>
          </p:cNvSpPr>
          <p:nvPr/>
        </p:nvSpPr>
        <p:spPr>
          <a:xfrm>
            <a:off x="5270500" y="2667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FF8FBEF-037B-4E33-AE1F-A5C43D8F5658}"/>
              </a:ext>
            </a:extLst>
          </p:cNvPr>
          <p:cNvSpPr>
            <a:spLocks noGrp="1"/>
          </p:cNvSpPr>
          <p:nvPr/>
        </p:nvSpPr>
        <p:spPr>
          <a:xfrm>
            <a:off x="5397500" y="2819400"/>
            <a:ext cx="1651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2024-08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缓冲跳过 t−1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FD6CC62C-98B8-4E2B-A66B-FCF35925FB75}"/>
              </a:ext>
            </a:extLst>
          </p:cNvPr>
          <p:cNvSpPr>
            <a:spLocks noGrp="1"/>
          </p:cNvSpPr>
          <p:nvPr/>
        </p:nvSpPr>
        <p:spPr>
          <a:xfrm>
            <a:off x="7200900" y="2921000"/>
            <a:ext cx="2032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0B4B75ED-C9AE-4AF9-BBC7-FF4EF5DB31F7}"/>
              </a:ext>
            </a:extLst>
          </p:cNvPr>
          <p:cNvSpPr>
            <a:spLocks noGrp="1"/>
          </p:cNvSpPr>
          <p:nvPr/>
        </p:nvSpPr>
        <p:spPr>
          <a:xfrm>
            <a:off x="7429500" y="2667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B588C4D-944F-41E9-836D-18AFC90FAB16}"/>
              </a:ext>
            </a:extLst>
          </p:cNvPr>
          <p:cNvSpPr>
            <a:spLocks noGrp="1"/>
          </p:cNvSpPr>
          <p:nvPr/>
        </p:nvSpPr>
        <p:spPr>
          <a:xfrm>
            <a:off x="7556500" y="2819400"/>
            <a:ext cx="1651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2024-09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建仓 t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C20EE31-B719-4D04-BDF8-DC69E5F61041}"/>
              </a:ext>
            </a:extLst>
          </p:cNvPr>
          <p:cNvSpPr>
            <a:spLocks noGrp="1"/>
          </p:cNvSpPr>
          <p:nvPr/>
        </p:nvSpPr>
        <p:spPr>
          <a:xfrm>
            <a:off x="9359900" y="2921000"/>
            <a:ext cx="203200" cy="203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44A44FF-FFF3-4B8E-BB03-F3E390698507}"/>
              </a:ext>
            </a:extLst>
          </p:cNvPr>
          <p:cNvSpPr>
            <a:spLocks noGrp="1"/>
          </p:cNvSpPr>
          <p:nvPr/>
        </p:nvSpPr>
        <p:spPr>
          <a:xfrm>
            <a:off x="9588500" y="2667000"/>
            <a:ext cx="1905000" cy="889000"/>
          </a:xfrm>
          <a:prstGeom prst="roundRect">
            <a:avLst>
              <a:gd name="adj" fmla="val 11428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1E2F7B2D-56B3-44FE-AC3E-DCDA262EBB55}"/>
              </a:ext>
            </a:extLst>
          </p:cNvPr>
          <p:cNvSpPr>
            <a:spLocks noGrp="1"/>
          </p:cNvSpPr>
          <p:nvPr/>
        </p:nvSpPr>
        <p:spPr>
          <a:xfrm>
            <a:off x="9715500" y="2819400"/>
            <a:ext cx="1651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2024-10</a:t>
            </a:r>
            <a:endParaRPr sz="1100"/>
          </a:p>
          <a:p>
            <a:pPr marL="0" indent="0" algn="l">
              <a:lnSpc>
                <a:spcPct val="100000"/>
              </a:lnSpc>
              <a:buNone/>
            </a:pPr>
            <a:r>
              <a:rPr sz="12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成交 t+1</a:t>
            </a: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2FB0D1D9-17E7-42C2-AF53-2366E3AF9122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7129AF1D-CFD4-4421-9C7F-E5EFB690C7F7}"/>
              </a:ext>
            </a:extLst>
          </p:cNvPr>
          <p:cNvSpPr>
            <a:spLocks noGrp="1"/>
          </p:cNvSpPr>
          <p:nvPr/>
        </p:nvSpPr>
        <p:spPr>
          <a:xfrm>
            <a:off x="1206500" y="40386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为什么跳过最近一个月</a:t>
            </a:r>
            <a:endParaRPr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134BA18A-C5C3-48DB-A904-2D8E85264C86}"/>
              </a:ext>
            </a:extLst>
          </p:cNvPr>
          <p:cNvSpPr>
            <a:spLocks noGrp="1"/>
          </p:cNvSpPr>
          <p:nvPr/>
        </p:nvSpPr>
        <p:spPr>
          <a:xfrm>
            <a:off x="1206500" y="43942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跳过8月是为了降低短期反转影响。信号在8月底可计算，按9月首个可执行收盘价建仓。</a:t>
            </a:r>
            <a:endParaRPr sz="110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5A6F3169-4201-44DD-9E7B-562B55172B87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953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69C7FB8-01EC-42A1-8B13-75A30E288D11}"/>
              </a:ext>
            </a:extLst>
          </p:cNvPr>
          <p:cNvSpPr>
            <a:spLocks noGrp="1"/>
          </p:cNvSpPr>
          <p:nvPr/>
        </p:nvSpPr>
        <p:spPr>
          <a:xfrm>
            <a:off x="6540500" y="40386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为什么是 11 个月</a:t>
            </a:r>
            <a:endParaRPr sz="1100"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E48E48B2-8655-4BD4-AF94-EA86E52F63B8}"/>
              </a:ext>
            </a:extLst>
          </p:cNvPr>
          <p:cNvSpPr>
            <a:spLocks noGrp="1"/>
          </p:cNvSpPr>
          <p:nvPr/>
        </p:nvSpPr>
        <p:spPr>
          <a:xfrm>
            <a:off x="6540500" y="4394200"/>
            <a:ext cx="4445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P_{t−2}／P_{t−13}−1：用 t−2 与 t−13 两个月末收盘价，覆盖 t−12 至 t−2 共 11 个月收益。</a:t>
            </a:r>
            <a:endParaRPr sz="1100"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999832A0-9444-44DA-B640-8FAC964E5BD9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AB083D1-3132-43FB-9EBF-685571659560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6–2 同理：P_{t−2}／P_{t−7}−1 覆盖 t−6 至 t−2 共 5 个月；一月反转用上月收益取反，方向相反。</a:t>
            </a:r>
            <a:endParaRPr sz="1100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ED17C7D4-91DF-48DB-9091-B981CD6167B3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第4课时·动量与反转·对照 French 动量因子说明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5147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9AF09FD-910C-4CE2-8B26-F39C20BE48E9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16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本次实验的三个信号：把时间轴写在纸上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5E2B57F-950C-41E8-8409-3AAEE0857090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P 表示月末收盘价（前复权）；S 表示排序分数。i 为个股，t 为决策期。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C606C3F-598A-47B7-AE42-B2470D64FB06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10287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CA32BD8-29BF-4EF6-A06D-61F3FDD3DE04}"/>
              </a:ext>
            </a:extLst>
          </p:cNvPr>
          <p:cNvSpPr>
            <a:spLocks noGrp="1"/>
          </p:cNvSpPr>
          <p:nvPr/>
        </p:nvSpPr>
        <p:spPr>
          <a:xfrm>
            <a:off x="1206500" y="2565400"/>
            <a:ext cx="1778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12–2动量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85DB92EE-2945-4D79-9616-4148BC358F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75000" y="2565400"/>
                <a:ext cx="4826000" cy="3302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𝑆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</m:t>
                      </m:r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𝑃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−2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/</m:t>
                      </m:r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𝑃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−13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−1</m:t>
                      </m:r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85DB92EE-2945-4D79-9616-4148BC358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0" y="2565400"/>
                <a:ext cx="4826000" cy="330200"/>
              </a:xfrm>
              <a:prstGeom prst="rect">
                <a:avLst/>
              </a:prstGeom>
              <a:blipFill>
                <a:blip r:embed="rId4"/>
                <a:stretch>
                  <a:fillRect l="-1389" b="-12963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>
            <a:extLst>
              <a:ext uri="{FF2B5EF4-FFF2-40B4-BE49-F238E27FC236}">
                <a16:creationId xmlns:a16="http://schemas.microsoft.com/office/drawing/2014/main" id="{0FCA0DA8-582E-4FDD-9E15-BE50EB33F290}"/>
              </a:ext>
            </a:extLst>
          </p:cNvPr>
          <p:cNvSpPr>
            <a:spLocks noGrp="1"/>
          </p:cNvSpPr>
          <p:nvPr/>
        </p:nvSpPr>
        <p:spPr>
          <a:xfrm>
            <a:off x="8255000" y="2565400"/>
            <a:ext cx="2794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第t−12月至第t−2月的11个月复合收益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10C5AAE-DA79-4112-8238-B361B676AC44}"/>
              </a:ext>
            </a:extLst>
          </p:cNvPr>
          <p:cNvSpPr>
            <a:spLocks noGrp="1"/>
          </p:cNvSpPr>
          <p:nvPr/>
        </p:nvSpPr>
        <p:spPr>
          <a:xfrm>
            <a:off x="952500" y="3175000"/>
            <a:ext cx="10287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83D6E91-50DB-4D63-A667-049AE8C21041}"/>
              </a:ext>
            </a:extLst>
          </p:cNvPr>
          <p:cNvSpPr>
            <a:spLocks noGrp="1"/>
          </p:cNvSpPr>
          <p:nvPr/>
        </p:nvSpPr>
        <p:spPr>
          <a:xfrm>
            <a:off x="1206500" y="3378200"/>
            <a:ext cx="1778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6–2动量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AACB4B6E-E7D6-460B-8D40-2C1C92B1CFC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75000" y="3378200"/>
                <a:ext cx="4826000" cy="3302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𝑆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</m:t>
                      </m:r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𝑃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−2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/</m:t>
                      </m:r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𝑃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−7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−1</m:t>
                      </m:r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AACB4B6E-E7D6-460B-8D40-2C1C92B1C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0" y="3378200"/>
                <a:ext cx="4826000" cy="330200"/>
              </a:xfrm>
              <a:prstGeom prst="rect">
                <a:avLst/>
              </a:prstGeom>
              <a:blipFill>
                <a:blip r:embed="rId5"/>
                <a:stretch>
                  <a:fillRect l="-1389" b="-14815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11">
            <a:extLst>
              <a:ext uri="{FF2B5EF4-FFF2-40B4-BE49-F238E27FC236}">
                <a16:creationId xmlns:a16="http://schemas.microsoft.com/office/drawing/2014/main" id="{2FBFDDB8-8240-46AB-829C-EBE791AF9FD4}"/>
              </a:ext>
            </a:extLst>
          </p:cNvPr>
          <p:cNvSpPr>
            <a:spLocks noGrp="1"/>
          </p:cNvSpPr>
          <p:nvPr/>
        </p:nvSpPr>
        <p:spPr>
          <a:xfrm>
            <a:off x="8255000" y="3378200"/>
            <a:ext cx="2794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第t−6月至第t−2月的5个月复合收益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42034AE-EA4E-4F7C-AC95-5DBA086BBB13}"/>
              </a:ext>
            </a:extLst>
          </p:cNvPr>
          <p:cNvSpPr>
            <a:spLocks noGrp="1"/>
          </p:cNvSpPr>
          <p:nvPr/>
        </p:nvSpPr>
        <p:spPr>
          <a:xfrm>
            <a:off x="952500" y="3987800"/>
            <a:ext cx="10287000" cy="685800"/>
          </a:xfrm>
          <a:prstGeom prst="roundRect">
            <a:avLst>
              <a:gd name="adj" fmla="val 14814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2F9B6FB2-F844-4B00-8D17-7A42BDF2D15E}"/>
              </a:ext>
            </a:extLst>
          </p:cNvPr>
          <p:cNvSpPr>
            <a:spLocks noGrp="1"/>
          </p:cNvSpPr>
          <p:nvPr/>
        </p:nvSpPr>
        <p:spPr>
          <a:xfrm>
            <a:off x="1206500" y="4191000"/>
            <a:ext cx="1778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一月反转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AutoShape 14">
                <a:extLst>
                  <a:ext uri="{FF2B5EF4-FFF2-40B4-BE49-F238E27FC236}">
                    <a16:creationId xmlns:a16="http://schemas.microsoft.com/office/drawing/2014/main" id="{B4DD70B9-E2E9-4AC6-A8F6-2C9E4407F04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75000" y="4191000"/>
                <a:ext cx="4826000" cy="3302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𝑆</m:t>
                          </m:r>
                        </m:e>
                        <m: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𝑡</m:t>
                          </m:r>
                        </m:sub>
                      </m:sSub>
                      <m:r>
                        <a:rPr sz="15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sz="1500" i="1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𝑃</m:t>
                              </m:r>
                            </m:e>
                            <m:sub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𝑡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−1</m:t>
                              </m:r>
                            </m:sub>
                          </m:s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/</m:t>
                          </m:r>
                          <m:sSub>
                            <m:sSubPr>
                              <m:ctrlP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𝑃</m:t>
                              </m:r>
                            </m:e>
                            <m:sub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𝑡</m:t>
                              </m:r>
                              <m:r>
                                <a:rPr sz="15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−2</m:t>
                              </m:r>
                            </m:sub>
                          </m:sSub>
                          <m:r>
                            <a:rPr sz="15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14" name="AutoShape 14">
                <a:extLst>
                  <a:ext uri="{FF2B5EF4-FFF2-40B4-BE49-F238E27FC236}">
                    <a16:creationId xmlns:a16="http://schemas.microsoft.com/office/drawing/2014/main" id="{B4DD70B9-E2E9-4AC6-A8F6-2C9E4407F0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0" y="4191000"/>
                <a:ext cx="4826000" cy="330200"/>
              </a:xfrm>
              <a:prstGeom prst="rect">
                <a:avLst/>
              </a:prstGeom>
              <a:blipFill>
                <a:blip r:embed="rId6"/>
                <a:stretch>
                  <a:fillRect l="-1389" b="-12963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15">
            <a:extLst>
              <a:ext uri="{FF2B5EF4-FFF2-40B4-BE49-F238E27FC236}">
                <a16:creationId xmlns:a16="http://schemas.microsoft.com/office/drawing/2014/main" id="{BCB6D8B3-2740-418D-9A3A-15DC6CF36841}"/>
              </a:ext>
            </a:extLst>
          </p:cNvPr>
          <p:cNvSpPr>
            <a:spLocks noGrp="1"/>
          </p:cNvSpPr>
          <p:nvPr/>
        </p:nvSpPr>
        <p:spPr>
          <a:xfrm>
            <a:off x="8255000" y="4191000"/>
            <a:ext cx="2794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上月收益取反，与动量方向相反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F12FF3B3-D195-47BA-9124-F1B765D3DFC9}"/>
              </a:ext>
            </a:extLst>
          </p:cNvPr>
          <p:cNvSpPr>
            <a:spLocks noGrp="1"/>
          </p:cNvSpPr>
          <p:nvPr/>
        </p:nvSpPr>
        <p:spPr>
          <a:xfrm>
            <a:off x="952500" y="4927600"/>
            <a:ext cx="10287000" cy="660400"/>
          </a:xfrm>
          <a:prstGeom prst="roundRect">
            <a:avLst>
              <a:gd name="adj" fmla="val 15384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B179AF7D-651D-467F-B988-289EDB76FE71}"/>
              </a:ext>
            </a:extLst>
          </p:cNvPr>
          <p:cNvSpPr>
            <a:spLocks noGrp="1"/>
          </p:cNvSpPr>
          <p:nvPr/>
        </p:nvSpPr>
        <p:spPr>
          <a:xfrm>
            <a:off x="1206500" y="5080000"/>
            <a:ext cx="9779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时间轴示例：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准备在2024年9月交易，12–2动量使用2023年9月至2024年7月的月收益，跳过2024年8月（t−1）作为落地缓冲。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9C6814A-99CE-40DA-95A9-85252EFC01C0}"/>
              </a:ext>
            </a:extLst>
          </p:cNvPr>
          <p:cNvSpPr>
            <a:spLocks noGrp="1"/>
          </p:cNvSpPr>
          <p:nvPr/>
        </p:nvSpPr>
        <p:spPr>
          <a:xfrm>
            <a:off x="952500" y="5740400"/>
            <a:ext cx="1028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分组规则：按排序分数前30%取组、组内等权；所有策略及等权基准共用12–2历史资格。</a:t>
            </a:r>
            <a:endParaRPr sz="110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DA1E166D-1489-4781-AC71-30EC43B74961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09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第4课时·动量与反转·对照French动量因子说明（mba.tuck.dartmouth.edu）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1967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FCB16F-E700-4E83-909E-72E964D11EF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读文献证据，先看三件事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DC9BC15-2014-44B5-8D21-D23B9C5022EF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不同研究结论不一，不等于“谁错了”；先比较数据范围、口径参数与结论强度。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BE981D0-A38A-4070-A46B-0C0973BEF1FE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805A3D2-443C-4A48-90D6-751DCF864056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数据范围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D023F7C-B619-4186-BB62-860DFA3D0BDA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哪国、哪段时间、哪些股票？美国样本不能直接外推中国；A股与B股的投资者结构也不同。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10165F9-0364-435A-B034-28C75C94D23F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30B0E2C-72AF-4CF0-91E5-FFD21A71C5FF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口径参数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52E9904-7A87-48EF-B019-4A4EEB6C35C2}"/>
              </a:ext>
            </a:extLst>
          </p:cNvPr>
          <p:cNvSpPr>
            <a:spLocks noGrp="1"/>
          </p:cNvSpPr>
          <p:nvPr/>
        </p:nvSpPr>
        <p:spPr>
          <a:xfrm>
            <a:off x="4762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形成期与持有期多长？3–12 个月动量与短于一周的动量，结论可以完全不同。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24130282-7384-41FD-8714-F906D9DC683B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068A5E8-B0A0-4F88-BF20-D436E42F6FF0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结论强度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A5FDB3E6-84FD-4CC7-BA58-EC9F065FAEB9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“记录到现象”≠“证明机制”≠“扣费后能获利”。Jegadeesh–Titman 记录的是动量现象本身。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1CE1A5B8-5CCB-44FD-BC95-A7687C4E739B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A983E54-5AF2-4F04-99F0-1BCDB518D398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读文献时先标出数据范围和口径参数，再判断研究结论能否外推到你的问题。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AFF0865-57F5-427E-8A14-8584B4613DC2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217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33DFFF3-7920-4FB2-971A-1BC05245042D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海外证据与中国证据，分别怎么说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D6275CD-4542-4DEE-8143-8C70E767BBE4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文献结论按原研究口径陈述；外推到中国或换一个持有期限，都需要新的证据。</a:t>
            </a:r>
            <a:endParaRPr sz="1100"/>
          </a:p>
        </p:txBody>
      </p:sp>
      <p:graphicFrame>
        <p:nvGraphicFramePr>
          <p:cNvPr id="11" name="Table 4"/>
          <p:cNvGraphicFramePr/>
          <p:nvPr/>
        </p:nvGraphicFramePr>
        <p:xfrm>
          <a:off x="952500" y="2362200"/>
          <a:ext cx="10287000" cy="262382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数据与比较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可带入课堂的结论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Jegadeesh &amp; Titman (1993)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美国样本，3–12个月持有期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记录动量现象，不能直接外推中国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 Bondt &amp; Thaler (1985)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组合形成后36个月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输家比赢家累计高约25%，不是"每年稳获8%"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Gang, Qian &amp; Xu (2019)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中国2006–2017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动量盈利主要出现在短于一周的期限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Chui, Subrahmanyam &amp; Titman (2022)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中国2002–2018，A股与B股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B股动量较明显，A股短期反转较明显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8DAF75CE-BB11-44C2-A2B4-F52F9ABE2AEA}"/>
              </a:ext>
            </a:extLst>
          </p:cNvPr>
          <p:cNvSpPr>
            <a:spLocks noGrp="1"/>
          </p:cNvSpPr>
          <p:nvPr/>
        </p:nvSpPr>
        <p:spPr>
          <a:xfrm>
            <a:off x="952500" y="5232400"/>
            <a:ext cx="10287000" cy="685800"/>
          </a:xfrm>
          <a:prstGeom prst="roundRect">
            <a:avLst>
              <a:gd name="adj" fmla="val 14814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B7003A2-A214-4EE1-B7A7-1C9808CF70FF}"/>
              </a:ext>
            </a:extLst>
          </p:cNvPr>
          <p:cNvSpPr>
            <a:spLocks noGrp="1"/>
          </p:cNvSpPr>
          <p:nvPr/>
        </p:nvSpPr>
        <p:spPr>
          <a:xfrm>
            <a:off x="1206500" y="5384800"/>
            <a:ext cx="9779000" cy="406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收束：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不能说中国市场只能追涨，也不能说只能抄底——机制、样本与证据强度要分开说。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F2DD79B-3106-4CAA-96BB-0E8DFD1036BE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第4课时·动量与反转·文献见课时4_教材勘误与来源.md S4–S7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267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96A92B-9088-40F4-A53D-922B58EE3272}"/>
              </a:ext>
            </a:extLst>
          </p:cNvPr>
          <p:cNvSpPr>
            <a:spLocks noGrp="1"/>
          </p:cNvSpPr>
          <p:nvPr/>
        </p:nvSpPr>
        <p:spPr>
          <a:xfrm>
            <a:off x="990600" y="2349500"/>
            <a:ext cx="5080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第四部分·Agent实证演示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D81D4E3-2DFF-4A4E-9F8B-06463F4EEA0A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160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0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一个漂亮回测，怎样接受审查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06613E1-DE8B-439F-A844-E7F6FA67A441}"/>
              </a:ext>
            </a:extLst>
          </p:cNvPr>
          <p:cNvSpPr>
            <a:spLocks noGrp="1"/>
          </p:cNvSpPr>
          <p:nvPr/>
        </p:nvSpPr>
        <p:spPr>
          <a:xfrm>
            <a:off x="1041400" y="3784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00224B0-039E-417E-9A77-75B0EE5C1DE9}"/>
              </a:ext>
            </a:extLst>
          </p:cNvPr>
          <p:cNvSpPr>
            <a:spLocks noGrp="1"/>
          </p:cNvSpPr>
          <p:nvPr/>
        </p:nvSpPr>
        <p:spPr>
          <a:xfrm>
            <a:off x="990600" y="4826000"/>
            <a:ext cx="10033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先看收益，也看承担了什么；再看相对基准是否可靠；最后把选中的股票摆上台面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8C3F879-84AB-4327-92E2-6E16D293FB06}"/>
              </a:ext>
            </a:extLst>
          </p:cNvPr>
          <p:cNvSpPr>
            <a:spLocks noGrp="1"/>
          </p:cNvSpPr>
          <p:nvPr/>
        </p:nvSpPr>
        <p:spPr>
          <a:xfrm>
            <a:off x="990600" y="6184900"/>
            <a:ext cx="381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第4课时·Agent演示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1860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0FB782F-167F-488F-AF10-53BAB0EBB630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演示参数与口径设定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CD6E6A-ED2E-405B-ACD7-D90524817FB8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以下四项为演示固定参数与口径，收益数字均按此计算。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6EF843D-5C50-454E-8CE3-1D0A04DAB158}"/>
              </a:ext>
            </a:extLst>
          </p:cNvPr>
          <p:cNvSpPr>
            <a:spLocks noGrp="1"/>
          </p:cNvSpPr>
          <p:nvPr/>
        </p:nvSpPr>
        <p:spPr>
          <a:xfrm>
            <a:off x="952500" y="23368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18F025D-96E7-4EA6-8DFB-A791C1D94315}"/>
              </a:ext>
            </a:extLst>
          </p:cNvPr>
          <p:cNvSpPr>
            <a:spLocks noGrp="1"/>
          </p:cNvSpPr>
          <p:nvPr/>
        </p:nvSpPr>
        <p:spPr>
          <a:xfrm>
            <a:off x="1625600" y="23368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教学池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08D6B58-2091-479F-93EE-E2008F434D9A}"/>
              </a:ext>
            </a:extLst>
          </p:cNvPr>
          <p:cNvSpPr>
            <a:spLocks noGrp="1"/>
          </p:cNvSpPr>
          <p:nvPr/>
        </p:nvSpPr>
        <p:spPr>
          <a:xfrm>
            <a:off x="3911600" y="2336800"/>
            <a:ext cx="736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20只参考股，沿用前三课事后选定的教学池——不是全A股，不是事前冻结的真实策略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06A33E6-7368-463D-AAB0-65598D4365EF}"/>
              </a:ext>
            </a:extLst>
          </p:cNvPr>
          <p:cNvSpPr>
            <a:spLocks noGrp="1"/>
          </p:cNvSpPr>
          <p:nvPr/>
        </p:nvSpPr>
        <p:spPr>
          <a:xfrm>
            <a:off x="952500" y="29972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342E963-082E-4A94-944A-9B668014F203}"/>
              </a:ext>
            </a:extLst>
          </p:cNvPr>
          <p:cNvSpPr>
            <a:spLocks noGrp="1"/>
          </p:cNvSpPr>
          <p:nvPr/>
        </p:nvSpPr>
        <p:spPr>
          <a:xfrm>
            <a:off x="1625600" y="29972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时间范围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7CF97CD-053E-44FF-807A-F65D75A55F04}"/>
              </a:ext>
            </a:extLst>
          </p:cNvPr>
          <p:cNvSpPr>
            <a:spLocks noGrp="1"/>
          </p:cNvSpPr>
          <p:nvPr/>
        </p:nvSpPr>
        <p:spPr>
          <a:xfrm>
            <a:off x="3911600" y="2997200"/>
            <a:ext cx="736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43个完整持有期：2023年1月至2026年7月形成持仓，2026-08-03收盘估值结束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904BA08-FC1E-42E0-82FA-39C6EC384BCD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E83AD5C8-DFFC-4325-93A6-F4ECF4BDE1DD}"/>
              </a:ext>
            </a:extLst>
          </p:cNvPr>
          <p:cNvSpPr>
            <a:spLocks noGrp="1"/>
          </p:cNvSpPr>
          <p:nvPr/>
        </p:nvSpPr>
        <p:spPr>
          <a:xfrm>
            <a:off x="1625600" y="36576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成交约定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2C8A9FD-A2EE-48FA-A80E-3F382772F191}"/>
              </a:ext>
            </a:extLst>
          </p:cNvPr>
          <p:cNvSpPr>
            <a:spLocks noGrp="1"/>
          </p:cNvSpPr>
          <p:nvPr/>
        </p:nvSpPr>
        <p:spPr>
          <a:xfrm>
            <a:off x="3911600" y="3657600"/>
            <a:ext cx="736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收盘价成交；20只参考股均有报价才调仓（2025年6月顺延至6月10日）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B50023C-B618-4C23-AA08-BD9DAB92BE73}"/>
              </a:ext>
            </a:extLst>
          </p:cNvPr>
          <p:cNvSpPr>
            <a:spLocks noGrp="1"/>
          </p:cNvSpPr>
          <p:nvPr/>
        </p:nvSpPr>
        <p:spPr>
          <a:xfrm>
            <a:off x="952500" y="43180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3A96D4F-10EA-4A97-8F0B-7985233A2A2D}"/>
              </a:ext>
            </a:extLst>
          </p:cNvPr>
          <p:cNvSpPr>
            <a:spLocks noGrp="1"/>
          </p:cNvSpPr>
          <p:nvPr/>
        </p:nvSpPr>
        <p:spPr>
          <a:xfrm>
            <a:off x="1625600" y="4318000"/>
            <a:ext cx="228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成本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36C43CA-A856-4D58-9681-B3A3709625ED}"/>
              </a:ext>
            </a:extLst>
          </p:cNvPr>
          <p:cNvSpPr>
            <a:spLocks noGrp="1"/>
          </p:cNvSpPr>
          <p:nvPr/>
        </p:nvSpPr>
        <p:spPr>
          <a:xfrm>
            <a:off x="3911600" y="4318000"/>
            <a:ext cx="7366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买卖各8bp（基点）、卖出另计印花税（2023-08-28前10bp、后5bp）；另做20bp成本敏感性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92A2C86-1D1E-44B3-83EE-9C48CA76DFE3}"/>
              </a:ext>
            </a:extLst>
          </p:cNvPr>
          <p:cNvSpPr>
            <a:spLocks noGrp="1"/>
          </p:cNvSpPr>
          <p:nvPr/>
        </p:nvSpPr>
        <p:spPr>
          <a:xfrm>
            <a:off x="952500" y="4978400"/>
            <a:ext cx="10287000" cy="711200"/>
          </a:xfrm>
          <a:prstGeom prst="roundRect">
            <a:avLst>
              <a:gd name="adj" fmla="val 14285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1CDB4511-E75B-45C9-8377-46A2FF0F32C7}"/>
              </a:ext>
            </a:extLst>
          </p:cNvPr>
          <p:cNvSpPr>
            <a:spLocks noGrp="1"/>
          </p:cNvSpPr>
          <p:nvPr/>
        </p:nvSpPr>
        <p:spPr>
          <a:xfrm>
            <a:off x="1206500" y="5130800"/>
            <a:ext cx="9779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本页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为教学执行约定，不是基金真实交易记录；有收盘报价也不代表涨跌停时必然成交。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8EE00FB7-4EB3-4337-9843-21763C11140B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09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第4课时·Agent演示·细节见验证报告第4节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5372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C378C53-5A3C-4F00-A225-4E63AF1C1D21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演示第一屏：先看收益，也看承担了什么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441862F-AB7D-4CB4-B58B-E57F120690F6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711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20股教学池、8bp成本、无额外成交延迟；换手＝买入＋卖出，不是卖出比例。</a:t>
            </a:r>
            <a:endParaRPr sz="1100"/>
          </a:p>
        </p:txBody>
      </p:sp>
      <p:graphicFrame>
        <p:nvGraphicFramePr>
          <p:cNvPr id="14" name="Table 4"/>
          <p:cNvGraphicFramePr/>
          <p:nvPr/>
        </p:nvGraphicFramePr>
        <p:xfrm>
          <a:off x="952500" y="2235200"/>
          <a:ext cx="7239000" cy="22098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年化收益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年化波动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最大回撤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双边换手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同池等权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43.55%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26.32%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−9.77%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10.59%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54.61%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50.49%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−31.21%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3C2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42.23%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48.79%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40.18%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−25.99%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62.94%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一月反转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41.18%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36.13%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−13.64%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139.66%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3C2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Picture 5"/>
          <p:cNvPicPr>
            <a:picLocks noChangeAspect="1"/>
          </p:cNvPicPr>
          <p:nvPr/>
        </p:nvPicPr>
        <p:blipFill>
          <a:blip r:embed="rId4"/>
          <a:srcRect t="124" b="124"/>
          <a:stretch>
            <a:fillRect/>
          </a:stretch>
        </p:blipFill>
        <p:spPr>
          <a:xfrm>
            <a:off x="8382000" y="2235200"/>
            <a:ext cx="3175000" cy="16891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6" name="AutoShape 6">
            <a:extLst>
              <a:ext uri="{FF2B5EF4-FFF2-40B4-BE49-F238E27FC236}">
                <a16:creationId xmlns:a16="http://schemas.microsoft.com/office/drawing/2014/main" id="{4F2E8060-1E60-4A66-B805-ADBB6668F222}"/>
              </a:ext>
            </a:extLst>
          </p:cNvPr>
          <p:cNvSpPr>
            <a:spLocks noGrp="1"/>
          </p:cNvSpPr>
          <p:nvPr/>
        </p:nvSpPr>
        <p:spPr>
          <a:xfrm>
            <a:off x="8382000" y="3987800"/>
            <a:ext cx="3175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四策略累计净值（对数轴）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8B41E25-628E-45B0-9FE4-F45BC3E65A87}"/>
              </a:ext>
            </a:extLst>
          </p:cNvPr>
          <p:cNvSpPr>
            <a:spLocks noGrp="1"/>
          </p:cNvSpPr>
          <p:nvPr/>
        </p:nvSpPr>
        <p:spPr>
          <a:xfrm>
            <a:off x="952500" y="4699000"/>
            <a:ext cx="10287000" cy="838200"/>
          </a:xfrm>
          <a:prstGeom prst="roundRect">
            <a:avLst>
              <a:gd name="adj" fmla="val 12121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8E7588E-5E6D-4F89-AF56-BC744CC42B3F}"/>
              </a:ext>
            </a:extLst>
          </p:cNvPr>
          <p:cNvSpPr>
            <a:spLocks noGrp="1"/>
          </p:cNvSpPr>
          <p:nvPr/>
        </p:nvSpPr>
        <p:spPr>
          <a:xfrm>
            <a:off x="1206500" y="4851400"/>
            <a:ext cx="9779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54.61%来自事后选出的20股教学池、43期回测，不代表A股平均或可实现预期；与等权基准的月均净收益差区间跨0。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F1895CDE-0743-4555-886C-DA5DB4F478CF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第4课时·Agent演示·results/strategy_summary.csv（20股、8bp、无额外延迟）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8304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E2ABCC9-01A4-4F1E-859C-777368F6D803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演示第二屏：和同池等权相比，有没有可靠优势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1B0D5F3-A9A0-449D-80B5-9247613F9C3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对逐期"策略净收益−同池等权净收益"计算均值与NW（Newey–West）标准误；正态近似95%区间，样本43期。</a:t>
            </a:r>
            <a:endParaRPr sz="1100"/>
          </a:p>
        </p:txBody>
      </p:sp>
      <p:graphicFrame>
        <p:nvGraphicFramePr>
          <p:cNvPr id="12" name="Table 4"/>
          <p:cNvGraphicFramePr/>
          <p:nvPr/>
        </p:nvGraphicFramePr>
        <p:xfrm>
          <a:off x="952500" y="2387600"/>
          <a:ext cx="10287000" cy="20574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平均每期收益差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NW t值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95%区间</a:t>
                      </a:r>
                      <a:endParaRPr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+1.29个百分点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1.01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[−1.20，+3.78]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+0.66个百分点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0.66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[−1.29，+2.61]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rgbClr val="1E3C7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一月反转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+0.06个百分点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0.06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[−2.05，+2.18]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C6DC12B1-4AEB-4FDC-ADC0-FB6B87592178}"/>
              </a:ext>
            </a:extLst>
          </p:cNvPr>
          <p:cNvSpPr>
            <a:spLocks noGrp="1"/>
          </p:cNvSpPr>
          <p:nvPr/>
        </p:nvSpPr>
        <p:spPr>
          <a:xfrm>
            <a:off x="952500" y="4673600"/>
            <a:ext cx="10287000" cy="762000"/>
          </a:xfrm>
          <a:prstGeom prst="roundRect">
            <a:avLst>
              <a:gd name="adj" fmla="val 13333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ABABB96-DD32-413F-A496-BB8EBA423D96}"/>
              </a:ext>
            </a:extLst>
          </p:cNvPr>
          <p:cNvSpPr>
            <a:spLocks noGrp="1"/>
          </p:cNvSpPr>
          <p:nvPr/>
        </p:nvSpPr>
        <p:spPr>
          <a:xfrm>
            <a:off x="1206500" y="48260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结论：</a:t>
            </a:r>
            <a:r>
              <a:rPr sz="14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三个区间都包含0——本实验不足以确认稳定的平均超额收益，也不是对整个中国市场有效性的否定。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A595EB4-D576-4DCA-9879-36310EF2E745}"/>
              </a:ext>
            </a:extLst>
          </p:cNvPr>
          <p:cNvSpPr>
            <a:spLocks noGrp="1"/>
          </p:cNvSpPr>
          <p:nvPr/>
        </p:nvSpPr>
        <p:spPr>
          <a:xfrm>
            <a:off x="952500" y="55880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这里测的是相对等权的收益差，不是因子调整后的α，更不是行为机制的因果效应。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B8F5AB7-14EE-48BA-A486-8E841A76E96E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09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第4课时·Agent演示·results/inference_NW3.csv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6420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9D31AF-0EB4-4854-827B-1EBF8A72F6C1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演示第三屏：把"选中了哪些股票"摆到台面上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9E42519-8E27-4FCF-9745-FF7412A52428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结果对股票池选择高度敏感——剔除寒武纪、中际旭创、海光信息、新易盛、光迅科技后的对比：</a:t>
            </a:r>
            <a:endParaRPr sz="1100"/>
          </a:p>
        </p:txBody>
      </p:sp>
      <p:graphicFrame>
        <p:nvGraphicFramePr>
          <p:cNvPr id="14" name="Table 4"/>
          <p:cNvGraphicFramePr/>
          <p:nvPr/>
        </p:nvGraphicFramePr>
        <p:xfrm>
          <a:off x="952500" y="2362200"/>
          <a:ext cx="10287000" cy="139700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股票池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等权年化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6–2动量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一月反转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20股教学池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43.55%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54.61%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48.79%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41.18%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剔除科技5股（15股池）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12.47%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15.73%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14.63%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10.26%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05A4BF80-3CAC-4FCD-9BC8-A4BF1A10C815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10287000" cy="812800"/>
          </a:xfrm>
          <a:prstGeom prst="roundRect">
            <a:avLst>
              <a:gd name="adj" fmla="val 12500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8DAF6E6-C694-4697-A530-21FC1552C4B8}"/>
              </a:ext>
            </a:extLst>
          </p:cNvPr>
          <p:cNvSpPr>
            <a:spLocks noGrp="1"/>
          </p:cNvSpPr>
          <p:nvPr/>
        </p:nvSpPr>
        <p:spPr>
          <a:xfrm>
            <a:off x="1206500" y="4089400"/>
            <a:ext cx="977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成本20bp：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12–2动量年化53.67%，一月反转降至38.36%——高换手策略最先被成本吃掉。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56A4288-737A-495C-8E40-4072F4A979E0}"/>
              </a:ext>
            </a:extLst>
          </p:cNvPr>
          <p:cNvSpPr>
            <a:spLocks noGrp="1"/>
          </p:cNvSpPr>
          <p:nvPr/>
        </p:nvSpPr>
        <p:spPr>
          <a:xfrm>
            <a:off x="1206500" y="4445000"/>
            <a:ext cx="977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延后一日成交：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12–2动量年化反而升至58.85%——成交时序假定也会改变结论方向。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BC42781-98F7-4121-A464-374FF36BC300}"/>
              </a:ext>
            </a:extLst>
          </p:cNvPr>
          <p:cNvSpPr>
            <a:spLocks noGrp="1"/>
          </p:cNvSpPr>
          <p:nvPr/>
        </p:nvSpPr>
        <p:spPr>
          <a:xfrm>
            <a:off x="952500" y="4978400"/>
            <a:ext cx="10287000" cy="812800"/>
          </a:xfrm>
          <a:prstGeom prst="roundRect">
            <a:avLst>
              <a:gd name="adj" fmla="val 12500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479B052-971A-4B25-A622-92D1EAB80A56}"/>
              </a:ext>
            </a:extLst>
          </p:cNvPr>
          <p:cNvSpPr>
            <a:spLocks noGrp="1"/>
          </p:cNvSpPr>
          <p:nvPr/>
        </p:nvSpPr>
        <p:spPr>
          <a:xfrm>
            <a:off x="1206500" y="5130800"/>
            <a:ext cx="9779000" cy="533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边界：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这是样本敏感性检查，不是严谨的"科技因素因果贡献分解"；规则计算使用历史信息，不等于股票池和规则选择没有事后信息。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ED772F47-AAC2-4C28-9DE4-767338C9687F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第4课时·Agent演示·results/strategy_summary.csv 等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2430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45766FE-E398-4485-ACC5-F16712292DA2}"/>
              </a:ext>
            </a:extLst>
          </p:cNvPr>
          <p:cNvSpPr>
            <a:spLocks noGrp="1"/>
          </p:cNvSpPr>
          <p:nvPr/>
        </p:nvSpPr>
        <p:spPr>
          <a:xfrm>
            <a:off x="990600" y="2349500"/>
            <a:ext cx="5842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第五部分·M指标与行为管理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6571414-AE9B-4F54-8C4F-1DE5288EAFA7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0414000" cy="660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91666"/>
              </a:lnSpc>
              <a:buNone/>
            </a:pPr>
            <a:r>
              <a:rPr sz="30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测到同向变动，不等于找到了交易动机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62D7286-A004-4BAA-9A9F-6B29D1AB9AC5}"/>
              </a:ext>
            </a:extLst>
          </p:cNvPr>
          <p:cNvSpPr>
            <a:spLocks noGrp="1"/>
          </p:cNvSpPr>
          <p:nvPr/>
        </p:nvSpPr>
        <p:spPr>
          <a:xfrm>
            <a:off x="1041400" y="3784600"/>
            <a:ext cx="812800" cy="76200"/>
          </a:xfrm>
          <a:prstGeom prst="roundRect">
            <a:avLst>
              <a:gd name="adj" fmla="val 0"/>
            </a:avLst>
          </a:prstGeom>
          <a:solidFill>
            <a:srgbClr val="E8762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E9C94C2-1835-4723-A360-3A08CBD6EFFF}"/>
              </a:ext>
            </a:extLst>
          </p:cNvPr>
          <p:cNvSpPr>
            <a:spLocks noGrp="1"/>
          </p:cNvSpPr>
          <p:nvPr/>
        </p:nvSpPr>
        <p:spPr>
          <a:xfrm>
            <a:off x="990600" y="4826000"/>
            <a:ext cx="10033000" cy="558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M为正只描述同期关联；行为管理，是把偏差改写成可执行的规则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21757DE-F02A-4886-87D9-045CDE9458C6}"/>
              </a:ext>
            </a:extLst>
          </p:cNvPr>
          <p:cNvSpPr>
            <a:spLocks noGrp="1"/>
          </p:cNvSpPr>
          <p:nvPr/>
        </p:nvSpPr>
        <p:spPr>
          <a:xfrm>
            <a:off x="990600" y="6184900"/>
            <a:ext cx="3810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第4课时·M指标与行为管理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572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CEC008-3545-4200-8FF1-64015516C8B4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M 指标是什么：测量持仓与收益同向变动的一把尺子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51DF4C-3FC9-4F48-9A8B-FB530B5C026F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M描述持仓变化与同期超额收益是否同向；它本身不能识别追涨或抄底动机。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9A4386F-6A20-4EAC-AA4A-F4F080A7817A}"/>
              </a:ext>
            </a:extLst>
          </p:cNvPr>
          <p:cNvSpPr>
            <a:spLocks noGrp="1"/>
          </p:cNvSpPr>
          <p:nvPr/>
        </p:nvSpPr>
        <p:spPr>
          <a:xfrm>
            <a:off x="952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90C94CB-EF4F-4869-BC9B-DA985738D2C4}"/>
              </a:ext>
            </a:extLst>
          </p:cNvPr>
          <p:cNvSpPr>
            <a:spLocks noGrp="1"/>
          </p:cNvSpPr>
          <p:nvPr/>
        </p:nvSpPr>
        <p:spPr>
          <a:xfrm>
            <a:off x="1206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要回答的问题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4E05BE3-3A46-4B25-98EA-8A3FE95C76D5}"/>
              </a:ext>
            </a:extLst>
          </p:cNvPr>
          <p:cNvSpPr>
            <a:spLocks noGrp="1"/>
          </p:cNvSpPr>
          <p:nvPr/>
        </p:nvSpPr>
        <p:spPr>
          <a:xfrm>
            <a:off x="1206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价格涨跌本身不含交易动机；要识别“追涨杀跌”，必须把持仓动作与收益放在一起看。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372794B-8332-4CCD-85EE-0B8DA2AE30A2}"/>
              </a:ext>
            </a:extLst>
          </p:cNvPr>
          <p:cNvSpPr>
            <a:spLocks noGrp="1"/>
          </p:cNvSpPr>
          <p:nvPr/>
        </p:nvSpPr>
        <p:spPr>
          <a:xfrm>
            <a:off x="4508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6847E66-BEBB-482D-93F3-2FF9FAB5692F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两个变量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5C700DA3-31DE-4C58-A93B-2BC80C8EE0A0}"/>
              </a:ext>
            </a:extLst>
          </p:cNvPr>
          <p:cNvSpPr>
            <a:spLocks noGrp="1"/>
          </p:cNvSpPr>
          <p:nvPr/>
        </p:nvSpPr>
        <p:spPr>
          <a:xfrm>
            <a:off x="4762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ΔH：本期持仓比例变化，加仓为正；超额收益 R−Rm：个股收益减市场收益，剔除大盘因素。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78AB98B-38B6-4C25-96B1-B968966AFAA5}"/>
              </a:ext>
            </a:extLst>
          </p:cNvPr>
          <p:cNvSpPr>
            <a:spLocks noGrp="1"/>
          </p:cNvSpPr>
          <p:nvPr/>
        </p:nvSpPr>
        <p:spPr>
          <a:xfrm>
            <a:off x="8064500" y="3530600"/>
            <a:ext cx="31750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9B2B4D5-534E-4BBA-B11B-FC3CBDB68946}"/>
              </a:ext>
            </a:extLst>
          </p:cNvPr>
          <p:cNvSpPr>
            <a:spLocks noGrp="1"/>
          </p:cNvSpPr>
          <p:nvPr/>
        </p:nvSpPr>
        <p:spPr>
          <a:xfrm>
            <a:off x="8318500" y="3733800"/>
            <a:ext cx="2667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直觉读数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689E458-C84D-4EBD-8567-1ED918D85885}"/>
              </a:ext>
            </a:extLst>
          </p:cNvPr>
          <p:cNvSpPr>
            <a:spLocks noGrp="1"/>
          </p:cNvSpPr>
          <p:nvPr/>
        </p:nvSpPr>
        <p:spPr>
          <a:xfrm>
            <a:off x="8318500" y="4140200"/>
            <a:ext cx="26670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ΔH与同期超额同向只表示同期相关；判断顺势或逆势，还须把持仓变化与事前收益窗口对齐。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8032BA4-1EAC-47B8-823A-9386EA2C4498}"/>
              </a:ext>
            </a:extLst>
          </p:cNvPr>
          <p:cNvSpPr>
            <a:spLocks noGrp="1"/>
          </p:cNvSpPr>
          <p:nvPr/>
        </p:nvSpPr>
        <p:spPr>
          <a:xfrm>
            <a:off x="952500" y="5664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28B0FAA-671D-4275-89FB-1E5BC2391A2C}"/>
              </a:ext>
            </a:extLst>
          </p:cNvPr>
          <p:cNvSpPr>
            <a:spLocks noGrp="1"/>
          </p:cNvSpPr>
          <p:nvPr/>
        </p:nvSpPr>
        <p:spPr>
          <a:xfrm>
            <a:off x="1206500" y="5765800"/>
            <a:ext cx="977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M 指标只测同期关联，不等于因果；它是一把尺子，先定义清楚口径，才能读数。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6E1EBA34-9482-4F3C-BC34-B63698C53973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第4课时·M指标与行为管理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746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CF704B2-D201-4B07-BE5F-E8A1E8A09D07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M指标：同期与滞后，两种读法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DDB215D-8280-4C9A-86D5-EDB9E381AD71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同期指标看"当期持仓变化与当期收益的关系"，滞后指标看"当期持仓变化与上期收益的关系"。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EFD49D8-6B4D-4F04-A7BD-72C64238057E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50165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E258ABE-3F35-44B8-A079-28636AD33389}"/>
              </a:ext>
            </a:extLst>
          </p:cNvPr>
          <p:cNvSpPr>
            <a:spLocks noGrp="1"/>
          </p:cNvSpPr>
          <p:nvPr/>
        </p:nvSpPr>
        <p:spPr>
          <a:xfrm>
            <a:off x="1168400" y="2489200"/>
            <a:ext cx="457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同期指标（像"顺势"）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BC4A3881-6284-4CF3-B951-F6A47B5B88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8400" y="2743200"/>
                <a:ext cx="4572000" cy="4318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SupPr>
                        <m:e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𝑀</m:t>
                          </m:r>
                        </m:e>
                        <m:sub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𝑘</m:t>
                          </m:r>
                        </m:sub>
                        <m:sup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𝑠𝑎𝑚𝑒</m:t>
                          </m:r>
                        </m:sup>
                      </m:sSubSup>
                      <m:r>
                        <a:rPr sz="13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1300" i="1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Sup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𝐻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</m:sub>
                            <m:sup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𝑒𝑛𝑑</m:t>
                              </m:r>
                            </m:sup>
                          </m:sSubSup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</m:t>
                          </m:r>
                          <m:sSubSup>
                            <m:sSubSup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Sup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𝐻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</m:sub>
                            <m:sup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𝑏𝑒𝑔𝑖𝑛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sz="1300" i="1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</m:sub>
                          </m:sSub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</m:t>
                          </m:r>
                          <m:sSub>
                            <m:sSub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𝑚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6" name="AutoShape 6">
                <a:extLst>
                  <a:ext uri="{FF2B5EF4-FFF2-40B4-BE49-F238E27FC236}">
                    <a16:creationId xmlns:a16="http://schemas.microsoft.com/office/drawing/2014/main" id="{BC4A3881-6284-4CF3-B951-F6A47B5B8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00" y="2743200"/>
                <a:ext cx="4572000" cy="431800"/>
              </a:xfrm>
              <a:prstGeom prst="rect">
                <a:avLst/>
              </a:prstGeom>
              <a:blipFill>
                <a:blip r:embed="rId4"/>
                <a:stretch>
                  <a:fillRect l="-1333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7">
            <a:extLst>
              <a:ext uri="{FF2B5EF4-FFF2-40B4-BE49-F238E27FC236}">
                <a16:creationId xmlns:a16="http://schemas.microsoft.com/office/drawing/2014/main" id="{EA3EEE5C-91DF-49ED-A7E7-A6BF955E1763}"/>
              </a:ext>
            </a:extLst>
          </p:cNvPr>
          <p:cNvSpPr>
            <a:spLocks noGrp="1"/>
          </p:cNvSpPr>
          <p:nvPr/>
        </p:nvSpPr>
        <p:spPr>
          <a:xfrm>
            <a:off x="6223000" y="2362200"/>
            <a:ext cx="50165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DCA794E-BAD4-488B-BF96-9EA549B7968A}"/>
              </a:ext>
            </a:extLst>
          </p:cNvPr>
          <p:cNvSpPr>
            <a:spLocks noGrp="1"/>
          </p:cNvSpPr>
          <p:nvPr/>
        </p:nvSpPr>
        <p:spPr>
          <a:xfrm>
            <a:off x="6438900" y="2489200"/>
            <a:ext cx="4572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滞后指标（像"逆势"）</a:t>
            </a:r>
            <a:endParaRPr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BF12EA3E-E11C-44FB-9FBB-AA766A4CB03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38900" y="2743200"/>
                <a:ext cx="4572000" cy="431800"/>
              </a:xfrm>
              <a:prstGeom prst="rect">
                <a:avLst/>
              </a:prstGeom>
              <a:noFill/>
              <a:ln w="12700" cmpd="sng">
                <a:noFill/>
                <a:prstDash val="solid"/>
              </a:ln>
            </p:spPr>
            <p:txBody>
              <a:bodyPr vert="horz" wrap="square" lIns="0" tIns="0" rIns="0" bIns="0" anchor="ctr"/>
              <a:lstStyle/>
              <a:p>
                <a:pPr marL="0" indent="0" algn="l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SupPr>
                        <m:e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𝑀</m:t>
                          </m:r>
                        </m:e>
                        <m:sub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𝑘</m:t>
                          </m:r>
                        </m:sub>
                        <m:sup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𝑙𝑎𝑔</m:t>
                          </m:r>
                        </m:sup>
                      </m:sSubSup>
                      <m:r>
                        <a:rPr sz="13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=</m:t>
                      </m:r>
                      <m:r>
                        <a:rPr sz="13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𝛥</m:t>
                      </m:r>
                      <m:sSub>
                        <m:sSubPr>
                          <m:ctrlP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sSubPr>
                        <m:e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𝐻</m:t>
                          </m:r>
                        </m:e>
                        <m:sub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𝑖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,</m:t>
                          </m:r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𝑘</m:t>
                          </m:r>
                        </m:sub>
                      </m:sSub>
                      <m:r>
                        <a:rPr sz="1300">
                          <a:solidFill>
                            <a:srgbClr val="2B2F36"/>
                          </a:solidFill>
                          <a:latin typeface="Cambria Math" panose="02040503050406030204" pitchFamily="18" charset="0"/>
                          <a:ea typeface="微软雅黑"/>
                          <a:cs typeface="微软雅黑"/>
                        </a:rPr>
                        <m:t> </m:t>
                      </m:r>
                      <m:d>
                        <m:dPr>
                          <m:begChr m:val="["/>
                          <m:endChr m:val="]"/>
                          <m:ctrlPr>
                            <a:rPr sz="1300" i="1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𝑖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−1</m:t>
                              </m:r>
                            </m:sub>
                          </m:sSub>
                          <m:r>
                            <a:rPr sz="1300">
                              <a:solidFill>
                                <a:srgbClr val="2B2F36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微软雅黑"/>
                            </a:rPr>
                            <m:t>−</m:t>
                          </m:r>
                          <m:sSub>
                            <m:sSubPr>
                              <m:ctrlP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</m:ctrlPr>
                            </m:sSubPr>
                            <m:e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𝑚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,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𝑘</m:t>
                              </m:r>
                              <m:r>
                                <a:rPr sz="1300">
                                  <a:solidFill>
                                    <a:srgbClr val="2B2F36"/>
                                  </a:solidFill>
                                  <a:latin typeface="Cambria Math" panose="02040503050406030204" pitchFamily="18" charset="0"/>
                                  <a:ea typeface="微软雅黑"/>
                                  <a:cs typeface="微软雅黑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1100"/>
              </a:p>
            </p:txBody>
          </p:sp>
        </mc:Choice>
        <mc:Fallback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BF12EA3E-E11C-44FB-9FBB-AA766A4CB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743200"/>
                <a:ext cx="4572000" cy="431800"/>
              </a:xfrm>
              <a:prstGeom prst="rect">
                <a:avLst/>
              </a:prstGeom>
              <a:blipFill>
                <a:blip r:embed="rId5"/>
                <a:stretch>
                  <a:fillRect l="-1200"/>
                </a:stretch>
              </a:blipFill>
              <a:ln w="12700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10">
            <a:extLst>
              <a:ext uri="{FF2B5EF4-FFF2-40B4-BE49-F238E27FC236}">
                <a16:creationId xmlns:a16="http://schemas.microsoft.com/office/drawing/2014/main" id="{B61B664B-073A-40E2-8046-3FFD7A854500}"/>
              </a:ext>
            </a:extLst>
          </p:cNvPr>
          <p:cNvSpPr>
            <a:spLocks noGrp="1"/>
          </p:cNvSpPr>
          <p:nvPr/>
        </p:nvSpPr>
        <p:spPr>
          <a:xfrm>
            <a:off x="952500" y="3403600"/>
            <a:ext cx="10287000" cy="1295400"/>
          </a:xfrm>
          <a:prstGeom prst="roundRect">
            <a:avLst>
              <a:gd name="adj" fmla="val 7843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F87F719B-23F0-4481-9346-9993663C496A}"/>
              </a:ext>
            </a:extLst>
          </p:cNvPr>
          <p:cNvSpPr>
            <a:spLocks noGrp="1"/>
          </p:cNvSpPr>
          <p:nvPr/>
        </p:nvSpPr>
        <p:spPr>
          <a:xfrm>
            <a:off x="1206500" y="3530600"/>
            <a:ext cx="977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假设算例：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持股比例1.0%→1.2%（ΔH＝0.2个百分点）；本期超额＋10%，上期超额−8%。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FF0569E-263B-4F42-9D3A-F173543E1DF1}"/>
              </a:ext>
            </a:extLst>
          </p:cNvPr>
          <p:cNvSpPr>
            <a:spLocks noGrp="1"/>
          </p:cNvSpPr>
          <p:nvPr/>
        </p:nvSpPr>
        <p:spPr>
          <a:xfrm>
            <a:off x="1206500" y="3911600"/>
            <a:ext cx="4826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M_same＝0.002×0.10＝＋0.00020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534FB161-0047-4667-8FF8-E7A91223ECA4}"/>
              </a:ext>
            </a:extLst>
          </p:cNvPr>
          <p:cNvSpPr>
            <a:spLocks noGrp="1"/>
          </p:cNvSpPr>
          <p:nvPr/>
        </p:nvSpPr>
        <p:spPr>
          <a:xfrm>
            <a:off x="6350000" y="3911600"/>
            <a:ext cx="4699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M_lag＝0.002×(−0.08)＝−0.00016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9916913-DEA4-404E-AB57-1DA2325E1B35}"/>
              </a:ext>
            </a:extLst>
          </p:cNvPr>
          <p:cNvSpPr>
            <a:spLocks noGrp="1"/>
          </p:cNvSpPr>
          <p:nvPr/>
        </p:nvSpPr>
        <p:spPr>
          <a:xfrm>
            <a:off x="1206500" y="4292600"/>
            <a:ext cx="4826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同一段变化，用同期口径读成"顺势"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C362148-F6D3-496A-B67A-7C9D9FCEBC54}"/>
              </a:ext>
            </a:extLst>
          </p:cNvPr>
          <p:cNvSpPr>
            <a:spLocks noGrp="1"/>
          </p:cNvSpPr>
          <p:nvPr/>
        </p:nvSpPr>
        <p:spPr>
          <a:xfrm>
            <a:off x="6350000" y="4292600"/>
            <a:ext cx="469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用滞后口径读成"逆势"——口径决定结论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96FFFB1-CC5F-4A98-B253-4A338BE7F7EA}"/>
              </a:ext>
            </a:extLst>
          </p:cNvPr>
          <p:cNvSpPr>
            <a:spLocks noGrp="1"/>
          </p:cNvSpPr>
          <p:nvPr/>
        </p:nvSpPr>
        <p:spPr>
          <a:xfrm>
            <a:off x="952500" y="4927600"/>
            <a:ext cx="10287000" cy="762000"/>
          </a:xfrm>
          <a:prstGeom prst="roundRect">
            <a:avLst>
              <a:gd name="adj" fmla="val 13333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06EE5F99-7B38-49E1-A2D6-667BAE9E507D}"/>
              </a:ext>
            </a:extLst>
          </p:cNvPr>
          <p:cNvSpPr>
            <a:spLocks noGrp="1"/>
          </p:cNvSpPr>
          <p:nvPr/>
        </p:nvSpPr>
        <p:spPr>
          <a:xfrm>
            <a:off x="1206500" y="50800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提醒：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M_same只描述同期关联，不证明"先涨后买"；必须调整股本变化，区分持仓股数与市值权重。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7A48250-481F-4A5D-8272-0F702E516239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第4课时·M指标·算例为假设数据，非真实持仓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05600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4B6B25-41D1-49DE-8F71-F769BCC989EF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算例演算：一次加仓，同期与滞后两种读法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5E5679-F358-42D2-AF7C-32D4E409B16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沿用上一页假设：持股比例 1.0%→1.2%（ΔH＝+0.2 个百分点）；本期超额 +10%，上期超额 −8%。</a:t>
            </a:r>
            <a:endParaRPr sz="1100"/>
          </a:p>
        </p:txBody>
      </p:sp>
      <p:graphicFrame>
        <p:nvGraphicFramePr>
          <p:cNvPr id="13" name="Table 4"/>
          <p:cNvGraphicFramePr/>
          <p:nvPr/>
        </p:nvGraphicFramePr>
        <p:xfrm>
          <a:off x="952500" y="2489200"/>
          <a:ext cx="10287000" cy="2819400"/>
        </p:xfrm>
        <a:graphic>
          <a:graphicData uri="http://schemas.openxmlformats.org/drawingml/2006/table">
            <a:tbl>
              <a:tblPr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步骤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同期口径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滞后口径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持仓变化 ΔH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+0.2 个百分点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+0.2 个百分点（同一动作）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用哪一期超额收益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本期 +10%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上期 −8%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计算 M＝ΔH×超额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0.002 × 0.10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0.002 × (−0.08)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＋0.00020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−0.00016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读数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＞0 → “顺势”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600" b="0" i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＜0 → “逆势”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B7149047-969C-45D2-935C-4ED085E7F4E1}"/>
              </a:ext>
            </a:extLst>
          </p:cNvPr>
          <p:cNvSpPr>
            <a:spLocks noGrp="1"/>
          </p:cNvSpPr>
          <p:nvPr/>
        </p:nvSpPr>
        <p:spPr>
          <a:xfrm>
            <a:off x="952500" y="5181600"/>
            <a:ext cx="10287000" cy="508000"/>
          </a:xfrm>
          <a:prstGeom prst="roundRect">
            <a:avLst>
              <a:gd name="adj" fmla="val 20000"/>
            </a:avLst>
          </a:prstGeom>
          <a:solidFill>
            <a:srgbClr val="1E3C7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902BCA0-686B-40E5-9A7F-D424A6525D4F}"/>
              </a:ext>
            </a:extLst>
          </p:cNvPr>
          <p:cNvSpPr>
            <a:spLocks noGrp="1"/>
          </p:cNvSpPr>
          <p:nvPr/>
        </p:nvSpPr>
        <p:spPr>
          <a:xfrm>
            <a:off x="1206500" y="5283200"/>
            <a:ext cx="9779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关键：同一动作（加仓 0.2 个百分点），同期读成“顺势”，滞后读成“逆势”——口径决定结论。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B27AB10-866E-4D6C-A40A-3EC767F17E21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F15EE98-F6BB-41DB-9EBB-576E668C391D}"/>
              </a:ext>
            </a:extLst>
          </p:cNvPr>
          <p:cNvSpPr>
            <a:spLocks noGrp="1"/>
          </p:cNvSpPr>
          <p:nvPr/>
        </p:nvSpPr>
        <p:spPr>
          <a:xfrm>
            <a:off x="1206500" y="58801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提醒：M 只描述同期关联，不证明“先涨后买”；须调整股本变化，区分持仓股数与市值权重。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3C75CF1-15AC-4436-ABBC-79A7E4BB957B}"/>
              </a:ext>
            </a:extLst>
          </p:cNvPr>
          <p:cNvSpPr>
            <a:spLocks noGrp="1"/>
          </p:cNvSpPr>
          <p:nvPr/>
        </p:nvSpPr>
        <p:spPr>
          <a:xfrm>
            <a:off x="952500" y="62484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第4课时·M指标·算例为假设数据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5323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620934C-5EE9-4F50-95DD-0D48A3D42CB4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教材案例7–4：一张不能直接复制的动态面板表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086720B-5273-4621-B910-47613DA1CAFE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本页审查教材案例7–4的变量定义与编码，不等同于前页M指标的估计。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29CECBE-2DE7-40CB-9472-24E4AACCBF80}"/>
              </a:ext>
            </a:extLst>
          </p:cNvPr>
          <p:cNvSpPr>
            <a:spLocks noGrp="1"/>
          </p:cNvSpPr>
          <p:nvPr/>
        </p:nvSpPr>
        <p:spPr>
          <a:xfrm>
            <a:off x="952500" y="23368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4411D81-F292-4BA4-99C6-55CC38FB1E01}"/>
              </a:ext>
            </a:extLst>
          </p:cNvPr>
          <p:cNvSpPr>
            <a:spLocks noGrp="1"/>
          </p:cNvSpPr>
          <p:nvPr/>
        </p:nvSpPr>
        <p:spPr>
          <a:xfrm>
            <a:off x="1625600" y="2336800"/>
            <a:ext cx="9525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27只基金、2015年第1季度至2017年第3季度共11期：截图未给出完整方程、变量编码、原始数据和工具变量，无法独立复现。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835F434-8E9A-4AE4-98AB-74A5E3D8A057}"/>
              </a:ext>
            </a:extLst>
          </p:cNvPr>
          <p:cNvSpPr>
            <a:spLocks noGrp="1"/>
          </p:cNvSpPr>
          <p:nvPr/>
        </p:nvSpPr>
        <p:spPr>
          <a:xfrm>
            <a:off x="952500" y="29972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FF08A5A-E0EE-46C3-8588-A188B18DFB3D}"/>
              </a:ext>
            </a:extLst>
          </p:cNvPr>
          <p:cNvSpPr>
            <a:spLocks noGrp="1"/>
          </p:cNvSpPr>
          <p:nvPr/>
        </p:nvSpPr>
        <p:spPr>
          <a:xfrm>
            <a:off x="1625600" y="2997200"/>
            <a:ext cx="9525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β₂为负却被解释为正贡献：只有在反转变量本身保留负值等特定编码下才可能成立。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AA9DC8B-626F-4FC7-AB6A-45A992B50DD6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150DADB-EC7D-45F1-A6E0-2BECAD19B1B7}"/>
              </a:ext>
            </a:extLst>
          </p:cNvPr>
          <p:cNvSpPr>
            <a:spLocks noGrp="1"/>
          </p:cNvSpPr>
          <p:nvPr/>
        </p:nvSpPr>
        <p:spPr>
          <a:xfrm>
            <a:off x="1625600" y="3657600"/>
            <a:ext cx="9525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不同变量未标准化，不能只比系数绝对值大小；回归显著性也不等于经济重要性。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1C4D512-048D-4BC3-981C-2FD693269CBE}"/>
              </a:ext>
            </a:extLst>
          </p:cNvPr>
          <p:cNvSpPr>
            <a:spLocks noGrp="1"/>
          </p:cNvSpPr>
          <p:nvPr/>
        </p:nvSpPr>
        <p:spPr>
          <a:xfrm>
            <a:off x="952500" y="4318000"/>
            <a:ext cx="5588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7D8E27E3-8217-4F69-8C81-A402C751042F}"/>
              </a:ext>
            </a:extLst>
          </p:cNvPr>
          <p:cNvSpPr>
            <a:spLocks noGrp="1"/>
          </p:cNvSpPr>
          <p:nvPr/>
        </p:nvSpPr>
        <p:spPr>
          <a:xfrm>
            <a:off x="1625600" y="4318000"/>
            <a:ext cx="9525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Sargan（过度识别检验）p=0.9684至多未拒绝过度识别限制，不能证明工具变量有效；p=0.000是显示精度。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C2EF808-30F9-4DBF-87C9-653A383C087A}"/>
              </a:ext>
            </a:extLst>
          </p:cNvPr>
          <p:cNvSpPr>
            <a:spLocks noGrp="1"/>
          </p:cNvSpPr>
          <p:nvPr/>
        </p:nvSpPr>
        <p:spPr>
          <a:xfrm>
            <a:off x="952500" y="5080000"/>
            <a:ext cx="10287000" cy="787400"/>
          </a:xfrm>
          <a:prstGeom prst="roundRect">
            <a:avLst>
              <a:gd name="adj" fmla="val 12903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8DFA3B82-FCCD-4F6B-9E7E-CEBE4B22E273}"/>
              </a:ext>
            </a:extLst>
          </p:cNvPr>
          <p:cNvSpPr>
            <a:spLocks noGrp="1"/>
          </p:cNvSpPr>
          <p:nvPr/>
        </p:nvSpPr>
        <p:spPr>
          <a:xfrm>
            <a:off x="1206500" y="5232400"/>
            <a:ext cx="977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审查课的意义：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先问能否复现、系数符号如何编码、显著性与重要性是否混淆，再决定是否采用结论。</a:t>
            </a:r>
            <a:endParaRPr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7A00A42-C16C-438F-AD90-96EDA36F7CF8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60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第4课时·M指标·截图10，完整方法审查见验证报告第7节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9629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D9083D4-4769-4F48-93D8-CD01AFAF829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990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从教材 7–4 学到的：审查一篇实证的四步清单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436055-BB36-431A-8417-8D7B42CA77A4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教材案例的四个问题不是“挑错”，而是判断一篇实证“能否采用”的标准动作——按顺序过四关。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AE7A8F7-0CA7-401D-9FD6-2DAC21A79082}"/>
              </a:ext>
            </a:extLst>
          </p:cNvPr>
          <p:cNvSpPr>
            <a:spLocks noGrp="1"/>
          </p:cNvSpPr>
          <p:nvPr/>
        </p:nvSpPr>
        <p:spPr>
          <a:xfrm>
            <a:off x="952500" y="25400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A949A7-D11A-4C22-ACFE-2BA5A7539DF0}"/>
              </a:ext>
            </a:extLst>
          </p:cNvPr>
          <p:cNvSpPr>
            <a:spLocks noGrp="1"/>
          </p:cNvSpPr>
          <p:nvPr/>
        </p:nvSpPr>
        <p:spPr>
          <a:xfrm>
            <a:off x="1206500" y="26924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01 能否复现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E09A7AA-7D87-4E54-9D25-726D92512950}"/>
              </a:ext>
            </a:extLst>
          </p:cNvPr>
          <p:cNvSpPr>
            <a:spLocks noGrp="1"/>
          </p:cNvSpPr>
          <p:nvPr/>
        </p:nvSpPr>
        <p:spPr>
          <a:xfrm>
            <a:off x="1206500" y="3048000"/>
            <a:ext cx="4445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有完整方程、变量编码、原始数据吗？不可复现的结论不能进入决策。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AB36060-E733-4D2A-9194-47C671064D5B}"/>
              </a:ext>
            </a:extLst>
          </p:cNvPr>
          <p:cNvSpPr>
            <a:spLocks noGrp="1"/>
          </p:cNvSpPr>
          <p:nvPr/>
        </p:nvSpPr>
        <p:spPr>
          <a:xfrm>
            <a:off x="6286500" y="25400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2E2026B-9BA1-4DA2-8067-D13140EE2715}"/>
              </a:ext>
            </a:extLst>
          </p:cNvPr>
          <p:cNvSpPr>
            <a:spLocks noGrp="1"/>
          </p:cNvSpPr>
          <p:nvPr/>
        </p:nvSpPr>
        <p:spPr>
          <a:xfrm>
            <a:off x="6540500" y="26924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02 系数符号怎么读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B9C9F32-9223-48AC-A8BF-FFF0B5289237}"/>
              </a:ext>
            </a:extLst>
          </p:cNvPr>
          <p:cNvSpPr>
            <a:spLocks noGrp="1"/>
          </p:cNvSpPr>
          <p:nvPr/>
        </p:nvSpPr>
        <p:spPr>
          <a:xfrm>
            <a:off x="6540500" y="3048000"/>
            <a:ext cx="4445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β₂ 为负却被解释为正贡献？先对齐变量编码，再读符号与作用方向。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90F78605-9012-4654-BB7D-BE888A9D8A5E}"/>
              </a:ext>
            </a:extLst>
          </p:cNvPr>
          <p:cNvSpPr>
            <a:spLocks noGrp="1"/>
          </p:cNvSpPr>
          <p:nvPr/>
        </p:nvSpPr>
        <p:spPr>
          <a:xfrm>
            <a:off x="952500" y="41402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727D6D3-5FE8-42DA-A841-C5ED1A349199}"/>
              </a:ext>
            </a:extLst>
          </p:cNvPr>
          <p:cNvSpPr>
            <a:spLocks noGrp="1"/>
          </p:cNvSpPr>
          <p:nvPr/>
        </p:nvSpPr>
        <p:spPr>
          <a:xfrm>
            <a:off x="1206500" y="42926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03 显著 ≠ 重要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A71346FA-8CDC-48EF-A286-39D76E26EFD9}"/>
              </a:ext>
            </a:extLst>
          </p:cNvPr>
          <p:cNvSpPr>
            <a:spLocks noGrp="1"/>
          </p:cNvSpPr>
          <p:nvPr/>
        </p:nvSpPr>
        <p:spPr>
          <a:xfrm>
            <a:off x="1206500" y="4648200"/>
            <a:ext cx="4445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未标准化的系数不能比大小；回归显著只说明统计关系，不说明经济分量。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493EA036-FAD5-4ACC-98F2-B13D46A43093}"/>
              </a:ext>
            </a:extLst>
          </p:cNvPr>
          <p:cNvSpPr>
            <a:spLocks noGrp="1"/>
          </p:cNvSpPr>
          <p:nvPr/>
        </p:nvSpPr>
        <p:spPr>
          <a:xfrm>
            <a:off x="6286500" y="4140200"/>
            <a:ext cx="495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C301EEB8-E3E3-4C90-8917-A42B170442C7}"/>
              </a:ext>
            </a:extLst>
          </p:cNvPr>
          <p:cNvSpPr>
            <a:spLocks noGrp="1"/>
          </p:cNvSpPr>
          <p:nvPr/>
        </p:nvSpPr>
        <p:spPr>
          <a:xfrm>
            <a:off x="6540500" y="4292600"/>
            <a:ext cx="4318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04 检验怎么解释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2A64036-E23C-491E-A620-9B95B99C6C1A}"/>
              </a:ext>
            </a:extLst>
          </p:cNvPr>
          <p:cNvSpPr>
            <a:spLocks noGrp="1"/>
          </p:cNvSpPr>
          <p:nvPr/>
        </p:nvSpPr>
        <p:spPr>
          <a:xfrm>
            <a:off x="6540500" y="4648200"/>
            <a:ext cx="4445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Sargan p=0.9684 至多未拒绝过度识别限制，不能证明工具变量有效。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CA648E0-2534-4979-B4A0-2B55AE14F362}"/>
              </a:ext>
            </a:extLst>
          </p:cNvPr>
          <p:cNvSpPr>
            <a:spLocks noGrp="1"/>
          </p:cNvSpPr>
          <p:nvPr/>
        </p:nvSpPr>
        <p:spPr>
          <a:xfrm>
            <a:off x="952500" y="5791200"/>
            <a:ext cx="10287000" cy="431800"/>
          </a:xfrm>
          <a:prstGeom prst="roundRect">
            <a:avLst>
              <a:gd name="adj" fmla="val 23529"/>
            </a:avLst>
          </a:prstGeom>
          <a:solidFill>
            <a:srgbClr val="EBE7D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3E4536E1-D382-45C5-BEBB-438D156B9709}"/>
              </a:ext>
            </a:extLst>
          </p:cNvPr>
          <p:cNvSpPr>
            <a:spLocks noGrp="1"/>
          </p:cNvSpPr>
          <p:nvPr/>
        </p:nvSpPr>
        <p:spPr>
          <a:xfrm>
            <a:off x="1206500" y="5880100"/>
            <a:ext cx="9779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审查顺序：复现 → 编码 → 量纲 → 检验；先过四问，再决定是否采用结论。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BBE942A-7C1A-443A-9635-1CFB3C1B71C2}"/>
              </a:ext>
            </a:extLst>
          </p:cNvPr>
          <p:cNvSpPr>
            <a:spLocks noGrp="1"/>
          </p:cNvSpPr>
          <p:nvPr/>
        </p:nvSpPr>
        <p:spPr>
          <a:xfrm>
            <a:off x="952500" y="6248400"/>
            <a:ext cx="5334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第4课时·M指标·教材案例 7–4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1586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815E4D-1E55-4EDD-8E92-14A88DC35645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8890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把偏差改写成可执行规则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C877595-94C8-429C-8E6E-13C5DC87A13A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行为管理不是"更自律"，而是把每种偏差写成可检查的操作规则。</a:t>
            </a:r>
            <a:endParaRPr sz="1100"/>
          </a:p>
        </p:txBody>
      </p:sp>
      <p:graphicFrame>
        <p:nvGraphicFramePr>
          <p:cNvPr id="9" name="Table 4"/>
          <p:cNvGraphicFramePr/>
          <p:nvPr/>
        </p:nvGraphicFramePr>
        <p:xfrm>
          <a:off x="952500" y="2336800"/>
          <a:ext cx="10287000" cy="34290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常见偏差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课堂中的具体表现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可执行规则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损失厌恶／回本锚定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因为跌破成本就加仓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加仓须更新估值或信息证据，不突破总风险额度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确认偏误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只让Agent找支持观点的新闻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每条观点配一条可推翻它的证据条件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近因偏误／外推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最近上涨就上调长期预期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同时报多窗口、同类基准与失败期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心理账户隔离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两账户分别合规但都买科技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合并看单股、行业、风格与流动性暴露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过度交易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高频改参数、随涨跌换策略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预先写调仓频率、触发条件和成本预算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后见之明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复盘时说"当时早就知道"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>
                          <a:solidFill>
                            <a:srgbClr val="2B2F3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保存决策时的信息快照和原始判断</a:t>
                      </a:r>
                      <a:endParaRPr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utoShape 5">
            <a:extLst>
              <a:ext uri="{FF2B5EF4-FFF2-40B4-BE49-F238E27FC236}">
                <a16:creationId xmlns:a16="http://schemas.microsoft.com/office/drawing/2014/main" id="{769D7AF2-5E9F-4280-82CE-8B90DED71593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09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第4课时·行为管理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565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BD524F2-C8FF-44F5-9651-AB85D954C07D}"/>
              </a:ext>
            </a:extLst>
          </p:cNvPr>
          <p:cNvSpPr>
            <a:spLocks noGrp="1"/>
          </p:cNvSpPr>
          <p:nvPr/>
        </p:nvSpPr>
        <p:spPr>
          <a:xfrm>
            <a:off x="952500" y="1320800"/>
            <a:ext cx="10414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>
                <a:solidFill>
                  <a:srgbClr val="1E3C72"/>
                </a:solidFill>
                <a:latin typeface="微软雅黑"/>
                <a:ea typeface="微软雅黑"/>
                <a:cs typeface="微软雅黑"/>
              </a:rPr>
              <a:t>小组任务：Memo（项目备忘录）Part 4——行为约束与策略验证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964DFE-5716-4DAB-9CBB-D9CB0AF36434}"/>
              </a:ext>
            </a:extLst>
          </p:cNvPr>
          <p:cNvSpPr>
            <a:spLocks noGrp="1"/>
          </p:cNvSpPr>
          <p:nvPr/>
        </p:nvSpPr>
        <p:spPr>
          <a:xfrm>
            <a:off x="952500" y="1854200"/>
            <a:ext cx="10287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>
                <a:solidFill>
                  <a:srgbClr val="787C84"/>
                </a:solidFill>
                <a:latin typeface="微软雅黑"/>
                <a:ea typeface="微软雅黑"/>
                <a:cs typeface="微软雅黑"/>
              </a:rPr>
              <a:t>延续前三课项目，提交一份能接受审查的四格交付。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759C28C-26A1-43C1-832C-01633A0DF8D2}"/>
              </a:ext>
            </a:extLst>
          </p:cNvPr>
          <p:cNvSpPr>
            <a:spLocks noGrp="1"/>
          </p:cNvSpPr>
          <p:nvPr/>
        </p:nvSpPr>
        <p:spPr>
          <a:xfrm>
            <a:off x="952500" y="2387600"/>
            <a:ext cx="50165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B880254-E3E8-47BF-85AB-FC6D3FD10A65}"/>
              </a:ext>
            </a:extLst>
          </p:cNvPr>
          <p:cNvSpPr>
            <a:spLocks noGrp="1"/>
          </p:cNvSpPr>
          <p:nvPr/>
        </p:nvSpPr>
        <p:spPr>
          <a:xfrm>
            <a:off x="1168400" y="2540000"/>
            <a:ext cx="152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① 目标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1CF7273-5135-4BED-8810-0EA26C52B7FB}"/>
              </a:ext>
            </a:extLst>
          </p:cNvPr>
          <p:cNvSpPr>
            <a:spLocks noGrp="1"/>
          </p:cNvSpPr>
          <p:nvPr/>
        </p:nvSpPr>
        <p:spPr>
          <a:xfrm>
            <a:off x="1168400" y="2921000"/>
            <a:ext cx="4572000" cy="584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资金用途、期限、最低金额、允许的压力损失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3EF78A4E-E6A5-4368-A9A0-74C6DAC6515E}"/>
              </a:ext>
            </a:extLst>
          </p:cNvPr>
          <p:cNvSpPr>
            <a:spLocks noGrp="1"/>
          </p:cNvSpPr>
          <p:nvPr/>
        </p:nvSpPr>
        <p:spPr>
          <a:xfrm>
            <a:off x="6223000" y="2387600"/>
            <a:ext cx="50165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D44B59E-6C76-47E6-A5B5-F823EE88FA04}"/>
              </a:ext>
            </a:extLst>
          </p:cNvPr>
          <p:cNvSpPr>
            <a:spLocks noGrp="1"/>
          </p:cNvSpPr>
          <p:nvPr/>
        </p:nvSpPr>
        <p:spPr>
          <a:xfrm>
            <a:off x="6438900" y="2540000"/>
            <a:ext cx="152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② 假说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E1D0324-BDE9-448C-BF68-1B7A5716D4A5}"/>
              </a:ext>
            </a:extLst>
          </p:cNvPr>
          <p:cNvSpPr>
            <a:spLocks noGrp="1"/>
          </p:cNvSpPr>
          <p:nvPr/>
        </p:nvSpPr>
        <p:spPr>
          <a:xfrm>
            <a:off x="6438900" y="2921000"/>
            <a:ext cx="4572000" cy="584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选一种动量或反转，写明形成期、跳过月、持有期与股票池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C59BA0A-4E0F-4BBD-8613-93F7817F0BE1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50165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CE9D0172-2931-4DD2-BA1A-D9D77B1A7E94}"/>
              </a:ext>
            </a:extLst>
          </p:cNvPr>
          <p:cNvSpPr>
            <a:spLocks noGrp="1"/>
          </p:cNvSpPr>
          <p:nvPr/>
        </p:nvSpPr>
        <p:spPr>
          <a:xfrm>
            <a:off x="1168400" y="3962400"/>
            <a:ext cx="152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③ 证据</a:t>
            </a:r>
            <a:endParaRPr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96FFB39-4F64-4274-878D-D217031E6BFE}"/>
              </a:ext>
            </a:extLst>
          </p:cNvPr>
          <p:cNvSpPr>
            <a:spLocks noGrp="1"/>
          </p:cNvSpPr>
          <p:nvPr/>
        </p:nvSpPr>
        <p:spPr>
          <a:xfrm>
            <a:off x="1168400" y="4343400"/>
            <a:ext cx="4572000" cy="584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一张结果表＋同池基准＋成本，再加一项反例或敏感性检查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6D026D09-F732-42F5-ADB4-5D1A5A0C9834}"/>
              </a:ext>
            </a:extLst>
          </p:cNvPr>
          <p:cNvSpPr>
            <a:spLocks noGrp="1"/>
          </p:cNvSpPr>
          <p:nvPr/>
        </p:nvSpPr>
        <p:spPr>
          <a:xfrm>
            <a:off x="6223000" y="3810000"/>
            <a:ext cx="50165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C8C4B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4FF50414-9CEC-497D-9AAC-60258A6C750E}"/>
              </a:ext>
            </a:extLst>
          </p:cNvPr>
          <p:cNvSpPr>
            <a:spLocks noGrp="1"/>
          </p:cNvSpPr>
          <p:nvPr/>
        </p:nvSpPr>
        <p:spPr>
          <a:xfrm>
            <a:off x="6438900" y="3962400"/>
            <a:ext cx="1524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④ 纪律</a:t>
            </a:r>
            <a:endParaRPr sz="110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D47619F-D2E3-4459-9F23-8B3C8D6269D2}"/>
              </a:ext>
            </a:extLst>
          </p:cNvPr>
          <p:cNvSpPr>
            <a:spLocks noGrp="1"/>
          </p:cNvSpPr>
          <p:nvPr/>
        </p:nvSpPr>
        <p:spPr>
          <a:xfrm>
            <a:off x="6438900" y="4343400"/>
            <a:ext cx="4572000" cy="584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2500"/>
              </a:lnSpc>
              <a:buNone/>
            </a:pP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一条能被第三人检查的规则，并写明何种证据使你改变观点</a:t>
            </a:r>
            <a:endParaRPr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C27A566-E0F1-4E06-8CA0-C20BF320197F}"/>
              </a:ext>
            </a:extLst>
          </p:cNvPr>
          <p:cNvSpPr>
            <a:spLocks noGrp="1"/>
          </p:cNvSpPr>
          <p:nvPr/>
        </p:nvSpPr>
        <p:spPr>
          <a:xfrm>
            <a:off x="952500" y="5257800"/>
            <a:ext cx="10287000" cy="711200"/>
          </a:xfrm>
          <a:prstGeom prst="roundRect">
            <a:avLst>
              <a:gd name="adj" fmla="val 14285"/>
            </a:avLst>
          </a:prstGeom>
          <a:solidFill>
            <a:srgbClr val="FDF3E7">
              <a:alpha val="100000"/>
            </a:srgbClr>
          </a:solidFill>
          <a:ln w="12700" cmpd="sng">
            <a:solidFill>
              <a:srgbClr val="E8762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02AB1B6F-FE4B-40A3-8192-5016150932D7}"/>
              </a:ext>
            </a:extLst>
          </p:cNvPr>
          <p:cNvSpPr>
            <a:spLocks noGrp="1"/>
          </p:cNvSpPr>
          <p:nvPr/>
        </p:nvSpPr>
        <p:spPr>
          <a:xfrm>
            <a:off x="1206500" y="5410200"/>
            <a:ext cx="9779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sz="1300" b="1" i="0" u="none">
                <a:solidFill>
                  <a:srgbClr val="B04C10"/>
                </a:solidFill>
                <a:latin typeface="微软雅黑"/>
                <a:ea typeface="微软雅黑"/>
                <a:cs typeface="微软雅黑"/>
              </a:rPr>
              <a:t>评分标准：</a:t>
            </a:r>
            <a:r>
              <a:rPr sz="1300" b="0" i="0" u="none">
                <a:solidFill>
                  <a:srgbClr val="3C4048"/>
                </a:solidFill>
                <a:latin typeface="微软雅黑"/>
                <a:ea typeface="微软雅黑"/>
                <a:cs typeface="微软雅黑"/>
              </a:rPr>
              <a:t>不能证明有优势也是合格结果；选择性展示高收益不是。</a:t>
            </a:r>
            <a:endParaRPr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8DE46BD-B4D2-4B27-BDFB-0F5D1D810FAA}"/>
              </a:ext>
            </a:extLst>
          </p:cNvPr>
          <p:cNvSpPr>
            <a:spLocks noGrp="1"/>
          </p:cNvSpPr>
          <p:nvPr/>
        </p:nvSpPr>
        <p:spPr>
          <a:xfrm>
            <a:off x="952500" y="6184900"/>
            <a:ext cx="6096000" cy="2794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969696"/>
                </a:solidFill>
                <a:latin typeface="微软雅黑"/>
                <a:ea typeface="微软雅黑"/>
                <a:cs typeface="微软雅黑"/>
              </a:rPr>
              <a:t>第4课时·小组任务·接在前三课项目之后</a:t>
            </a:r>
            <a:endParaRPr sz="1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4216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C72">
                <a:alpha val="100000"/>
              </a:srgbClr>
            </a:gs>
            <a:gs pos="100000">
              <a:srgbClr val="1026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AF113DF-F728-40B2-B44F-070DD21E2881}"/>
              </a:ext>
            </a:extLst>
          </p:cNvPr>
          <p:cNvSpPr>
            <a:spLocks noGrp="1"/>
          </p:cNvSpPr>
          <p:nvPr/>
        </p:nvSpPr>
        <p:spPr>
          <a:xfrm>
            <a:off x="990600" y="1905000"/>
            <a:ext cx="3810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本课时小结</a:t>
            </a:r>
            <a:endParaRPr sz="11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2CE40D-6578-4EFB-B37A-01CF918FF07A}"/>
              </a:ext>
            </a:extLst>
          </p:cNvPr>
          <p:cNvSpPr>
            <a:spLocks noGrp="1"/>
          </p:cNvSpPr>
          <p:nvPr/>
        </p:nvSpPr>
        <p:spPr>
          <a:xfrm>
            <a:off x="990600" y="2362200"/>
            <a:ext cx="3810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三句退出题</a:t>
            </a:r>
            <a:endParaRPr sz="11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52EB4E0-C259-445C-A568-E311856E1DC7}"/>
              </a:ext>
            </a:extLst>
          </p:cNvPr>
          <p:cNvSpPr>
            <a:spLocks noGrp="1"/>
          </p:cNvSpPr>
          <p:nvPr/>
        </p:nvSpPr>
        <p:spPr>
          <a:xfrm>
            <a:off x="990600" y="2870200"/>
            <a:ext cx="4826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M为正＝追涨能赚钱？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不成立——混淆了行为与收益。</a:t>
            </a:r>
            <a:endParaRPr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1CD9868-5F5C-4544-BA09-BC0FA792DE47}"/>
              </a:ext>
            </a:extLst>
          </p:cNvPr>
          <p:cNvSpPr>
            <a:spLocks noGrp="1"/>
          </p:cNvSpPr>
          <p:nvPr/>
        </p:nvSpPr>
        <p:spPr>
          <a:xfrm>
            <a:off x="990600" y="3759200"/>
            <a:ext cx="4826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样本动量净值最高＝全A股动量有效？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不成立——忽略了选样、统计与成交。</a:t>
            </a:r>
            <a:endParaRPr sz="11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B413645-7A0B-4A59-A614-F19377162913}"/>
              </a:ext>
            </a:extLst>
          </p:cNvPr>
          <p:cNvSpPr>
            <a:spLocks noGrp="1"/>
          </p:cNvSpPr>
          <p:nvPr/>
        </p:nvSpPr>
        <p:spPr>
          <a:xfrm>
            <a:off x="990600" y="4648200"/>
            <a:ext cx="4826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两账户分开＝总风险降低？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不成立——要看合并权重与相关性。</a:t>
            </a:r>
            <a:endParaRPr sz="11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9D9A32E-1357-493A-B77A-2D86E914BB13}"/>
              </a:ext>
            </a:extLst>
          </p:cNvPr>
          <p:cNvSpPr>
            <a:spLocks noGrp="1"/>
          </p:cNvSpPr>
          <p:nvPr/>
        </p:nvSpPr>
        <p:spPr>
          <a:xfrm>
            <a:off x="6350000" y="2362200"/>
            <a:ext cx="3810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课后任务</a:t>
            </a:r>
            <a:endParaRPr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BEAA0BE-6232-4559-81AA-B77B2BCE69DC}"/>
              </a:ext>
            </a:extLst>
          </p:cNvPr>
          <p:cNvSpPr>
            <a:spLocks noGrp="1"/>
          </p:cNvSpPr>
          <p:nvPr/>
        </p:nvSpPr>
        <p:spPr>
          <a:xfrm>
            <a:off x="6350000" y="2870200"/>
            <a:ext cx="5080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　小组任务：完成 Memo Part 4，接在前三课项目之后</a:t>
            </a:r>
            <a:endParaRPr sz="11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428F22D-0E86-42E8-B775-1312F6620BB4}"/>
              </a:ext>
            </a:extLst>
          </p:cNvPr>
          <p:cNvSpPr>
            <a:spLocks noGrp="1"/>
          </p:cNvSpPr>
          <p:nvPr/>
        </p:nvSpPr>
        <p:spPr>
          <a:xfrm>
            <a:off x="6350000" y="3759200"/>
            <a:ext cx="5080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　复跑 P2（动量反转实验）：写明口径、结果与边界，不美化输出</a:t>
            </a:r>
            <a:endParaRPr sz="11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7001EC2-1A81-435D-9F53-9108F64B3D85}"/>
              </a:ext>
            </a:extLst>
          </p:cNvPr>
          <p:cNvSpPr>
            <a:spLocks noGrp="1"/>
          </p:cNvSpPr>
          <p:nvPr/>
        </p:nvSpPr>
        <p:spPr>
          <a:xfrm>
            <a:off x="6350000" y="4648200"/>
            <a:ext cx="5080000" cy="812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16666"/>
              </a:lnSpc>
              <a:buNone/>
            </a:pPr>
            <a:r>
              <a:rPr sz="1300" b="1" i="0" u="none">
                <a:solidFill>
                  <a:srgbClr val="E8762C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300" b="0" i="0" u="none">
                <a:solidFill>
                  <a:srgbClr val="D6DCE6"/>
                </a:solidFill>
                <a:latin typeface="微软雅黑"/>
                <a:ea typeface="微软雅黑"/>
                <a:cs typeface="微软雅黑"/>
              </a:rPr>
              <a:t>　自检：结论是否随股票池、成本、成交时序改变</a:t>
            </a:r>
            <a:endParaRPr sz="1100"/>
          </a:p>
        </p:txBody>
      </p:sp>
      <p:cxnSp>
        <p:nvCxnSpPr>
          <p:cNvPr id="24" name="Connector 11"/>
          <p:cNvCxnSpPr/>
          <p:nvPr/>
        </p:nvCxnSpPr>
        <p:spPr>
          <a:xfrm rot="-4286">
            <a:off x="990604" y="5784850"/>
            <a:ext cx="10185400" cy="12700"/>
          </a:xfrm>
          <a:prstGeom prst="straightConnector1">
            <a:avLst/>
          </a:prstGeom>
          <a:ln w="12700" cap="flat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>
            <a:extLst>
              <a:ext uri="{FF2B5EF4-FFF2-40B4-BE49-F238E27FC236}">
                <a16:creationId xmlns:a16="http://schemas.microsoft.com/office/drawing/2014/main" id="{3C4D3C69-04E5-4E82-8735-4E1597B6DFD9}"/>
              </a:ext>
            </a:extLst>
          </p:cNvPr>
          <p:cNvSpPr>
            <a:spLocks noGrp="1"/>
          </p:cNvSpPr>
          <p:nvPr/>
        </p:nvSpPr>
        <p:spPr>
          <a:xfrm>
            <a:off x="990600" y="5969000"/>
            <a:ext cx="10414000" cy="330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5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先把目标写清楚，再把规则固定下来，让数据检验规则</a:t>
            </a:r>
            <a:endParaRPr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1E8F828-B53C-4251-B553-D4D42769781B}"/>
              </a:ext>
            </a:extLst>
          </p:cNvPr>
          <p:cNvSpPr>
            <a:spLocks noGrp="1"/>
          </p:cNvSpPr>
          <p:nvPr/>
        </p:nvSpPr>
        <p:spPr>
          <a:xfrm>
            <a:off x="990600" y="6438900"/>
            <a:ext cx="6096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>
                <a:solidFill>
                  <a:srgbClr val="A0A8B6"/>
                </a:solidFill>
                <a:latin typeface="微软雅黑"/>
                <a:ea typeface="微软雅黑"/>
                <a:cs typeface="微软雅黑"/>
              </a:rPr>
              <a:t>第4课时·行为投资学与投资行为管理·投资学2026秋季</a:t>
            </a:r>
            <a:endParaRPr sz="1100"/>
          </a:p>
        </p:txBody>
      </p:sp>
      <p:pic>
        <p:nvPicPr>
          <p:cNvPr id="2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69326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0729913306177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1863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25486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2879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50926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5200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55983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5840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5905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60460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62263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66034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68208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70920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75002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81515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83395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86292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88934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92167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96527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397247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00175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02815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06237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10669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13468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16092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17258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20443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22485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23486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26155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27560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31934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3305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37824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41133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43103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46017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49692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51542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56246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59824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63524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66178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69487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73086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75914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78628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84245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88924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7299134911841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5961</Words>
  <Application>Microsoft Office PowerPoint</Application>
  <DocSecurity>0</DocSecurity>
  <PresentationFormat>宽屏</PresentationFormat>
  <Paragraphs>841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58" baseType="lpstr">
      <vt:lpstr>Noto Sans SC</vt:lpstr>
      <vt:lpstr>微软雅黑</vt:lpstr>
      <vt:lpstr>Arial</vt:lpstr>
      <vt:lpstr>Cambria Math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剑 张</cp:lastModifiedBy>
  <cp:revision>1</cp:revision>
  <dcterms:created xsi:type="dcterms:W3CDTF">2026-09-30T00:18:44Z</dcterms:created>
  <dcterms:modified xsi:type="dcterms:W3CDTF">2026-09-30T01:49:51Z</dcterms:modified>
</cp:coreProperties>
</file>