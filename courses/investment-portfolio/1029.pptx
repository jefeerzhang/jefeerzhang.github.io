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7" r:id="rId12"/>
    <p:sldId id="266" r:id="rId13"/>
  </p:sldIdLst>
  <p:sldSz cx="12192000" cy="6858000"/>
  <p:notesSz cx="6858000" cy="9144000"/>
  <p:defaultTextStyle>
    <a:defPPr>
      <a:defRPr lang="zh-CN"/>
    </a:defPPr>
    <a:lvl1pPr marL="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2"/>
    <p:restoredTop sz="94708"/>
  </p:normalViewPr>
  <p:slideViewPr>
    <p:cSldViewPr snapToGrid="0" snapToObjects="1">
      <p:cViewPr varScale="1">
        <p:scale>
          <a:sx n="118" d="100"/>
          <a:sy n="118" d="100"/>
        </p:scale>
        <p:origin x="432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各位评委好。我汇报的案例是《AI 智能体赋能的积极组合管理实验》，包括动量反转与基金评价。编程、计算可以交给 Agent，研究判断必须由学生作出。我们把这个原则落实到任务、协作流程和评分依据中，让学生学会作出有依据的判断。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当 Agent 已经参与前沿数学研究时，取数、编程、计算和报告整理等常规实验执行，正变得越来越容易。这不表示所有科学难题已经解决，也不表示实验结果可以免于核验。对我们的课程而言，这些进展提示我们：教学的重点应转向学生怎样提出问题、怎样核验结果，以及怎样解释证据的边界。接下来，一份完整报告，能证明学生真正理解了吗？</a:t>
            </a:r>
          </a:p>
          <a:p>
            <a:endParaRPr/>
          </a:p>
          <a:p>
            <a:r>
              <a:t>新闻依据：</a:t>
            </a:r>
          </a:p>
          <a:p>
            <a:r>
              <a:t>1. Nature，2026-09-08：OpenAI claims huge maths breakthrough on a famed ‘Millennium Problem’。</a:t>
            </a:r>
          </a:p>
          <a:p>
            <a:r>
              <a:t>https://www.nature.com/articles/d41586-026-02842-5</a:t>
            </a:r>
          </a:p>
          <a:p>
            <a:r>
              <a:t>原题使用 claims（宣称）；报道涉及纳维—斯托克斯问题特定版本的研究进展，并非全部版本均获公认解决。</a:t>
            </a:r>
          </a:p>
          <a:p>
            <a:r>
              <a:t>2. 科技日报，2026-10-07：OpenAI发布722篇数学手稿，包含数百个“未解问题答案”。</a:t>
            </a:r>
          </a:p>
          <a:p>
            <a:r>
              <a:t>https://www.stdaily.com/web/gdxw/2026-10/07/content_592207.html</a:t>
            </a:r>
          </a:p>
          <a:p>
            <a:r>
              <a:t>722 是报道时的首次数量，不代表全部成果已获独立验证。2026-10-16 后续报道提到撤回3篇，降至719篇：</a:t>
            </a:r>
          </a:p>
          <a:p>
            <a:r>
              <a:t>https://www.stdaily.com/web/gdxw/2026-10/16/content_596993.html</a:t>
            </a:r>
          </a:p>
          <a:p>
            <a:endParaRPr/>
          </a:p>
          <a:p>
            <a:r>
              <a:t>截图为原网页标题区域，保留媒体与日期。截图支持 Agent 参与前沿科研这一背景；“常规实验执行更容易”为教学推论，具体研究仍须核验。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一份完整的研究报告，能证明学生真正理解了吗？智能体可以辅助取数、编程、计算和报告整理。但为什么选择这个方法，凭什么采信结果，证据支持到哪里，仍然需要学生解释。实验教学的重点，也延伸到判断结果是否可信，以及认识结论的边界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我们设置两个金融实验。实验一用四百八十一只固定股票研究动量与反转，由学生自拟方法，回答历史收益能否预测后续表现。名单经过事后存续筛选，结论受样本边界限制。实验二由学生判断九只候选基金的风格，选出至少三只可比基金，综合十二项指标评价表现。两个实验共同训练人机协作研究、审查复核、证据分析与解释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学生的主动性，在任务 B 中进一步展开。任务 A 完成基础研究，实验一同时检验动量与反转，实验二完成基础绩效评价。随后由学生从发现、疑问或局限出发，自主提出关联新问题，讨论并确认比较方案，实际完成至少一次有针对性的对照，复核关键结果，再判断原有认识得到支持、削弱还是仍待判断。两个任务各走完四步，不预设正确的结果方向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四步中，每一步都有学生判断。方案确认时，学生比较方法、说明依据；推进时，Agent 在确认范围内辅助取数、计算和绘图，学生查看关键输出，决定下一步。复核时，学生选择对象与判据，依据另路复算判断是否采信。报告完成时，学生先表达结论、证据和边界，再由 Agent 帮助整理。方案调整后重新确认；数据或计算修正后重新推进并复核。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我们把“学生先答，助手再反馈”写进运行约束。助手展示真实材料，主动提问，等待学生尝试，再反馈并落实到研究。例如：“请看这份实际输出，你认为下一步该继续、调整还是暂缓？指出支持你决定的一处信息。”学生不会时，先给局部提示，再用微型例子帮助理解，最后回到本题尝试。两个任务的四个环节都要求实质互动；这是助手的执行要求，不是按提问次数评分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采信要有独立核验。基金实验中，数据核验检查分红再投资和日期对齐；计算核验检查卡玛比率是否使用全区间最大回撤；结果核验检查表图是否支持评价，解释有没有越界。学生选择对象与判据，Agent 另路复算并展示差异，学生解释后决定采信、修正或暂缓。任务 A、B 各独立复算至少一个关键计算，核对明细到主要论断的关系，并设一个自选关键核验点。同一函数重跑或另一助手赞同，不能单独证明核验通过。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评分对话与成果并重，重点看学生表达目的、明确边界，并针对实际输出给出具体反馈；再沿着依据、理由、判断与落实核对证据。六分要求两任务有实际研究产物、三类对话证据充分、至少一条完整判断链；结果可以有重大不足，须说明错误和影响。七分增加成果可靠性要求，八分要求两任务各有完整判断链、关键核验充分、核心结果与解释正确。研究选择、有效比较、认识更新构成三项深度证据；九分至少两项，十分三项均成立，并要求两任务四步判断完整、三类对话贯通且深入。每实验任务 A、B 合评，按证据支持的最高档给整数总评，助手提出建议，教师复核定分。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每个实验用三份材料启动：任务书明确研究内容，运行约束明确协作方式，名单明确样本起点。四课时依次确认任务 A、推进并完成任务 A、确认并推进任务 B、复核扩展并完成报告与答辩，同时结合课外独立研究。教师通过问题、方法追问和小算例提供支持。本次依据现有材料说明设计与安排，不据此推断具体教学成效。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首轮实践后，我们收集了学生的教学反馈。约一半学生觉得自己被 Agent 牵着走，约三成觉得自己驾驭了 Agent。学生的意见集中在一个矛盾上：任务太简单，Agent 一下就做完；任务太难，学生又驾驭不了 Agent。学生还提出三点需求：较难任务需要知识点梳理，希望学习与 Agent 交互的经验，希望教师对完成的任务给出更多反馈和解释。下一轮我们按这四条调整：提高任务开放度，较难任务前先梳理知识点，示范交互方法，任务完成后增加教师讲评。目标是让任务难到 Agent 不能一步完成，又在学生的驾驭范围之内。以上为学生反馈与改进方向，改进效果尚待下一轮实践检验。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编程、计算可以交给 Agent，研究判断必须由学生作出。从任务设计，到主动互动、独立核验，再到与教学目标一致的评分，我们让学生练习选择有理由、核验有依据、解释有边界，并为自己的研究判断负责。谢谢各位评委。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research_judgment_competitio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altLang="en-US" smtClean="0"/>
              <a:t>2026/10/31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alt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altLang="en-US" smtClean="0"/>
              <a:t>2026/10/31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alt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zh-CN"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lang="zh-CN"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lang="zh-CN"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d41586-026-02842-5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cover-kicker"/>
          <p:cNvGrpSpPr/>
          <p:nvPr/>
        </p:nvGrpSpPr>
        <p:grpSpPr>
          <a:xfrm>
            <a:off x="524256" y="1612900"/>
            <a:ext cx="65" cy="276999"/>
            <a:chOff x="524256" y="1612900"/>
            <a:chExt cx="65" cy="276999"/>
          </a:xfrm>
        </p:grpSpPr>
        <p:sp>
          <p:nvSpPr>
            <p:cNvPr id="7" name="_edit_4"/>
            <p:cNvSpPr txBox="1"/>
            <p:nvPr/>
          </p:nvSpPr>
          <p:spPr>
            <a:xfrm>
              <a:off x="524256" y="1612900"/>
              <a:ext cx="65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800" dirty="0">
                <a:solidFill>
                  <a:srgbClr val="BCD0E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0" name="cover-thesis"/>
          <p:cNvGrpSpPr/>
          <p:nvPr/>
        </p:nvGrpSpPr>
        <p:grpSpPr>
          <a:xfrm>
            <a:off x="514350" y="2171700"/>
            <a:ext cx="9092375" cy="1962150"/>
            <a:chOff x="514350" y="2171700"/>
            <a:chExt cx="9092375" cy="1962150"/>
          </a:xfrm>
        </p:grpSpPr>
        <p:sp>
          <p:nvSpPr>
            <p:cNvPr id="9" name="TextBox 9"/>
            <p:cNvSpPr txBox="1"/>
            <p:nvPr/>
          </p:nvSpPr>
          <p:spPr>
            <a:xfrm>
              <a:off x="514350" y="2171700"/>
              <a:ext cx="9092375" cy="1962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7200"/>
                </a:lnSpc>
              </a:pPr>
              <a:r>
                <a:rPr lang="zh-CN" sz="5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编程、计算可以交给 Agent，</a:t>
              </a:r>
              <a:br>
                <a:rPr lang="zh-CN" sz="5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5400" b="1" dirty="0">
                  <a:solidFill>
                    <a:srgbClr val="57C9CB"/>
                  </a:solidFill>
                  <a:latin typeface="+mn-lt"/>
                  <a:ea typeface="+mn-ea"/>
                  <a:cs typeface="+mn-cs"/>
                </a:rPr>
                <a:t>研究判断</a:t>
              </a:r>
              <a:r>
                <a:rPr lang="zh-CN" sz="5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必须由学生作出。</a:t>
              </a:r>
            </a:p>
          </p:txBody>
        </p:sp>
      </p:grpSp>
      <p:grpSp>
        <p:nvGrpSpPr>
          <p:cNvPr id="13" name="formal-case-title"/>
          <p:cNvGrpSpPr/>
          <p:nvPr/>
        </p:nvGrpSpPr>
        <p:grpSpPr>
          <a:xfrm>
            <a:off x="514350" y="4319079"/>
            <a:ext cx="7403866" cy="1124014"/>
            <a:chOff x="514350" y="4319079"/>
            <a:chExt cx="7403866" cy="1124014"/>
          </a:xfrm>
        </p:grpSpPr>
        <p:sp>
          <p:nvSpPr>
            <p:cNvPr id="11" name="TextBox 11"/>
            <p:cNvSpPr txBox="1"/>
            <p:nvPr/>
          </p:nvSpPr>
          <p:spPr>
            <a:xfrm>
              <a:off x="514350" y="4319079"/>
              <a:ext cx="557980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AI 智能体赋能的积极组合管理实验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22732" y="5032375"/>
              <a:ext cx="73954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BCD0E1"/>
                  </a:solidFill>
                  <a:latin typeface="+mn-lt"/>
                  <a:ea typeface="+mn-ea"/>
                  <a:cs typeface="+mn-cs"/>
                </a:rPr>
                <a:t>动量反转与基金评价　｜　学生主导研究，Agent 辅助执行</a:t>
              </a:r>
            </a:p>
          </p:txBody>
        </p:sp>
      </p:grpSp>
      <p:grpSp>
        <p:nvGrpSpPr>
          <p:cNvPr id="16" name="cover-footer"/>
          <p:cNvGrpSpPr/>
          <p:nvPr/>
        </p:nvGrpSpPr>
        <p:grpSpPr>
          <a:xfrm>
            <a:off x="524256" y="6213475"/>
            <a:ext cx="11140440" cy="352044"/>
            <a:chOff x="524256" y="6213475"/>
            <a:chExt cx="11140440" cy="352044"/>
          </a:xfrm>
        </p:grpSpPr>
        <p:sp>
          <p:nvSpPr>
            <p:cNvPr id="14" name="TextBox 14"/>
            <p:cNvSpPr txBox="1"/>
            <p:nvPr/>
          </p:nvSpPr>
          <p:spPr>
            <a:xfrm>
              <a:off x="524256" y="6213475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BCD0E1"/>
                  </a:solidFill>
                  <a:latin typeface="+mn-lt"/>
                  <a:ea typeface="+mn-ea"/>
                  <a:cs typeface="+mn-cs"/>
                </a:rPr>
                <a:t>汇报人：张剑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111332" y="627697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BCD0E1"/>
                  </a:solidFill>
                  <a:latin typeface="+mn-lt"/>
                  <a:ea typeface="+mn-ea"/>
                  <a:cs typeface="+mn-cs"/>
                </a:rPr>
                <a:t>01 / 13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-section"/>
          <p:cNvSpPr txBox="1"/>
          <p:nvPr/>
        </p:nvSpPr>
        <p:spPr>
          <a:xfrm>
            <a:off x="523951" y="450799"/>
            <a:ext cx="3657600" cy="35204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1800" b="1">
                <a:solidFill>
                  <a:srgbClr val="53657B"/>
                </a:solidFill>
                <a:latin typeface="Arial"/>
                <a:ea typeface="Microsoft YaHei"/>
              </a:rPr>
              <a:t>背景　技术变化</a:t>
            </a:r>
          </a:p>
        </p:txBody>
      </p:sp>
      <p:sp>
        <p:nvSpPr>
          <p:cNvPr id="3" name="case-header"/>
          <p:cNvSpPr txBox="1"/>
          <p:nvPr/>
        </p:nvSpPr>
        <p:spPr>
          <a:xfrm>
            <a:off x="7406640" y="466344"/>
            <a:ext cx="4258360" cy="274320"/>
          </a:xfrm>
          <a:prstGeom prst="rect">
            <a:avLst/>
          </a:prstGeom>
          <a:noFill/>
        </p:spPr>
        <p:txBody>
          <a:bodyPr wrap="none" lIns="0" tIns="0" rIns="5080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zh-CN" sz="1200" b="0">
                <a:solidFill>
                  <a:srgbClr val="53657B"/>
                </a:solidFill>
                <a:latin typeface="Arial"/>
                <a:ea typeface="Microsoft YaHei"/>
              </a:rPr>
              <a:t>AI 智能体赋能的积极组合管理实验</a:t>
            </a:r>
          </a:p>
        </p:txBody>
      </p:sp>
      <p:sp>
        <p:nvSpPr>
          <p:cNvPr id="4" name="title-frontier"/>
          <p:cNvSpPr txBox="1"/>
          <p:nvPr/>
        </p:nvSpPr>
        <p:spPr>
          <a:xfrm>
            <a:off x="523951" y="1024128"/>
            <a:ext cx="11137392" cy="56692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600" b="1">
                <a:solidFill>
                  <a:srgbClr val="142B49"/>
                </a:solidFill>
                <a:latin typeface="Arial"/>
                <a:ea typeface="Microsoft YaHei"/>
              </a:rPr>
              <a:t>当 Agent 走向科研前沿，</a:t>
            </a:r>
          </a:p>
        </p:txBody>
      </p:sp>
      <p:sp>
        <p:nvSpPr>
          <p:cNvPr id="5" name="title-teaching"/>
          <p:cNvSpPr txBox="1"/>
          <p:nvPr/>
        </p:nvSpPr>
        <p:spPr>
          <a:xfrm>
            <a:off x="523951" y="1581912"/>
            <a:ext cx="11137392" cy="60350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4000" b="1">
                <a:solidFill>
                  <a:srgbClr val="087F8C"/>
                </a:solidFill>
                <a:latin typeface="Arial"/>
                <a:ea typeface="Microsoft YaHei"/>
              </a:rPr>
              <a:t>实验教学评什么？</a:t>
            </a:r>
          </a:p>
        </p:txBody>
      </p:sp>
      <p:sp>
        <p:nvSpPr>
          <p:cNvPr id="6" name="source-nature"/>
          <p:cNvSpPr txBox="1"/>
          <p:nvPr/>
        </p:nvSpPr>
        <p:spPr>
          <a:xfrm>
            <a:off x="523951" y="2208276"/>
            <a:ext cx="5413248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1300" b="1">
                <a:solidFill>
                  <a:srgbClr val="53657B"/>
                </a:solidFill>
                <a:latin typeface="Arial"/>
                <a:ea typeface="Microsoft YaHei"/>
              </a:rPr>
              <a:t>Nature  ·  2026.09.08</a:t>
            </a:r>
          </a:p>
        </p:txBody>
      </p:sp>
      <p:sp>
        <p:nvSpPr>
          <p:cNvPr id="7" name="source-stdaily"/>
          <p:cNvSpPr txBox="1"/>
          <p:nvPr/>
        </p:nvSpPr>
        <p:spPr>
          <a:xfrm>
            <a:off x="6251752" y="2208276"/>
            <a:ext cx="5413248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1300" b="1" dirty="0">
                <a:solidFill>
                  <a:srgbClr val="53657B"/>
                </a:solidFill>
                <a:latin typeface="Arial"/>
                <a:ea typeface="Microsoft YaHei"/>
              </a:rPr>
              <a:t>  </a:t>
            </a:r>
            <a:r>
              <a:rPr lang="en-US" altLang="zh-CN" sz="1300" b="1" dirty="0">
                <a:solidFill>
                  <a:srgbClr val="53657B"/>
                </a:solidFill>
                <a:latin typeface="Arial"/>
                <a:ea typeface="Microsoft YaHei"/>
              </a:rPr>
              <a:t>Nature</a:t>
            </a:r>
            <a:r>
              <a:rPr lang="zh-CN" sz="1300" b="1" dirty="0">
                <a:solidFill>
                  <a:srgbClr val="53657B"/>
                </a:solidFill>
                <a:latin typeface="Arial"/>
                <a:ea typeface="Microsoft YaHei"/>
              </a:rPr>
              <a:t>·  2026.</a:t>
            </a:r>
            <a:r>
              <a:rPr lang="en-US" altLang="zh-CN" sz="1300" b="1" dirty="0">
                <a:solidFill>
                  <a:srgbClr val="53657B"/>
                </a:solidFill>
                <a:latin typeface="Arial"/>
                <a:ea typeface="Microsoft YaHei"/>
              </a:rPr>
              <a:t>03</a:t>
            </a:r>
            <a:r>
              <a:rPr lang="zh-CN" sz="1300" b="1" dirty="0">
                <a:solidFill>
                  <a:srgbClr val="53657B"/>
                </a:solidFill>
                <a:latin typeface="Arial"/>
                <a:ea typeface="Microsoft YaHei"/>
              </a:rPr>
              <a:t>.</a:t>
            </a:r>
            <a:r>
              <a:rPr lang="en-US" altLang="zh-CN" sz="1300" b="1" dirty="0">
                <a:solidFill>
                  <a:srgbClr val="53657B"/>
                </a:solidFill>
                <a:latin typeface="Arial"/>
                <a:ea typeface="Microsoft YaHei"/>
              </a:rPr>
              <a:t>25</a:t>
            </a:r>
            <a:endParaRPr lang="zh-CN" sz="1300" b="1" dirty="0">
              <a:solidFill>
                <a:srgbClr val="53657B"/>
              </a:solidFill>
              <a:latin typeface="Arial"/>
              <a:ea typeface="Microsoft YaHei"/>
            </a:endParaRPr>
          </a:p>
        </p:txBody>
      </p:sp>
      <p:sp>
        <p:nvSpPr>
          <p:cNvPr id="8" name="nature-frame"/>
          <p:cNvSpPr/>
          <p:nvPr/>
        </p:nvSpPr>
        <p:spPr>
          <a:xfrm>
            <a:off x="523951" y="2496312"/>
            <a:ext cx="5413248" cy="2743200"/>
          </a:xfrm>
          <a:prstGeom prst="rect">
            <a:avLst/>
          </a:prstGeom>
          <a:solidFill>
            <a:srgbClr val="FFFFFF"/>
          </a:solidFill>
          <a:ln w="8890">
            <a:solidFill>
              <a:srgbClr val="CC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nature-original-news-screenshot" descr="Nature，2026年9月8日，OpenAI claims huge maths breakthrough on a famed Millennium Problem。原网页标题截图，保留claims措辞。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671" y="2535921"/>
            <a:ext cx="5321808" cy="2663980"/>
          </a:xfrm>
          <a:prstGeom prst="rect">
            <a:avLst/>
          </a:prstGeom>
        </p:spPr>
      </p:pic>
      <p:sp>
        <p:nvSpPr>
          <p:cNvPr id="12" name="execution-context"/>
          <p:cNvSpPr txBox="1"/>
          <p:nvPr/>
        </p:nvSpPr>
        <p:spPr>
          <a:xfrm>
            <a:off x="523951" y="5394960"/>
            <a:ext cx="11137392" cy="3657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2100" b="0">
                <a:solidFill>
                  <a:srgbClr val="53657B"/>
                </a:solidFill>
                <a:latin typeface="Arial"/>
                <a:ea typeface="Microsoft YaHei"/>
              </a:rPr>
              <a:t>取数、编程、计算与报告整理，正变得越来越容易。</a:t>
            </a:r>
          </a:p>
        </p:txBody>
      </p:sp>
      <p:sp>
        <p:nvSpPr>
          <p:cNvPr id="13" name="teaching-takeaway-band"/>
          <p:cNvSpPr/>
          <p:nvPr/>
        </p:nvSpPr>
        <p:spPr>
          <a:xfrm>
            <a:off x="523951" y="5843016"/>
            <a:ext cx="11141049" cy="466344"/>
          </a:xfrm>
          <a:prstGeom prst="rect">
            <a:avLst/>
          </a:prstGeom>
          <a:solidFill>
            <a:srgbClr val="142B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aching-takeaway"/>
          <p:cNvSpPr txBox="1"/>
          <p:nvPr/>
        </p:nvSpPr>
        <p:spPr>
          <a:xfrm>
            <a:off x="749808" y="5875020"/>
            <a:ext cx="10698480" cy="356616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2300" b="1">
                <a:solidFill>
                  <a:srgbClr val="FFFFFF"/>
                </a:solidFill>
                <a:latin typeface="Arial"/>
                <a:ea typeface="Microsoft YaHei"/>
              </a:rPr>
              <a:t>实验教学的重点，转向提出问题、核验结果、解释边界。</a:t>
            </a:r>
          </a:p>
        </p:txBody>
      </p:sp>
      <p:sp>
        <p:nvSpPr>
          <p:cNvPr id="15" name="page-number"/>
          <p:cNvSpPr txBox="1"/>
          <p:nvPr/>
        </p:nvSpPr>
        <p:spPr>
          <a:xfrm>
            <a:off x="11111788" y="6362395"/>
            <a:ext cx="553212" cy="235000"/>
          </a:xfrm>
          <a:prstGeom prst="rect">
            <a:avLst/>
          </a:prstGeom>
          <a:noFill/>
        </p:spPr>
        <p:txBody>
          <a:bodyPr wrap="none" lIns="0" tIns="0" rIns="5080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zh-CN" sz="1200" b="0">
                <a:solidFill>
                  <a:srgbClr val="53657B"/>
                </a:solidFill>
                <a:latin typeface="Arial"/>
                <a:ea typeface="Microsoft YaHei"/>
              </a:rPr>
              <a:t>02 / 13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8E937729-ECAD-9134-6803-09A9951BB2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6623" y="2436876"/>
            <a:ext cx="5535706" cy="310865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header"/>
          <p:cNvGrpSpPr/>
          <p:nvPr/>
        </p:nvGrpSpPr>
        <p:grpSpPr>
          <a:xfrm>
            <a:off x="524256" y="450850"/>
            <a:ext cx="11140440" cy="352044"/>
            <a:chOff x="524256" y="450850"/>
            <a:chExt cx="11140440" cy="352044"/>
          </a:xfrm>
        </p:grpSpPr>
        <p:sp>
          <p:nvSpPr>
            <p:cNvPr id="2" name="_edit_0"/>
            <p:cNvSpPr txBox="1"/>
            <p:nvPr/>
          </p:nvSpPr>
          <p:spPr>
            <a:xfrm>
              <a:off x="524256" y="450850"/>
              <a:ext cx="15097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　教学问题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9194597" y="514350"/>
              <a:ext cx="24700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AI 智能体赋能的积极组合管理实验</a:t>
              </a:r>
            </a:p>
          </p:txBody>
        </p:sp>
      </p:grpSp>
      <p:grpSp>
        <p:nvGrpSpPr>
          <p:cNvPr id="6" name="question-title"/>
          <p:cNvGrpSpPr/>
          <p:nvPr/>
        </p:nvGrpSpPr>
        <p:grpSpPr>
          <a:xfrm>
            <a:off x="514350" y="1466850"/>
            <a:ext cx="8267700" cy="1962150"/>
            <a:chOff x="514350" y="1466850"/>
            <a:chExt cx="8267700" cy="1962150"/>
          </a:xfrm>
        </p:grpSpPr>
        <p:sp>
          <p:nvSpPr>
            <p:cNvPr id="5" name="TextBox 5"/>
            <p:cNvSpPr txBox="1"/>
            <p:nvPr/>
          </p:nvSpPr>
          <p:spPr>
            <a:xfrm>
              <a:off x="514350" y="1466850"/>
              <a:ext cx="8267700" cy="1962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7200"/>
                </a:lnSpc>
              </a:pPr>
              <a:r>
                <a:rPr lang="zh-CN" sz="5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一份完整报告，</a:t>
              </a:r>
              <a:br>
                <a:rPr lang="zh-CN" sz="5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5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能证明学生</a:t>
              </a:r>
              <a:r>
                <a:rPr lang="zh-CN" sz="5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真正理解</a:t>
              </a:r>
              <a:r>
                <a:rPr lang="zh-CN" sz="5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了吗？</a:t>
              </a:r>
            </a:p>
          </p:txBody>
        </p:sp>
      </p:grpSp>
      <p:grpSp>
        <p:nvGrpSpPr>
          <p:cNvPr id="8" name="question-context"/>
          <p:cNvGrpSpPr/>
          <p:nvPr/>
        </p:nvGrpSpPr>
        <p:grpSpPr>
          <a:xfrm>
            <a:off x="524256" y="3641725"/>
            <a:ext cx="7287768" cy="352044"/>
            <a:chOff x="524256" y="3641725"/>
            <a:chExt cx="7287768" cy="352044"/>
          </a:xfrm>
        </p:grpSpPr>
        <p:sp>
          <p:nvSpPr>
            <p:cNvPr id="7" name="TextBox 7"/>
            <p:cNvSpPr txBox="1"/>
            <p:nvPr/>
          </p:nvSpPr>
          <p:spPr>
            <a:xfrm>
              <a:off x="524256" y="3641725"/>
              <a:ext cx="72877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完整产物，不能单独证明对研究问题、方法假设和结果边界的理解。</a:t>
              </a:r>
            </a:p>
          </p:txBody>
        </p:sp>
      </p:grpSp>
      <p:grpSp>
        <p:nvGrpSpPr>
          <p:cNvPr id="13" name="report-output"/>
          <p:cNvGrpSpPr/>
          <p:nvPr/>
        </p:nvGrpSpPr>
        <p:grpSpPr>
          <a:xfrm>
            <a:off x="533400" y="4133850"/>
            <a:ext cx="2133600" cy="1733550"/>
            <a:chOff x="533400" y="4133850"/>
            <a:chExt cx="2133600" cy="1733550"/>
          </a:xfrm>
        </p:grpSpPr>
        <p:sp>
          <p:nvSpPr>
            <p:cNvPr id="9" name="Freeform 9"/>
            <p:cNvSpPr/>
            <p:nvPr/>
          </p:nvSpPr>
          <p:spPr>
            <a:xfrm>
              <a:off x="533400" y="4133850"/>
              <a:ext cx="2133600" cy="1733550"/>
            </a:xfrm>
            <a:prstGeom prst="foldedCorner">
              <a:avLst/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2856" y="4337050"/>
              <a:ext cx="12503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Agent 辅助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9808" y="469900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完整报告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2856" y="5099050"/>
              <a:ext cx="165277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取数 · 编程</a:t>
              </a:r>
              <a:b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计算 · 报告整理</a:t>
              </a:r>
            </a:p>
          </p:txBody>
        </p:sp>
      </p:grpSp>
      <p:grpSp>
        <p:nvGrpSpPr>
          <p:cNvPr id="23" name="student-judgments"/>
          <p:cNvGrpSpPr/>
          <p:nvPr/>
        </p:nvGrpSpPr>
        <p:grpSpPr>
          <a:xfrm>
            <a:off x="3148584" y="4298950"/>
            <a:ext cx="8094726" cy="1380744"/>
            <a:chOff x="3148584" y="4298950"/>
            <a:chExt cx="8094726" cy="1380744"/>
          </a:xfrm>
        </p:grpSpPr>
        <p:sp>
          <p:nvSpPr>
            <p:cNvPr id="14" name="TextBox 14"/>
            <p:cNvSpPr txBox="1"/>
            <p:nvPr/>
          </p:nvSpPr>
          <p:spPr>
            <a:xfrm>
              <a:off x="3153156" y="429895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学生必须作出判断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3148584" y="4756150"/>
              <a:ext cx="8094726" cy="528066"/>
              <a:chOff x="3148584" y="4756150"/>
              <a:chExt cx="8094726" cy="528066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3148584" y="4756150"/>
                <a:ext cx="1844802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为什么选？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158484" y="4756150"/>
                <a:ext cx="1844802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凭什么信？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035034" y="4756150"/>
                <a:ext cx="2208276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能说明什么？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3153156" y="5327650"/>
              <a:ext cx="7116318" cy="352044"/>
              <a:chOff x="3153156" y="5327650"/>
              <a:chExt cx="7116318" cy="352044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3153156" y="532765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方法与假设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163056" y="532765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依据与核验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039606" y="5327650"/>
                <a:ext cx="122986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解释与边界</a:t>
                </a:r>
              </a:p>
            </p:txBody>
          </p:sp>
        </p:grpSp>
      </p:grpSp>
      <p:sp>
        <p:nvSpPr>
          <p:cNvPr id="24" name="TextBox 24"/>
          <p:cNvSpPr txBox="1"/>
          <p:nvPr/>
        </p:nvSpPr>
        <p:spPr>
          <a:xfrm>
            <a:off x="11111332" y="636270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03 / 13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header"/>
          <p:cNvGrpSpPr/>
          <p:nvPr/>
        </p:nvGrpSpPr>
        <p:grpSpPr>
          <a:xfrm>
            <a:off x="524256" y="450850"/>
            <a:ext cx="11140440" cy="298196"/>
            <a:chOff x="524256" y="450850"/>
            <a:chExt cx="11140440" cy="298196"/>
          </a:xfrm>
        </p:grpSpPr>
        <p:sp>
          <p:nvSpPr>
            <p:cNvPr id="2" name="TextBox 2"/>
            <p:cNvSpPr txBox="1"/>
            <p:nvPr/>
          </p:nvSpPr>
          <p:spPr>
            <a:xfrm>
              <a:off x="524256" y="450850"/>
              <a:ext cx="1410643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　研究任务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9875520" y="51435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学生的研究空间在哪里？</a:t>
              </a:r>
            </a:p>
          </p:txBody>
        </p:sp>
      </p:grpSp>
      <p:grpSp>
        <p:nvGrpSpPr>
          <p:cNvPr id="6" name="page-title"/>
          <p:cNvGrpSpPr/>
          <p:nvPr/>
        </p:nvGrpSpPr>
        <p:grpSpPr>
          <a:xfrm>
            <a:off x="515112" y="1117600"/>
            <a:ext cx="8771632" cy="553998"/>
            <a:chOff x="515112" y="1117600"/>
            <a:chExt cx="8771632" cy="553998"/>
          </a:xfrm>
        </p:grpSpPr>
        <p:sp>
          <p:nvSpPr>
            <p:cNvPr id="5" name="TextBox 5"/>
            <p:cNvSpPr txBox="1"/>
            <p:nvPr/>
          </p:nvSpPr>
          <p:spPr>
            <a:xfrm>
              <a:off x="515112" y="1117600"/>
              <a:ext cx="8771632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两个</a:t>
              </a:r>
              <a:r>
                <a:rPr lang="zh-CN" altLang="en-US" sz="3600" b="1" dirty="0">
                  <a:solidFill>
                    <a:schemeClr val="accent1"/>
                  </a:solidFill>
                </a:rPr>
                <a:t>经典的金融任务</a:t>
              </a:r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，训练共同的研究能力</a:t>
              </a:r>
            </a:p>
          </p:txBody>
        </p:sp>
      </p:grpSp>
      <p:grpSp>
        <p:nvGrpSpPr>
          <p:cNvPr id="12" name="momentum-experiment"/>
          <p:cNvGrpSpPr/>
          <p:nvPr/>
        </p:nvGrpSpPr>
        <p:grpSpPr>
          <a:xfrm>
            <a:off x="519684" y="2133600"/>
            <a:ext cx="4226052" cy="2385568"/>
            <a:chOff x="519684" y="2133600"/>
            <a:chExt cx="4226052" cy="2385568"/>
          </a:xfrm>
        </p:grpSpPr>
        <p:sp>
          <p:nvSpPr>
            <p:cNvPr id="7" name="Rectangle 7"/>
            <p:cNvSpPr/>
            <p:nvPr/>
          </p:nvSpPr>
          <p:spPr>
            <a:xfrm>
              <a:off x="533400" y="2133600"/>
              <a:ext cx="685800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24256" y="235585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实验一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19684" y="2774950"/>
              <a:ext cx="257175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股票动量与反转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1208" y="3460750"/>
              <a:ext cx="422452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历史收益能否预测后续表现？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22732" y="4108450"/>
              <a:ext cx="399259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481 只固定股票</a:t>
              </a:r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，自拟研究方法</a:t>
              </a:r>
            </a:p>
          </p:txBody>
        </p:sp>
      </p:grpSp>
      <p:grpSp>
        <p:nvGrpSpPr>
          <p:cNvPr id="19" name="fund-experiment"/>
          <p:cNvGrpSpPr/>
          <p:nvPr/>
        </p:nvGrpSpPr>
        <p:grpSpPr>
          <a:xfrm>
            <a:off x="6234684" y="2133600"/>
            <a:ext cx="4549140" cy="2726944"/>
            <a:chOff x="6234684" y="2133600"/>
            <a:chExt cx="4549140" cy="2726944"/>
          </a:xfrm>
        </p:grpSpPr>
        <p:sp>
          <p:nvSpPr>
            <p:cNvPr id="13" name="Rectangle 13"/>
            <p:cNvSpPr/>
            <p:nvPr/>
          </p:nvSpPr>
          <p:spPr>
            <a:xfrm>
              <a:off x="6248400" y="2133600"/>
              <a:ext cx="685800" cy="476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39256" y="235585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实验二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234684" y="2774950"/>
              <a:ext cx="220827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主动基金评价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36208" y="3460750"/>
              <a:ext cx="454761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收益领先，能说明管理能力吗？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237732" y="4032250"/>
              <a:ext cx="373886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9 只候选 → 至少 3 只可比基金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239256" y="4508500"/>
              <a:ext cx="35803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综合 12 项指标，解释分歧与边界</a:t>
              </a:r>
            </a:p>
          </p:txBody>
        </p:sp>
      </p:grpSp>
      <p:grpSp>
        <p:nvGrpSpPr>
          <p:cNvPr id="23" name="shared-capabilities"/>
          <p:cNvGrpSpPr/>
          <p:nvPr/>
        </p:nvGrpSpPr>
        <p:grpSpPr>
          <a:xfrm>
            <a:off x="533400" y="5200650"/>
            <a:ext cx="11125200" cy="920242"/>
            <a:chOff x="533400" y="5200650"/>
            <a:chExt cx="11125200" cy="920242"/>
          </a:xfrm>
        </p:grpSpPr>
        <p:sp>
          <p:nvSpPr>
            <p:cNvPr id="20" name="Rectangle 20"/>
            <p:cNvSpPr/>
            <p:nvPr/>
          </p:nvSpPr>
          <p:spPr>
            <a:xfrm>
              <a:off x="533400" y="5200650"/>
              <a:ext cx="11125200" cy="914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0956" y="5327650"/>
              <a:ext cx="1384995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800" dirty="0">
                  <a:solidFill>
                    <a:srgbClr val="BCD0E1"/>
                  </a:solidFill>
                  <a:latin typeface="+mn-lt"/>
                  <a:ea typeface="+mn-ea"/>
                  <a:cs typeface="+mn-cs"/>
                </a:rPr>
                <a:t>核心能力目标</a:t>
              </a:r>
              <a:endParaRPr lang="zh-CN" sz="1800" dirty="0">
                <a:solidFill>
                  <a:srgbClr val="BCD0E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7908" y="5651500"/>
              <a:ext cx="718239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人机协作研究　·　审查复核　·　证据分析与解释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1111332" y="636270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04 / 13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header"/>
          <p:cNvGrpSpPr/>
          <p:nvPr/>
        </p:nvGrpSpPr>
        <p:grpSpPr>
          <a:xfrm>
            <a:off x="524256" y="450850"/>
            <a:ext cx="11140440" cy="352044"/>
            <a:chOff x="524256" y="450850"/>
            <a:chExt cx="11140440" cy="352044"/>
          </a:xfrm>
        </p:grpSpPr>
        <p:sp>
          <p:nvSpPr>
            <p:cNvPr id="2" name="TextBox 2"/>
            <p:cNvSpPr txBox="1"/>
            <p:nvPr/>
          </p:nvSpPr>
          <p:spPr>
            <a:xfrm>
              <a:off x="524256" y="450850"/>
              <a:ext cx="14964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　研究任务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9875520" y="51435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学生的研究空间在哪里？</a:t>
              </a:r>
            </a:p>
          </p:txBody>
        </p:sp>
      </p:grpSp>
      <p:grpSp>
        <p:nvGrpSpPr>
          <p:cNvPr id="6" name="page-title"/>
          <p:cNvGrpSpPr/>
          <p:nvPr/>
        </p:nvGrpSpPr>
        <p:grpSpPr>
          <a:xfrm>
            <a:off x="515112" y="1117600"/>
            <a:ext cx="8275320" cy="704088"/>
            <a:chOff x="515112" y="1117600"/>
            <a:chExt cx="8275320" cy="704088"/>
          </a:xfrm>
        </p:grpSpPr>
        <p:sp>
          <p:nvSpPr>
            <p:cNvPr id="5" name="TextBox 5"/>
            <p:cNvSpPr txBox="1"/>
            <p:nvPr/>
          </p:nvSpPr>
          <p:spPr>
            <a:xfrm>
              <a:off x="515112" y="1117600"/>
              <a:ext cx="827532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从基础研究出发，学生自主提出新问题</a:t>
              </a:r>
            </a:p>
          </p:txBody>
        </p:sp>
      </p:grpSp>
      <p:grpSp>
        <p:nvGrpSpPr>
          <p:cNvPr id="11" name="basic-research"/>
          <p:cNvGrpSpPr/>
          <p:nvPr/>
        </p:nvGrpSpPr>
        <p:grpSpPr>
          <a:xfrm>
            <a:off x="533400" y="2305050"/>
            <a:ext cx="3810000" cy="2609850"/>
            <a:chOff x="533400" y="2305050"/>
            <a:chExt cx="3810000" cy="2609850"/>
          </a:xfrm>
        </p:grpSpPr>
        <p:sp>
          <p:nvSpPr>
            <p:cNvPr id="7" name="Rectangle 7"/>
            <p:cNvSpPr/>
            <p:nvPr/>
          </p:nvSpPr>
          <p:spPr>
            <a:xfrm>
              <a:off x="533400" y="2305050"/>
              <a:ext cx="3810000" cy="2609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19912" y="2508250"/>
              <a:ext cx="146285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任务 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24484" y="3194050"/>
              <a:ext cx="220827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完成基础研究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7532" y="3784600"/>
              <a:ext cx="1888236" cy="8488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450"/>
                </a:lnSpc>
              </a:pPr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动量与反转检验</a:t>
              </a:r>
              <a:b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或基金绩效评价</a:t>
              </a:r>
            </a:p>
          </p:txBody>
        </p:sp>
      </p:grpSp>
      <p:grpSp>
        <p:nvGrpSpPr>
          <p:cNvPr id="15" name="student-question-bridge"/>
          <p:cNvGrpSpPr/>
          <p:nvPr/>
        </p:nvGrpSpPr>
        <p:grpSpPr>
          <a:xfrm>
            <a:off x="4591050" y="2533650"/>
            <a:ext cx="1847850" cy="2271268"/>
            <a:chOff x="4591050" y="2533650"/>
            <a:chExt cx="1847850" cy="2271268"/>
          </a:xfrm>
        </p:grpSpPr>
        <p:sp>
          <p:nvSpPr>
            <p:cNvPr id="12" name="TextBox 12"/>
            <p:cNvSpPr txBox="1"/>
            <p:nvPr/>
          </p:nvSpPr>
          <p:spPr>
            <a:xfrm>
              <a:off x="5237607" y="2533650"/>
              <a:ext cx="554736" cy="12108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3150"/>
                </a:lnSpc>
              </a:pPr>
              <a:r>
                <a:rPr lang="zh-C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发现</a:t>
              </a:r>
              <a:br>
                <a:rPr lang="zh-C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疑问</a:t>
              </a:r>
              <a:br>
                <a:rPr lang="zh-C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局限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4591050" y="3848100"/>
              <a:ext cx="1847850" cy="381000"/>
            </a:xfrm>
            <a:prstGeom prst="rightArrow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_edit_14"/>
            <p:cNvSpPr txBox="1"/>
            <p:nvPr/>
          </p:nvSpPr>
          <p:spPr>
            <a:xfrm>
              <a:off x="4656201" y="4394200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学生主动提出</a:t>
              </a:r>
            </a:p>
          </p:txBody>
        </p:sp>
      </p:grpSp>
      <p:grpSp>
        <p:nvGrpSpPr>
          <p:cNvPr id="21" name="extension-research"/>
          <p:cNvGrpSpPr/>
          <p:nvPr/>
        </p:nvGrpSpPr>
        <p:grpSpPr>
          <a:xfrm>
            <a:off x="6819900" y="2305050"/>
            <a:ext cx="4838700" cy="2609850"/>
            <a:chOff x="6819900" y="2305050"/>
            <a:chExt cx="4838700" cy="2609850"/>
          </a:xfrm>
        </p:grpSpPr>
        <p:sp>
          <p:nvSpPr>
            <p:cNvPr id="16" name="Freeform 16"/>
            <p:cNvSpPr/>
            <p:nvPr/>
          </p:nvSpPr>
          <p:spPr>
            <a:xfrm>
              <a:off x="6819900" y="2305050"/>
              <a:ext cx="4838700" cy="2609850"/>
            </a:xfrm>
            <a:prstGeom prst="snip1Rect">
              <a:avLst>
                <a:gd name="adj" fmla="val 8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7106412" y="2508250"/>
              <a:ext cx="3496056" cy="2125218"/>
              <a:chOff x="7106412" y="2508250"/>
              <a:chExt cx="3496056" cy="2125218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7106412" y="2508250"/>
                <a:ext cx="1462857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6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任务 B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110984" y="3194050"/>
                <a:ext cx="3298698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学生自主提出新问题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114032" y="3784600"/>
                <a:ext cx="3488436" cy="8488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3450"/>
                  </a:lnSpc>
                </a:pPr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明确比较条件，实际开展对照</a:t>
                </a:r>
                <a:b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21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复核扩展结果，更新认识</a:t>
                </a:r>
              </a:p>
            </p:txBody>
          </p:sp>
        </p:grpSp>
      </p:grpSp>
      <p:grpSp>
        <p:nvGrpSpPr>
          <p:cNvPr id="24" name="extension-requirement"/>
          <p:cNvGrpSpPr/>
          <p:nvPr/>
        </p:nvGrpSpPr>
        <p:grpSpPr>
          <a:xfrm>
            <a:off x="521208" y="5270500"/>
            <a:ext cx="8747760" cy="885444"/>
            <a:chOff x="521208" y="5270500"/>
            <a:chExt cx="8747760" cy="885444"/>
          </a:xfrm>
        </p:grpSpPr>
        <p:sp>
          <p:nvSpPr>
            <p:cNvPr id="22" name="TextBox 22"/>
            <p:cNvSpPr txBox="1"/>
            <p:nvPr/>
          </p:nvSpPr>
          <p:spPr>
            <a:xfrm>
              <a:off x="521208" y="5270500"/>
              <a:ext cx="87477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至少一次有针对性的对照比较，支持、削弱或保留原有判断。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4256" y="5803900"/>
              <a:ext cx="65882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任务 A、任务 B 各走完四步；不预设哪种结果才是正确答案。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1111332" y="636270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05 / 13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header"/>
          <p:cNvGrpSpPr/>
          <p:nvPr/>
        </p:nvGrpSpPr>
        <p:grpSpPr>
          <a:xfrm>
            <a:off x="524256" y="450850"/>
            <a:ext cx="11140440" cy="298196"/>
            <a:chOff x="524256" y="450850"/>
            <a:chExt cx="11140440" cy="298196"/>
          </a:xfrm>
        </p:grpSpPr>
        <p:sp>
          <p:nvSpPr>
            <p:cNvPr id="2" name="TextBox 2"/>
            <p:cNvSpPr txBox="1"/>
            <p:nvPr/>
          </p:nvSpPr>
          <p:spPr>
            <a:xfrm>
              <a:off x="524256" y="450850"/>
              <a:ext cx="1410643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　协作流程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9713976" y="51435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怎样让学生实际参与判断？</a:t>
              </a:r>
            </a:p>
          </p:txBody>
        </p:sp>
      </p:grpSp>
      <p:grpSp>
        <p:nvGrpSpPr>
          <p:cNvPr id="7" name="page-title"/>
          <p:cNvGrpSpPr/>
          <p:nvPr/>
        </p:nvGrpSpPr>
        <p:grpSpPr>
          <a:xfrm>
            <a:off x="515112" y="1117600"/>
            <a:ext cx="6821424" cy="942594"/>
            <a:chOff x="515112" y="1117600"/>
            <a:chExt cx="6821424" cy="942594"/>
          </a:xfrm>
        </p:grpSpPr>
        <p:sp>
          <p:nvSpPr>
            <p:cNvPr id="5" name="TextBox 5"/>
            <p:cNvSpPr txBox="1"/>
            <p:nvPr/>
          </p:nvSpPr>
          <p:spPr>
            <a:xfrm>
              <a:off x="515112" y="1117600"/>
              <a:ext cx="682142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四步流程，每一步都有学生判断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4256" y="1708150"/>
              <a:ext cx="658130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关键选择由学生完成；已确认范围内，Agent 连续辅助执行。</a:t>
              </a:r>
            </a:p>
          </p:txBody>
        </p:sp>
      </p:grpSp>
      <p:grpSp>
        <p:nvGrpSpPr>
          <p:cNvPr id="36" name="four-step-research"/>
          <p:cNvGrpSpPr/>
          <p:nvPr/>
        </p:nvGrpSpPr>
        <p:grpSpPr>
          <a:xfrm>
            <a:off x="533400" y="2228850"/>
            <a:ext cx="11125200" cy="2876550"/>
            <a:chOff x="533400" y="2228850"/>
            <a:chExt cx="11125200" cy="2876550"/>
          </a:xfrm>
        </p:grpSpPr>
        <p:grpSp>
          <p:nvGrpSpPr>
            <p:cNvPr id="11" name="Group 11"/>
            <p:cNvGrpSpPr/>
            <p:nvPr/>
          </p:nvGrpSpPr>
          <p:grpSpPr>
            <a:xfrm>
              <a:off x="3009900" y="2819400"/>
              <a:ext cx="6038850" cy="1"/>
              <a:chOff x="3009900" y="2819400"/>
              <a:chExt cx="6038850" cy="1"/>
            </a:xfrm>
          </p:grpSpPr>
          <p:sp>
            <p:nvSpPr>
              <p:cNvPr id="8" name="Line 8"/>
              <p:cNvSpPr/>
              <p:nvPr/>
            </p:nvSpPr>
            <p:spPr>
              <a:xfrm>
                <a:off x="3009900" y="2819400"/>
                <a:ext cx="323850" cy="1"/>
              </a:xfrm>
              <a:prstGeom prst="line">
                <a:avLst/>
              </a:prstGeom>
              <a:noFill/>
              <a:ln w="19050">
                <a:solidFill>
                  <a:srgbClr val="53657B"/>
                </a:solidFill>
                <a:tailEnd type="arrow" w="lg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" name="Line 9"/>
              <p:cNvSpPr/>
              <p:nvPr/>
            </p:nvSpPr>
            <p:spPr>
              <a:xfrm>
                <a:off x="5867400" y="2819400"/>
                <a:ext cx="323850" cy="1"/>
              </a:xfrm>
              <a:prstGeom prst="line">
                <a:avLst/>
              </a:prstGeom>
              <a:noFill/>
              <a:ln w="19050">
                <a:solidFill>
                  <a:srgbClr val="53657B"/>
                </a:solidFill>
                <a:tailEnd type="arrow" w="lg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" name="Line 10"/>
              <p:cNvSpPr/>
              <p:nvPr/>
            </p:nvSpPr>
            <p:spPr>
              <a:xfrm>
                <a:off x="8724900" y="2819400"/>
                <a:ext cx="323850" cy="1"/>
              </a:xfrm>
              <a:prstGeom prst="line">
                <a:avLst/>
              </a:prstGeom>
              <a:noFill/>
              <a:ln w="19050">
                <a:solidFill>
                  <a:srgbClr val="53657B"/>
                </a:solidFill>
                <a:tailEnd type="arrow" w="lg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7" name="step-plan"/>
            <p:cNvGrpSpPr/>
            <p:nvPr/>
          </p:nvGrpSpPr>
          <p:grpSpPr>
            <a:xfrm>
              <a:off x="533400" y="2228850"/>
              <a:ext cx="2476500" cy="2876550"/>
              <a:chOff x="533400" y="2228850"/>
              <a:chExt cx="2476500" cy="287655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533400" y="2228850"/>
                <a:ext cx="2476500" cy="287655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52856" y="2419350"/>
                <a:ext cx="28483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51332" y="2851150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方案确认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49808" y="3333750"/>
                <a:ext cx="1548384" cy="9265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3600"/>
                  </a:lnSpc>
                </a:pPr>
                <a:r>
                  <a:rPr lang="zh-CN" sz="24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为什么选</a:t>
                </a:r>
                <a:br>
                  <a:rPr lang="zh-CN" sz="24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24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这个方法？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52856" y="4451350"/>
                <a:ext cx="214609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Agent：比较与整理</a:t>
                </a:r>
              </a:p>
            </p:txBody>
          </p:sp>
        </p:grpSp>
        <p:grpSp>
          <p:nvGrpSpPr>
            <p:cNvPr id="23" name="step-execute"/>
            <p:cNvGrpSpPr/>
            <p:nvPr/>
          </p:nvGrpSpPr>
          <p:grpSpPr>
            <a:xfrm>
              <a:off x="3390900" y="2228850"/>
              <a:ext cx="2476500" cy="2876550"/>
              <a:chOff x="3390900" y="2228850"/>
              <a:chExt cx="2476500" cy="28765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3390900" y="2228850"/>
                <a:ext cx="2476500" cy="287655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610356" y="2419350"/>
                <a:ext cx="28483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608832" y="2851150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方案推进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607308" y="3333750"/>
                <a:ext cx="2157984" cy="9265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3600"/>
                  </a:lnSpc>
                </a:pPr>
                <a:r>
                  <a:rPr lang="zh-CN" sz="24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看到输出，</a:t>
                </a:r>
                <a:br>
                  <a:rPr lang="zh-CN" sz="24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24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下一步怎么做？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610356" y="4451350"/>
                <a:ext cx="214609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Agent：取数与计算</a:t>
                </a:r>
              </a:p>
            </p:txBody>
          </p:sp>
        </p:grpSp>
        <p:grpSp>
          <p:nvGrpSpPr>
            <p:cNvPr id="29" name="step-verify"/>
            <p:cNvGrpSpPr/>
            <p:nvPr/>
          </p:nvGrpSpPr>
          <p:grpSpPr>
            <a:xfrm>
              <a:off x="6248400" y="2228850"/>
              <a:ext cx="2476500" cy="2876550"/>
              <a:chOff x="6248400" y="2228850"/>
              <a:chExt cx="2476500" cy="28765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6248400" y="2228850"/>
                <a:ext cx="2476500" cy="2876550"/>
              </a:xfrm>
              <a:prstGeom prst="rect">
                <a:avLst/>
              </a:prstGeom>
              <a:solidFill>
                <a:srgbClr val="DDF0F0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467856" y="2419350"/>
                <a:ext cx="28483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466332" y="2851150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结果复核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464808" y="3333750"/>
                <a:ext cx="1548384" cy="9265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3600"/>
                  </a:lnSpc>
                </a:pPr>
                <a:r>
                  <a:rPr lang="zh-CN" sz="24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凭什么</a:t>
                </a:r>
                <a:br>
                  <a:rPr lang="zh-CN" sz="24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24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采信结果？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467856" y="4451350"/>
                <a:ext cx="190378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Agent：另路复算</a:t>
                </a:r>
              </a:p>
            </p:txBody>
          </p:sp>
        </p:grpSp>
        <p:grpSp>
          <p:nvGrpSpPr>
            <p:cNvPr id="35" name="step-report"/>
            <p:cNvGrpSpPr/>
            <p:nvPr/>
          </p:nvGrpSpPr>
          <p:grpSpPr>
            <a:xfrm>
              <a:off x="9105900" y="2228850"/>
              <a:ext cx="2552700" cy="2876550"/>
              <a:chOff x="9105900" y="2228850"/>
              <a:chExt cx="2552700" cy="287655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9105900" y="2228850"/>
                <a:ext cx="2552700" cy="287655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9325356" y="2419350"/>
                <a:ext cx="28483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04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9323832" y="2851150"/>
                <a:ext cx="115214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报告完成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9322308" y="3333750"/>
                <a:ext cx="1243584" cy="9265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3600"/>
                  </a:lnSpc>
                </a:pPr>
                <a:r>
                  <a:rPr lang="zh-CN" sz="24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证据支持</a:t>
                </a:r>
                <a:br>
                  <a:rPr lang="zh-CN" sz="24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zh-CN" sz="24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到哪里？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325356" y="4451350"/>
                <a:ext cx="219913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先表达结论，再整理</a:t>
                </a:r>
              </a:p>
            </p:txBody>
          </p:sp>
        </p:grpSp>
      </p:grpSp>
      <p:grpSp>
        <p:nvGrpSpPr>
          <p:cNvPr id="39" name="revision-paths"/>
          <p:cNvGrpSpPr/>
          <p:nvPr/>
        </p:nvGrpSpPr>
        <p:grpSpPr>
          <a:xfrm>
            <a:off x="533400" y="5314950"/>
            <a:ext cx="11125200" cy="742950"/>
            <a:chOff x="533400" y="5314950"/>
            <a:chExt cx="11125200" cy="742950"/>
          </a:xfrm>
        </p:grpSpPr>
        <p:sp>
          <p:nvSpPr>
            <p:cNvPr id="37" name="Rectangle 37"/>
            <p:cNvSpPr/>
            <p:nvPr/>
          </p:nvSpPr>
          <p:spPr>
            <a:xfrm>
              <a:off x="533400" y="5314950"/>
              <a:ext cx="11125200" cy="742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89432" y="5527675"/>
              <a:ext cx="737158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方案调整后重新确认；数据或计算修正后重新推进并复核。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1111332" y="636270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06 / 13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header"/>
          <p:cNvGrpSpPr/>
          <p:nvPr/>
        </p:nvGrpSpPr>
        <p:grpSpPr>
          <a:xfrm>
            <a:off x="524256" y="450850"/>
            <a:ext cx="11140440" cy="298196"/>
            <a:chOff x="524256" y="450850"/>
            <a:chExt cx="11140440" cy="298196"/>
          </a:xfrm>
        </p:grpSpPr>
        <p:sp>
          <p:nvSpPr>
            <p:cNvPr id="2" name="TextBox 2"/>
            <p:cNvSpPr txBox="1"/>
            <p:nvPr/>
          </p:nvSpPr>
          <p:spPr>
            <a:xfrm>
              <a:off x="524256" y="450850"/>
              <a:ext cx="1410643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BCD0E1"/>
                  </a:solidFill>
                  <a:latin typeface="+mn-lt"/>
                  <a:ea typeface="+mn-ea"/>
                  <a:cs typeface="+mn-cs"/>
                </a:rPr>
                <a:t>04　主动互动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9713976" y="51435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BCD0E1"/>
                  </a:solidFill>
                  <a:latin typeface="+mn-lt"/>
                  <a:ea typeface="+mn-ea"/>
                  <a:cs typeface="+mn-cs"/>
                </a:rPr>
                <a:t>怎样让学生实际参与判断？</a:t>
              </a:r>
            </a:p>
          </p:txBody>
        </p:sp>
      </p:grpSp>
      <p:grpSp>
        <p:nvGrpSpPr>
          <p:cNvPr id="6" name="page-title"/>
          <p:cNvGrpSpPr/>
          <p:nvPr/>
        </p:nvGrpSpPr>
        <p:grpSpPr>
          <a:xfrm>
            <a:off x="514350" y="1111250"/>
            <a:ext cx="8034528" cy="1047750"/>
            <a:chOff x="514350" y="1111250"/>
            <a:chExt cx="8034528" cy="1047750"/>
          </a:xfrm>
        </p:grpSpPr>
        <p:sp>
          <p:nvSpPr>
            <p:cNvPr id="5" name="TextBox 5"/>
            <p:cNvSpPr txBox="1"/>
            <p:nvPr/>
          </p:nvSpPr>
          <p:spPr>
            <a:xfrm>
              <a:off x="514350" y="1111250"/>
              <a:ext cx="8034528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学生先答，助手再反馈。</a:t>
              </a:r>
            </a:p>
          </p:txBody>
        </p:sp>
      </p:grpSp>
      <p:grpSp>
        <p:nvGrpSpPr>
          <p:cNvPr id="19" name="active-interaction-chain"/>
          <p:cNvGrpSpPr/>
          <p:nvPr/>
        </p:nvGrpSpPr>
        <p:grpSpPr>
          <a:xfrm>
            <a:off x="542925" y="2419350"/>
            <a:ext cx="11106150" cy="990600"/>
            <a:chOff x="542925" y="2419350"/>
            <a:chExt cx="11106150" cy="990600"/>
          </a:xfrm>
        </p:grpSpPr>
        <p:grpSp>
          <p:nvGrpSpPr>
            <p:cNvPr id="10" name="Group 10"/>
            <p:cNvGrpSpPr/>
            <p:nvPr/>
          </p:nvGrpSpPr>
          <p:grpSpPr>
            <a:xfrm>
              <a:off x="2952750" y="2914650"/>
              <a:ext cx="6067425" cy="1"/>
              <a:chOff x="2952750" y="2914650"/>
              <a:chExt cx="6067425" cy="1"/>
            </a:xfrm>
          </p:grpSpPr>
          <p:sp>
            <p:nvSpPr>
              <p:cNvPr id="7" name="Line 7"/>
              <p:cNvSpPr/>
              <p:nvPr/>
            </p:nvSpPr>
            <p:spPr>
              <a:xfrm>
                <a:off x="2952750" y="2914650"/>
                <a:ext cx="314325" cy="1"/>
              </a:xfrm>
              <a:prstGeom prst="line">
                <a:avLst/>
              </a:prstGeom>
              <a:noFill/>
              <a:ln w="19050">
                <a:solidFill>
                  <a:srgbClr val="BCD0E1"/>
                </a:solidFill>
                <a:tailEnd type="arrow" w="lg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" name="Line 8"/>
              <p:cNvSpPr/>
              <p:nvPr/>
            </p:nvSpPr>
            <p:spPr>
              <a:xfrm>
                <a:off x="5886450" y="2914650"/>
                <a:ext cx="314325" cy="1"/>
              </a:xfrm>
              <a:prstGeom prst="line">
                <a:avLst/>
              </a:prstGeom>
              <a:noFill/>
              <a:ln w="19050">
                <a:solidFill>
                  <a:srgbClr val="BCD0E1"/>
                </a:solidFill>
                <a:tailEnd type="arrow" w="lg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" name="Line 9"/>
              <p:cNvSpPr/>
              <p:nvPr/>
            </p:nvSpPr>
            <p:spPr>
              <a:xfrm>
                <a:off x="8705850" y="2914650"/>
                <a:ext cx="314325" cy="1"/>
              </a:xfrm>
              <a:prstGeom prst="line">
                <a:avLst/>
              </a:prstGeom>
              <a:noFill/>
              <a:ln w="19050">
                <a:solidFill>
                  <a:srgbClr val="BCD0E1"/>
                </a:solidFill>
                <a:tailEnd type="arrow" w="lg" len="lg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" name="Rectangle 11"/>
            <p:cNvSpPr/>
            <p:nvPr/>
          </p:nvSpPr>
          <p:spPr>
            <a:xfrm>
              <a:off x="542925" y="2428875"/>
              <a:ext cx="2400300" cy="971550"/>
            </a:xfrm>
            <a:prstGeom prst="rect">
              <a:avLst/>
            </a:prstGeom>
            <a:noFill/>
            <a:ln w="19050">
              <a:solidFill>
                <a:srgbClr val="BCD0E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84301" y="2774950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展示真实材料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3333750" y="2419350"/>
              <a:ext cx="2552700" cy="990600"/>
            </a:xfrm>
            <a:prstGeom prst="snip2DiagRect">
              <a:avLst>
                <a:gd name="adj1" fmla="val 10000"/>
                <a:gd name="adj2" fmla="val 1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628644" y="2736850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等待学生尝试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276975" y="2428875"/>
              <a:ext cx="2419350" cy="971550"/>
            </a:xfrm>
            <a:prstGeom prst="rect">
              <a:avLst/>
            </a:prstGeom>
            <a:noFill/>
            <a:ln w="19050">
              <a:solidFill>
                <a:srgbClr val="BCD0E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27876" y="2774950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针对回应反馈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9096375" y="2428875"/>
              <a:ext cx="2552700" cy="971550"/>
            </a:xfrm>
            <a:prstGeom prst="rect">
              <a:avLst/>
            </a:prstGeom>
            <a:noFill/>
            <a:ln w="19050">
              <a:solidFill>
                <a:srgbClr val="BCD0E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655302" y="2774950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落实到研究</a:t>
              </a:r>
            </a:p>
          </p:txBody>
        </p:sp>
      </p:grpSp>
      <p:grpSp>
        <p:nvGrpSpPr>
          <p:cNvPr id="22" name="source-question"/>
          <p:cNvGrpSpPr/>
          <p:nvPr/>
        </p:nvGrpSpPr>
        <p:grpSpPr>
          <a:xfrm>
            <a:off x="518160" y="3740150"/>
            <a:ext cx="9384030" cy="1504696"/>
            <a:chOff x="518160" y="3740150"/>
            <a:chExt cx="9384030" cy="1504696"/>
          </a:xfrm>
        </p:grpSpPr>
        <p:sp>
          <p:nvSpPr>
            <p:cNvPr id="20" name="TextBox 20"/>
            <p:cNvSpPr txBox="1"/>
            <p:nvPr/>
          </p:nvSpPr>
          <p:spPr>
            <a:xfrm>
              <a:off x="518160" y="3740150"/>
              <a:ext cx="9384030" cy="1158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500"/>
                </a:lnSpc>
              </a:pPr>
              <a:r>
                <a:rPr lang="zh-CN" sz="30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“请看这份实际输出，你认为下一步</a:t>
              </a:r>
              <a:br>
                <a:rPr lang="zh-CN" sz="30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30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该继续、调整还是暂缓？指出支持你决定的一处信息。”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7304" y="501015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CD0E1"/>
                  </a:solidFill>
                  <a:latin typeface="+mn-lt"/>
                  <a:ea typeface="+mn-ea"/>
                  <a:cs typeface="+mn-cs"/>
                </a:rPr>
                <a:t>互动提问示例</a:t>
              </a:r>
            </a:p>
          </p:txBody>
        </p:sp>
      </p:grpSp>
      <p:grpSp>
        <p:nvGrpSpPr>
          <p:cNvPr id="24" name="scaffolding"/>
          <p:cNvGrpSpPr/>
          <p:nvPr/>
        </p:nvGrpSpPr>
        <p:grpSpPr>
          <a:xfrm>
            <a:off x="524256" y="5689600"/>
            <a:ext cx="4937303" cy="352044"/>
            <a:chOff x="524256" y="5689600"/>
            <a:chExt cx="4937303" cy="352044"/>
          </a:xfrm>
        </p:grpSpPr>
        <p:sp>
          <p:nvSpPr>
            <p:cNvPr id="23" name="TextBox 23"/>
            <p:cNvSpPr txBox="1"/>
            <p:nvPr/>
          </p:nvSpPr>
          <p:spPr>
            <a:xfrm>
              <a:off x="524256" y="5689600"/>
              <a:ext cx="493730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BCD0E1"/>
                  </a:solidFill>
                  <a:latin typeface="+mn-lt"/>
                  <a:ea typeface="+mn-ea"/>
                  <a:cs typeface="+mn-cs"/>
                </a:rPr>
                <a:t>不会时：局部提示 → 微型例子 → 回到本题尝试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1111332" y="636270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BCD0E1"/>
                </a:solidFill>
                <a:latin typeface="+mn-lt"/>
                <a:ea typeface="+mn-ea"/>
                <a:cs typeface="+mn-cs"/>
              </a:rPr>
              <a:t>07 / 13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header"/>
          <p:cNvGrpSpPr/>
          <p:nvPr/>
        </p:nvGrpSpPr>
        <p:grpSpPr>
          <a:xfrm>
            <a:off x="524256" y="450850"/>
            <a:ext cx="11140440" cy="298196"/>
            <a:chOff x="524256" y="450850"/>
            <a:chExt cx="11140440" cy="298196"/>
          </a:xfrm>
        </p:grpSpPr>
        <p:sp>
          <p:nvSpPr>
            <p:cNvPr id="2" name="TextBox 2"/>
            <p:cNvSpPr txBox="1"/>
            <p:nvPr/>
          </p:nvSpPr>
          <p:spPr>
            <a:xfrm>
              <a:off x="524256" y="450850"/>
              <a:ext cx="1410643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　独立核验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9166677" y="514350"/>
              <a:ext cx="24980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怎样判断 Agent 的结果是否可信？</a:t>
              </a:r>
            </a:p>
          </p:txBody>
        </p:sp>
      </p:grpSp>
      <p:grpSp>
        <p:nvGrpSpPr>
          <p:cNvPr id="7" name="page-title"/>
          <p:cNvGrpSpPr/>
          <p:nvPr/>
        </p:nvGrpSpPr>
        <p:grpSpPr>
          <a:xfrm>
            <a:off x="515112" y="1117600"/>
            <a:ext cx="6463308" cy="999744"/>
            <a:chOff x="515112" y="1117600"/>
            <a:chExt cx="6463308" cy="999744"/>
          </a:xfrm>
        </p:grpSpPr>
        <p:sp>
          <p:nvSpPr>
            <p:cNvPr id="5" name="TextBox 5"/>
            <p:cNvSpPr txBox="1"/>
            <p:nvPr/>
          </p:nvSpPr>
          <p:spPr>
            <a:xfrm>
              <a:off x="515112" y="1117600"/>
              <a:ext cx="6463308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独立核验，</a:t>
              </a:r>
              <a:r>
                <a:rPr lang="zh-CN" altLang="en-US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强制要求学生停下来</a:t>
              </a:r>
              <a:endParaRPr lang="zh-CN" sz="36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4256" y="176530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以基金实验的核验要求为例</a:t>
              </a:r>
            </a:p>
          </p:txBody>
        </p:sp>
      </p:grpSp>
      <p:grpSp>
        <p:nvGrpSpPr>
          <p:cNvPr id="11" name="data-verification"/>
          <p:cNvGrpSpPr/>
          <p:nvPr/>
        </p:nvGrpSpPr>
        <p:grpSpPr>
          <a:xfrm>
            <a:off x="519684" y="2476500"/>
            <a:ext cx="3442716" cy="1815592"/>
            <a:chOff x="519684" y="2476500"/>
            <a:chExt cx="3442716" cy="1815592"/>
          </a:xfrm>
        </p:grpSpPr>
        <p:sp>
          <p:nvSpPr>
            <p:cNvPr id="8" name="Line 8"/>
            <p:cNvSpPr/>
            <p:nvPr/>
          </p:nvSpPr>
          <p:spPr>
            <a:xfrm>
              <a:off x="533400" y="2476500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19684" y="2641600"/>
              <a:ext cx="226461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　数据核验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1208" y="3346450"/>
              <a:ext cx="2767584" cy="9456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750"/>
                </a:lnSpc>
              </a:pPr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分红再投资处理</a:t>
              </a:r>
              <a:b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与日期对齐正确吗？</a:t>
              </a:r>
            </a:p>
          </p:txBody>
        </p:sp>
      </p:grpSp>
      <p:grpSp>
        <p:nvGrpSpPr>
          <p:cNvPr id="15" name="calculation-verification"/>
          <p:cNvGrpSpPr/>
          <p:nvPr/>
        </p:nvGrpSpPr>
        <p:grpSpPr>
          <a:xfrm>
            <a:off x="4367784" y="2476500"/>
            <a:ext cx="3442716" cy="1815592"/>
            <a:chOff x="4367784" y="2476500"/>
            <a:chExt cx="3442716" cy="1815592"/>
          </a:xfrm>
        </p:grpSpPr>
        <p:sp>
          <p:nvSpPr>
            <p:cNvPr id="12" name="Line 12"/>
            <p:cNvSpPr/>
            <p:nvPr/>
          </p:nvSpPr>
          <p:spPr>
            <a:xfrm>
              <a:off x="4381500" y="2476500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67784" y="2641600"/>
              <a:ext cx="226461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　计算核验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69308" y="3346450"/>
              <a:ext cx="2767584" cy="9456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750"/>
                </a:lnSpc>
              </a:pPr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卡玛比率用的是</a:t>
              </a:r>
              <a:b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全区间</a:t>
              </a:r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最大回撤吗？</a:t>
              </a:r>
            </a:p>
          </p:txBody>
        </p:sp>
      </p:grpSp>
      <p:grpSp>
        <p:nvGrpSpPr>
          <p:cNvPr id="19" name="claim-verification"/>
          <p:cNvGrpSpPr/>
          <p:nvPr/>
        </p:nvGrpSpPr>
        <p:grpSpPr>
          <a:xfrm>
            <a:off x="8215884" y="2476500"/>
            <a:ext cx="3442716" cy="1815592"/>
            <a:chOff x="8215884" y="2476500"/>
            <a:chExt cx="3442716" cy="1815592"/>
          </a:xfrm>
        </p:grpSpPr>
        <p:sp>
          <p:nvSpPr>
            <p:cNvPr id="16" name="Line 16"/>
            <p:cNvSpPr/>
            <p:nvPr/>
          </p:nvSpPr>
          <p:spPr>
            <a:xfrm>
              <a:off x="8229600" y="2476500"/>
              <a:ext cx="3429000" cy="9525"/>
            </a:xfrm>
            <a:custGeom>
              <a:avLst/>
              <a:gdLst/>
              <a:ahLst/>
              <a:cxnLst/>
              <a:rect l="l" t="t" r="r" b="b"/>
              <a:pathLst>
                <a:path w="3429000" h="9525">
                  <a:moveTo>
                    <a:pt x="0" y="0"/>
                  </a:moveTo>
                  <a:lnTo>
                    <a:pt x="34290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15884" y="2641600"/>
              <a:ext cx="226461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　结果核验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17408" y="3346450"/>
              <a:ext cx="3072384" cy="9456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750"/>
                </a:lnSpc>
              </a:pPr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表图支持报告评价吗？</a:t>
              </a:r>
              <a:b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解释是否越界？</a:t>
              </a:r>
            </a:p>
          </p:txBody>
        </p:sp>
      </p:grpSp>
      <p:grpSp>
        <p:nvGrpSpPr>
          <p:cNvPr id="23" name="acceptance-decision"/>
          <p:cNvGrpSpPr/>
          <p:nvPr/>
        </p:nvGrpSpPr>
        <p:grpSpPr>
          <a:xfrm>
            <a:off x="533400" y="5181600"/>
            <a:ext cx="11125200" cy="990600"/>
            <a:chOff x="533400" y="5181600"/>
            <a:chExt cx="11125200" cy="990600"/>
          </a:xfrm>
        </p:grpSpPr>
        <p:sp>
          <p:nvSpPr>
            <p:cNvPr id="20" name="Rectangle 20"/>
            <p:cNvSpPr/>
            <p:nvPr/>
          </p:nvSpPr>
          <p:spPr>
            <a:xfrm>
              <a:off x="533400" y="5181600"/>
              <a:ext cx="11125200" cy="990600"/>
            </a:xfrm>
            <a:prstGeom prst="rect">
              <a:avLst/>
            </a:prstGeom>
            <a:solidFill>
              <a:srgbClr val="DDF0F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9432" y="5299075"/>
              <a:ext cx="635316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学生选择对象与判据 → Agent 另路复算 → 展示差异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7908" y="5699125"/>
              <a:ext cx="583996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学生解释结果，决定采信、修正或暂缓。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1111332" y="636270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08 / 13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header"/>
          <p:cNvGrpSpPr/>
          <p:nvPr/>
        </p:nvGrpSpPr>
        <p:grpSpPr>
          <a:xfrm>
            <a:off x="524256" y="450850"/>
            <a:ext cx="11140440" cy="352044"/>
            <a:chOff x="524256" y="450850"/>
            <a:chExt cx="11140440" cy="352044"/>
          </a:xfrm>
        </p:grpSpPr>
        <p:sp>
          <p:nvSpPr>
            <p:cNvPr id="2" name="TextBox 2"/>
            <p:cNvSpPr txBox="1"/>
            <p:nvPr/>
          </p:nvSpPr>
          <p:spPr>
            <a:xfrm>
              <a:off x="524256" y="450850"/>
              <a:ext cx="14964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　评分标准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9075877" y="514350"/>
              <a:ext cx="25888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关键分档示意 · 完整标准为 1—10 分</a:t>
              </a:r>
            </a:p>
          </p:txBody>
        </p:sp>
      </p:grpSp>
      <p:grpSp>
        <p:nvGrpSpPr>
          <p:cNvPr id="6" name="page-title"/>
          <p:cNvGrpSpPr/>
          <p:nvPr/>
        </p:nvGrpSpPr>
        <p:grpSpPr>
          <a:xfrm>
            <a:off x="515112" y="1117600"/>
            <a:ext cx="8156079" cy="1107996"/>
            <a:chOff x="515112" y="1117600"/>
            <a:chExt cx="8156079" cy="1107996"/>
          </a:xfrm>
        </p:grpSpPr>
        <p:sp>
          <p:nvSpPr>
            <p:cNvPr id="5" name="TextBox 5"/>
            <p:cNvSpPr txBox="1"/>
            <p:nvPr/>
          </p:nvSpPr>
          <p:spPr>
            <a:xfrm>
              <a:off x="515112" y="1117600"/>
              <a:ext cx="8156079" cy="11079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对话与成果并重，</a:t>
              </a:r>
              <a:r>
                <a:rPr lang="en-US" altLang="zh-CN" sz="3600" b="1" dirty="0">
                  <a:solidFill>
                    <a:schemeClr val="accent1"/>
                  </a:solidFill>
                </a:rPr>
                <a:t>agent</a:t>
              </a:r>
              <a:r>
                <a:rPr lang="zh-CN" altLang="en-US" sz="3600" b="1" dirty="0">
                  <a:solidFill>
                    <a:schemeClr val="accent1"/>
                  </a:solidFill>
                </a:rPr>
                <a:t>初评，教师复评</a:t>
              </a:r>
            </a:p>
            <a:p>
              <a:pPr algn="l"/>
              <a:endParaRPr lang="zh-CN" sz="36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9" name="express-purpose"/>
          <p:cNvGrpSpPr/>
          <p:nvPr/>
        </p:nvGrpSpPr>
        <p:grpSpPr>
          <a:xfrm>
            <a:off x="521208" y="2051050"/>
            <a:ext cx="2686812" cy="847344"/>
            <a:chOff x="521208" y="2051050"/>
            <a:chExt cx="2686812" cy="847344"/>
          </a:xfrm>
        </p:grpSpPr>
        <p:sp>
          <p:nvSpPr>
            <p:cNvPr id="7" name="TextBox 7"/>
            <p:cNvSpPr txBox="1"/>
            <p:nvPr/>
          </p:nvSpPr>
          <p:spPr>
            <a:xfrm>
              <a:off x="521208" y="205105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表达目的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24256" y="254635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研究什么，为什么这样做</a:t>
              </a:r>
            </a:p>
          </p:txBody>
        </p:sp>
      </p:grpSp>
      <p:grpSp>
        <p:nvGrpSpPr>
          <p:cNvPr id="12" name="define-boundaries"/>
          <p:cNvGrpSpPr/>
          <p:nvPr/>
        </p:nvGrpSpPr>
        <p:grpSpPr>
          <a:xfrm>
            <a:off x="4369308" y="2051050"/>
            <a:ext cx="2202180" cy="847344"/>
            <a:chOff x="4369308" y="2051050"/>
            <a:chExt cx="2202180" cy="847344"/>
          </a:xfrm>
        </p:grpSpPr>
        <p:sp>
          <p:nvSpPr>
            <p:cNvPr id="10" name="TextBox 10"/>
            <p:cNvSpPr txBox="1"/>
            <p:nvPr/>
          </p:nvSpPr>
          <p:spPr>
            <a:xfrm>
              <a:off x="4369308" y="205105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明确边界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372356" y="254635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研究范围与协作边界</a:t>
              </a:r>
            </a:p>
          </p:txBody>
        </p:sp>
      </p:grpSp>
      <p:grpSp>
        <p:nvGrpSpPr>
          <p:cNvPr id="15" name="specific-feedback"/>
          <p:cNvGrpSpPr/>
          <p:nvPr/>
        </p:nvGrpSpPr>
        <p:grpSpPr>
          <a:xfrm>
            <a:off x="8217408" y="2051050"/>
            <a:ext cx="3413760" cy="847344"/>
            <a:chOff x="8217408" y="2051050"/>
            <a:chExt cx="3413760" cy="847344"/>
          </a:xfrm>
        </p:grpSpPr>
        <p:sp>
          <p:nvSpPr>
            <p:cNvPr id="13" name="TextBox 13"/>
            <p:cNvSpPr txBox="1"/>
            <p:nvPr/>
          </p:nvSpPr>
          <p:spPr>
            <a:xfrm>
              <a:off x="8217408" y="205105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具体反馈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20456" y="254635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针对实际输出，说明理由与处置</a:t>
              </a:r>
            </a:p>
          </p:txBody>
        </p:sp>
      </p:grpSp>
      <p:grpSp>
        <p:nvGrpSpPr>
          <p:cNvPr id="20" name="grade-six-profile"/>
          <p:cNvGrpSpPr/>
          <p:nvPr/>
        </p:nvGrpSpPr>
        <p:grpSpPr>
          <a:xfrm>
            <a:off x="533400" y="3105150"/>
            <a:ext cx="3429000" cy="2133600"/>
            <a:chOff x="533400" y="3105150"/>
            <a:chExt cx="3429000" cy="2133600"/>
          </a:xfrm>
        </p:grpSpPr>
        <p:sp>
          <p:nvSpPr>
            <p:cNvPr id="16" name="Rectangle 16"/>
            <p:cNvSpPr/>
            <p:nvPr/>
          </p:nvSpPr>
          <p:spPr>
            <a:xfrm>
              <a:off x="533400" y="3105150"/>
              <a:ext cx="3429000" cy="2133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3712" y="3175000"/>
              <a:ext cx="95374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 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89582" y="336550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基本要求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1332" y="3771900"/>
              <a:ext cx="2421636" cy="12108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两任务均有研究产物</a:t>
              </a:r>
              <a:b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三类对话证据充分</a:t>
              </a:r>
              <a:b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至少一条完整判断链</a:t>
              </a:r>
            </a:p>
          </p:txBody>
        </p:sp>
      </p:grpSp>
      <p:grpSp>
        <p:nvGrpSpPr>
          <p:cNvPr id="25" name="grade-eight-profile"/>
          <p:cNvGrpSpPr/>
          <p:nvPr/>
        </p:nvGrpSpPr>
        <p:grpSpPr>
          <a:xfrm>
            <a:off x="4381500" y="3105150"/>
            <a:ext cx="3429000" cy="2133600"/>
            <a:chOff x="4381500" y="3105150"/>
            <a:chExt cx="3429000" cy="2133600"/>
          </a:xfrm>
        </p:grpSpPr>
        <p:sp>
          <p:nvSpPr>
            <p:cNvPr id="21" name="Rectangle 21"/>
            <p:cNvSpPr/>
            <p:nvPr/>
          </p:nvSpPr>
          <p:spPr>
            <a:xfrm>
              <a:off x="4381500" y="3105150"/>
              <a:ext cx="3429000" cy="2133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91812" y="3175000"/>
              <a:ext cx="95374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8 分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837682" y="336550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依据充分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99432" y="3771900"/>
              <a:ext cx="2688336" cy="12108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两任务各有完整判断链</a:t>
              </a:r>
              <a:b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关键核验与采信有据</a:t>
              </a:r>
              <a:b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核心结果与解释正确</a:t>
              </a:r>
            </a:p>
          </p:txBody>
        </p:sp>
      </p:grpSp>
      <p:grpSp>
        <p:nvGrpSpPr>
          <p:cNvPr id="30" name="grade-ten-profile"/>
          <p:cNvGrpSpPr/>
          <p:nvPr/>
        </p:nvGrpSpPr>
        <p:grpSpPr>
          <a:xfrm>
            <a:off x="8229600" y="3105150"/>
            <a:ext cx="3429000" cy="2133600"/>
            <a:chOff x="8229600" y="3105150"/>
            <a:chExt cx="3429000" cy="2133600"/>
          </a:xfrm>
        </p:grpSpPr>
        <p:sp>
          <p:nvSpPr>
            <p:cNvPr id="26" name="Rectangle 26"/>
            <p:cNvSpPr/>
            <p:nvPr/>
          </p:nvSpPr>
          <p:spPr>
            <a:xfrm>
              <a:off x="8229600" y="3105150"/>
              <a:ext cx="3429000" cy="2133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39912" y="3175000"/>
              <a:ext cx="123361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 分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952482" y="336550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判断突出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47532" y="3771900"/>
              <a:ext cx="2421636" cy="12108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两任务四步判断完整</a:t>
              </a:r>
              <a:b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三类对话贯通且深入</a:t>
              </a:r>
              <a:b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三项研究深度均成立</a:t>
              </a:r>
            </a:p>
          </p:txBody>
        </p:sp>
      </p:grpSp>
      <p:grpSp>
        <p:nvGrpSpPr>
          <p:cNvPr id="32" name="complete-judgment-chain"/>
          <p:cNvGrpSpPr/>
          <p:nvPr/>
        </p:nvGrpSpPr>
        <p:grpSpPr>
          <a:xfrm>
            <a:off x="522732" y="5480050"/>
            <a:ext cx="7547570" cy="410718"/>
            <a:chOff x="522732" y="5480050"/>
            <a:chExt cx="7547570" cy="410718"/>
          </a:xfrm>
        </p:grpSpPr>
        <p:sp>
          <p:nvSpPr>
            <p:cNvPr id="31" name="TextBox 31"/>
            <p:cNvSpPr txBox="1"/>
            <p:nvPr/>
          </p:nvSpPr>
          <p:spPr>
            <a:xfrm>
              <a:off x="522732" y="5480050"/>
              <a:ext cx="75475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判断链：实际依据 → 学生说明理由 → 作出判断 → 落实到研究</a:t>
              </a:r>
            </a:p>
          </p:txBody>
        </p:sp>
      </p:grpSp>
      <p:grpSp>
        <p:nvGrpSpPr>
          <p:cNvPr id="34" name="assessment-responsibility"/>
          <p:cNvGrpSpPr/>
          <p:nvPr/>
        </p:nvGrpSpPr>
        <p:grpSpPr>
          <a:xfrm>
            <a:off x="524256" y="5994400"/>
            <a:ext cx="6771084" cy="276999"/>
            <a:chOff x="524256" y="5994400"/>
            <a:chExt cx="6771084" cy="276999"/>
          </a:xfrm>
        </p:grpSpPr>
        <p:sp>
          <p:nvSpPr>
            <p:cNvPr id="33" name="TextBox 33"/>
            <p:cNvSpPr txBox="1"/>
            <p:nvPr/>
          </p:nvSpPr>
          <p:spPr>
            <a:xfrm>
              <a:off x="524256" y="5994400"/>
              <a:ext cx="6771084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A/B 合评，每实验 1—10 分整数总评；</a:t>
              </a:r>
              <a:r>
                <a:rPr lang="en-US" altLang="zh-CN" dirty="0">
                  <a:solidFill>
                    <a:schemeClr val="accent5"/>
                  </a:solidFill>
                </a:rPr>
                <a:t>agent</a:t>
              </a:r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建议，教师复核定分。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1111332" y="636270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09 / 13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header"/>
          <p:cNvGrpSpPr/>
          <p:nvPr/>
        </p:nvGrpSpPr>
        <p:grpSpPr>
          <a:xfrm>
            <a:off x="524256" y="450850"/>
            <a:ext cx="11140440" cy="298196"/>
            <a:chOff x="524256" y="450850"/>
            <a:chExt cx="11140440" cy="298196"/>
          </a:xfrm>
        </p:grpSpPr>
        <p:sp>
          <p:nvSpPr>
            <p:cNvPr id="2" name="TextBox 2"/>
            <p:cNvSpPr txBox="1"/>
            <p:nvPr/>
          </p:nvSpPr>
          <p:spPr>
            <a:xfrm>
              <a:off x="524256" y="450850"/>
              <a:ext cx="1410643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　课堂组织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9390888" y="51435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学生怎样启动，教师怎样支持？</a:t>
              </a:r>
            </a:p>
          </p:txBody>
        </p:sp>
      </p:grpSp>
      <p:grpSp>
        <p:nvGrpSpPr>
          <p:cNvPr id="7" name="page-title"/>
          <p:cNvGrpSpPr/>
          <p:nvPr/>
        </p:nvGrpSpPr>
        <p:grpSpPr>
          <a:xfrm>
            <a:off x="515112" y="1117600"/>
            <a:ext cx="7790688" cy="999744"/>
            <a:chOff x="515112" y="1117600"/>
            <a:chExt cx="7790688" cy="999744"/>
          </a:xfrm>
        </p:grpSpPr>
        <p:sp>
          <p:nvSpPr>
            <p:cNvPr id="5" name="TextBox 5"/>
            <p:cNvSpPr txBox="1"/>
            <p:nvPr/>
          </p:nvSpPr>
          <p:spPr>
            <a:xfrm>
              <a:off x="515112" y="1117600"/>
              <a:ext cx="779068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三份启动材料，支持四课时课堂指导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4256" y="1765300"/>
              <a:ext cx="538558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每实验安排 4 课时课堂指导，结合课外独立研究。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533400" y="2552700"/>
            <a:ext cx="3429000" cy="2413000"/>
          </a:xfrm>
          <a:prstGeom prst="foldedCorner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9"/>
          <p:cNvSpPr/>
          <p:nvPr/>
        </p:nvSpPr>
        <p:spPr>
          <a:xfrm>
            <a:off x="4381500" y="2552700"/>
            <a:ext cx="3429000" cy="2413000"/>
          </a:xfrm>
          <a:prstGeom prst="foldedCorner">
            <a:avLst/>
          </a:prstGeom>
          <a:solidFill>
            <a:srgbClr val="DDF0F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10"/>
          <p:cNvSpPr/>
          <p:nvPr/>
        </p:nvSpPr>
        <p:spPr>
          <a:xfrm>
            <a:off x="8229600" y="2552700"/>
            <a:ext cx="3429000" cy="2413000"/>
          </a:xfrm>
          <a:prstGeom prst="foldedCorner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Box 11"/>
          <p:cNvSpPr txBox="1"/>
          <p:nvPr/>
        </p:nvSpPr>
        <p:spPr>
          <a:xfrm>
            <a:off x="1709291" y="3264357"/>
            <a:ext cx="1077219" cy="430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pPr algn="ctr"/>
            <a:r>
              <a:rPr lang="zh-CN" sz="2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任务书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377855" y="3048913"/>
            <a:ext cx="1436291" cy="8617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Agent</a:t>
            </a:r>
          </a:p>
          <a:p>
            <a:pPr algn="ctr"/>
            <a:r>
              <a:rPr lang="zh-CN" sz="2800" b="1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运行约束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225955" y="3264357"/>
            <a:ext cx="1436291" cy="430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pPr algn="ctr"/>
            <a:r>
              <a:rPr lang="zh-CN" sz="28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样本名单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62000" y="4140200"/>
            <a:ext cx="29718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研究什么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610100" y="4140200"/>
            <a:ext cx="29718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怎样协作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458200" y="4140200"/>
            <a:ext cx="29718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从何开始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33400" y="5257800"/>
            <a:ext cx="1112520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任务、协作与样本边界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33400" y="5765800"/>
            <a:ext cx="1112520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两个实验分别提供启动包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111332" y="636270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11 / 13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000" name="page-header"/>
          <p:cNvGrpSpPr/>
          <p:nvPr/>
        </p:nvGrpSpPr>
        <p:grpSpPr>
          <a:xfrm>
            <a:off x="524256" y="450850"/>
            <a:ext cx="11140440" cy="298196"/>
            <a:chOff x="524256" y="450850"/>
            <a:chExt cx="11140440" cy="298196"/>
          </a:xfrm>
        </p:grpSpPr>
        <p:sp>
          <p:nvSpPr>
            <p:cNvPr id="100001" name="TextBox 2"/>
            <p:cNvSpPr txBox="1"/>
            <p:nvPr/>
          </p:nvSpPr>
          <p:spPr>
            <a:xfrm>
              <a:off x="524256" y="450850"/>
              <a:ext cx="1641475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　反馈与改进</a:t>
              </a:r>
            </a:p>
          </p:txBody>
        </p:sp>
        <p:sp>
          <p:nvSpPr>
            <p:cNvPr id="100002" name="TextBox 3"/>
            <p:cNvSpPr txBox="1"/>
            <p:nvPr/>
          </p:nvSpPr>
          <p:spPr>
            <a:xfrm>
              <a:off x="9390888" y="51435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首轮实践，学生怎样评价？</a:t>
              </a:r>
            </a:p>
          </p:txBody>
        </p:sp>
      </p:grpSp>
      <p:grpSp>
        <p:nvGrpSpPr>
          <p:cNvPr id="100003" name="page-title"/>
          <p:cNvGrpSpPr/>
          <p:nvPr/>
        </p:nvGrpSpPr>
        <p:grpSpPr>
          <a:xfrm>
            <a:off x="515112" y="1117600"/>
            <a:ext cx="5674630" cy="999744"/>
            <a:chOff x="515112" y="1117600"/>
            <a:chExt cx="5674630" cy="999744"/>
          </a:xfrm>
        </p:grpSpPr>
        <p:sp>
          <p:nvSpPr>
            <p:cNvPr id="100004" name="TextBox 5"/>
            <p:cNvSpPr txBox="1"/>
            <p:nvPr/>
          </p:nvSpPr>
          <p:spPr>
            <a:xfrm>
              <a:off x="515112" y="1117600"/>
              <a:ext cx="5674630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教学反思</a:t>
              </a:r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：任务难度</a:t>
              </a:r>
              <a:r>
                <a:rPr lang="zh-CN" altLang="en-US" sz="3600" b="1" dirty="0">
                  <a:solidFill>
                    <a:schemeClr val="accent1"/>
                  </a:solidFill>
                </a:rPr>
                <a:t>的困境</a:t>
              </a:r>
              <a:endParaRPr lang="zh-CN" sz="36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0005" name="TextBox 6"/>
            <p:cNvSpPr txBox="1"/>
            <p:nvPr/>
          </p:nvSpPr>
          <p:spPr>
            <a:xfrm>
              <a:off x="524256" y="1765300"/>
              <a:ext cx="538558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太简单，Agent 一下做完；太难，学生驾驭不了 Agent。</a:t>
              </a:r>
            </a:p>
          </p:txBody>
        </p:sp>
      </p:grpSp>
      <p:sp>
        <p:nvSpPr>
          <p:cNvPr id="100038" name="TextBox 40"/>
          <p:cNvSpPr txBox="1"/>
          <p:nvPr/>
        </p:nvSpPr>
        <p:spPr>
          <a:xfrm>
            <a:off x="11111332" y="636270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12 / 13</a:t>
            </a:r>
          </a:p>
        </p:txBody>
      </p:sp>
      <p:sp>
        <p:nvSpPr>
          <p:cNvPr id="100039" name="lead-panel"/>
          <p:cNvSpPr txBox="1"/>
          <p:nvPr/>
        </p:nvSpPr>
        <p:spPr>
          <a:xfrm>
            <a:off x="533400" y="2438400"/>
            <a:ext cx="3810000" cy="304800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40" name="lead-label"/>
          <p:cNvSpPr txBox="1"/>
          <p:nvPr/>
        </p:nvSpPr>
        <p:spPr>
          <a:xfrm>
            <a:off x="736600" y="2590800"/>
            <a:ext cx="3429000" cy="355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/>
            <a:r>
              <a:rPr lang="en-US" sz="1600">
                <a:solidFill>
                  <a:srgbClr val="53657B"/>
                </a:solidFill>
              </a:rPr>
              <a:t>学生自评：谁在主导研究？</a:t>
            </a:r>
          </a:p>
        </p:txBody>
      </p:sp>
      <p:sp>
        <p:nvSpPr>
          <p:cNvPr id="100041" name="stat-50"/>
          <p:cNvSpPr txBox="1"/>
          <p:nvPr/>
        </p:nvSpPr>
        <p:spPr>
          <a:xfrm>
            <a:off x="736600" y="3048000"/>
            <a:ext cx="1397000" cy="66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/>
            <a:r>
              <a:rPr lang="en-US" sz="4000" b="1">
                <a:solidFill>
                  <a:srgbClr val="C96A2B"/>
                </a:solidFill>
              </a:rPr>
              <a:t>50%</a:t>
            </a:r>
          </a:p>
        </p:txBody>
      </p:sp>
      <p:sp>
        <p:nvSpPr>
          <p:cNvPr id="100042" name="stat-50-text"/>
          <p:cNvSpPr txBox="1"/>
          <p:nvPr/>
        </p:nvSpPr>
        <p:spPr>
          <a:xfrm>
            <a:off x="2133600" y="3225800"/>
            <a:ext cx="2095500" cy="355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/>
            <a:r>
              <a:rPr lang="en-US" sz="1800">
                <a:solidFill>
                  <a:srgbClr val="142B49"/>
                </a:solidFill>
              </a:rPr>
              <a:t>被 Agent 牵着走</a:t>
            </a:r>
          </a:p>
        </p:txBody>
      </p:sp>
      <p:sp>
        <p:nvSpPr>
          <p:cNvPr id="100043" name="bar-50-track"/>
          <p:cNvSpPr txBox="1"/>
          <p:nvPr/>
        </p:nvSpPr>
        <p:spPr>
          <a:xfrm>
            <a:off x="736600" y="3784600"/>
            <a:ext cx="3403600" cy="12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44" name="bar-50"/>
          <p:cNvSpPr txBox="1"/>
          <p:nvPr/>
        </p:nvSpPr>
        <p:spPr>
          <a:xfrm>
            <a:off x="736600" y="3784600"/>
            <a:ext cx="1701800" cy="127000"/>
          </a:xfrm>
          <a:prstGeom prst="rect">
            <a:avLst/>
          </a:prstGeom>
          <a:solidFill>
            <a:srgbClr val="C96A2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45" name="stat-30"/>
          <p:cNvSpPr txBox="1"/>
          <p:nvPr/>
        </p:nvSpPr>
        <p:spPr>
          <a:xfrm>
            <a:off x="736600" y="4089400"/>
            <a:ext cx="1397000" cy="660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/>
            <a:r>
              <a:rPr lang="en-US" sz="4000" b="1">
                <a:solidFill>
                  <a:srgbClr val="087F8C"/>
                </a:solidFill>
              </a:rPr>
              <a:t>30%</a:t>
            </a:r>
          </a:p>
        </p:txBody>
      </p:sp>
      <p:sp>
        <p:nvSpPr>
          <p:cNvPr id="100046" name="stat-30-text"/>
          <p:cNvSpPr txBox="1"/>
          <p:nvPr/>
        </p:nvSpPr>
        <p:spPr>
          <a:xfrm>
            <a:off x="2133600" y="4267200"/>
            <a:ext cx="2095500" cy="355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/>
            <a:r>
              <a:rPr lang="en-US" sz="1800">
                <a:solidFill>
                  <a:srgbClr val="142B49"/>
                </a:solidFill>
              </a:rPr>
              <a:t>自己驾驭了 Agent</a:t>
            </a:r>
          </a:p>
        </p:txBody>
      </p:sp>
      <p:sp>
        <p:nvSpPr>
          <p:cNvPr id="100047" name="bar-30-track"/>
          <p:cNvSpPr txBox="1"/>
          <p:nvPr/>
        </p:nvSpPr>
        <p:spPr>
          <a:xfrm>
            <a:off x="736600" y="4826000"/>
            <a:ext cx="3403600" cy="12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48" name="bar-30"/>
          <p:cNvSpPr txBox="1"/>
          <p:nvPr/>
        </p:nvSpPr>
        <p:spPr>
          <a:xfrm>
            <a:off x="736600" y="4826000"/>
            <a:ext cx="1016000" cy="127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49" name="lead-note"/>
          <p:cNvSpPr txBox="1"/>
          <p:nvPr/>
        </p:nvSpPr>
        <p:spPr>
          <a:xfrm>
            <a:off x="736600" y="5080000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/>
            <a:r>
              <a:rPr lang="en-US" sz="1300">
                <a:solidFill>
                  <a:srgbClr val="53657B"/>
                </a:solidFill>
              </a:rPr>
              <a:t>来源：首轮学生教学反馈</a:t>
            </a:r>
          </a:p>
        </p:txBody>
      </p:sp>
      <p:sp>
        <p:nvSpPr>
          <p:cNvPr id="100050" name="col-head-left"/>
          <p:cNvSpPr txBox="1"/>
          <p:nvPr/>
        </p:nvSpPr>
        <p:spPr>
          <a:xfrm>
            <a:off x="4800600" y="24384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/>
            <a:r>
              <a:rPr lang="en-US" sz="1600" b="1">
                <a:solidFill>
                  <a:srgbClr val="53657B"/>
                </a:solidFill>
              </a:rPr>
              <a:t>学生反馈</a:t>
            </a:r>
          </a:p>
        </p:txBody>
      </p:sp>
      <p:sp>
        <p:nvSpPr>
          <p:cNvPr id="100051" name="col-head-right"/>
          <p:cNvSpPr txBox="1"/>
          <p:nvPr/>
        </p:nvSpPr>
        <p:spPr>
          <a:xfrm>
            <a:off x="7772400" y="2438400"/>
            <a:ext cx="3886200" cy="330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/>
          <a:lstStyle/>
          <a:p>
            <a:pPr algn="l"/>
            <a:r>
              <a:rPr lang="en-US" sz="1600" b="1">
                <a:solidFill>
                  <a:srgbClr val="087F8C"/>
                </a:solidFill>
              </a:rPr>
              <a:t>下一轮改进方向</a:t>
            </a:r>
          </a:p>
        </p:txBody>
      </p:sp>
      <p:sp>
        <p:nvSpPr>
          <p:cNvPr id="100052" name="fb-1"/>
          <p:cNvSpPr txBox="1"/>
          <p:nvPr/>
        </p:nvSpPr>
        <p:spPr>
          <a:xfrm>
            <a:off x="4800600" y="2844800"/>
            <a:ext cx="2717800" cy="58420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txBody>
          <a:bodyPr lIns="101600" tIns="101600" rIns="101600" bIns="101600" anchor="ctr"/>
          <a:lstStyle/>
          <a:p>
            <a:pPr algn="l"/>
            <a:r>
              <a:rPr lang="en-US" sz="1600">
                <a:solidFill>
                  <a:srgbClr val="142B49"/>
                </a:solidFill>
              </a:rPr>
              <a:t>部分任务 Agent 一下做完</a:t>
            </a:r>
          </a:p>
        </p:txBody>
      </p:sp>
      <p:sp>
        <p:nvSpPr>
          <p:cNvPr id="100053" name="arrow-1"/>
          <p:cNvSpPr/>
          <p:nvPr/>
        </p:nvSpPr>
        <p:spPr>
          <a:xfrm>
            <a:off x="7569200" y="3060700"/>
            <a:ext cx="152400" cy="152400"/>
          </a:xfrm>
          <a:prstGeom prst="rightArrow">
            <a:avLst/>
          </a:prstGeom>
          <a:solidFill>
            <a:srgbClr val="087F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54" name="act-1"/>
          <p:cNvSpPr txBox="1"/>
          <p:nvPr/>
        </p:nvSpPr>
        <p:spPr>
          <a:xfrm>
            <a:off x="7772400" y="2844800"/>
            <a:ext cx="3886200" cy="584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en-US" sz="1800" b="1">
                <a:solidFill>
                  <a:srgbClr val="142B49"/>
                </a:solidFill>
              </a:rPr>
              <a:t>提高开放度，留出学生判断空间</a:t>
            </a:r>
          </a:p>
        </p:txBody>
      </p:sp>
      <p:sp>
        <p:nvSpPr>
          <p:cNvPr id="100055" name="fb-2"/>
          <p:cNvSpPr txBox="1"/>
          <p:nvPr/>
        </p:nvSpPr>
        <p:spPr>
          <a:xfrm>
            <a:off x="4800600" y="3530600"/>
            <a:ext cx="2717800" cy="58420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txBody>
          <a:bodyPr lIns="101600" tIns="101600" rIns="101600" bIns="101600" anchor="ctr"/>
          <a:lstStyle/>
          <a:p>
            <a:pPr algn="l"/>
            <a:r>
              <a:rPr lang="en-US" sz="1600">
                <a:solidFill>
                  <a:srgbClr val="142B49"/>
                </a:solidFill>
              </a:rPr>
              <a:t>难任务需要知识点梳理</a:t>
            </a:r>
          </a:p>
        </p:txBody>
      </p:sp>
      <p:sp>
        <p:nvSpPr>
          <p:cNvPr id="100056" name="arrow-2"/>
          <p:cNvSpPr/>
          <p:nvPr/>
        </p:nvSpPr>
        <p:spPr>
          <a:xfrm>
            <a:off x="7569200" y="3746500"/>
            <a:ext cx="152400" cy="152400"/>
          </a:xfrm>
          <a:prstGeom prst="rightArrow">
            <a:avLst/>
          </a:prstGeom>
          <a:solidFill>
            <a:srgbClr val="087F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57" name="act-2"/>
          <p:cNvSpPr txBox="1"/>
          <p:nvPr/>
        </p:nvSpPr>
        <p:spPr>
          <a:xfrm>
            <a:off x="7772400" y="3530600"/>
            <a:ext cx="3886200" cy="584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en-US" sz="1800" b="1">
                <a:solidFill>
                  <a:srgbClr val="142B49"/>
                </a:solidFill>
              </a:rPr>
              <a:t>较难任务前，先梳理相关知识点</a:t>
            </a:r>
          </a:p>
        </p:txBody>
      </p:sp>
      <p:sp>
        <p:nvSpPr>
          <p:cNvPr id="100058" name="fb-3"/>
          <p:cNvSpPr txBox="1"/>
          <p:nvPr/>
        </p:nvSpPr>
        <p:spPr>
          <a:xfrm>
            <a:off x="4800600" y="4216400"/>
            <a:ext cx="2717800" cy="58420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txBody>
          <a:bodyPr lIns="101600" tIns="101600" rIns="101600" bIns="101600" anchor="ctr"/>
          <a:lstStyle/>
          <a:p>
            <a:pPr algn="l"/>
            <a:r>
              <a:rPr lang="en-US" sz="1600">
                <a:solidFill>
                  <a:srgbClr val="142B49"/>
                </a:solidFill>
              </a:rPr>
              <a:t>想学与 Agent 交互的经验</a:t>
            </a:r>
          </a:p>
        </p:txBody>
      </p:sp>
      <p:sp>
        <p:nvSpPr>
          <p:cNvPr id="100059" name="arrow-3"/>
          <p:cNvSpPr/>
          <p:nvPr/>
        </p:nvSpPr>
        <p:spPr>
          <a:xfrm>
            <a:off x="7569200" y="4432300"/>
            <a:ext cx="152400" cy="152400"/>
          </a:xfrm>
          <a:prstGeom prst="rightArrow">
            <a:avLst/>
          </a:prstGeom>
          <a:solidFill>
            <a:srgbClr val="087F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60" name="act-3"/>
          <p:cNvSpPr txBox="1"/>
          <p:nvPr/>
        </p:nvSpPr>
        <p:spPr>
          <a:xfrm>
            <a:off x="7772400" y="4216400"/>
            <a:ext cx="3886200" cy="584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en-US" sz="1800" b="1">
                <a:solidFill>
                  <a:srgbClr val="142B49"/>
                </a:solidFill>
              </a:rPr>
              <a:t>示范交互方法，分享交互经验</a:t>
            </a:r>
          </a:p>
        </p:txBody>
      </p:sp>
      <p:sp>
        <p:nvSpPr>
          <p:cNvPr id="100061" name="fb-4"/>
          <p:cNvSpPr txBox="1"/>
          <p:nvPr/>
        </p:nvSpPr>
        <p:spPr>
          <a:xfrm>
            <a:off x="4800600" y="4902200"/>
            <a:ext cx="2717800" cy="584200"/>
          </a:xfrm>
          <a:prstGeom prst="rect">
            <a:avLst/>
          </a:prstGeom>
          <a:solidFill>
            <a:srgbClr val="E8EEF4"/>
          </a:solidFill>
          <a:ln>
            <a:noFill/>
          </a:ln>
        </p:spPr>
        <p:txBody>
          <a:bodyPr lIns="101600" tIns="101600" rIns="101600" bIns="101600" anchor="ctr"/>
          <a:lstStyle/>
          <a:p>
            <a:pPr algn="l"/>
            <a:r>
              <a:rPr lang="en-US" sz="1600">
                <a:solidFill>
                  <a:srgbClr val="142B49"/>
                </a:solidFill>
              </a:rPr>
              <a:t>希望教师多反馈、多解释</a:t>
            </a:r>
          </a:p>
        </p:txBody>
      </p:sp>
      <p:sp>
        <p:nvSpPr>
          <p:cNvPr id="100062" name="arrow-4"/>
          <p:cNvSpPr/>
          <p:nvPr/>
        </p:nvSpPr>
        <p:spPr>
          <a:xfrm>
            <a:off x="7569200" y="5118100"/>
            <a:ext cx="152400" cy="152400"/>
          </a:xfrm>
          <a:prstGeom prst="rightArrow">
            <a:avLst/>
          </a:prstGeom>
          <a:solidFill>
            <a:srgbClr val="087F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0063" name="act-4"/>
          <p:cNvSpPr txBox="1"/>
          <p:nvPr/>
        </p:nvSpPr>
        <p:spPr>
          <a:xfrm>
            <a:off x="7772400" y="4902200"/>
            <a:ext cx="3886200" cy="584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/>
            <a:r>
              <a:rPr lang="en-US" sz="1800" b="1">
                <a:solidFill>
                  <a:srgbClr val="142B49"/>
                </a:solidFill>
              </a:rPr>
              <a:t>任务完成后，增加教师讲评</a:t>
            </a:r>
          </a:p>
        </p:txBody>
      </p:sp>
      <p:sp>
        <p:nvSpPr>
          <p:cNvPr id="100064" name="goal-band"/>
          <p:cNvSpPr txBox="1"/>
          <p:nvPr/>
        </p:nvSpPr>
        <p:spPr>
          <a:xfrm>
            <a:off x="533400" y="5689600"/>
            <a:ext cx="11125200" cy="482600"/>
          </a:xfrm>
          <a:prstGeom prst="rect">
            <a:avLst/>
          </a:prstGeom>
          <a:solidFill>
            <a:srgbClr val="DDF0F0"/>
          </a:solidFill>
          <a:ln>
            <a:noFill/>
          </a:ln>
        </p:spPr>
        <p:txBody>
          <a:bodyPr lIns="152400" tIns="0" rIns="152400" bIns="0" anchor="ctr"/>
          <a:lstStyle/>
          <a:p>
            <a:pPr algn="l"/>
            <a:r>
              <a:rPr lang="en-US" sz="1800" b="1">
                <a:solidFill>
                  <a:srgbClr val="087F8C"/>
                </a:solidFill>
              </a:rPr>
              <a:t>下一轮目标：任务难到 Agent 不能一步完成，又在学生的驾驭范围之内。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university-identity"/>
          <p:cNvGrpSpPr/>
          <p:nvPr/>
        </p:nvGrpSpPr>
        <p:grpSpPr>
          <a:xfrm>
            <a:off x="457200" y="304800"/>
            <a:ext cx="3843376" cy="838200"/>
            <a:chOff x="457200" y="304800"/>
            <a:chExt cx="3843376" cy="838200"/>
          </a:xfrm>
        </p:grpSpPr>
        <p:sp>
          <p:nvSpPr>
            <p:cNvPr id="2" name="Rectangle 2"/>
            <p:cNvSpPr/>
            <p:nvPr/>
          </p:nvSpPr>
          <p:spPr>
            <a:xfrm>
              <a:off x="457200" y="304800"/>
              <a:ext cx="838200" cy="8382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1500" y="428625"/>
              <a:ext cx="609600" cy="587502"/>
            </a:xfrm>
            <a:prstGeom prst="rect">
              <a:avLst/>
            </a:prstGeom>
          </p:spPr>
        </p:pic>
        <p:sp>
          <p:nvSpPr>
            <p:cNvPr id="4" name="TextBox 4"/>
            <p:cNvSpPr txBox="1"/>
            <p:nvPr/>
          </p:nvSpPr>
          <p:spPr>
            <a:xfrm>
              <a:off x="1514856" y="45085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四川农业大学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517904" y="838200"/>
              <a:ext cx="27826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CD0E1"/>
                  </a:solidFill>
                  <a:latin typeface="+mn-lt"/>
                  <a:ea typeface="+mn-ea"/>
                  <a:cs typeface="+mn-cs"/>
                </a:rPr>
                <a:t>投资组合管理课程组 · 智享杯参赛汇报</a:t>
              </a:r>
            </a:p>
          </p:txBody>
        </p:sp>
      </p:grpSp>
      <p:grpSp>
        <p:nvGrpSpPr>
          <p:cNvPr id="8" name="closing-takeaway"/>
          <p:cNvGrpSpPr/>
          <p:nvPr/>
        </p:nvGrpSpPr>
        <p:grpSpPr>
          <a:xfrm>
            <a:off x="514350" y="2019300"/>
            <a:ext cx="4838700" cy="1962150"/>
            <a:chOff x="514350" y="2019300"/>
            <a:chExt cx="4838700" cy="1962150"/>
          </a:xfrm>
        </p:grpSpPr>
        <p:sp>
          <p:nvSpPr>
            <p:cNvPr id="7" name="TextBox 7"/>
            <p:cNvSpPr txBox="1"/>
            <p:nvPr/>
          </p:nvSpPr>
          <p:spPr>
            <a:xfrm>
              <a:off x="514350" y="2019300"/>
              <a:ext cx="4838700" cy="1962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7200"/>
                </a:lnSpc>
              </a:pPr>
              <a:r>
                <a:rPr lang="zh-CN" sz="5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让学生为自己的</a:t>
              </a:r>
              <a:br>
                <a:rPr lang="zh-CN" sz="5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</a:br>
              <a:r>
                <a:rPr lang="zh-CN" sz="5400" b="1" dirty="0">
                  <a:solidFill>
                    <a:srgbClr val="57C9CB"/>
                  </a:solidFill>
                  <a:latin typeface="+mn-lt"/>
                  <a:ea typeface="+mn-ea"/>
                  <a:cs typeface="+mn-cs"/>
                </a:rPr>
                <a:t>研究判断</a:t>
              </a:r>
              <a:r>
                <a:rPr lang="zh-CN" sz="5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负责。</a:t>
              </a:r>
            </a:p>
          </p:txBody>
        </p:sp>
      </p:grpSp>
      <p:grpSp>
        <p:nvGrpSpPr>
          <p:cNvPr id="10" name="closing-principle"/>
          <p:cNvGrpSpPr/>
          <p:nvPr/>
        </p:nvGrpSpPr>
        <p:grpSpPr>
          <a:xfrm>
            <a:off x="521208" y="4527550"/>
            <a:ext cx="4898014" cy="469392"/>
            <a:chOff x="521208" y="4527550"/>
            <a:chExt cx="4898014" cy="469392"/>
          </a:xfrm>
        </p:grpSpPr>
        <p:sp>
          <p:nvSpPr>
            <p:cNvPr id="9" name="TextBox 9"/>
            <p:cNvSpPr txBox="1"/>
            <p:nvPr/>
          </p:nvSpPr>
          <p:spPr>
            <a:xfrm>
              <a:off x="521208" y="4527550"/>
              <a:ext cx="489801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学生主导研究，Agent 辅助执行。</a:t>
              </a:r>
            </a:p>
          </p:txBody>
        </p:sp>
      </p:grpSp>
      <p:grpSp>
        <p:nvGrpSpPr>
          <p:cNvPr id="12" name="three-commitments"/>
          <p:cNvGrpSpPr/>
          <p:nvPr/>
        </p:nvGrpSpPr>
        <p:grpSpPr>
          <a:xfrm>
            <a:off x="519684" y="5384800"/>
            <a:ext cx="7333259" cy="528066"/>
            <a:chOff x="519684" y="5384800"/>
            <a:chExt cx="7333259" cy="528066"/>
          </a:xfrm>
        </p:grpSpPr>
        <p:sp>
          <p:nvSpPr>
            <p:cNvPr id="11" name="TextBox 11"/>
            <p:cNvSpPr txBox="1"/>
            <p:nvPr/>
          </p:nvSpPr>
          <p:spPr>
            <a:xfrm>
              <a:off x="519684" y="5384800"/>
              <a:ext cx="733325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dirty="0">
                  <a:solidFill>
                    <a:srgbClr val="BCD0E1"/>
                  </a:solidFill>
                  <a:latin typeface="+mn-lt"/>
                  <a:ea typeface="+mn-ea"/>
                  <a:cs typeface="+mn-cs"/>
                </a:rPr>
                <a:t>选择有理由　·　核验有依据　·　解释有边界</a:t>
              </a:r>
            </a:p>
          </p:txBody>
        </p:sp>
      </p:grpSp>
      <p:grpSp>
        <p:nvGrpSpPr>
          <p:cNvPr id="15" name="closing-footer"/>
          <p:cNvGrpSpPr/>
          <p:nvPr/>
        </p:nvGrpSpPr>
        <p:grpSpPr>
          <a:xfrm>
            <a:off x="524256" y="6213475"/>
            <a:ext cx="11140440" cy="352044"/>
            <a:chOff x="524256" y="6213475"/>
            <a:chExt cx="11140440" cy="352044"/>
          </a:xfrm>
        </p:grpSpPr>
        <p:sp>
          <p:nvSpPr>
            <p:cNvPr id="13" name="TextBox 13"/>
            <p:cNvSpPr txBox="1"/>
            <p:nvPr/>
          </p:nvSpPr>
          <p:spPr>
            <a:xfrm>
              <a:off x="524256" y="6213475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BCD0E1"/>
                  </a:solidFill>
                  <a:latin typeface="+mn-lt"/>
                  <a:ea typeface="+mn-ea"/>
                  <a:cs typeface="+mn-cs"/>
                </a:rPr>
                <a:t>谢谢各位评委　｜　汇报人：张剑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111332" y="627697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BCD0E1"/>
                  </a:solidFill>
                  <a:latin typeface="+mn-lt"/>
                  <a:ea typeface="+mn-ea"/>
                  <a:cs typeface="+mn-cs"/>
                </a:rPr>
                <a:t>13 / 13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research_judgment_competition">
  <a:themeElements>
    <a:clrScheme name="research_judgment_competition">
      <a:dk1>
        <a:srgbClr val="223349"/>
      </a:dk1>
      <a:lt1>
        <a:srgbClr val="F5F7FA"/>
      </a:lt1>
      <a:dk2>
        <a:srgbClr val="1F497D"/>
      </a:dk2>
      <a:lt2>
        <a:srgbClr val="E8EEF4"/>
      </a:lt2>
      <a:accent1>
        <a:srgbClr val="142B49"/>
      </a:accent1>
      <a:accent2>
        <a:srgbClr val="087F8C"/>
      </a:accent2>
      <a:accent3>
        <a:srgbClr val="C96A2B"/>
      </a:accent3>
      <a:accent4>
        <a:srgbClr val="142B49"/>
      </a:accent4>
      <a:accent5>
        <a:srgbClr val="53657B"/>
      </a:accent5>
      <a:accent6>
        <a:srgbClr val="CCD6E1"/>
      </a:accent6>
      <a:hlink>
        <a:srgbClr val="087F8C"/>
      </a:hlink>
      <a:folHlink>
        <a:srgbClr val="C96A2B"/>
      </a:folHlink>
    </a:clrScheme>
    <a:fontScheme name="research_judgment_competition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search_judgment_competi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research_judgment_competition">
  <a:themeElements>
    <a:clrScheme name="research_judgment_competition">
      <a:dk1>
        <a:srgbClr val="223349"/>
      </a:dk1>
      <a:lt1>
        <a:srgbClr val="F5F7FA"/>
      </a:lt1>
      <a:dk2>
        <a:srgbClr val="1F497D"/>
      </a:dk2>
      <a:lt2>
        <a:srgbClr val="E8EEF4"/>
      </a:lt2>
      <a:accent1>
        <a:srgbClr val="142B49"/>
      </a:accent1>
      <a:accent2>
        <a:srgbClr val="087F8C"/>
      </a:accent2>
      <a:accent3>
        <a:srgbClr val="C96A2B"/>
      </a:accent3>
      <a:accent4>
        <a:srgbClr val="142B49"/>
      </a:accent4>
      <a:accent5>
        <a:srgbClr val="53657B"/>
      </a:accent5>
      <a:accent6>
        <a:srgbClr val="CCD6E1"/>
      </a:accent6>
      <a:hlink>
        <a:srgbClr val="087F8C"/>
      </a:hlink>
      <a:folHlink>
        <a:srgbClr val="C96A2B"/>
      </a:folHlink>
    </a:clrScheme>
    <a:fontScheme name="research_judgment_competition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search_judgment_competi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2255</Words>
  <Application>Microsoft Macintosh PowerPoint</Application>
  <PresentationFormat>宽屏</PresentationFormat>
  <Paragraphs>191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4" baseType="lpstr">
      <vt:lpstr>Arial</vt:lpstr>
      <vt:lpstr>research_judgment_competition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剑 张</cp:lastModifiedBy>
  <cp:revision>13</cp:revision>
  <dcterms:created xsi:type="dcterms:W3CDTF">2026-10-29T13:45:00Z</dcterms:created>
  <dcterms:modified xsi:type="dcterms:W3CDTF">2026-10-31T01:50:47Z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8CDF84DF1C2840D88B589F108F762C84_12</vt:lpwstr>
  </property>
  <property fmtid="{D5CDD505-2E9C-101B-9397-08002B2CF9AE}" pid="3" name="KSOProductBuildVer">
    <vt:lpwstr>2052-12.1.0.29161</vt:lpwstr>
  </property>
  <property fmtid="{D5CDD505-2E9C-101B-9397-08002B2CF9AE}" pid="4" name="OfficeCLI.Version">
    <vt:lpwstr>1.0.159</vt:lpwstr>
  </property>
  <property fmtid="{D5CDD505-2E9C-101B-9397-08002B2CF9AE}" pid="5" name="OfficeCLI.LastModified">
    <vt:lpwstr>2026-10-30T13:41:58Z</vt:lpwstr>
  </property>
</Properties>
</file>