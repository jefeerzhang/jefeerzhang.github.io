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ppt/tags/tag26.xml" ContentType="application/vnd.openxmlformats-officedocument.presentationml.tags+xml"/>
  <Override PartName="/ppt/notesSlides/notesSlide25.xml" ContentType="application/vnd.openxmlformats-officedocument.presentationml.notesSlide+xml"/>
  <Override PartName="/ppt/tags/tag27.xml" ContentType="application/vnd.openxmlformats-officedocument.presentationml.tags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custDataLst>
    <p:tags r:id="rId3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321" y="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开场先交代本课主题：在 CAPM 的基础上，把一维的 β 扩展为可命名、可配置、可检验的因子暴露向量。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 APT 的实践定位：不是另一个 β，而是把"收益从何而来"变成一张可核验的分解表。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预告全课时推进顺序：理论 → 案例三部曲 → Agent 实操，每个环节都以"把提示词交给 Agent、独立实现并审查输出"收尾。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开场读四个问题，说明本课的重心是理论与机制，不是罗列知识点。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问题1建立动机：先让学生承认"一个 β 不够"，后面每一步都是回答它。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问题2和问题3是概念关：套利定价讲清约束逻辑，因子讲清可操作定义。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问题4是落地关：套利的完整交易步骤与边界，最后用案例和实操检验理解。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先抛出驱动问题：一个 β 够不够。让学生先产生"好像不够"的直觉。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解释 β 是黑箱：它只回答"波动多大"，不回答"波动从哪来"。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列举三大效应，说明系统性风险来源不止一个，为 APT 引入多因子做铺垫。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强调这是历史规律而非物理定律，后面实测会给出反例。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本页回答"为什么要多因子"：先列 CAPM 的三重局限，再列三个无法被 β 解释的实证异象。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强调异象是系统性而非个别运气，否则不需要模型层面的回应。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结论：多因子不是推翻 CAPM，是把风险展开成多维，每个异象对应一个可能的共同风险源。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可举例：两只股票市场 β 相同，一只小市值一只大盘，长期收益不同，β 解释不了。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第一步讲清楚收益的因子结构：期望收益加因子冲击乘以暴露，再加特质扰动。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第二步是 APT 的核心论证：充分分散后特质风险消失，暴露为零的组合只能获得无风险利率，否则就有套利机会。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第三步把 K=1 且因子为市场组合时退化回 CAPM，说明 APT 是推广。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 APT 不需要市场组合可观测，因子可任意命名，只需要定价关系成立。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本页给"套利"一个可检验的定义：零投入、不亏损、正概率赚钱，三个条件缺一不可。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用一价定律类比降低抽象度：两个摊位同一商品不同价，买低卖高赚差价。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强调套利不是高收益策略：承担风险的押注不是套利，这是学生最容易混淆的点。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点出无套利假设的价值：它把"不能有免费午餐"变成定价的约束条件，为下一页的复制组合论证做铺垫。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本页是 APT 定价公式的完整论证：复制组合 → 同暴露同价 → 对每个资产成立。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强调暴露是权重的线性函数，权重是解方程解出来的，不是拍脑袋。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关键点：λ 不随资产变化，只有配比随资产变化——这是从"统计分解"升级成"定价模型"的那一步。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可现场演示：两个资产一正一负暴露，用 ½、½ 拼出与第三个资产完全相同的组合。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用表格对比 CAPM 与 APT 的三大差异：风险描述、市场组合、理论性质。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 APT 不需要市场组合可观测，这是它比 CAPM 更"可操作"的关键。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指出 APT 是近似的：它不保证每只个股定价误差为零，也不直接指定因子清单。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收束到"因子不是另一个 β"，预告第二部分的三个失败案例。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两步法的第一步是时间序列回归：估计每只资产的因子暴露、截距和拟合优度。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第二步的关键：因子用可交易组合收益表示，风险溢价就用样本均值估计，定价误差就落在 α 上，得到恒等式。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强调收益分解恒等式是本课时最有用的表——先分解、后评价。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提醒 α 的含义是多重的：技能、遗漏风险、错误基准、成本都可能，不能直接当成能力。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本页给因子一个可操作定义：共同变动的来源，暴露是回归斜率。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用油价例子建立直觉：航空公司与石油公司同涨同跌的方向就是因子。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讲两条发现路径：指定的（Fama-French 三因子）与统计的（主成分分析）。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强调实证落地：因子用可交易组合的收益表示，因此可以检验、可以配置。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本页把三因子的构造讲成四步：定义分组指标 → 两套独立排序 → 交叉取交集 → 持有并记录。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强调"独立排序再交叉"而非"组内重定分位"，这是学生最容易犯的错误。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SMB 跨估值平均、HML 跨规模平均，都是为了控制另一个维度、只留下目标差异。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说明分组日与持有期规则：每年 6 月底分组、次年 6 月底重新分组，组合是滚动更新的。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介绍四个本课使用的交易类因子：市场、规模、价值、动量。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逐一说明含义与教科书预期方向，但立即强调这些是历史规律不是物理定律。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预告后面 P1 实测：样本期内 SMB、HML、MOM 全部为负且分年翻转，让学生对"因子溢价"建立正确预期。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 APT 的实践价值：先检验、后配置，不承诺溢价存在。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用三栏介绍 APT 的三种用途：构建组合、定向配置风险、评价基金经理。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强调每种用途都对应后面的实操：P3 选股、P4 压力测试、P2 归因。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点出共同线索：APT 把风险从"一个数字"变成"可操作的暴露向量"。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预告下一节的三个案例：拥挤、崩溃、反转，为第三部分实操建立动机。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本页把"如何实现套利"拆成五步，核心是"买便宜的、卖空贵的"加"现金流账本"。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用具体数字演示：X 应得 8% 只给 5%，买入 X、卖空复制组合，今天现金流为零。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强调到期两种状态净赚一致——这正是套利与押注的区别。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提醒现实中不可能做到完全无风险：特质风险、成本和卖空限制是边界，下一页展开。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本页讲套利的现实边界，防止学生把理论当提款机。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三个边界：特质风险（近似套利）、交易成本、做空与资金限制。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点明 APT 的定位：对组合是强结论，对个股是数量级限制。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收束四个主题为一条链，为后面案例与实操建立整体框架。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本页把三个案例压缩成一页：拥挤、崩溃、反转各一句核心结论与关键数字。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案例1讲风格集中的代价：个股分散对冲不了风格集中。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案例2讲因子厚尾：SMB 单月历史极值，事件窗口驱动。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案例3讲评价依赖区间：同一经理两种评价，因子收益大面积反号。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本页展开案例1：因子失效的第一种形态——拥挤，即 2021 年"核心资产"抱团瓦解。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讲背景：每位基金经理都觉得自己在分散持股，但全行业集中在同一个消费/白酒风格因子上，这是"风格层面的集中"。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读表：抱团期消费 +228%、白酒 +388% 是拥挤的回报；瓦解期 −37% ~ −49% 是拥挤的代价；高点买入持有至今仍较沪深300 多亏 40~50 个百分点。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强调结论：风格指数就是一条可拥挤的因子；个股分散对冲不了风格集中。可对照讲稿 C1 提示词让 Agent 复现。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本页展开案例2：因子失效的第二种形态——崩溃，即 2024 年初小微盘流动性危机中的 SMB 单月暴跌。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讲机制：量化产品超配小微盘 + DMA 杠杆 + 雪球敲入与降杠杆负反馈，把一次流动性事件放大成因子的厚尾。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读表：危机窗中证2000 −27.49% vs 沪深300 −1.93%，差值 −25.6 个百分点；2024-01 月度差值在 44 个月中处于第 2.3 百分位。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强调口径：指数口径最差月 2024-01，因子口径最差月 2024-02，两口径指向同一现象但不是同一个月，引用时必须注明口径。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落脚点：压力测试必须用真实事件窗口，不能依赖假想情景。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本页展开案例3：因子失效的第三种形态——反转，即 2025–2026 风格轮动下同一管理人的评价随区间反转。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读轮动表：第一窗小盘题材占优，第二窗科创领涨、红利价值落后；005827 第一窗 +0.8% 基本收平，第二窗 −13.5%，同期沪深300 +17.5%。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补充因子层面：第一窗 SMB +6.1%、MOM −3.5%；第二窗 SMB −8.3%、MOM +32.0%、HML −46.3%，风格收益大面积反号。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强调教学点：对"能力"的判断高度依赖所选区间与风格口径；先检验、再归因，是 APT 归因纪律的第一课。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本页是四步法总览：目标与样本 → universe → 因子公式 → 输出与审查。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核心教学点：提示词的每个要素都对应一个"Agent 可能自由发挥"的坑。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 universe 的尺寸跨度与 HML 口径声明，是学生最容易漏掉的两处。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预告后四页：逐步给出可抄片段，最后一页拼装完整提示词。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本页讲前两步：目标/样本 + universe，给出可直接抄的提示词片段。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强调"目标不写清 Agent 会自由发挥"，是提示词工程第一课。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 universe 的尺寸跨度：只用沪深300，SMB/HML 就没有跨度。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橙色注释是可替换声明：数据源受限时换跨尺寸池并说明。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本页讲第三步：四个因子的可复现公式，LaTeX 渲染进提示词卡。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强调下标与分式显式化，Agent 没有自由发挥空间。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HML 用指数代理必须声明，与教科书 PB 分组口径不可比。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橙色注释收束：每个符号定义到"别人能照着重算"。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本页讲第四步：输出契约 + 审查要点，都写进同一段提示词。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输出契约强调"缺一项即不合格"，对应 Memo 图表标准格式。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三条审查对应最易错的三处：universe 跨度、HML 口径、负溢价。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预告下一页：把四步拼成完整提示词，可直接复制交给 Agent。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本页是四步拼装的完整提示词，可直接复制交给 Agent（P1）。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 1 段：目标与样本；第 2 段：universe；第 3 段：四个因子的可复现定义。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 4 段：输出契约。下方三条审查要点对应最易错的三处。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课后任务：复现 P1、换 universe 重跑、写入 Memo Part 3。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本页把 P1–P4 实操压缩成四句要点，每句对应一张完整可复现的表。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P1 讲"三条溢价为负"：教科书预期方向与实测相反，是 APT 实践价值的第一课。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P2 讲口径纪律：α 显著为负先查基准与口径，再谈能力。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P3、P4 讲风格选择与风险暴露：名单集中是第一步，压力测试回撤先行。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小结页：回到章引"一个 β 够吗"——本课的答案是"不够，那就多几个 β"。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三种工具分工：MPT 管篮子、CAPM 管单资产、APT 管多维风险。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核心动作一句话：观点 → 暴露 → 名单 → 风险，全部可以量化并写进 Memo。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课后任务四选必做，其中 Memo 是考核交付物。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结尾页是口径声明：所有数字可复现、结论有边界。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强调三类限制：数据透明度、因子代理误差、样本时期局限。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教学演示定位：不构成投资建议。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3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5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7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8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4028">
                <a:alpha val="100000"/>
              </a:srgbClr>
            </a:gs>
            <a:gs pos="100000">
              <a:srgbClr val="217448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24000" y="812800"/>
            <a:ext cx="914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DEEEE3"/>
                </a:solidFill>
                <a:latin typeface="Noto Sans SC"/>
                <a:ea typeface="Noto Sans SC"/>
                <a:cs typeface="Noto Sans SC"/>
                <a:sym typeface="Noto Sans SC"/>
              </a:rPr>
              <a:t>四川农业大学 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6138">
            <a:off x="2540006" y="1543050"/>
            <a:ext cx="711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EE3">
                <a:alpha val="5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270000" y="2159000"/>
            <a:ext cx="9652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套利定价理论（APT）的应用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778000" y="3683000"/>
            <a:ext cx="863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EEEE3"/>
                </a:solidFill>
                <a:latin typeface="Noto Sans SC"/>
                <a:ea typeface="Noto Sans SC"/>
                <a:cs typeface="Noto Sans SC"/>
                <a:sym typeface="Noto Sans SC"/>
              </a:rPr>
              <a:t>从 CAPM 到 APT，再到实证多因子模型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32000" y="5461000"/>
            <a:ext cx="812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DE4D3"/>
                </a:solidFill>
                <a:latin typeface="Noto Sans SC"/>
                <a:ea typeface="Noto Sans SC"/>
                <a:cs typeface="Noto Sans SC"/>
                <a:sym typeface="Noto Sans SC"/>
              </a:rPr>
              <a:t>第3课时 · 因子构建 · 收益归因 · 定向选股 · 压力测试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58800"/>
            <a:ext cx="1041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本课重点：四个问题，一条主线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314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66800" y="1625600"/>
            <a:ext cx="711200" cy="711200"/>
          </a:xfrm>
          <a:prstGeom prst="ellipse">
            <a:avLst/>
          </a:prstGeom>
          <a:solidFill>
            <a:srgbClr val="2174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66800" y="1778000"/>
            <a:ext cx="711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981200" y="1625600"/>
            <a:ext cx="9144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7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为什么要有多因子模型？</a:t>
            </a: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CAPM 的一个 β 解释不了收益差异，实证异象指向系统性风险不止一个来源。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692400"/>
            <a:ext cx="711200" cy="711200"/>
          </a:xfrm>
          <a:prstGeom prst="ellipse">
            <a:avLst/>
          </a:prstGeom>
          <a:solidFill>
            <a:srgbClr val="2174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66800" y="2844800"/>
            <a:ext cx="711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981200" y="2692400"/>
            <a:ext cx="9144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7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什么是套利定价？</a:t>
            </a: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无套利约束：相同风险暴露的资产必须相同定价，否则可以构造"零投入、不亏、正概率赚"的免费午餐。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66800" y="3759200"/>
            <a:ext cx="711200" cy="711200"/>
          </a:xfrm>
          <a:prstGeom prst="ellipse">
            <a:avLst/>
          </a:prstGeom>
          <a:solidFill>
            <a:srgbClr val="2174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66800" y="3911600"/>
            <a:ext cx="711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981200" y="3759200"/>
            <a:ext cx="9144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7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什么是因子？</a:t>
            </a: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因子是共同变动的来源，用可交易组合的收益表示；暴露 β 是回归斜率，把观点翻译成可配置的向量。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66800" y="4826000"/>
            <a:ext cx="711200" cy="711200"/>
          </a:xfrm>
          <a:prstGeom prst="ellipse">
            <a:avLst/>
          </a:prstGeom>
          <a:solidFill>
            <a:srgbClr val="2174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66800" y="4978400"/>
            <a:ext cx="711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981200" y="4826000"/>
            <a:ext cx="9144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7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如何实现套利？</a:t>
            </a: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识别定价偏离 → 用已有资产拼出复制组合 → 买便宜的、卖空贵的 → 净现金流为正；特质风险与成本决定边界。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4297">
            <a:off x="1016004" y="5886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0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16000" y="60706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一条主线：为什么多因子 → 套利定价如何约束收益 → 因子是什么 → 套利如何落地。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4028">
                <a:alpha val="100000"/>
              </a:srgbClr>
            </a:gs>
            <a:gs pos="100000">
              <a:srgbClr val="217448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DE4D3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第一部分 · 从 CAPM 到 APT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984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EE3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397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一个 β，够解释收益差异吗？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778000" y="2692400"/>
            <a:ext cx="8636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700" b="0" i="0" u="none" strike="noStrike">
                <a:solidFill>
                  <a:srgbClr val="DEEEE3"/>
                </a:solidFill>
                <a:latin typeface="Noto Sans SC"/>
                <a:ea typeface="Noto Sans SC"/>
                <a:cs typeface="Noto Sans SC"/>
                <a:sym typeface="Noto Sans SC"/>
              </a:rPr>
              <a:t>CAPM 把"该资产应提供多高的期望回报"压缩成一个数字 β。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700" b="0" i="0" u="none" strike="noStrike">
                <a:solidFill>
                  <a:srgbClr val="DEEEE3"/>
                </a:solidFill>
                <a:latin typeface="Noto Sans SC"/>
                <a:ea typeface="Noto Sans SC"/>
                <a:cs typeface="Noto Sans SC"/>
                <a:sym typeface="Noto Sans SC"/>
              </a:rPr>
              <a:t>但 β 是黑箱——它只度量与市场共同波动的程度，不揭示波动的来源。</a:t>
            </a:r>
          </a:p>
        </p:txBody>
      </p:sp>
      <p:cxnSp>
        <p:nvCxnSpPr>
          <p:cNvPr id="6" name="Connector 6"/>
          <p:cNvCxnSpPr/>
          <p:nvPr/>
        </p:nvCxnSpPr>
        <p:spPr>
          <a:xfrm rot="-5729">
            <a:off x="2286005" y="3829050"/>
            <a:ext cx="762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EE3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524000" y="4191000"/>
            <a:ext cx="914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166"/>
              </a:lnSpc>
              <a:defRPr/>
            </a:pPr>
            <a:r>
              <a:rPr lang="en-US" sz="1700" b="0" i="0" u="none" strike="noStrike" dirty="0" err="1">
                <a:solidFill>
                  <a:srgbClr val="DEEEE3"/>
                </a:solidFill>
                <a:latin typeface="Noto Sans SC"/>
                <a:ea typeface="Noto Sans SC"/>
                <a:cs typeface="Noto Sans SC"/>
                <a:sym typeface="Noto Sans SC"/>
              </a:rPr>
              <a:t>实证研究早已提示，系统性风险的来源不止一个</a:t>
            </a:r>
            <a:r>
              <a:rPr lang="en-US" sz="1700" b="0" i="0" u="none" strike="noStrike" dirty="0">
                <a:solidFill>
                  <a:srgbClr val="DEEEE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marL="0" indent="0" algn="l">
              <a:lnSpc>
                <a:spcPct val="129166"/>
              </a:lnSpc>
            </a:pPr>
            <a:r>
              <a:rPr lang="en-US" sz="1700" b="0" i="0" u="none" strike="noStrike" dirty="0">
                <a:solidFill>
                  <a:srgbClr val="DEEEE3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700" b="0" i="0" u="none" strike="noStrike" dirty="0" err="1">
                <a:solidFill>
                  <a:srgbClr val="DEEEE3"/>
                </a:solidFill>
                <a:latin typeface="Noto Sans SC"/>
                <a:ea typeface="Noto Sans SC"/>
                <a:cs typeface="Noto Sans SC"/>
                <a:sym typeface="Noto Sans SC"/>
              </a:rPr>
              <a:t>小市值股票长期跑赢大市值</a:t>
            </a:r>
            <a:r>
              <a:rPr lang="en-US" sz="1700" b="0" i="0" u="none" strike="noStrike" dirty="0">
                <a:solidFill>
                  <a:srgbClr val="DEEEE3"/>
                </a:solidFill>
                <a:latin typeface="Noto Sans SC"/>
                <a:ea typeface="Noto Sans SC"/>
                <a:cs typeface="Noto Sans SC"/>
                <a:sym typeface="Noto Sans SC"/>
              </a:rPr>
              <a:t> —— </a:t>
            </a:r>
            <a:r>
              <a:rPr lang="en-US" sz="1700" b="0" i="0" u="none" strike="noStrike" dirty="0" err="1">
                <a:solidFill>
                  <a:srgbClr val="DEEEE3"/>
                </a:solidFill>
                <a:latin typeface="Noto Sans SC"/>
                <a:ea typeface="Noto Sans SC"/>
                <a:cs typeface="Noto Sans SC"/>
                <a:sym typeface="Noto Sans SC"/>
              </a:rPr>
              <a:t>规模效应</a:t>
            </a:r>
            <a:endParaRPr lang="en-US" sz="1700" b="0" i="0" u="none" strike="noStrike" dirty="0">
              <a:solidFill>
                <a:srgbClr val="DEEEE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9166"/>
              </a:lnSpc>
            </a:pPr>
            <a:r>
              <a:rPr lang="en-US" sz="1700" b="0" i="0" u="none" strike="noStrike" dirty="0">
                <a:solidFill>
                  <a:srgbClr val="DEEEE3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700" b="0" i="0" u="none" strike="noStrike" dirty="0" err="1">
                <a:solidFill>
                  <a:srgbClr val="DEEEE3"/>
                </a:solidFill>
                <a:latin typeface="Noto Sans SC"/>
                <a:ea typeface="Noto Sans SC"/>
                <a:cs typeface="Noto Sans SC"/>
                <a:sym typeface="Noto Sans SC"/>
              </a:rPr>
              <a:t>低估值股票长期跑赢高估值</a:t>
            </a:r>
            <a:r>
              <a:rPr lang="en-US" sz="1700" b="0" i="0" u="none" strike="noStrike" dirty="0">
                <a:solidFill>
                  <a:srgbClr val="DEEEE3"/>
                </a:solidFill>
                <a:latin typeface="Noto Sans SC"/>
                <a:ea typeface="Noto Sans SC"/>
                <a:cs typeface="Noto Sans SC"/>
                <a:sym typeface="Noto Sans SC"/>
              </a:rPr>
              <a:t> —— </a:t>
            </a:r>
            <a:r>
              <a:rPr lang="en-US" sz="1700" b="0" i="0" u="none" strike="noStrike" dirty="0" err="1">
                <a:solidFill>
                  <a:srgbClr val="DEEEE3"/>
                </a:solidFill>
                <a:latin typeface="Noto Sans SC"/>
                <a:ea typeface="Noto Sans SC"/>
                <a:cs typeface="Noto Sans SC"/>
                <a:sym typeface="Noto Sans SC"/>
              </a:rPr>
              <a:t>价值效应</a:t>
            </a:r>
            <a:endParaRPr lang="en-US" sz="1700" b="0" i="0" u="none" strike="noStrike" dirty="0">
              <a:solidFill>
                <a:srgbClr val="DEEEE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9166"/>
              </a:lnSpc>
            </a:pPr>
            <a:r>
              <a:rPr lang="en-US" sz="1700" b="0" i="0" u="none" strike="noStrike" dirty="0">
                <a:solidFill>
                  <a:srgbClr val="DEEEE3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700" b="0" i="0" u="none" strike="noStrike" dirty="0" err="1">
                <a:solidFill>
                  <a:srgbClr val="DEEEE3"/>
                </a:solidFill>
                <a:latin typeface="Noto Sans SC"/>
                <a:ea typeface="Noto Sans SC"/>
                <a:cs typeface="Noto Sans SC"/>
                <a:sym typeface="Noto Sans SC"/>
              </a:rPr>
              <a:t>过去的赢家中期继续赢</a:t>
            </a:r>
            <a:r>
              <a:rPr lang="en-US" sz="1700" b="0" i="0" u="none" strike="noStrike" dirty="0">
                <a:solidFill>
                  <a:srgbClr val="DEEEE3"/>
                </a:solidFill>
                <a:latin typeface="Noto Sans SC"/>
                <a:ea typeface="Noto Sans SC"/>
                <a:cs typeface="Noto Sans SC"/>
                <a:sym typeface="Noto Sans SC"/>
              </a:rPr>
              <a:t> —— </a:t>
            </a:r>
            <a:r>
              <a:rPr lang="en-US" sz="1700" b="0" i="0" u="none" strike="noStrike" dirty="0" err="1">
                <a:solidFill>
                  <a:srgbClr val="DEEEE3"/>
                </a:solidFill>
                <a:latin typeface="Noto Sans SC"/>
                <a:ea typeface="Noto Sans SC"/>
                <a:cs typeface="Noto Sans SC"/>
                <a:sym typeface="Noto Sans SC"/>
              </a:rPr>
              <a:t>动量效应</a:t>
            </a:r>
            <a:endParaRPr lang="en-US" sz="1700" b="0" i="0" u="none" strike="noStrike" dirty="0">
              <a:solidFill>
                <a:srgbClr val="DEEEE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8" name="Connector 8"/>
          <p:cNvCxnSpPr/>
          <p:nvPr/>
        </p:nvCxnSpPr>
        <p:spPr>
          <a:xfrm rot="-4297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EE3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524000" y="61722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Ross（1976）的套利定价理论（APT），把这些效应形式化为一张暴露向量表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主题一 · 为什么要有多因子模型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为什么需要多因子：一个 β 解释不完的收益差异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43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778000"/>
            <a:ext cx="4826000" cy="3175000"/>
          </a:xfrm>
          <a:prstGeom prst="roundRect">
            <a:avLst>
              <a:gd name="adj" fmla="val 4800"/>
            </a:avLst>
          </a:prstGeom>
          <a:solidFill>
            <a:srgbClr val="217448">
              <a:alpha val="7000"/>
            </a:srgbClr>
          </a:solidFill>
          <a:ln w="12700" cap="flat" cmpd="sng">
            <a:solidFill>
              <a:srgbClr val="21744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320800" y="1981200"/>
            <a:ext cx="42164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CAPM 的三个局限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① </a:t>
            </a:r>
            <a:r>
              <a:rPr lang="en-US" sz="16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β 是黑箱</a:t>
            </a:r>
            <a:r>
              <a:rPr lang="en-US" sz="16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：只度量与市场共同波动的程度，不回答波动从哪来。</a:t>
            </a:r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② </a:t>
            </a:r>
            <a:r>
              <a:rPr lang="en-US" sz="16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市场组合不可观测</a:t>
            </a:r>
            <a:r>
              <a:rPr lang="en-US" sz="16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：理论要求"全市场组合"，实操只能用指数近似。</a:t>
            </a:r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③ </a:t>
            </a:r>
            <a:r>
              <a:rPr lang="en-US" sz="16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只有一维风险</a:t>
            </a:r>
            <a:r>
              <a:rPr lang="en-US" sz="16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：把所有风险压成一个数字，无法区分风格、行业等不同来源。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350000" y="1778000"/>
            <a:ext cx="4826000" cy="3175000"/>
          </a:xfrm>
          <a:prstGeom prst="roundRect">
            <a:avLst>
              <a:gd name="adj" fmla="val 4800"/>
            </a:avLst>
          </a:prstGeom>
          <a:solidFill>
            <a:srgbClr val="E08A0C">
              <a:alpha val="8000"/>
            </a:srgbClr>
          </a:solidFill>
          <a:ln w="12700" cap="flat" cmpd="sng">
            <a:solidFill>
              <a:srgbClr val="E08A0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654800" y="1981200"/>
            <a:ext cx="42164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 dirty="0" err="1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实证中的三个异象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 dirty="0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① </a:t>
            </a:r>
            <a:r>
              <a:rPr lang="en-US" sz="1600" b="1" i="0" u="none" strike="noStrike" dirty="0" err="1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规模效应</a:t>
            </a:r>
            <a:r>
              <a:rPr lang="en-US" sz="1600" b="0" i="0" u="none" strike="noStrike" dirty="0" err="1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：小市值股票长期跑赢大市值</a:t>
            </a:r>
            <a:r>
              <a:rPr lang="en-US" sz="1600" b="0" i="0" u="none" strike="noStrike" dirty="0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，β </a:t>
            </a:r>
            <a:r>
              <a:rPr lang="en-US" sz="1600" b="0" i="0" u="none" strike="noStrike" dirty="0" err="1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无法解释</a:t>
            </a:r>
            <a:r>
              <a:rPr lang="en-US" sz="1600" b="0" i="0" u="none" strike="noStrike" dirty="0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 dirty="0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② </a:t>
            </a:r>
            <a:r>
              <a:rPr lang="en-US" sz="1600" b="1" i="0" u="none" strike="noStrike" dirty="0" err="1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价值效应</a:t>
            </a:r>
            <a:r>
              <a:rPr lang="en-US" sz="1600" b="0" i="0" u="none" strike="noStrike" dirty="0" err="1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：低估值（高账面市值比）股票长期跑赢高估值</a:t>
            </a:r>
            <a:r>
              <a:rPr lang="en-US" sz="1600" b="0" i="0" u="none" strike="noStrike" dirty="0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 dirty="0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③ </a:t>
            </a:r>
            <a:r>
              <a:rPr lang="en-US" sz="1600" b="1" i="0" u="none" strike="noStrike" dirty="0" err="1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动量效应</a:t>
            </a:r>
            <a:r>
              <a:rPr lang="en-US" sz="1600" b="0" i="0" u="none" strike="noStrike" dirty="0" err="1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：过去的赢家中期继续赢、输家继续输</a:t>
            </a:r>
            <a:r>
              <a:rPr lang="en-US" sz="1600" b="0" i="0" u="none" strike="noStrike" dirty="0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 dirty="0" err="1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三个异象都是"系统性"的：同时影响一大批股票，不是个别公司的运气</a:t>
            </a:r>
            <a:r>
              <a:rPr lang="en-US" sz="1600" b="0" i="0" u="none" strike="noStrike" dirty="0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cxnSp>
        <p:nvCxnSpPr>
          <p:cNvPr id="9" name="Connector 9"/>
          <p:cNvCxnSpPr/>
          <p:nvPr/>
        </p:nvCxnSpPr>
        <p:spPr>
          <a:xfrm rot="-4297">
            <a:off x="1016004" y="5175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0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53848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7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多因子模型的回应</a:t>
            </a: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：不放弃 β 的思想，而是把"风险"从一维展开成多维——每个异象背后可能是一个未被定价的共同风险源，把它们放进同一张暴露向量表。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来源：Fama &amp; French（1993）《Common risk factors in the returns on stocks and bonds》。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第一部分 · 从 CAPM 到 APT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三步推导：从收益结构到定价公式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43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905000"/>
            <a:ext cx="431800" cy="431800"/>
          </a:xfrm>
          <a:prstGeom prst="ellipse">
            <a:avLst/>
          </a:prstGeom>
          <a:solidFill>
            <a:srgbClr val="2174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68400" y="1968500"/>
            <a:ext cx="25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25600" y="19050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收益的因子结构</a:t>
            </a:r>
            <a:endParaRPr 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AutoShape 8"/>
              <p:cNvSpPr/>
              <p:nvPr/>
            </p:nvSpPr>
            <p:spPr>
              <a:xfrm>
                <a:off x="1625600" y="2362200"/>
                <a:ext cx="9652000" cy="8128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7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任何资产的收益由少数共同因子驱动：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𝑟</m:t>
                        </m:r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𝑖</m:t>
                        </m:r>
                      </m:sub>
                    </m:sSub>
                    <m:r>
                      <a:rPr sz="17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=</m:t>
                    </m:r>
                    <m:r>
                      <a:rPr sz="17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𝐸</m:t>
                    </m:r>
                    <m:d>
                      <m:dPr>
                        <m:ctrlPr>
                          <a:rPr sz="1700" i="1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</m:ctrlPr>
                          </m:sSubPr>
                          <m:e>
                            <m: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𝑟</m:t>
                            </m:r>
                          </m:e>
                          <m:sub>
                            <m: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sz="17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naryPr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𝑘</m:t>
                        </m:r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=1</m:t>
                        </m:r>
                      </m:sub>
                      <m:sup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</m:ctrlPr>
                          </m:sSubPr>
                          <m:e>
                            <m: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𝑏</m:t>
                            </m:r>
                          </m:e>
                          <m:sub>
                            <m: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𝑖𝑘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𝐹</m:t>
                        </m:r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𝑘</m:t>
                        </m:r>
                      </m:sub>
                    </m:sSub>
                    <m:r>
                      <a:rPr sz="17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+</m:t>
                    </m:r>
                    <m:sSub>
                      <m:sSubPr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𝜀</m:t>
                        </m:r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𝑖</m:t>
                        </m:r>
                      </m:sub>
                    </m:sSub>
                  </m:oMath>
                </a14:m>
                <a:endParaRPr lang="en-US" sz="1100"/>
              </a:p>
              <a:p>
                <a:pPr marL="0" indent="0" algn="l">
                  <a:lnSpc>
                    <a:spcPct val="112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𝐹</m:t>
                        </m:r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7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为因子意外（均值为 0），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𝑏</m:t>
                        </m:r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-US" sz="17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为暴露，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𝜀</m:t>
                        </m:r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7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为可分散的特质波动</a:t>
                </a:r>
              </a:p>
            </p:txBody>
          </p:sp>
        </mc:Choice>
        <mc:Fallback>
          <p:sp>
            <p:nvSpPr>
              <p:cNvPr id="8" name="AutoShap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600" y="2362200"/>
                <a:ext cx="9652000" cy="812800"/>
              </a:xfrm>
              <a:prstGeom prst="rect">
                <a:avLst/>
              </a:prstGeom>
              <a:blipFill>
                <a:blip r:embed="rId4"/>
                <a:stretch>
                  <a:fillRect l="-1390" t="-38346" b="-30827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utoShape 9"/>
          <p:cNvSpPr/>
          <p:nvPr/>
        </p:nvSpPr>
        <p:spPr>
          <a:xfrm>
            <a:off x="1016000" y="3403600"/>
            <a:ext cx="431800" cy="431800"/>
          </a:xfrm>
          <a:prstGeom prst="ellipse">
            <a:avLst/>
          </a:prstGeom>
          <a:solidFill>
            <a:srgbClr val="2174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168400" y="3467100"/>
            <a:ext cx="25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625600" y="34036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无套利论证</a:t>
            </a:r>
            <a:endParaRPr 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AutoShape 12"/>
              <p:cNvSpPr/>
              <p:nvPr/>
            </p:nvSpPr>
            <p:spPr>
              <a:xfrm>
                <a:off x="1625600" y="3860800"/>
                <a:ext cx="9652000" cy="8128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7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充分分散、对所有因子暴露为零的组合必须获得无风险利率，否则可构造无风险利润，故：</a:t>
                </a:r>
                <a:endParaRPr lang="en-US" sz="1100"/>
              </a:p>
              <a:p>
                <a:pPr marL="0" indent="0" algn="l">
                  <a:lnSpc>
                    <a:spcPct val="112500"/>
                  </a:lnSpc>
                </a:pPr>
                <a14:m>
                  <m:oMath xmlns:m="http://schemas.openxmlformats.org/officeDocument/2006/math">
                    <m:r>
                      <a:rPr sz="17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𝐸</m:t>
                    </m:r>
                    <m:d>
                      <m:dPr>
                        <m:ctrlPr>
                          <a:rPr sz="1700" i="1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</m:ctrlPr>
                          </m:sSubPr>
                          <m:e>
                            <m: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𝑟</m:t>
                            </m:r>
                          </m:e>
                          <m:sub>
                            <m: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sz="17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−</m:t>
                    </m:r>
                    <m:sSub>
                      <m:sSubPr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𝑟</m:t>
                        </m:r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𝑓</m:t>
                        </m:r>
                      </m:sub>
                    </m:sSub>
                    <m:r>
                      <a:rPr sz="17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naryPr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𝑘</m:t>
                        </m:r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=1</m:t>
                        </m:r>
                      </m:sub>
                      <m:sup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</m:ctrlPr>
                          </m:sSubPr>
                          <m:e>
                            <m: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𝑏</m:t>
                            </m:r>
                          </m:e>
                          <m:sub>
                            <m: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𝑖𝑘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𝜆</m:t>
                        </m:r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7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𝜆</m:t>
                        </m:r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7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为因子 k 的风险溢价（承担一单位暴露的补偿）</a:t>
                </a:r>
              </a:p>
            </p:txBody>
          </p:sp>
        </mc:Choice>
        <mc:Fallback>
          <p:sp>
            <p:nvSpPr>
              <p:cNvPr id="12" name="AutoShap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600" y="3860800"/>
                <a:ext cx="9652000" cy="812800"/>
              </a:xfrm>
              <a:prstGeom prst="rect">
                <a:avLst/>
              </a:prstGeom>
              <a:blipFill>
                <a:blip r:embed="rId5"/>
                <a:stretch>
                  <a:fillRect l="-1390" t="-1493" b="-66418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utoShape 13"/>
          <p:cNvSpPr/>
          <p:nvPr/>
        </p:nvSpPr>
        <p:spPr>
          <a:xfrm>
            <a:off x="1016000" y="4902200"/>
            <a:ext cx="431800" cy="431800"/>
          </a:xfrm>
          <a:prstGeom prst="ellipse">
            <a:avLst/>
          </a:prstGeom>
          <a:solidFill>
            <a:srgbClr val="2174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168400" y="4965700"/>
            <a:ext cx="25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625600" y="49022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与 CAPM 的关系</a:t>
            </a:r>
            <a:endParaRPr 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AutoShape 16"/>
              <p:cNvSpPr/>
              <p:nvPr/>
            </p:nvSpPr>
            <p:spPr>
              <a:xfrm>
                <a:off x="1625600" y="5359400"/>
                <a:ext cx="9652000" cy="8128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7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令 </a:t>
                </a:r>
                <a14:m>
                  <m:oMath xmlns:m="http://schemas.openxmlformats.org/officeDocument/2006/math">
                    <m:r>
                      <a:rPr sz="17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𝐾</m:t>
                    </m:r>
                    <m:r>
                      <a:rPr sz="17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=1</m:t>
                    </m:r>
                  </m:oMath>
                </a14:m>
                <a:r>
                  <a:rPr lang="en-US" sz="17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、唯一因子取市场组合，则退化为 </a:t>
                </a:r>
                <a14:m>
                  <m:oMath xmlns:m="http://schemas.openxmlformats.org/officeDocument/2006/math">
                    <m:r>
                      <a:rPr sz="17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𝐸</m:t>
                    </m:r>
                    <m:d>
                      <m:dPr>
                        <m:ctrlPr>
                          <a:rPr sz="1700" i="1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</m:ctrlPr>
                          </m:sSubPr>
                          <m:e>
                            <m: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𝑟</m:t>
                            </m:r>
                          </m:e>
                          <m:sub>
                            <m: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sz="17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−</m:t>
                    </m:r>
                    <m:sSub>
                      <m:sSubPr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𝑟</m:t>
                        </m:r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𝑓</m:t>
                        </m:r>
                      </m:sub>
                    </m:sSub>
                    <m:r>
                      <a:rPr sz="17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=</m:t>
                    </m:r>
                    <m:sSub>
                      <m:sSubPr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𝛽</m:t>
                        </m:r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d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𝐸</m:t>
                        </m:r>
                        <m:d>
                          <m:dPr>
                            <m:ctrlPr>
                              <a:rPr sz="1700" i="1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1700">
                                    <a:solidFill>
                                      <a:srgbClr val="2B3542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  <a:sym typeface="Noto Sans SC"/>
                                  </a:rPr>
                                </m:ctrlPr>
                              </m:sSubPr>
                              <m:e>
                                <m:r>
                                  <a:rPr sz="1700">
                                    <a:solidFill>
                                      <a:srgbClr val="2B3542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  <a:sym typeface="Noto Sans SC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sz="1700">
                                    <a:solidFill>
                                      <a:srgbClr val="2B3542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  <a:sym typeface="Noto Sans SC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−</m:t>
                        </m:r>
                        <m:sSub>
                          <m:sSubPr>
                            <m:ctrlP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</m:ctrlPr>
                          </m:sSubPr>
                          <m:e>
                            <m: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𝑟</m:t>
                            </m:r>
                          </m:e>
                          <m:sub>
                            <m: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𝑓</m:t>
                            </m:r>
                          </m:sub>
                        </m:sSub>
                      </m:e>
                    </m:d>
                  </m:oMath>
                </a14:m>
                <a:endParaRPr lang="en-US" sz="1100"/>
              </a:p>
              <a:p>
                <a:pPr marL="0" indent="0" algn="l">
                  <a:lnSpc>
                    <a:spcPct val="112500"/>
                  </a:lnSpc>
                </a:pPr>
                <a:r>
                  <a:rPr lang="en-US" sz="1700" b="1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CAPM 是 APT 的特例</a:t>
                </a:r>
                <a:r>
                  <a:rPr lang="en-US" sz="17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：风险描述从"一个数字 β"变成"一张暴露向量表"</a:t>
                </a:r>
              </a:p>
            </p:txBody>
          </p:sp>
        </mc:Choice>
        <mc:Fallback>
          <p:sp>
            <p:nvSpPr>
              <p:cNvPr id="16" name="AutoShap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600" y="5359400"/>
                <a:ext cx="9652000" cy="812800"/>
              </a:xfrm>
              <a:prstGeom prst="rect">
                <a:avLst/>
              </a:prstGeom>
              <a:blipFill>
                <a:blip r:embed="rId6"/>
                <a:stretch>
                  <a:fillRect l="-1390" b="-2239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主题二 · 什么是套利定价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套利：不承担风险的免费午餐，长什么样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43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778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7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一个交易要称得上"套利"，必须同时满足三个条件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89200"/>
            <a:ext cx="3175000" cy="1524000"/>
          </a:xfrm>
          <a:prstGeom prst="roundRect">
            <a:avLst>
              <a:gd name="adj" fmla="val 10000"/>
            </a:avLst>
          </a:prstGeom>
          <a:solidFill>
            <a:srgbClr val="217448">
              <a:alpha val="8000"/>
            </a:srgbClr>
          </a:solidFill>
          <a:ln w="12700" cap="flat" cmpd="sng">
            <a:solidFill>
              <a:srgbClr val="21744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19200" y="2692400"/>
            <a:ext cx="2768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① 零投入</a:t>
            </a:r>
            <a:endParaRPr lang="en-US" sz="1100"/>
          </a:p>
          <a:p>
            <a:pPr marL="0" indent="0" algn="l">
              <a:lnSpc>
                <a:spcPct val="112500"/>
              </a:lnSpc>
            </a:pPr>
            <a:r>
              <a:rPr lang="en-US" sz="15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今天净投入为 0：卖空得到的钱恰好覆盖买入的开支。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508500" y="2489200"/>
            <a:ext cx="3175000" cy="1524000"/>
          </a:xfrm>
          <a:prstGeom prst="roundRect">
            <a:avLst>
              <a:gd name="adj" fmla="val 10000"/>
            </a:avLst>
          </a:prstGeom>
          <a:solidFill>
            <a:srgbClr val="217448">
              <a:alpha val="8000"/>
            </a:srgbClr>
          </a:solidFill>
          <a:ln w="12700" cap="flat" cmpd="sng">
            <a:solidFill>
              <a:srgbClr val="21744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711700" y="2692400"/>
            <a:ext cx="2768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② 不亏损</a:t>
            </a:r>
            <a:endParaRPr lang="en-US" sz="1100"/>
          </a:p>
          <a:p>
            <a:pPr marL="0" indent="0" algn="l">
              <a:lnSpc>
                <a:spcPct val="112500"/>
              </a:lnSpc>
            </a:pPr>
            <a:r>
              <a:rPr lang="en-US" sz="15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到期在任何状态下都不亏：所有可能的世界里，现金流 ≥ 0。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001000" y="2489200"/>
            <a:ext cx="3175000" cy="1524000"/>
          </a:xfrm>
          <a:prstGeom prst="roundRect">
            <a:avLst>
              <a:gd name="adj" fmla="val 10000"/>
            </a:avLst>
          </a:prstGeom>
          <a:solidFill>
            <a:srgbClr val="217448">
              <a:alpha val="8000"/>
            </a:srgbClr>
          </a:solidFill>
          <a:ln w="12700" cap="flat" cmpd="sng">
            <a:solidFill>
              <a:srgbClr val="21744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204200" y="2692400"/>
            <a:ext cx="2768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③ 正概率赚钱</a:t>
            </a:r>
            <a:endParaRPr lang="en-US" sz="1100"/>
          </a:p>
          <a:p>
            <a:pPr marL="0" indent="0" algn="l">
              <a:lnSpc>
                <a:spcPct val="112500"/>
              </a:lnSpc>
            </a:pPr>
            <a:r>
              <a:rPr lang="en-US" sz="15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至少存在一个状态能赚到正的钱，而且赚得比无风险利率多。</a:t>
            </a:r>
          </a:p>
        </p:txBody>
      </p:sp>
      <p:cxnSp>
        <p:nvCxnSpPr>
          <p:cNvPr id="12" name="Connector 12"/>
          <p:cNvCxnSpPr/>
          <p:nvPr/>
        </p:nvCxnSpPr>
        <p:spPr>
          <a:xfrm rot="-4297">
            <a:off x="1016004" y="4260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0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16000" y="4495800"/>
            <a:ext cx="1016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7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直觉类比——一价定律</a:t>
            </a: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：同一款商品在两个摊位卖不同价，聪明的做法是买便宜的、同时卖空贵的，赚差价且不承担任何价格风险。套利就是"一价定律"在金融资产上的推广。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7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重要区分</a:t>
            </a: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：套利 ≠ 高收益策略。押注涨跌、博反弹都承担了风险，不是套利；只有"相同风险暴露、不同价格"才是套利。</a:t>
            </a:r>
          </a:p>
          <a:p>
            <a:pPr marL="0" indent="0" algn="l">
              <a:lnSpc>
                <a:spcPct val="116666"/>
              </a:lnSpc>
            </a:pPr>
            <a:r>
              <a:rPr lang="en-US" sz="17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无套利假设</a:t>
            </a: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：市场里不应持续存在这样的机会——一旦出现，交易会推动相对价格变化，把差价压到零。这个假设，就是 APT 定价公式的引擎。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主题二 · 什么是套利定价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无套利怎样变成定价公式：复制组合的四步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43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AutoShape 5"/>
              <p:cNvSpPr/>
              <p:nvPr/>
            </p:nvSpPr>
            <p:spPr>
              <a:xfrm>
                <a:off x="1016000" y="1778000"/>
                <a:ext cx="10160000" cy="2667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1600" b="1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① 目标</a:t>
                </a:r>
                <a:r>
                  <a:rPr lang="en-US" sz="16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：任取资产 i，暴露向量是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sz="16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16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</m:ctrlPr>
                          </m:sSubPr>
                          <m:e>
                            <m:r>
                              <a:rPr sz="16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𝛽</m:t>
                            </m:r>
                          </m:e>
                          <m:sub>
                            <m:r>
                              <a:rPr sz="16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sz="16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</m:ctrlPr>
                          </m:sSubPr>
                          <m:e>
                            <m:r>
                              <a:rPr sz="16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𝛽</m:t>
                            </m:r>
                          </m:e>
                          <m:sub>
                            <m:r>
                              <a:rPr sz="16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。</a:t>
                </a:r>
                <a:endParaRPr lang="en-US" sz="1100"/>
              </a:p>
              <a:p>
                <a:pPr marL="0" indent="0" algn="l">
                  <a:lnSpc>
                    <a:spcPct val="116666"/>
                  </a:lnSpc>
                </a:pPr>
                <a:r>
                  <a:rPr lang="en-US" sz="1600" b="1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② 复制</a:t>
                </a:r>
                <a:r>
                  <a:rPr lang="en-US" sz="16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：用同一套"原料"（A、B 和无风险资产），按权重解方程，拼出一个暴露与 i 完全相同的组合 R。</a:t>
                </a:r>
              </a:p>
              <a:p>
                <a:pPr marL="0" indent="0" algn="l">
                  <a:lnSpc>
                    <a:spcPct val="116666"/>
                  </a:lnSpc>
                </a:pPr>
                <a:r>
                  <a:rPr lang="en-US" sz="1600" b="1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③ 同暴露，必须同价</a:t>
                </a:r>
                <a:r>
                  <a:rPr lang="en-US" sz="16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：i 与 R 面对相同的共同冲击时收益变化完全一致；若价格不同，买便宜的、卖空贵的，就是上一页定义的套利。</a:t>
                </a:r>
              </a:p>
              <a:p>
                <a:pPr marL="0" indent="0" algn="l">
                  <a:lnSpc>
                    <a:spcPct val="116666"/>
                  </a:lnSpc>
                </a:pPr>
                <a:r>
                  <a:rPr lang="en-US" sz="1600" b="1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④ 对每个资产重复</a:t>
                </a:r>
                <a:r>
                  <a:rPr lang="en-US" sz="16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：无套利要求每个 i 都成立，于是期望收益(i) 必然能写成下面的形式。</a:t>
                </a:r>
              </a:p>
            </p:txBody>
          </p:sp>
        </mc:Choice>
        <mc:Fallback>
          <p:sp>
            <p:nvSpPr>
              <p:cNvPr id="5" name="AutoShap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1778000"/>
                <a:ext cx="10160000" cy="2667000"/>
              </a:xfrm>
              <a:prstGeom prst="rect">
                <a:avLst/>
              </a:prstGeom>
              <a:blipFill>
                <a:blip r:embed="rId4"/>
                <a:stretch>
                  <a:fillRect l="-1261" r="-540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AutoShape 6"/>
              <p:cNvSpPr/>
              <p:nvPr/>
            </p:nvSpPr>
            <p:spPr>
              <a:xfrm>
                <a:off x="1016000" y="4648200"/>
                <a:ext cx="10160000" cy="6858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none" lIns="0" tIns="0" rIns="0" bIns="0" rtlCol="0" anchor="ctr" anchorCtr="0"/>
              <a:lstStyle/>
              <a:p>
                <a:pPr marL="0" indent="0" algn="ctr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>
                      <m:r>
                        <a:rPr sz="1800">
                          <a:solidFill>
                            <a:srgbClr val="16202D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𝐸</m:t>
                      </m:r>
                      <m:d>
                        <m:dPr>
                          <m:ctrlPr>
                            <a:rPr sz="1800" i="1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1800">
                                  <a:solidFill>
                                    <a:srgbClr val="16202D"/>
                                  </a:solidFill>
                                  <a:latin typeface="Cambria Math" panose="02040503050406030204" pitchFamily="18" charset="0"/>
                                  <a:ea typeface="Noto Sans SC"/>
                                  <a:cs typeface="Noto Sans SC"/>
                                  <a:sym typeface="Noto Sans SC"/>
                                </a:rPr>
                              </m:ctrlPr>
                            </m:sSubPr>
                            <m:e>
                              <m:r>
                                <a:rPr sz="1800">
                                  <a:solidFill>
                                    <a:srgbClr val="16202D"/>
                                  </a:solidFill>
                                  <a:latin typeface="Cambria Math" panose="02040503050406030204" pitchFamily="18" charset="0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𝑟</m:t>
                              </m:r>
                            </m:e>
                            <m:sub>
                              <m:r>
                                <a:rPr sz="1800">
                                  <a:solidFill>
                                    <a:srgbClr val="16202D"/>
                                  </a:solidFill>
                                  <a:latin typeface="Cambria Math" panose="02040503050406030204" pitchFamily="18" charset="0"/>
                                  <a:ea typeface="Noto Sans SC"/>
                                  <a:cs typeface="Noto Sans SC"/>
                                  <a:sym typeface="Noto Sans SC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sz="1800">
                          <a:solidFill>
                            <a:srgbClr val="16202D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−</m:t>
                      </m:r>
                      <m:sSub>
                        <m:sSubPr>
                          <m:ctrlP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sSubPr>
                        <m:e>
                          <m: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𝑟</m:t>
                          </m:r>
                        </m:e>
                        <m:sub>
                          <m: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𝑓</m:t>
                          </m:r>
                        </m:sub>
                      </m:sSub>
                      <m:r>
                        <a:rPr sz="1800">
                          <a:solidFill>
                            <a:srgbClr val="16202D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=</m:t>
                      </m:r>
                      <m:sSub>
                        <m:sSubPr>
                          <m:ctrlP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sSubPr>
                        <m:e>
                          <m: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𝛽</m:t>
                          </m:r>
                        </m:e>
                        <m:sub>
                          <m: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𝑖</m:t>
                          </m:r>
                          <m: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sSubPr>
                        <m:e>
                          <m: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𝜆</m:t>
                          </m:r>
                        </m:e>
                        <m:sub>
                          <m: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1</m:t>
                          </m:r>
                        </m:sub>
                      </m:sSub>
                      <m:r>
                        <a:rPr sz="1800">
                          <a:solidFill>
                            <a:srgbClr val="16202D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+</m:t>
                      </m:r>
                      <m:sSub>
                        <m:sSubPr>
                          <m:ctrlP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sSubPr>
                        <m:e>
                          <m: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𝛽</m:t>
                          </m:r>
                        </m:e>
                        <m:sub>
                          <m: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𝑖</m:t>
                          </m:r>
                          <m: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sSubPr>
                        <m:e>
                          <m: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𝜆</m:t>
                          </m:r>
                        </m:e>
                        <m:sub>
                          <m: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2</m:t>
                          </m:r>
                        </m:sub>
                      </m:sSub>
                      <m:r>
                        <a:rPr sz="1800">
                          <a:solidFill>
                            <a:srgbClr val="16202D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+⋯+</m:t>
                      </m:r>
                      <m:sSub>
                        <m:sSubPr>
                          <m:ctrlP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sSubPr>
                        <m:e>
                          <m: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𝛽</m:t>
                          </m:r>
                        </m:e>
                        <m:sub>
                          <m: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𝑖𝐾</m:t>
                          </m:r>
                        </m:sub>
                      </m:sSub>
                      <m:sSub>
                        <m:sSubPr>
                          <m:ctrlP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sSubPr>
                        <m:e>
                          <m: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𝜆</m:t>
                          </m:r>
                        </m:e>
                        <m:sub>
                          <m:r>
                            <a:rPr sz="1800">
                              <a:solidFill>
                                <a:srgbClr val="16202D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n-US" sz="1100"/>
              </a:p>
            </p:txBody>
          </p:sp>
        </mc:Choice>
        <mc:Fallback>
          <p:sp>
            <p:nvSpPr>
              <p:cNvPr id="6" name="AutoShap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4648200"/>
                <a:ext cx="10160000" cy="685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nector 7"/>
          <p:cNvCxnSpPr/>
          <p:nvPr/>
        </p:nvCxnSpPr>
        <p:spPr>
          <a:xfrm rot="-4297">
            <a:off x="1016004" y="5429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0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AutoShape 8"/>
              <p:cNvSpPr/>
              <p:nvPr/>
            </p:nvSpPr>
            <p:spPr>
              <a:xfrm>
                <a:off x="1016000" y="5638800"/>
                <a:ext cx="10160000" cy="914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1600" b="1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为什么 λ 不带下标 i？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6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6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𝜆</m:t>
                        </m:r>
                      </m:e>
                      <m:sub>
                        <m:r>
                          <a:rPr sz="16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6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是"因子模仿组合"的期望超额收益——专门造出来只承担第 k 个暴露的组合。它只跟因子有关，跟哪个资产无关。</a:t>
                </a:r>
                <a:r>
                  <a:rPr lang="en-US" sz="1600" b="1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带 i 的只有配比，没有价格。</a:t>
                </a:r>
                <a:endParaRPr lang="en-US" sz="1100"/>
              </a:p>
            </p:txBody>
          </p:sp>
        </mc:Choice>
        <mc:Fallback>
          <p:sp>
            <p:nvSpPr>
              <p:cNvPr id="8" name="AutoShap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5638800"/>
                <a:ext cx="10160000" cy="914400"/>
              </a:xfrm>
              <a:prstGeom prst="rect">
                <a:avLst/>
              </a:prstGeom>
              <a:blipFill>
                <a:blip r:embed="rId6"/>
                <a:stretch>
                  <a:fillRect l="-1261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第一部分 · 从 CAPM 到 APT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CAPM 与 APT：一个数字，还是一张表？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43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16000" y="1905000"/>
          <a:ext cx="10160000" cy="304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对比维度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744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CAPM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744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APT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744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风险描述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一个数字 β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一张暴露向量表 (b1,…,bK)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市场组合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必须可观测（理论核心假设）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不需要——因子可任意命名，只需定价关系成立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理论性质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精确的均衡定价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近似（近似套利），因子清单不唯一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6" name="Connector 6"/>
          <p:cNvCxnSpPr/>
          <p:nvPr/>
        </p:nvCxnSpPr>
        <p:spPr>
          <a:xfrm rot="-4297">
            <a:off x="1016004" y="5378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0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5638800"/>
            <a:ext cx="10160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必须记住的一条</a:t>
            </a:r>
            <a:r>
              <a:rPr lang="en-US" sz="16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：因子不是"另一个</a:t>
            </a:r>
            <a:r>
              <a:rPr lang="en-US" sz="16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 β"。</a:t>
            </a:r>
            <a:r>
              <a:rPr lang="en-US" sz="16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市场因子只是其中一个；因子本身是可拥挤、可崩溃、可反转的</a:t>
            </a:r>
            <a:r>
              <a:rPr lang="en-US" sz="16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marL="0" indent="0" algn="l">
              <a:lnSpc>
                <a:spcPct val="112500"/>
              </a:lnSpc>
            </a:pPr>
            <a:r>
              <a:rPr lang="en-US" sz="16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教材第三节</a:t>
            </a:r>
            <a:r>
              <a:rPr lang="en-US" sz="16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："</a:t>
            </a:r>
            <a:r>
              <a:rPr lang="en-US" sz="16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组合策略</a:t>
            </a:r>
            <a:r>
              <a:rPr lang="en-US" sz="16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 = </a:t>
            </a:r>
            <a:r>
              <a:rPr lang="en-US" sz="16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选择最佳的因子敏感系数组合</a:t>
            </a:r>
            <a:r>
              <a:rPr lang="en-US" sz="16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"。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第一部分 · 从 CAPM 到 APT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实证怎么做：两步法，先分解，后评价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43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854200"/>
            <a:ext cx="431800" cy="431800"/>
          </a:xfrm>
          <a:prstGeom prst="ellipse">
            <a:avLst/>
          </a:prstGeom>
          <a:solidFill>
            <a:srgbClr val="2174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68400" y="1917700"/>
            <a:ext cx="25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25600" y="18542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时间序列回归，估暴露</a:t>
            </a:r>
            <a:endParaRPr 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AutoShape 8"/>
              <p:cNvSpPr/>
              <p:nvPr/>
            </p:nvSpPr>
            <p:spPr>
              <a:xfrm>
                <a:off x="1625600" y="2311400"/>
                <a:ext cx="9652000" cy="736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sSubPr>
                        <m:e>
                          <m: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𝑟</m:t>
                          </m:r>
                        </m:e>
                        <m:sub>
                          <m: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𝑖</m:t>
                          </m:r>
                        </m:sub>
                      </m:sSub>
                      <m:r>
                        <a:rPr sz="1700">
                          <a:solidFill>
                            <a:srgbClr val="2B3542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−</m:t>
                      </m:r>
                      <m:sSub>
                        <m:sSubPr>
                          <m:ctrlP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sSubPr>
                        <m:e>
                          <m: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𝑟</m:t>
                          </m:r>
                        </m:e>
                        <m:sub>
                          <m: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𝑓</m:t>
                          </m:r>
                        </m:sub>
                      </m:sSub>
                      <m:r>
                        <a:rPr sz="1700">
                          <a:solidFill>
                            <a:srgbClr val="2B3542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=</m:t>
                      </m:r>
                      <m:sSub>
                        <m:sSubPr>
                          <m:ctrlP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sSubPr>
                        <m:e>
                          <m: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𝛼</m:t>
                          </m:r>
                        </m:e>
                        <m:sub>
                          <m: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𝑖</m:t>
                          </m:r>
                        </m:sub>
                      </m:sSub>
                      <m:r>
                        <a:rPr sz="1700">
                          <a:solidFill>
                            <a:srgbClr val="2B3542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+</m:t>
                      </m:r>
                      <m:sSub>
                        <m:sSubPr>
                          <m:ctrlP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sSubPr>
                        <m:e>
                          <m: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𝑏</m:t>
                          </m:r>
                        </m:e>
                        <m:sub>
                          <m: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𝑖</m:t>
                          </m:r>
                          <m: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sSubPr>
                        <m:e>
                          <m: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𝐹</m:t>
                          </m:r>
                        </m:e>
                        <m:sub>
                          <m: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1</m:t>
                          </m:r>
                        </m:sub>
                      </m:sSub>
                      <m:r>
                        <a:rPr sz="1700">
                          <a:solidFill>
                            <a:srgbClr val="2B3542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+⋯+</m:t>
                      </m:r>
                      <m:sSub>
                        <m:sSubPr>
                          <m:ctrlP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sSubPr>
                        <m:e>
                          <m: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𝑏</m:t>
                          </m:r>
                        </m:e>
                        <m:sub>
                          <m: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𝑖𝐾</m:t>
                          </m:r>
                        </m:sub>
                      </m:sSub>
                      <m:sSub>
                        <m:sSubPr>
                          <m:ctrlP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sSubPr>
                        <m:e>
                          <m: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𝐹</m:t>
                          </m:r>
                        </m:e>
                        <m:sub>
                          <m: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𝐾</m:t>
                          </m:r>
                        </m:sub>
                      </m:sSub>
                      <m:r>
                        <a:rPr sz="1700">
                          <a:solidFill>
                            <a:srgbClr val="2B3542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+</m:t>
                      </m:r>
                      <m:sSub>
                        <m:sSubPr>
                          <m:ctrlP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sSubPr>
                        <m:e>
                          <m: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𝜀</m:t>
                          </m:r>
                        </m:e>
                        <m:sub>
                          <m:r>
                            <a:rPr sz="1700">
                              <a:solidFill>
                                <a:srgbClr val="2B3542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100"/>
              </a:p>
              <a:p>
                <a:pPr marL="0" indent="0" algn="l">
                  <a:lnSpc>
                    <a:spcPct val="112500"/>
                  </a:lnSpc>
                </a:pPr>
                <a:r>
                  <a:rPr lang="en-US" sz="17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输出：暴露 b（要 t 值）、截距 α（年化，要 t 值）、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p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𝑅</m:t>
                        </m:r>
                      </m:e>
                      <m:sup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2</m:t>
                        </m:r>
                      </m:sup>
                    </m:sSup>
                  </m:oMath>
                </a14:m>
                <a:endParaRPr lang="en-US" sz="1700" b="0" i="0" u="none" strike="noStrike">
                  <a:solidFill>
                    <a:srgbClr val="2B3542"/>
                  </a:solidFill>
                  <a:latin typeface="Noto Sans SC"/>
                  <a:ea typeface="Noto Sans SC"/>
                  <a:cs typeface="Noto Sans SC"/>
                  <a:sym typeface="Noto Sans SC"/>
                </a:endParaRPr>
              </a:p>
            </p:txBody>
          </p:sp>
        </mc:Choice>
        <mc:Fallback>
          <p:sp>
            <p:nvSpPr>
              <p:cNvPr id="8" name="AutoShap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600" y="2311400"/>
                <a:ext cx="9652000" cy="736600"/>
              </a:xfrm>
              <a:prstGeom prst="rect">
                <a:avLst/>
              </a:prstGeom>
              <a:blipFill>
                <a:blip r:embed="rId4"/>
                <a:stretch>
                  <a:fillRect l="-1390" b="-7438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utoShape 9"/>
          <p:cNvSpPr/>
          <p:nvPr/>
        </p:nvSpPr>
        <p:spPr>
          <a:xfrm>
            <a:off x="1016000" y="3352800"/>
            <a:ext cx="431800" cy="431800"/>
          </a:xfrm>
          <a:prstGeom prst="ellipse">
            <a:avLst/>
          </a:prstGeom>
          <a:solidFill>
            <a:srgbClr val="2174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168400" y="3416300"/>
            <a:ext cx="25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625600" y="33528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样本均值估风险溢价，得到收益分解</a:t>
            </a:r>
            <a:endParaRPr 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AutoShape 12"/>
              <p:cNvSpPr/>
              <p:nvPr/>
            </p:nvSpPr>
            <p:spPr>
              <a:xfrm>
                <a:off x="1625600" y="3810000"/>
                <a:ext cx="9652000" cy="914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7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因子用可交易的组合收益表示（RM、SMB…），λ 用其样本平均收益估计，定价误差就是 α：</a:t>
                </a:r>
                <a:endParaRPr lang="en-US" sz="1100"/>
              </a:p>
              <a:p>
                <a:pPr marL="0" indent="0" algn="l">
                  <a:lnSpc>
                    <a:spcPct val="112500"/>
                  </a:lnSpc>
                </a:pPr>
                <a:r>
                  <a:rPr lang="en-US" sz="17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年化超额收益 = </a:t>
                </a:r>
                <a14:m>
                  <m:oMath xmlns:m="http://schemas.openxmlformats.org/officeDocument/2006/math">
                    <m:r>
                      <a:rPr sz="17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𝛼</m:t>
                    </m:r>
                    <m:r>
                      <a:rPr sz="17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+</m:t>
                    </m:r>
                    <m:sSub>
                      <m:sSubPr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𝑏</m:t>
                        </m:r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sz="1700" i="1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acc>
                          <m:accPr>
                            <m:chr m:val="̄"/>
                            <m:ctrlP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</m:ctrlPr>
                          </m:accPr>
                          <m:e>
                            <m: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1</m:t>
                        </m:r>
                      </m:sub>
                    </m:sSub>
                    <m:r>
                      <a:rPr sz="17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+⋯+</m:t>
                    </m:r>
                    <m:sSub>
                      <m:sSubPr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𝑏</m:t>
                        </m:r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𝐾</m:t>
                        </m:r>
                      </m:sub>
                    </m:sSub>
                    <m:sSub>
                      <m:sSubPr>
                        <m:ctrlPr>
                          <a:rPr sz="1700" i="1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acc>
                          <m:accPr>
                            <m:chr m:val="̄"/>
                            <m:ctrlP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</m:ctrlPr>
                          </m:accPr>
                          <m:e>
                            <m:r>
                              <a:rPr sz="17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sz="17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（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bar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𝐹</m:t>
                        </m:r>
                      </m:e>
                    </m:bar>
                    <m:r>
                      <a:rPr sz="17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_</m:t>
                    </m:r>
                    <m:r>
                      <a:rPr sz="17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𝑘</m:t>
                    </m:r>
                  </m:oMath>
                </a14:m>
                <a:r>
                  <a:rPr lang="en-US" sz="17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为因子 k 的年化均值；样本内精确成立）</a:t>
                </a:r>
              </a:p>
            </p:txBody>
          </p:sp>
        </mc:Choice>
        <mc:Fallback>
          <p:sp>
            <p:nvSpPr>
              <p:cNvPr id="12" name="AutoShap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600" y="3810000"/>
                <a:ext cx="9652000" cy="914400"/>
              </a:xfrm>
              <a:prstGeom prst="rect">
                <a:avLst/>
              </a:prstGeom>
              <a:blipFill>
                <a:blip r:embed="rId5"/>
                <a:stretch>
                  <a:fillRect l="-1390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ctor 13"/>
          <p:cNvCxnSpPr/>
          <p:nvPr/>
        </p:nvCxnSpPr>
        <p:spPr>
          <a:xfrm rot="-4297">
            <a:off x="1016004" y="497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0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1016000" y="5232400"/>
            <a:ext cx="10160000" cy="1117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1700" b="1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重要</a:t>
            </a:r>
            <a:r>
              <a:rPr lang="en-US" sz="17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7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把任意一只股票</a:t>
            </a:r>
            <a:r>
              <a:rPr lang="en-US" sz="17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7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基金的超额收益，分解为"来自因子的部分"与"来自特质的部分</a:t>
            </a:r>
            <a:r>
              <a:rPr lang="en-US" sz="17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"。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700" b="1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先分解，后评价</a:t>
            </a:r>
            <a:r>
              <a:rPr lang="en-US" sz="17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——α </a:t>
            </a:r>
            <a:r>
              <a:rPr lang="en-US" sz="17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是相对所用模型未被解释的平均超额收益，其中可能包含技能，也可能包含遗漏风险与错误基准</a:t>
            </a:r>
            <a:r>
              <a:rPr lang="en-US" sz="17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主题三 · 什么是因子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因子：一个可操作的定义，两条发现的路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43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AutoShape 5"/>
              <p:cNvSpPr/>
              <p:nvPr/>
            </p:nvSpPr>
            <p:spPr>
              <a:xfrm>
                <a:off x="1016000" y="1778000"/>
                <a:ext cx="10160000" cy="1219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1700" b="1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可操作的定义</a:t>
                </a:r>
                <a:r>
                  <a:rPr lang="en-US" sz="17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：因子是一个数字，当它变动时，很多资产的收益会同时按各自的系数变动。油价涨 10%，航空公司跌、石油公司涨——这个共同变动的方向，就是一个因子。</a:t>
                </a:r>
                <a:endParaRPr lang="en-US" sz="1100"/>
              </a:p>
              <a:p>
                <a:pPr marL="0" indent="0" algn="l">
                  <a:lnSpc>
                    <a:spcPct val="116666"/>
                  </a:lnSpc>
                </a:pPr>
                <a:r>
                  <a:rPr lang="en-US" sz="1700" b="1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暴露 β 就是回归斜率</a:t>
                </a:r>
                <a:r>
                  <a:rPr lang="en-US" sz="1700" b="0" i="0" u="none" strike="noStrike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：这个因子变动 1 单位，资产 i 的收益变动多少。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𝑟</m:t>
                        </m:r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𝑖</m:t>
                        </m:r>
                      </m:sub>
                    </m:sSub>
                    <m:r>
                      <a:rPr sz="17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=</m:t>
                    </m:r>
                    <m:sSub>
                      <m:sSubPr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𝛼</m:t>
                        </m:r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𝑖</m:t>
                        </m:r>
                      </m:sub>
                    </m:sSub>
                    <m:r>
                      <a:rPr sz="17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+</m:t>
                    </m:r>
                    <m:sSub>
                      <m:sSubPr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𝑏</m:t>
                        </m:r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𝑖</m:t>
                        </m:r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𝐹</m:t>
                        </m:r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1</m:t>
                        </m:r>
                      </m:sub>
                    </m:sSub>
                    <m:r>
                      <a:rPr sz="17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+</m:t>
                    </m:r>
                    <m:sSub>
                      <m:sSubPr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𝑏</m:t>
                        </m:r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𝑖</m:t>
                        </m:r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𝐹</m:t>
                        </m:r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2</m:t>
                        </m:r>
                      </m:sub>
                    </m:sSub>
                    <m:r>
                      <a:rPr sz="17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+⋯+</m:t>
                    </m:r>
                    <m:sSub>
                      <m:sSubPr>
                        <m:ctrlP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𝜀</m:t>
                        </m:r>
                      </m:e>
                      <m:sub>
                        <m:r>
                          <a:rPr sz="17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𝑖</m:t>
                        </m:r>
                      </m:sub>
                    </m:sSub>
                  </m:oMath>
                </a14:m>
                <a:endParaRPr lang="en-US" sz="1700" b="0" i="0" u="none" strike="noStrike">
                  <a:solidFill>
                    <a:srgbClr val="2B3542"/>
                  </a:solidFill>
                  <a:latin typeface="Noto Sans SC"/>
                  <a:ea typeface="Noto Sans SC"/>
                  <a:cs typeface="Noto Sans SC"/>
                  <a:sym typeface="Noto Sans SC"/>
                </a:endParaRPr>
              </a:p>
            </p:txBody>
          </p:sp>
        </mc:Choice>
        <mc:Fallback>
          <p:sp>
            <p:nvSpPr>
              <p:cNvPr id="5" name="AutoShap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1778000"/>
                <a:ext cx="10160000" cy="1219200"/>
              </a:xfrm>
              <a:prstGeom prst="rect">
                <a:avLst/>
              </a:prstGeom>
              <a:blipFill>
                <a:blip r:embed="rId4"/>
                <a:stretch>
                  <a:fillRect l="-1321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/>
          <p:cNvSpPr/>
          <p:nvPr/>
        </p:nvSpPr>
        <p:spPr>
          <a:xfrm>
            <a:off x="1016000" y="3251200"/>
            <a:ext cx="4826000" cy="1905000"/>
          </a:xfrm>
          <a:prstGeom prst="roundRect">
            <a:avLst>
              <a:gd name="adj" fmla="val 8000"/>
            </a:avLst>
          </a:prstGeom>
          <a:solidFill>
            <a:srgbClr val="217448">
              <a:alpha val="7000"/>
            </a:srgbClr>
          </a:solidFill>
          <a:ln w="12700" cap="flat" cmpd="sng">
            <a:solidFill>
              <a:srgbClr val="21744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320800" y="3454400"/>
            <a:ext cx="4216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路一 · 指定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先想清楚有哪些共同风险源，拿它们的实现值当因子。Fama-French 三因子就是这条路——市场、规模、价值。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350000" y="3251200"/>
            <a:ext cx="4826000" cy="1905000"/>
          </a:xfrm>
          <a:prstGeom prst="roundRect">
            <a:avLst>
              <a:gd name="adj" fmla="val 8000"/>
            </a:avLst>
          </a:prstGeom>
          <a:solidFill>
            <a:srgbClr val="E08A0C">
              <a:alpha val="8000"/>
            </a:srgbClr>
          </a:solidFill>
          <a:ln w="12700" cap="flat" cmpd="sng">
            <a:solidFill>
              <a:srgbClr val="E08A0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654800" y="3454400"/>
            <a:ext cx="4216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路二 · 统计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拿一堆资产的历史收益做主成分分析：第一主成分是"最能解释共同变动的方向"，第二主成分是与它正交的下一个方向。</a:t>
            </a:r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5378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0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5588000"/>
            <a:ext cx="10160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实证中用可交易组合表示因子</a:t>
            </a:r>
            <a:r>
              <a:rPr lang="en-US" sz="16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：RM（市场）、SMB（小减大）、HML（高减低估值）都是真实组合的收益差，可直接交易、可复现——这是"指定"路线在实证中的落地形态。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主题三 · 什么是因子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SMB / HML 怎么构造：两套排序，交叉取六个组合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43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778000"/>
            <a:ext cx="1016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分组日（每年 6 月底）</a:t>
            </a:r>
            <a:r>
              <a:rPr lang="en-US" sz="15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：规模 = 当年 6 月市值；B/M = 上一财年账面权益 ÷ 上一年 12 月底市值。</a:t>
            </a:r>
            <a:r>
              <a:rPr lang="en-US" sz="15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两套排序独立进行</a:t>
            </a:r>
            <a:r>
              <a:rPr lang="en-US" sz="15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（NYSE 市值中位数分 S/B；NYSE 30%/70% 分位点分 L/N/H），再取交集。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16000" y="2692400"/>
          <a:ext cx="10160000" cy="1422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规模 ＼ 估值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744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低 B/M（L）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744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中（N）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744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 B/M（H）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744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小盘 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S/L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S/N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S/H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大盘 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B/L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B/N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B/H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1016000" y="42672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六个市值加权组合，持有期当年 7 月 ~ 次年 6 月，逐月记录收益，次年 6 月底重新分组。</a:t>
            </a:r>
            <a:endParaRPr 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AutoShape 8"/>
              <p:cNvSpPr/>
              <p:nvPr/>
            </p:nvSpPr>
            <p:spPr>
              <a:xfrm>
                <a:off x="1016000" y="4978400"/>
                <a:ext cx="4953000" cy="889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0833"/>
                  </a:lnSpc>
                  <a:defRPr/>
                </a:pPr>
                <a:r>
                  <a:rPr lang="en-US" sz="1600" b="1" i="0" u="none" strike="noStrike">
                    <a:solidFill>
                      <a:srgbClr val="16202D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SMB</a:t>
                </a:r>
                <a14:m>
                  <m:oMath xmlns:m="http://schemas.openxmlformats.org/officeDocument/2006/math">
                    <m:r>
                      <a:rPr sz="1600">
                        <a:solidFill>
                          <a:srgbClr val="16202D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𝑆𝑀𝐵</m:t>
                    </m:r>
                    <m:r>
                      <a:rPr sz="1600">
                        <a:solidFill>
                          <a:srgbClr val="16202D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=</m:t>
                    </m:r>
                    <m:f>
                      <m:fPr>
                        <m:ctrlP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fPr>
                      <m:num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𝑆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/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𝐿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+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𝑆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/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𝑁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+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𝑆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/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𝐻</m:t>
                        </m:r>
                      </m:num>
                      <m:den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3</m:t>
                        </m:r>
                      </m:den>
                    </m:f>
                    <m:r>
                      <a:rPr sz="1600">
                        <a:solidFill>
                          <a:srgbClr val="16202D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−</m:t>
                    </m:r>
                    <m:f>
                      <m:fPr>
                        <m:ctrlP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fPr>
                      <m:num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𝐵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/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𝐿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+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𝐵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/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𝑁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+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𝐵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/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𝐻</m:t>
                        </m:r>
                      </m:num>
                      <m:den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600" b="0" i="0" u="none" strike="noStrike">
                    <a:solidFill>
                      <a:srgbClr val="16202D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跨估值平均 → 只留规模差异</a:t>
                </a:r>
                <a:endParaRPr lang="en-US" sz="1100"/>
              </a:p>
            </p:txBody>
          </p:sp>
        </mc:Choice>
        <mc:Fallback>
          <p:sp>
            <p:nvSpPr>
              <p:cNvPr id="8" name="AutoShap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4978400"/>
                <a:ext cx="4953000" cy="889000"/>
              </a:xfrm>
              <a:prstGeom prst="rect">
                <a:avLst/>
              </a:prstGeom>
              <a:blipFill>
                <a:blip r:embed="rId4"/>
                <a:stretch>
                  <a:fillRect l="-2586" r="-2463" b="-3425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AutoShape 9"/>
              <p:cNvSpPr/>
              <p:nvPr/>
            </p:nvSpPr>
            <p:spPr>
              <a:xfrm>
                <a:off x="6223000" y="4978400"/>
                <a:ext cx="4953000" cy="889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0833"/>
                  </a:lnSpc>
                  <a:defRPr/>
                </a:pPr>
                <a:r>
                  <a:rPr lang="en-US" sz="1600" b="1" i="0" u="none" strike="noStrike">
                    <a:solidFill>
                      <a:srgbClr val="16202D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HML</a:t>
                </a:r>
                <a14:m>
                  <m:oMath xmlns:m="http://schemas.openxmlformats.org/officeDocument/2006/math">
                    <m:r>
                      <a:rPr sz="1600">
                        <a:solidFill>
                          <a:srgbClr val="16202D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𝐻𝑀𝐿</m:t>
                    </m:r>
                    <m:r>
                      <a:rPr sz="1600">
                        <a:solidFill>
                          <a:srgbClr val="16202D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=</m:t>
                    </m:r>
                    <m:f>
                      <m:fPr>
                        <m:ctrlP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fPr>
                      <m:num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𝑆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/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𝐻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+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𝐵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/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𝐻</m:t>
                        </m:r>
                      </m:num>
                      <m:den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2</m:t>
                        </m:r>
                      </m:den>
                    </m:f>
                    <m:r>
                      <a:rPr sz="1600">
                        <a:solidFill>
                          <a:srgbClr val="16202D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−</m:t>
                    </m:r>
                    <m:f>
                      <m:fPr>
                        <m:ctrlP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fPr>
                      <m:num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𝑆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/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𝐿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+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𝐵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/</m:t>
                        </m:r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𝐿</m:t>
                        </m:r>
                      </m:num>
                      <m:den>
                        <m:r>
                          <a:rPr sz="1600">
                            <a:solidFill>
                              <a:srgbClr val="16202D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b="0" i="0" u="none" strike="noStrike">
                    <a:solidFill>
                      <a:srgbClr val="16202D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跨规模平均 → 只留估值差异</a:t>
                </a:r>
                <a:endParaRPr lang="en-US" sz="1100"/>
              </a:p>
            </p:txBody>
          </p:sp>
        </mc:Choice>
        <mc:Fallback>
          <p:sp>
            <p:nvSpPr>
              <p:cNvPr id="9" name="AutoShap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000" y="4978400"/>
                <a:ext cx="4953000" cy="889000"/>
              </a:xfrm>
              <a:prstGeom prst="rect">
                <a:avLst/>
              </a:prstGeom>
              <a:blipFill>
                <a:blip r:embed="rId5"/>
                <a:stretch>
                  <a:fillRect l="-2586" b="-3425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or 10"/>
          <p:cNvCxnSpPr/>
          <p:nvPr/>
        </p:nvCxnSpPr>
        <p:spPr>
          <a:xfrm rot="-4297">
            <a:off x="1016004" y="6038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0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62484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来源：Fama &amp; French（1993）；三因子模型构造口径。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第一部分 · 从 CAPM 到 APT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本课四因子：市场、规模、价值、动量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43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16000" y="1803400"/>
          <a:ext cx="10160000" cy="228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因子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744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含义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744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预期溢价方向的"教科书说法"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744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RM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市场等权超额收益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SMB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小市值组 − 大市值组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正（规模效应）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HML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 B/M − 低 B/M（本课用指数代理）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正（价值效应）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MOM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过去 3~12 个月赢家 − 输家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2B35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正（动量效应）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6" name="Connector 6"/>
          <p:cNvCxnSpPr/>
          <p:nvPr/>
        </p:nvCxnSpPr>
        <p:spPr>
          <a:xfrm rot="-4297">
            <a:off x="1016004" y="4387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0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4648200"/>
            <a:ext cx="1016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7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注意"预期方向"一列的措辞</a:t>
            </a: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：这是历史规律，而非物理定律。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本课时第一组实测数字即给出反例——样本期内 SMB、HML、MOM 三条"溢价"全部为负，且分年正负翻转。</a:t>
            </a:r>
          </a:p>
          <a:p>
            <a:pPr marL="0" indent="0" algn="l">
              <a:lnSpc>
                <a:spcPct val="116666"/>
              </a:lnSpc>
            </a:pP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这正是 APT 的实践价值：</a:t>
            </a:r>
            <a:r>
              <a:rPr lang="en-US" sz="17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它不承诺溢价存在，要求先检验、后配置。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第一部分 · 从 CAPM 到 APT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 dirty="0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APT </a:t>
            </a:r>
            <a:r>
              <a:rPr lang="en-US" sz="3000" b="1" i="0" u="none" strike="noStrike" dirty="0" err="1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的三种用途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43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905000"/>
            <a:ext cx="3175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>
                <a:solidFill>
                  <a:srgbClr val="217448"/>
                </a:solidFill>
                <a:latin typeface="Noto Sans SC"/>
                <a:ea typeface="Noto Sans SC"/>
                <a:cs typeface="Noto Sans SC"/>
                <a:sym typeface="Noto Sans SC"/>
              </a:rPr>
              <a:t>更自由地构建组合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风险 = 暴露向量</a:t>
            </a:r>
          </a:p>
          <a:p>
            <a:pPr marL="0" indent="0" algn="l">
              <a:lnSpc>
                <a:spcPct val="116666"/>
              </a:lnSpc>
            </a:pP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组合构建 = 选择暴露结构</a:t>
            </a:r>
          </a:p>
          <a:p>
            <a:pPr marL="0" indent="0" algn="l">
              <a:lnSpc>
                <a:spcPct val="116666"/>
              </a:lnSpc>
            </a:pP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对应教材："组合策略 = 选择最佳的因子敏感系数组合"；实操见 P3</a:t>
            </a:r>
          </a:p>
        </p:txBody>
      </p:sp>
      <p:cxnSp>
        <p:nvCxnSpPr>
          <p:cNvPr id="6" name="Connector 6"/>
          <p:cNvCxnSpPr/>
          <p:nvPr/>
        </p:nvCxnSpPr>
        <p:spPr>
          <a:xfrm rot="5384373">
            <a:off x="3073400" y="3295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0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4775200" y="1905000"/>
            <a:ext cx="3175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>
                <a:solidFill>
                  <a:srgbClr val="217448"/>
                </a:solidFill>
                <a:latin typeface="Noto Sans SC"/>
                <a:ea typeface="Noto Sans SC"/>
                <a:cs typeface="Noto Sans SC"/>
                <a:sym typeface="Noto Sans SC"/>
              </a:rPr>
              <a:t>定向配置风险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观点 → 目标暴露 → 按暴露选股</a:t>
            </a:r>
          </a:p>
          <a:p>
            <a:pPr marL="0" indent="0" algn="l">
              <a:lnSpc>
                <a:spcPct val="116666"/>
              </a:lnSpc>
            </a:pP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加约束防止集中</a:t>
            </a:r>
          </a:p>
          <a:p>
            <a:pPr marL="0" indent="0" algn="l">
              <a:lnSpc>
                <a:spcPct val="116666"/>
              </a:lnSpc>
            </a:pP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实操见 P3、P4</a:t>
            </a:r>
          </a:p>
        </p:txBody>
      </p:sp>
      <p:cxnSp>
        <p:nvCxnSpPr>
          <p:cNvPr id="8" name="Connector 8"/>
          <p:cNvCxnSpPr/>
          <p:nvPr/>
        </p:nvCxnSpPr>
        <p:spPr>
          <a:xfrm rot="5384373">
            <a:off x="6832600" y="3295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0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8534400" y="1905000"/>
            <a:ext cx="2921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>
                <a:solidFill>
                  <a:srgbClr val="217448"/>
                </a:solidFill>
                <a:latin typeface="Noto Sans SC"/>
                <a:ea typeface="Noto Sans SC"/>
                <a:cs typeface="Noto Sans SC"/>
                <a:sym typeface="Noto Sans SC"/>
              </a:rPr>
              <a:t>评价基金经理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α 与暴露分离：α 不显著而因子暴露高，说明收益主要由风格解释</a:t>
            </a:r>
          </a:p>
          <a:p>
            <a:pPr marL="0" indent="0" algn="l">
              <a:lnSpc>
                <a:spcPct val="116666"/>
              </a:lnSpc>
            </a:pP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实操见 P2</a:t>
            </a:r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497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0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5232400"/>
            <a:ext cx="10160000" cy="1117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7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课后必须记住的一条</a:t>
            </a: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：因子不是"另一个 β"。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市场因子只是其中之一；因子本身是</a:t>
            </a:r>
            <a:r>
              <a:rPr lang="en-US" sz="17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可拥挤、可崩溃、可反转</a:t>
            </a: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的——三个真实案例见下一节。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主题四 · 如何实现套利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 dirty="0" err="1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套利落地：五步交易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43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778000"/>
            <a:ext cx="1016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en-US" sz="16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① 识别偏离</a:t>
            </a:r>
            <a:r>
              <a:rPr lang="en-US" sz="16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：用回归估出资产的暴露，再算"按 APT 它应得的期望收益"，与市场价格比较。</a:t>
            </a:r>
            <a:endParaRPr lang="en-US" sz="1100"/>
          </a:p>
          <a:p>
            <a:pPr marL="0" indent="0" algn="l">
              <a:lnSpc>
                <a:spcPct val="120833"/>
              </a:lnSpc>
            </a:pPr>
            <a:r>
              <a:rPr lang="en-US" sz="16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② 构造复制组合</a:t>
            </a:r>
            <a:r>
              <a:rPr lang="en-US" sz="16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：用 A、B 和无风险资产拼出与它暴露完全相同的组合，作为"便宜的替代品"或"贵的参照物"。</a:t>
            </a:r>
          </a:p>
          <a:p>
            <a:pPr marL="0" indent="0" algn="l">
              <a:lnSpc>
                <a:spcPct val="120833"/>
              </a:lnSpc>
            </a:pPr>
            <a:r>
              <a:rPr lang="en-US" sz="16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③ 买卖方向</a:t>
            </a:r>
            <a:r>
              <a:rPr lang="en-US" sz="16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：买便宜的、卖空贵的，两份头寸暴露互相抵消。</a:t>
            </a:r>
          </a:p>
          <a:p>
            <a:pPr marL="0" indent="0" algn="l">
              <a:lnSpc>
                <a:spcPct val="120833"/>
              </a:lnSpc>
            </a:pPr>
            <a:r>
              <a:rPr lang="en-US" sz="16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④ 记账</a:t>
            </a:r>
            <a:r>
              <a:rPr lang="en-US" sz="16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：今天的净现金流应为 0，到期每笔现金流都算清楚。</a:t>
            </a:r>
          </a:p>
          <a:p>
            <a:pPr marL="0" indent="0" algn="l">
              <a:lnSpc>
                <a:spcPct val="120833"/>
              </a:lnSpc>
            </a:pPr>
            <a:r>
              <a:rPr lang="en-US" sz="16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⑤ 收敛</a:t>
            </a:r>
            <a:r>
              <a:rPr lang="en-US" sz="16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：交易推动价格回归，差价消失、套利机会关闭——这正是无套利假设自我实现的方式。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1016000" y="3860800"/>
            <a:ext cx="10160000" cy="1778000"/>
          </a:xfrm>
          <a:prstGeom prst="roundRect">
            <a:avLst>
              <a:gd name="adj" fmla="val 8571"/>
            </a:avLst>
          </a:prstGeom>
          <a:solidFill>
            <a:srgbClr val="217448">
              <a:alpha val="6000"/>
            </a:srgbClr>
          </a:solidFill>
          <a:ln w="12700" cap="flat" cmpd="sng">
            <a:solidFill>
              <a:srgbClr val="21744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70000" y="4038600"/>
            <a:ext cx="9652000" cy="142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例子</a:t>
            </a:r>
            <a:r>
              <a:rPr lang="en-US" sz="15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：资产 X 暴露为 (1, 0.5)，APT 算出应得 8%；但市场只给 5%。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5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操作：买入 X（付 1 元）；卖空复制组合（收 1 元）——暴露与 X 相同，价格为 8%。</a:t>
            </a:r>
          </a:p>
          <a:p>
            <a:pPr marL="0" indent="0" algn="l">
              <a:lnSpc>
                <a:spcPct val="116666"/>
              </a:lnSpc>
            </a:pPr>
            <a:r>
              <a:rPr lang="en-US" sz="15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账本：今天现金 = −1 + 1 = 0；到期 X 给我 5% 收益、复制组合付我 8% 的相反头寸，一进一出净赚 3%，且两种状态里完全相同——三个条件全部满足。</a:t>
            </a:r>
          </a:p>
        </p:txBody>
      </p:sp>
      <p:cxnSp>
        <p:nvCxnSpPr>
          <p:cNvPr id="8" name="Connector 8"/>
          <p:cNvCxnSpPr/>
          <p:nvPr/>
        </p:nvCxnSpPr>
        <p:spPr>
          <a:xfrm rot="-4297">
            <a:off x="1016004" y="5861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0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60706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说明：现实中复制组合与特质风险的存在，使收益并不完全确定——边界见下一页。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主题四 · 如何实现套利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套利的边界：理论无摩擦，现实有代价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43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778000"/>
            <a:ext cx="3175000" cy="2286000"/>
          </a:xfrm>
          <a:prstGeom prst="roundRect">
            <a:avLst>
              <a:gd name="adj" fmla="val 6666"/>
            </a:avLst>
          </a:prstGeom>
          <a:solidFill>
            <a:srgbClr val="E08A0C">
              <a:alpha val="8000"/>
            </a:srgbClr>
          </a:solidFill>
          <a:ln w="12700" cap="flat" cmpd="sng">
            <a:solidFill>
              <a:srgbClr val="E08A0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19200" y="1981200"/>
            <a:ext cx="27686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① 特质风险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5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复制组合只能对齐因子暴露，消不掉每只股票自己的波动。APT 因此是</a:t>
            </a:r>
            <a:r>
              <a:rPr lang="en-US" sz="15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近似套利</a:t>
            </a:r>
            <a:r>
              <a:rPr lang="en-US" sz="15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：误差可以被分散，但不保证为零。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508500" y="1778000"/>
            <a:ext cx="3175000" cy="2286000"/>
          </a:xfrm>
          <a:prstGeom prst="roundRect">
            <a:avLst>
              <a:gd name="adj" fmla="val 6666"/>
            </a:avLst>
          </a:prstGeom>
          <a:solidFill>
            <a:srgbClr val="E08A0C">
              <a:alpha val="8000"/>
            </a:srgbClr>
          </a:solidFill>
          <a:ln w="12700" cap="flat" cmpd="sng">
            <a:solidFill>
              <a:srgbClr val="E08A0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711700" y="1981200"/>
            <a:ext cx="27686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② 交易成本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5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佣金、买卖价差、卖空费用、借贷利差都会吃掉差价。理论上 3% 的价差，扣掉成本可能所剩无几。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8001000" y="1778000"/>
            <a:ext cx="3175000" cy="2286000"/>
          </a:xfrm>
          <a:prstGeom prst="roundRect">
            <a:avLst>
              <a:gd name="adj" fmla="val 6666"/>
            </a:avLst>
          </a:prstGeom>
          <a:solidFill>
            <a:srgbClr val="E08A0C">
              <a:alpha val="8000"/>
            </a:srgbClr>
          </a:solidFill>
          <a:ln w="12700" cap="flat" cmpd="sng">
            <a:solidFill>
              <a:srgbClr val="E08A0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204200" y="1981200"/>
            <a:ext cx="27686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③ 做空与资金限制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5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很多股票借不到券、卖空成本高；保证金和杠杆约束也限制"零投入"的构造。</a:t>
            </a:r>
          </a:p>
        </p:txBody>
      </p:sp>
      <p:cxnSp>
        <p:nvCxnSpPr>
          <p:cNvPr id="11" name="Connector 11"/>
          <p:cNvCxnSpPr/>
          <p:nvPr/>
        </p:nvCxnSpPr>
        <p:spPr>
          <a:xfrm rot="-4297">
            <a:off x="1016004" y="431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0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1016000" y="45466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7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所以 APT 说的是"近似"</a:t>
            </a: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：对充分分散的组合，定价误差会消失；对单只股票，误差可以存在但数量级有限。这也是为什么实证中先有"暴露检验"，后有"定价结论"。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7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回到本课主线</a:t>
            </a:r>
            <a:r>
              <a:rPr lang="en-US" sz="17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：四个问题连成一条链——多维风险（为什么要多因子）→ 无套利约束（什么是套利定价）→ 可交易的共同变动（什么是因子）→ 复制与收敛（如何实现套利）。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应用 · 三个真实案例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因子失效三部曲：拥挤、崩溃、反转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43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778000"/>
            <a:ext cx="10160000" cy="1219200"/>
          </a:xfrm>
          <a:prstGeom prst="roundRect">
            <a:avLst>
              <a:gd name="adj" fmla="val 12500"/>
            </a:avLst>
          </a:prstGeom>
          <a:solidFill>
            <a:srgbClr val="217448">
              <a:alpha val="7000"/>
            </a:srgbClr>
          </a:solidFill>
          <a:ln w="12700" cap="flat" cmpd="sng">
            <a:solidFill>
              <a:srgbClr val="21744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1930400"/>
            <a:ext cx="9652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案例1 · 拥挤（2021 抱团瓦解）</a:t>
            </a:r>
            <a:r>
              <a:rPr lang="en-US" sz="15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：个股分散，对冲不了风格集中。中证白酒抱团期 +388.2%、瓦解期 −38.1%、高点持有五年仍 −69.5%。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149600"/>
            <a:ext cx="10160000" cy="1219200"/>
          </a:xfrm>
          <a:prstGeom prst="roundRect">
            <a:avLst>
              <a:gd name="adj" fmla="val 12500"/>
            </a:avLst>
          </a:prstGeom>
          <a:solidFill>
            <a:srgbClr val="E08A0C">
              <a:alpha val="8000"/>
            </a:srgbClr>
          </a:solidFill>
          <a:ln w="12700" cap="flat" cmpd="sng">
            <a:solidFill>
              <a:srgbClr val="E08A0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70000" y="3302000"/>
            <a:ext cx="9652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案例2 · 崩溃（2024 微盘危机）</a:t>
            </a:r>
            <a:r>
              <a:rPr lang="en-US" sz="15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：SMB 因子的单月崩溃。2024-01 中证2000 −27.49% vs 沪深300 −1.93%；SMB 代理单月 −14.68%，为样本期最低。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521200"/>
            <a:ext cx="10160000" cy="1219200"/>
          </a:xfrm>
          <a:prstGeom prst="roundRect">
            <a:avLst>
              <a:gd name="adj" fmla="val 12500"/>
            </a:avLst>
          </a:prstGeom>
          <a:solidFill>
            <a:srgbClr val="5969D3">
              <a:alpha val="8000"/>
            </a:srgbClr>
          </a:solidFill>
          <a:ln w="12700" cap="flat" cmpd="sng">
            <a:solidFill>
              <a:srgbClr val="5969D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270000" y="4673600"/>
            <a:ext cx="9652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案例3 · 反转（2025–2026 风格轮动）</a:t>
            </a:r>
            <a:r>
              <a:rPr lang="en-US" sz="15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：同一经理、两种评价。005827 第一窗 +0.8%、第二窗 −13.5%（同期沪深300 +17.5%）；风格因子收益大面积反号。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4297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0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1016000" y="61722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共同线索：因子风险有厚尾，压力测试必须用真实事件窗口。全部由 Agent 用真实数据复现。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4572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应用 · 案例1 · 因子失效三部曲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382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案例1 · 拥挤：2021 抱团瓦解，个股分散对冲不了风格集中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676400"/>
            <a:ext cx="10160000" cy="1092200"/>
          </a:xfrm>
          <a:prstGeom prst="roundRect">
            <a:avLst>
              <a:gd name="adj" fmla="val 13953"/>
            </a:avLst>
          </a:prstGeom>
          <a:solidFill>
            <a:srgbClr val="217448">
              <a:alpha val="7000"/>
            </a:srgbClr>
          </a:solidFill>
          <a:ln w="12700" cap="flat" cmpd="sng">
            <a:solidFill>
              <a:srgbClr val="21744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1803400"/>
            <a:ext cx="9652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5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2019–2021 年初，"核心资产"（消费、医药、新能源龙头）被公募集中持有，风格指数两年多翻倍以上。单看每位基金经理都在"分散持股"——几十只股票——但整体上集中于</a:t>
            </a:r>
            <a:r>
              <a:rPr lang="en-US" sz="145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同一个风格因子</a:t>
            </a:r>
            <a:r>
              <a:rPr lang="en-US" sz="145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；2021 年 2 月见顶后，抱团瓦解。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16000" y="2946400"/>
          <a:ext cx="10160000" cy="1828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744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2019-01~2021-02-10 累计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744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2021-02-10~2022-04-26 最大回撤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744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高点持有至 2026-08-31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744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中证消费 000932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+227.8%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−37.0%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−60.7%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中证白酒 399997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+388.2%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−38.1%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−69.5%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中证医疗 399989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+231.4%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−48.7%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−65.8%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沪深300 000300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+95.6%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−34.8%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−20.4%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1016000" y="5029200"/>
            <a:ext cx="10160000" cy="1066800"/>
          </a:xfrm>
          <a:prstGeom prst="roundRect">
            <a:avLst>
              <a:gd name="adj" fmla="val 14285"/>
            </a:avLst>
          </a:prstGeom>
          <a:solidFill>
            <a:srgbClr val="217448">
              <a:alpha val="8000"/>
            </a:srgbClr>
          </a:solidFill>
          <a:ln w="12700" cap="flat" cmpd="sng">
            <a:solidFill>
              <a:srgbClr val="21744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270000" y="5130800"/>
            <a:ext cx="965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5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一句话结论</a:t>
            </a:r>
            <a:r>
              <a:rPr lang="en-US" sz="145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：抱团期的涨幅（白酒 +388%）是"拥挤"的回报，瓦解期的回撤（−37% ~ −49%）是"拥挤"的代价；高点买入持有至今，消费/白酒/医疗仍较沪深300 多亏 40~50 个百分点——</a:t>
            </a:r>
            <a:r>
              <a:rPr lang="en-US" sz="1450" b="1" i="0" u="none" strike="noStrike">
                <a:solidFill>
                  <a:srgbClr val="217448"/>
                </a:solidFill>
                <a:latin typeface="Noto Sans SC"/>
                <a:ea typeface="Noto Sans SC"/>
                <a:cs typeface="Noto Sans SC"/>
                <a:sym typeface="Noto Sans SC"/>
              </a:rPr>
              <a:t>风格指数即一条可拥挤的因子，个股层面的分散无法对冲风格层面的集中</a:t>
            </a:r>
            <a:r>
              <a:rPr lang="en-US" sz="145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6318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0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64262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来源：中证指数/腾讯行情；样本区间见表头；日频价格、前复权（指数无复权问题）；累计收益。Agent 验证任务 C1。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4572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应用 · 案例2 · 因子失效三部曲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382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案例2 · 崩溃：2024 微盘危机，SMB 因子的单月崩溃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08A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676400"/>
            <a:ext cx="10160000" cy="1092200"/>
          </a:xfrm>
          <a:prstGeom prst="roundRect">
            <a:avLst>
              <a:gd name="adj" fmla="val 13953"/>
            </a:avLst>
          </a:prstGeom>
          <a:solidFill>
            <a:srgbClr val="E08A0C">
              <a:alpha val="8000"/>
            </a:srgbClr>
          </a:solidFill>
          <a:ln w="12700" cap="flat" cmpd="sng">
            <a:solidFill>
              <a:srgbClr val="E08A0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1803400"/>
            <a:ext cx="9652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5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2024 年 1–2 月，小微盘股流动性危机：量化指增/中性产品普遍超配小微盘，DMA 杠杆放大暴露，雪球敲入与降杠杆形成负反馈，约 300 家个股跌停，监管随后限制 DMA。它不只是"一次流动性事件"，而是 </a:t>
            </a:r>
            <a:r>
              <a:rPr lang="en-US" sz="145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SMB（小减大）因子的单月崩溃</a:t>
            </a:r>
            <a:r>
              <a:rPr lang="en-US" sz="145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16000" y="2946400"/>
          <a:ext cx="10160000" cy="1828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时点 / 窗口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8A0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中证2000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8A0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沪深300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8A0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差值（SMB 代理）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8A0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2024-01 月度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—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—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−14.68%（44 个月第 2.3 百分位）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2024-02 月度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—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—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−3.38%（第 20.5 百分位）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危机窗 01-02~02-08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−27.49%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−1.93%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−25.6 个百分点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急涨窗 09-24~10-08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+36.11%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+32.47%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+3.6 个百分点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1016000" y="5029200"/>
            <a:ext cx="10160000" cy="1066800"/>
          </a:xfrm>
          <a:prstGeom prst="roundRect">
            <a:avLst>
              <a:gd name="adj" fmla="val 14285"/>
            </a:avLst>
          </a:prstGeom>
          <a:solidFill>
            <a:srgbClr val="E08A0C">
              <a:alpha val="8000"/>
            </a:srgbClr>
          </a:solidFill>
          <a:ln w="12700" cap="flat" cmpd="sng">
            <a:solidFill>
              <a:srgbClr val="E08A0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270000" y="5130800"/>
            <a:ext cx="965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5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一句话结论</a:t>
            </a:r>
            <a:r>
              <a:rPr lang="en-US" sz="145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：44 个月中最极端的因子月度负收益，指数口径出现在 2024-01（第 2.3 百分位），因子口径为 2024-02（−18.5%）——两个口径指向同一现象、但不是同一个月。</a:t>
            </a:r>
            <a:r>
              <a:rPr lang="en-US" sz="1450" b="1" i="0" u="none" strike="noStrike">
                <a:solidFill>
                  <a:srgbClr val="B06004"/>
                </a:solidFill>
                <a:latin typeface="Noto Sans SC"/>
                <a:ea typeface="Noto Sans SC"/>
                <a:cs typeface="Noto Sans SC"/>
                <a:sym typeface="Noto Sans SC"/>
              </a:rPr>
              <a:t>因子风险有厚尾，压力测试必须用真实事件窗口，而不是"假设下跌 10%"</a:t>
            </a:r>
            <a:r>
              <a:rPr lang="en-US" sz="145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6318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0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64262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来源：中证指数公司行情；月度=月末收盘对月末收盘；区间=首尾交易日收盘；前复权（指数）。Agent 验证任务 C2。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4572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应用 · 案例3 · 因子失效三部曲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12800"/>
            <a:ext cx="10414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案例3 · 反转：2025–2026 风格轮动，同一经理两种评价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492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969D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625600"/>
            <a:ext cx="10160000" cy="787400"/>
          </a:xfrm>
          <a:prstGeom prst="roundRect">
            <a:avLst>
              <a:gd name="adj" fmla="val 19354"/>
            </a:avLst>
          </a:prstGeom>
          <a:solidFill>
            <a:srgbClr val="5969D3">
              <a:alpha val="8000"/>
            </a:srgbClr>
          </a:solidFill>
          <a:ln w="12700" cap="flat" cmpd="sng">
            <a:solidFill>
              <a:srgbClr val="5969D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1727200"/>
            <a:ext cx="965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2025 年以来风格剧烈轮动：上半年小盘与题材占优，其后 AI 硬件（科创）再度领涨，红利/价值大幅落后；同一批基金经理在不同区间的评价截然相反。把区间分段，同一管理人的评价会不会反转？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16000" y="2565400"/>
          <a:ext cx="10160000" cy="218948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969D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2025-01~06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969D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2025-07~2026-08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969D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全窗 2025-01~2026-08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969D3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中证2000（微盘代理）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+15.2%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+17.5%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+35.4%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中证红利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−3.1%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+5.7%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+2.5%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科创50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+1.5%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+67.9%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+70.3%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沪深300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+17.5%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+17.5%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005827 易方达蓝筹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+0.8%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−13.5%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−12.8%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1016000" y="4953000"/>
            <a:ext cx="10160000" cy="1168400"/>
          </a:xfrm>
          <a:prstGeom prst="roundRect">
            <a:avLst>
              <a:gd name="adj" fmla="val 13043"/>
            </a:avLst>
          </a:prstGeom>
          <a:solidFill>
            <a:srgbClr val="5969D3">
              <a:alpha val="8000"/>
            </a:srgbClr>
          </a:solidFill>
          <a:ln w="12700" cap="flat" cmpd="sng">
            <a:solidFill>
              <a:srgbClr val="5969D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270000" y="5054600"/>
            <a:ext cx="96520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一句话结论</a:t>
            </a:r>
            <a:r>
              <a:rPr lang="en-US" sz="14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：005827 第一窗 +0.8%、第二窗 −13.5%（同期沪深300 +17.5%）——同一经理的"能力"评价高度依赖所选区间。因子层面同样反号（第一窗 SMB +6.1%、第二窗 MOM +32.0%）。</a:t>
            </a:r>
            <a:r>
              <a:rPr lang="en-US" sz="1400" b="1" i="0" u="none" strike="noStrike">
                <a:solidFill>
                  <a:srgbClr val="5969D3"/>
                </a:solidFill>
                <a:latin typeface="Noto Sans SC"/>
                <a:ea typeface="Noto Sans SC"/>
                <a:cs typeface="Noto Sans SC"/>
                <a:sym typeface="Noto Sans SC"/>
              </a:rPr>
              <a:t>评价之前，先声明区间与风格口径</a:t>
            </a:r>
            <a:r>
              <a:rPr lang="en-US" sz="14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6318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0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64262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来源：中证/上交所指数行情 + 天天基金单位净值；区间=首尾交易日；日频收益累计；基金净值已含分红再投。Agent 验证任务 C3。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应用 · 学生任务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写一段能复现三因子的提示词：四步法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6510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别直接说"做个三因子"——Agent 会在你没说的地方自由发挥。四步把话说死，它才能复现你的口径。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23622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1744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19200" y="2362200"/>
            <a:ext cx="355600" cy="355600"/>
          </a:xfrm>
          <a:prstGeom prst="ellipse">
            <a:avLst/>
          </a:prstGeom>
          <a:solidFill>
            <a:srgbClr val="2174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95400" y="2413000"/>
            <a:ext cx="25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19200" y="2844800"/>
            <a:ext cx="1955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目标与样本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19200" y="3276600"/>
            <a:ext cx="19558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3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建什么因子、哪段区间、什么频率与复权——先定死，结果才可比较。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05200" y="2159000"/>
            <a:ext cx="23622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1744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708400" y="2362200"/>
            <a:ext cx="355600" cy="355600"/>
          </a:xfrm>
          <a:prstGeom prst="ellipse">
            <a:avLst/>
          </a:prstGeom>
          <a:solidFill>
            <a:srgbClr val="2174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784600" y="2413000"/>
            <a:ext cx="25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708400" y="2844800"/>
            <a:ext cx="1955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定义 universe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708400" y="3276600"/>
            <a:ext cx="19558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3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把股票池写死。必须跨尺寸——SMB/HML 的"跨度"全来自这里。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994400" y="2159000"/>
            <a:ext cx="23622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1744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197600" y="2362200"/>
            <a:ext cx="355600" cy="355600"/>
          </a:xfrm>
          <a:prstGeom prst="ellipse">
            <a:avLst/>
          </a:prstGeom>
          <a:solidFill>
            <a:srgbClr val="2174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273800" y="2413000"/>
            <a:ext cx="25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197600" y="2844800"/>
            <a:ext cx="1955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因子公式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197600" y="3276600"/>
            <a:ext cx="19558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3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每个因子一条可复现的数学定义，下标、分式、口径全显式。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483600" y="2159000"/>
            <a:ext cx="24384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1744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686800" y="2362200"/>
            <a:ext cx="355600" cy="355600"/>
          </a:xfrm>
          <a:prstGeom prst="ellipse">
            <a:avLst/>
          </a:prstGeom>
          <a:solidFill>
            <a:srgbClr val="2174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763000" y="2413000"/>
            <a:ext cx="25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686800" y="28448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输出与审查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686800" y="3276600"/>
            <a:ext cx="2032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3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规定输出物、口径标注与验收要点，缺一项即不合格。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016000" y="4572000"/>
            <a:ext cx="9906000" cy="711200"/>
          </a:xfrm>
          <a:prstGeom prst="roundRect">
            <a:avLst>
              <a:gd name="adj" fmla="val 21428"/>
            </a:avLst>
          </a:prstGeom>
          <a:solidFill>
            <a:srgbClr val="2174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270000" y="47498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下面四页：每一步给出"可直接抄的提示词片段"；最后一页拼成完整提示词。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Step 1+2 · 目标、样本与 universe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先把"建什么、在哪建"写死，再谈因子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7018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为什么要写死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108200"/>
            <a:ext cx="419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en-US" sz="14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目标不写清：Agent 会自选因子与区间，用一段"好看"的样本替代你的口径。</a:t>
            </a:r>
            <a:endParaRPr lang="en-US" sz="1100"/>
          </a:p>
          <a:p>
            <a:pPr marL="0" indent="0" algn="l">
              <a:lnSpc>
                <a:spcPct val="120833"/>
              </a:lnSpc>
            </a:pPr>
            <a:r>
              <a:rPr lang="en-US" sz="14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universe 是 SMB 的"尺寸跨度"来源：只用沪深300，SMB/HML 没有大小盘跨度，结果只是噪声——这是 Agent 最容易悄悄犯的错。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5461000" y="1701800"/>
            <a:ext cx="5715000" cy="2159000"/>
          </a:xfrm>
          <a:prstGeom prst="roundRect">
            <a:avLst>
              <a:gd name="adj" fmla="val 7058"/>
            </a:avLst>
          </a:prstGeom>
          <a:solidFill>
            <a:srgbClr val="16202D">
              <a:alpha val="100000"/>
            </a:srgbClr>
          </a:solidFill>
          <a:ln w="12700" cap="flat" cmpd="sng">
            <a:solidFill>
              <a:srgbClr val="21744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689600" y="1879600"/>
            <a:ext cx="5257800" cy="180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5F7FA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目标：构建 RM / SMB / HML / MOM 四因子的月度收益（2023-01 至 2026-08），前复权，按月调仓。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5F7FA"/>
                </a:solidFill>
                <a:latin typeface="Noto Sans SC"/>
                <a:ea typeface="Noto Sans SC"/>
                <a:cs typeface="Noto Sans SC"/>
                <a:sym typeface="Noto Sans SC"/>
              </a:rPr>
              <a:t>universe（教学代理口径）＝ 20只股票池 + 沪深300成分随机种子42抽30只 + 中证2000按代码升序前30只；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3962400"/>
            <a:ext cx="1016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08A0C"/>
                </a:solidFill>
                <a:latin typeface="Noto Sans SC"/>
                <a:ea typeface="Noto Sans SC"/>
                <a:cs typeface="Noto Sans SC"/>
                <a:sym typeface="Noto Sans SC"/>
              </a:rPr>
              <a:t>若你的数据源取不到上述名单：改用你声明的一个跨尺寸股票池——但必须说明：universe 决定 SMB 的尺寸跨度。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Step 3 · 每个因子一条可复现的公式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因子怎么算，逐字写进提示词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7018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为什么写成公式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108200"/>
            <a:ext cx="419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en-US" sz="14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下标、分式、口径全部显式化——Agent 没有"猜"的空间。</a:t>
            </a:r>
            <a:endParaRPr lang="en-US" sz="1100"/>
          </a:p>
          <a:p>
            <a:pPr marL="0" indent="0" algn="l">
              <a:lnSpc>
                <a:spcPct val="120833"/>
              </a:lnSpc>
            </a:pPr>
            <a:r>
              <a:rPr lang="en-US" sz="14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HML 用指数代理（红利 − 创业板），必须在输出中声明；不同口径的 HML 不可比。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5461000" y="1701800"/>
            <a:ext cx="5715000" cy="2413000"/>
          </a:xfrm>
          <a:prstGeom prst="roundRect">
            <a:avLst>
              <a:gd name="adj" fmla="val 6315"/>
            </a:avLst>
          </a:prstGeom>
          <a:solidFill>
            <a:srgbClr val="16202D">
              <a:alpha val="100000"/>
            </a:srgbClr>
          </a:solidFill>
          <a:ln w="12700" cap="flat" cmpd="sng">
            <a:solidFill>
              <a:srgbClr val="21744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AutoShape 8"/>
              <p:cNvSpPr/>
              <p:nvPr/>
            </p:nvSpPr>
            <p:spPr>
              <a:xfrm>
                <a:off x="5689600" y="1879600"/>
                <a:ext cx="5257800" cy="2057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RM = universe 等权月收益 −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sz="1400">
                                <a:solidFill>
                                  <a:srgbClr val="F5F7FA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</m:ctrlPr>
                          </m:sSubPr>
                          <m:e>
                            <m:r>
                              <a:rPr sz="1400">
                                <a:solidFill>
                                  <a:srgbClr val="F5F7FA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𝑟</m:t>
                            </m:r>
                          </m:e>
                          <m:sub>
                            <m:r>
                              <a:rPr sz="1400">
                                <a:solidFill>
                                  <a:srgbClr val="F5F7FA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𝑟</m:t>
                        </m:r>
                      </m:e>
                      <m:sub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𝑓</m:t>
                        </m:r>
                      </m:sub>
                    </m:sSub>
                    <m:r>
                      <a:rPr sz="1400">
                        <a:solidFill>
                          <a:srgbClr val="F5F7FA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=2.0%</m:t>
                    </m:r>
                  </m:oMath>
                </a14:m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/年，声明）</a:t>
                </a:r>
                <a:endParaRPr lang="en-US" sz="1100"/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SMB =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barPr>
                      <m:e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𝑟</m:t>
                        </m:r>
                      </m:e>
                    </m:bar>
                    <m:r>
                      <a:rPr sz="1400">
                        <a:solidFill>
                          <a:srgbClr val="F5F7FA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_{</m:t>
                    </m:r>
                    <m:r>
                      <m:rPr>
                        <m:sty m:val="p"/>
                      </m:rPr>
                      <a:rPr sz="1400">
                        <a:solidFill>
                          <a:srgbClr val="F5F7FA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small</m:t>
                    </m:r>
                    <m:r>
                      <a:rPr sz="1400">
                        <a:solidFill>
                          <a:srgbClr val="F5F7FA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}−</m:t>
                    </m:r>
                    <m:bar>
                      <m:barPr>
                        <m:pos m:val="top"/>
                        <m:ctrlP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barPr>
                      <m:e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𝑟</m:t>
                        </m:r>
                      </m:e>
                    </m:bar>
                    <m:r>
                      <a:rPr sz="1400">
                        <a:solidFill>
                          <a:srgbClr val="F5F7FA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_{</m:t>
                    </m:r>
                    <m:r>
                      <m:rPr>
                        <m:sty m:val="p"/>
                      </m:rPr>
                      <a:rPr sz="1400">
                        <a:solidFill>
                          <a:srgbClr val="F5F7FA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big</m:t>
                    </m:r>
                    <m:r>
                      <a:rPr sz="1400">
                        <a:solidFill>
                          <a:srgbClr val="F5F7FA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}</m:t>
                    </m:r>
                  </m:oMath>
                </a14:m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（微盘组 − 大盘组，等权月收益）</a:t>
                </a:r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HML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𝑟</m:t>
                        </m:r>
                      </m:e>
                      <m:sub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000922</m:t>
                        </m:r>
                      </m:sub>
                    </m:sSub>
                    <m:r>
                      <a:rPr sz="1400">
                        <a:solidFill>
                          <a:srgbClr val="F5F7FA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−</m:t>
                    </m:r>
                    <m:sSub>
                      <m:sSubPr>
                        <m:ctrlP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𝑟</m:t>
                        </m:r>
                      </m:e>
                      <m:sub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399006</m:t>
                        </m:r>
                      </m:sub>
                    </m:sSub>
                  </m:oMath>
                </a14:m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（中证红利 − 创业板指，指数代理）</a:t>
                </a:r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MOM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SupPr>
                      <m:e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𝑟</m:t>
                        </m:r>
                      </m:e>
                      <m:sub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𝑡𝑜𝑝</m:t>
                        </m:r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%</m:t>
                        </m:r>
                      </m:sub>
                      <m:sup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3∼12</m:t>
                        </m:r>
                      </m:sup>
                    </m:sSubSup>
                    <m:r>
                      <a:rPr sz="1400">
                        <a:solidFill>
                          <a:srgbClr val="F5F7FA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−</m:t>
                    </m:r>
                    <m:sSubSup>
                      <m:sSubSupPr>
                        <m:ctrlP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SupPr>
                      <m:e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𝑟</m:t>
                        </m:r>
                      </m:e>
                      <m:sub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𝑏𝑜𝑡</m:t>
                        </m:r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%</m:t>
                        </m:r>
                      </m:sub>
                      <m:sup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3∼12</m:t>
                        </m:r>
                      </m:sup>
                    </m:sSubSup>
                  </m:oMath>
                </a14:m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（过去第3~12个月累计收益，逐月调仓）</a:t>
                </a:r>
              </a:p>
            </p:txBody>
          </p:sp>
        </mc:Choice>
        <mc:Fallback>
          <p:sp>
            <p:nvSpPr>
              <p:cNvPr id="8" name="AutoShap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600" y="1879600"/>
                <a:ext cx="5257800" cy="2057400"/>
              </a:xfrm>
              <a:prstGeom prst="rect">
                <a:avLst/>
              </a:prstGeom>
              <a:blipFill>
                <a:blip r:embed="rId4"/>
                <a:stretch>
                  <a:fillRect l="-2086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utoShape 9"/>
          <p:cNvSpPr/>
          <p:nvPr/>
        </p:nvSpPr>
        <p:spPr>
          <a:xfrm>
            <a:off x="1016000" y="4191000"/>
            <a:ext cx="1016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08A0C"/>
                </a:solidFill>
                <a:latin typeface="Noto Sans SC"/>
                <a:ea typeface="Noto Sans SC"/>
                <a:cs typeface="Noto Sans SC"/>
                <a:sym typeface="Noto Sans SC"/>
              </a:rPr>
              <a:t>每个符号都要定义到"别人能照着重算"的程度：r_f 取值、分组口径、调仓频率，一个都不省。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Step 4 · 规定输出，再规定验收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输出物和审查要点，写进同一段提示词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701800"/>
            <a:ext cx="5080000" cy="3175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1744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18796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输出契约（四项，缺一不算完成）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2311400"/>
            <a:ext cx="45720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en-US" sz="14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① 四因子年化收益、年化波动</a:t>
            </a:r>
            <a:endParaRPr lang="en-US" sz="1100"/>
          </a:p>
          <a:p>
            <a:pPr marL="0" indent="0" algn="l">
              <a:lnSpc>
                <a:spcPct val="120833"/>
              </a:lnSpc>
            </a:pPr>
            <a:r>
              <a:rPr lang="en-US" sz="14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② 相关系数矩阵</a:t>
            </a:r>
          </a:p>
          <a:p>
            <a:pPr marL="0" indent="0" algn="l">
              <a:lnSpc>
                <a:spcPct val="120833"/>
              </a:lnSpc>
            </a:pPr>
            <a:r>
              <a:rPr lang="en-US" sz="14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③ 四条累计净值曲线（同图）</a:t>
            </a:r>
          </a:p>
          <a:p>
            <a:pPr marL="0" indent="0" algn="l">
              <a:lnSpc>
                <a:spcPct val="120833"/>
              </a:lnSpc>
            </a:pPr>
            <a:r>
              <a:rPr lang="en-US" sz="14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④ 每个因子的"单月最差月份及数值"</a:t>
            </a:r>
          </a:p>
        </p:txBody>
      </p:sp>
      <p:sp>
        <p:nvSpPr>
          <p:cNvPr id="8" name="AutoShape 8"/>
          <p:cNvSpPr/>
          <p:nvPr/>
        </p:nvSpPr>
        <p:spPr>
          <a:xfrm>
            <a:off x="1270000" y="3632200"/>
            <a:ext cx="4572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en-US" sz="1400" b="0" i="0" u="none" strike="noStrike">
                <a:solidFill>
                  <a:srgbClr val="E08A0C"/>
                </a:solidFill>
                <a:latin typeface="Noto Sans SC"/>
                <a:ea typeface="Noto Sans SC"/>
                <a:cs typeface="Noto Sans SC"/>
                <a:sym typeface="Noto Sans SC"/>
              </a:rPr>
              <a:t>每个输出下方标注：数据来源、样本区间、频率、复权方式、r_f 取值——缺一项即审查不合格。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1701800"/>
            <a:ext cx="4826000" cy="3175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1744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604000" y="18796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拿到结果，对照三条审查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2311400"/>
            <a:ext cx="4318000" cy="2387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en-US" sz="14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1. universe 有尺寸跨度吗？只用沪深300，SMB/HML 就没有跨度，结果是噪声。</a:t>
            </a:r>
            <a:endParaRPr lang="en-US" sz="1100"/>
          </a:p>
          <a:p>
            <a:pPr marL="0" indent="0" algn="l">
              <a:lnSpc>
                <a:spcPct val="120833"/>
              </a:lnSpc>
            </a:pPr>
            <a:r>
              <a:rPr lang="en-US" sz="14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2. HML 什么口径？本课用"红利指数 − 创业板指"代理，必须在输出中声明，不同口径不可比。</a:t>
            </a:r>
          </a:p>
          <a:p>
            <a:pPr marL="0" indent="0" algn="l">
              <a:lnSpc>
                <a:spcPct val="120833"/>
              </a:lnSpc>
            </a:pPr>
            <a:r>
              <a:rPr lang="en-US" sz="14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3. 溢价可以为负：实测 SMB −9.65%、HML −10.66%、MOM −3.97%，且分年正负翻转——先检验，再配置。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拼装完成 · 可直接复制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拼装完成：把这段完整提示词交给 Agent，复现三因子构建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701800"/>
            <a:ext cx="10160000" cy="3175000"/>
          </a:xfrm>
          <a:prstGeom prst="roundRect">
            <a:avLst>
              <a:gd name="adj" fmla="val 4800"/>
            </a:avLst>
          </a:prstGeom>
          <a:solidFill>
            <a:srgbClr val="16202D">
              <a:alpha val="100000"/>
            </a:srgbClr>
          </a:solidFill>
          <a:ln w="12700" cap="flat" cmpd="sng">
            <a:solidFill>
              <a:srgbClr val="21744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AutoShape 6"/>
              <p:cNvSpPr/>
              <p:nvPr/>
            </p:nvSpPr>
            <p:spPr>
              <a:xfrm>
                <a:off x="1270000" y="1879600"/>
                <a:ext cx="9652000" cy="2819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目标：构建 RM / SMB / HML / MOM 四因子的月度收益（2023-01 至 2026-08），前复权，按月调仓。</a:t>
                </a:r>
                <a:endParaRPr lang="en-US" sz="1100"/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universe（教学代理口径）＝ 20只股票池 + 沪深300成分随机种子42抽30只 + 中证2000按代码升序前30只；</a:t>
                </a:r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因子定义：</a:t>
                </a:r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RM = universe 等权月收益 −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sz="1400">
                                <a:solidFill>
                                  <a:srgbClr val="F5F7FA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</m:ctrlPr>
                          </m:sSubPr>
                          <m:e>
                            <m:r>
                              <a:rPr sz="1400">
                                <a:solidFill>
                                  <a:srgbClr val="F5F7FA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𝑟</m:t>
                            </m:r>
                          </m:e>
                          <m:sub>
                            <m:r>
                              <a:rPr sz="1400">
                                <a:solidFill>
                                  <a:srgbClr val="F5F7FA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𝑟</m:t>
                        </m:r>
                      </m:e>
                      <m:sub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𝑓</m:t>
                        </m:r>
                      </m:sub>
                    </m:sSub>
                    <m:r>
                      <a:rPr sz="1400">
                        <a:solidFill>
                          <a:srgbClr val="F5F7FA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=2.0%</m:t>
                    </m:r>
                  </m:oMath>
                </a14:m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/年，声明）</a:t>
                </a:r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SMB =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barPr>
                      <m:e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𝑟</m:t>
                        </m:r>
                      </m:e>
                    </m:bar>
                    <m:r>
                      <a:rPr sz="1400">
                        <a:solidFill>
                          <a:srgbClr val="F5F7FA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_{</m:t>
                    </m:r>
                    <m:r>
                      <m:rPr>
                        <m:sty m:val="p"/>
                      </m:rPr>
                      <a:rPr sz="1400">
                        <a:solidFill>
                          <a:srgbClr val="F5F7FA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small</m:t>
                    </m:r>
                    <m:r>
                      <a:rPr sz="1400">
                        <a:solidFill>
                          <a:srgbClr val="F5F7FA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}−</m:t>
                    </m:r>
                    <m:bar>
                      <m:barPr>
                        <m:pos m:val="top"/>
                        <m:ctrlP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barPr>
                      <m:e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𝑟</m:t>
                        </m:r>
                      </m:e>
                    </m:bar>
                    <m:r>
                      <a:rPr sz="1400">
                        <a:solidFill>
                          <a:srgbClr val="F5F7FA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_{</m:t>
                    </m:r>
                    <m:r>
                      <m:rPr>
                        <m:sty m:val="p"/>
                      </m:rPr>
                      <a:rPr sz="1400">
                        <a:solidFill>
                          <a:srgbClr val="F5F7FA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big</m:t>
                    </m:r>
                    <m:r>
                      <a:rPr sz="1400">
                        <a:solidFill>
                          <a:srgbClr val="F5F7FA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}</m:t>
                    </m:r>
                  </m:oMath>
                </a14:m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（微盘组 − 大盘组，等权月收益）</a:t>
                </a:r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HML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𝑟</m:t>
                        </m:r>
                      </m:e>
                      <m:sub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000922</m:t>
                        </m:r>
                      </m:sub>
                    </m:sSub>
                    <m:r>
                      <a:rPr sz="1400">
                        <a:solidFill>
                          <a:srgbClr val="F5F7FA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−</m:t>
                    </m:r>
                    <m:sSub>
                      <m:sSubPr>
                        <m:ctrlP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𝑟</m:t>
                        </m:r>
                      </m:e>
                      <m:sub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399006</m:t>
                        </m:r>
                      </m:sub>
                    </m:sSub>
                  </m:oMath>
                </a14:m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（中证红利 − 创业板指，指数代理）</a:t>
                </a:r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MOM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SupPr>
                      <m:e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𝑟</m:t>
                        </m:r>
                      </m:e>
                      <m:sub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𝑡𝑜𝑝</m:t>
                        </m:r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%</m:t>
                        </m:r>
                      </m:sub>
                      <m:sup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3∼12</m:t>
                        </m:r>
                      </m:sup>
                    </m:sSubSup>
                    <m:r>
                      <a:rPr sz="1400">
                        <a:solidFill>
                          <a:srgbClr val="F5F7FA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−</m:t>
                    </m:r>
                    <m:sSubSup>
                      <m:sSubSupPr>
                        <m:ctrlP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SupPr>
                      <m:e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𝑟</m:t>
                        </m:r>
                      </m:e>
                      <m:sub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𝑏𝑜𝑡</m:t>
                        </m:r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%</m:t>
                        </m:r>
                      </m:sub>
                      <m:sup>
                        <m:r>
                          <a:rPr sz="1400">
                            <a:solidFill>
                              <a:srgbClr val="F5F7FA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3∼12</m:t>
                        </m:r>
                      </m:sup>
                    </m:sSubSup>
                  </m:oMath>
                </a14:m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（过去第3~12个月累计收益，逐月调仓）</a:t>
                </a:r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sz="1400" b="0" i="0" u="none" strike="noStrike">
                    <a:solidFill>
                      <a:srgbClr val="F5F7F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输出：① 年化收益/波动 ② 相关系数矩阵 ③ 四条累计净值曲线 ④ 单月最差月份及数值</a:t>
                </a:r>
              </a:p>
            </p:txBody>
          </p:sp>
        </mc:Choice>
        <mc:Fallback>
          <p:sp>
            <p:nvSpPr>
              <p:cNvPr id="6" name="AutoShap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1879600"/>
                <a:ext cx="9652000" cy="2819400"/>
              </a:xfrm>
              <a:prstGeom prst="rect">
                <a:avLst/>
              </a:prstGeom>
              <a:blipFill>
                <a:blip r:embed="rId4"/>
                <a:stretch>
                  <a:fillRect l="-1136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utoShape 7"/>
          <p:cNvSpPr/>
          <p:nvPr/>
        </p:nvSpPr>
        <p:spPr>
          <a:xfrm>
            <a:off x="1016000" y="50292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拿到结果后，对照三条审查要点（缺一条即不合格）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5435600"/>
            <a:ext cx="10160000" cy="1117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en-US" sz="14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sz="14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universe 有尺寸跨度吗？</a:t>
            </a:r>
            <a:r>
              <a:rPr lang="en-US" sz="14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只用沪深300，SMB/HML 就没有跨度，结果是噪声——这是 Agent 最容易悄悄犯的错。</a:t>
            </a:r>
            <a:endParaRPr lang="en-US" sz="1100"/>
          </a:p>
          <a:p>
            <a:pPr marL="0" indent="0" algn="l">
              <a:lnSpc>
                <a:spcPct val="120833"/>
              </a:lnSpc>
            </a:pPr>
            <a:r>
              <a:rPr lang="en-US" sz="14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en-US" sz="14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HML 什么口径？</a:t>
            </a:r>
            <a:r>
              <a:rPr lang="en-US" sz="14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本课用"红利指数 − 创业板指"代理，必须在输出中声明，不同口径不可比。</a:t>
            </a:r>
          </a:p>
          <a:p>
            <a:pPr marL="0" indent="0" algn="l">
              <a:lnSpc>
                <a:spcPct val="120833"/>
              </a:lnSpc>
            </a:pPr>
            <a:r>
              <a:rPr lang="en-US" sz="14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en-US" sz="14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溢价可以为负</a:t>
            </a:r>
            <a:r>
              <a:rPr lang="en-US" sz="14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：实测 SMB −9.65%、HML −10.66%、MOM −3.97%，且分年正负翻转——先检验，再配置。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应用 · Agent 实操四步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实操四步：构因子、归因、选股、压测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43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778000"/>
            <a:ext cx="10160000" cy="1117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P1 构建四因子</a:t>
            </a:r>
            <a:r>
              <a:rPr lang="en-US" sz="16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：universe=76 只（股票池+随机+小盘），RM/SMB/HML/MOM 月频收益序列。实测三条溢价为负——先检验、后配置，不承诺溢价存在。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6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P2 归因</a:t>
            </a:r>
            <a:r>
              <a:rPr lang="en-US" sz="16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：α 显著为负先查口径。茅台 α −25.66（t −2.92）；005827 市场暴露显著、风格暴露不显著、α −29.79（t −3.95）。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1016000" y="3098800"/>
            <a:ext cx="10160000" cy="1117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P3 观点 → 暴露 → 名单</a:t>
            </a:r>
            <a:r>
              <a:rPr lang="en-US" sz="16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：看多小盘+动量、看空价值，score=b_SMB+b_MOM−b_HML 选前十；无约束名单七只集中电子链——风格选择的第一步就是持仓集中的第一步。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6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P4 压力测试</a:t>
            </a:r>
            <a:r>
              <a:rPr lang="en-US" sz="16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：危机窗组合 −16.94% vs 沪深300 −6.10%，回撤比终点收益更早暴露代价；估计窗 +462.81% 是前视偏差，不是业绩。</a:t>
            </a:r>
          </a:p>
        </p:txBody>
      </p:sp>
      <p:cxnSp>
        <p:nvCxnSpPr>
          <p:cNvPr id="7" name="Connector 7"/>
          <p:cNvCxnSpPr/>
          <p:nvPr/>
        </p:nvCxnSpPr>
        <p:spPr>
          <a:xfrm rot="-4297">
            <a:off x="1016004" y="4464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0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4673600"/>
            <a:ext cx="1016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共同纪律</a:t>
            </a:r>
            <a:r>
              <a:rPr lang="en-US" sz="16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：每个数字带口径，未附 t 值的 α 不写入结论。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口径：中证指数/腾讯行情/天天基金；2023-01~2026-08 月频（C3 日频）；r_f=2.0%/年；α 年化=月 α×12；HML=中证红利−创业板指代理。</a:t>
            </a:r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完整表：P1 四因子表、P2 归因表、P3 名单对照、P4 三区间压测均在本课讲稿中可复现。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收束 · 三种工具的分工与课后任务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小结：一个 β 不够，那就多几个 β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43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AutoShape 5"/>
              <p:cNvSpPr/>
              <p:nvPr/>
            </p:nvSpPr>
            <p:spPr>
              <a:xfrm>
                <a:off x="1016000" y="1778000"/>
                <a:ext cx="4826000" cy="3556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三种工具，三个层次</a:t>
                </a:r>
                <a:endParaRPr lang="en-US" sz="1800" dirty="0"/>
              </a:p>
              <a:p>
                <a:pPr marL="0" indent="0" algn="l">
                  <a:lnSpc>
                    <a:spcPct val="116666"/>
                  </a:lnSpc>
                </a:pPr>
                <a:r>
                  <a:rPr lang="en-US" sz="1800" b="0" i="0" u="none" strike="noStrike" dirty="0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MPT：组合层面，资产是"</a:t>
                </a:r>
                <a:r>
                  <a:rPr lang="en-US" sz="1800" b="0" i="0" u="none" strike="noStrike" dirty="0" err="1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篮子</a:t>
                </a:r>
                <a:r>
                  <a:rPr lang="en-US" sz="1800" b="0" i="0" u="none" strike="noStrike" dirty="0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"，</a:t>
                </a:r>
                <a:r>
                  <a:rPr lang="en-US" sz="1800" b="0" i="0" u="none" strike="noStrike" dirty="0" err="1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关心相关性</a:t>
                </a:r>
                <a:r>
                  <a:rPr lang="en-US" sz="1800" b="0" i="0" u="none" strike="noStrike" dirty="0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。</a:t>
                </a:r>
              </a:p>
              <a:p>
                <a:pPr marL="0" indent="0" algn="l">
                  <a:lnSpc>
                    <a:spcPct val="116666"/>
                  </a:lnSpc>
                </a:pPr>
                <a:r>
                  <a:rPr lang="en-US" sz="1800" b="0" i="0" u="none" strike="noStrike" dirty="0" err="1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CAPM：单资产定价，市场风险是唯一被定价的风险</a:t>
                </a:r>
                <a:r>
                  <a:rPr lang="en-US" sz="1800" b="0" i="0" u="none" strike="noStrike" dirty="0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，</a:t>
                </a:r>
                <a14:m>
                  <m:oMath xmlns:m="http://schemas.openxmlformats.org/officeDocument/2006/math">
                    <m:r>
                      <a:rPr sz="18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𝐸</m:t>
                    </m:r>
                    <m:d>
                      <m:dPr>
                        <m:ctrlPr>
                          <a:rPr sz="1800" i="1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18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</m:ctrlPr>
                          </m:sSubPr>
                          <m:e>
                            <m:r>
                              <a:rPr sz="18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𝑟</m:t>
                            </m:r>
                          </m:e>
                          <m:sub>
                            <m:r>
                              <a:rPr sz="18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sz="18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=</m:t>
                    </m:r>
                    <m:sSub>
                      <m:sSubPr>
                        <m:ctrlPr>
                          <a:rPr sz="18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8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𝑟</m:t>
                        </m:r>
                      </m:e>
                      <m:sub>
                        <m:r>
                          <a:rPr sz="18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𝑓</m:t>
                        </m:r>
                      </m:sub>
                    </m:sSub>
                    <m:r>
                      <a:rPr sz="18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+</m:t>
                    </m:r>
                    <m:sSub>
                      <m:sSubPr>
                        <m:ctrlPr>
                          <a:rPr sz="18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8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𝛽</m:t>
                        </m:r>
                      </m:e>
                      <m:sub>
                        <m:r>
                          <a:rPr sz="18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sz="18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dPr>
                      <m:e>
                        <m:r>
                          <a:rPr sz="18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𝐸</m:t>
                        </m:r>
                        <m:d>
                          <m:dPr>
                            <m:ctrlPr>
                              <a:rPr sz="1800" i="1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1800">
                                    <a:solidFill>
                                      <a:srgbClr val="2B3542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  <a:sym typeface="Noto Sans SC"/>
                                  </a:rPr>
                                </m:ctrlPr>
                              </m:sSubPr>
                              <m:e>
                                <m:r>
                                  <a:rPr sz="1800">
                                    <a:solidFill>
                                      <a:srgbClr val="2B3542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  <a:sym typeface="Noto Sans SC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sz="1800">
                                    <a:solidFill>
                                      <a:srgbClr val="2B3542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  <a:sym typeface="Noto Sans SC"/>
                                  </a:rPr>
                                  <m:t>𝑀</m:t>
                                </m:r>
                              </m:sub>
                            </m:sSub>
                          </m:e>
                        </m:d>
                        <m:r>
                          <a:rPr sz="18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−</m:t>
                        </m:r>
                        <m:sSub>
                          <m:sSubPr>
                            <m:ctrlPr>
                              <a:rPr sz="18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</m:ctrlPr>
                          </m:sSubPr>
                          <m:e>
                            <m:r>
                              <a:rPr sz="18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𝑟</m:t>
                            </m:r>
                          </m:e>
                          <m:sub>
                            <m:r>
                              <a:rPr sz="18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𝑓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b="0" i="0" u="none" strike="noStrike" dirty="0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。</a:t>
                </a:r>
              </a:p>
              <a:p>
                <a:pPr marL="0" indent="0" algn="l">
                  <a:lnSpc>
                    <a:spcPct val="116666"/>
                  </a:lnSpc>
                </a:pPr>
                <a:r>
                  <a:rPr lang="en-US" sz="1800" b="0" i="0" u="none" strike="noStrike" dirty="0" err="1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APT／多因子：风险是多维的，价格由暴露</a:t>
                </a:r>
                <a:r>
                  <a:rPr lang="en-US" sz="1800" b="0" i="0" u="none" strike="noStrike" dirty="0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× </a:t>
                </a:r>
                <a:r>
                  <a:rPr lang="en-US" sz="1800" b="0" i="0" u="none" strike="noStrike" dirty="0" err="1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风险溢价累加</a:t>
                </a:r>
                <a:r>
                  <a:rPr lang="en-US" sz="1800" b="0" i="0" u="none" strike="noStrike" dirty="0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，</a:t>
                </a:r>
                <a14:m>
                  <m:oMath xmlns:m="http://schemas.openxmlformats.org/officeDocument/2006/math">
                    <m:r>
                      <a:rPr sz="18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𝐸</m:t>
                    </m:r>
                    <m:d>
                      <m:dPr>
                        <m:ctrlPr>
                          <a:rPr sz="1800" i="1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18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</m:ctrlPr>
                          </m:sSubPr>
                          <m:e>
                            <m:r>
                              <a:rPr sz="18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𝑟</m:t>
                            </m:r>
                          </m:e>
                          <m:sub>
                            <m:r>
                              <a:rPr sz="18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sz="18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−</m:t>
                    </m:r>
                    <m:sSub>
                      <m:sSubPr>
                        <m:ctrlPr>
                          <a:rPr sz="18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8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𝑟</m:t>
                        </m:r>
                      </m:e>
                      <m:sub>
                        <m:r>
                          <a:rPr sz="18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𝑓</m:t>
                        </m:r>
                      </m:sub>
                    </m:sSub>
                    <m:r>
                      <a:rPr sz="1800">
                        <a:solidFill>
                          <a:srgbClr val="2B3542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sz="18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naryPr>
                      <m:sub>
                        <m:r>
                          <a:rPr sz="18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𝑘</m:t>
                        </m:r>
                      </m:sub>
                      <m:sup>
                        <m:r>
                          <a:rPr sz="18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⁣</m:t>
                        </m:r>
                      </m:sup>
                      <m:e>
                        <m:sSub>
                          <m:sSubPr>
                            <m:ctrlPr>
                              <a:rPr sz="18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</m:ctrlPr>
                          </m:sSubPr>
                          <m:e>
                            <m:r>
                              <a:rPr sz="18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𝛽</m:t>
                            </m:r>
                          </m:e>
                          <m:sub>
                            <m:r>
                              <a:rPr sz="1800">
                                <a:solidFill>
                                  <a:srgbClr val="2B3542"/>
                                </a:solidFill>
                                <a:latin typeface="Cambria Math" panose="02040503050406030204" pitchFamily="18" charset="0"/>
                                <a:ea typeface="Noto Sans SC"/>
                                <a:cs typeface="Noto Sans SC"/>
                                <a:sym typeface="Noto Sans SC"/>
                              </a:rPr>
                              <m:t>𝑖𝑘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sz="18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</m:ctrlPr>
                      </m:sSubPr>
                      <m:e>
                        <m:r>
                          <a:rPr sz="18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𝜆</m:t>
                        </m:r>
                      </m:e>
                      <m:sub>
                        <m:r>
                          <a:rPr sz="1800">
                            <a:solidFill>
                              <a:srgbClr val="2B3542"/>
                            </a:solidFill>
                            <a:latin typeface="Cambria Math" panose="02040503050406030204" pitchFamily="18" charset="0"/>
                            <a:ea typeface="Noto Sans SC"/>
                            <a:cs typeface="Noto Sans SC"/>
                            <a:sym typeface="Noto Sans SC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b="0" i="0" u="none" strike="noStrike" dirty="0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。</a:t>
                </a:r>
              </a:p>
              <a:p>
                <a:pPr marL="0" indent="0" algn="l">
                  <a:lnSpc>
                    <a:spcPct val="116666"/>
                  </a:lnSpc>
                </a:pPr>
                <a:r>
                  <a:rPr lang="en-US" sz="1800" b="0" i="0" u="none" strike="noStrike" dirty="0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本课的核心动作：把"风格观点"翻译成"</a:t>
                </a:r>
                <a:r>
                  <a:rPr lang="en-US" sz="1800" b="0" i="0" u="none" strike="noStrike" dirty="0" err="1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目标暴露</a:t>
                </a:r>
                <a:r>
                  <a:rPr lang="en-US" sz="1800" b="0" i="0" u="none" strike="noStrike" dirty="0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"，</a:t>
                </a:r>
                <a:r>
                  <a:rPr lang="en-US" sz="1800" b="0" i="0" u="none" strike="noStrike" dirty="0" err="1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再把"暴露"翻译成"名单"与"风险</a:t>
                </a:r>
                <a:r>
                  <a:rPr lang="en-US" sz="1800" b="0" i="0" u="none" strike="noStrike" dirty="0">
                    <a:solidFill>
                      <a:srgbClr val="2B354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"。</a:t>
                </a:r>
              </a:p>
            </p:txBody>
          </p:sp>
        </mc:Choice>
        <mc:Fallback>
          <p:sp>
            <p:nvSpPr>
              <p:cNvPr id="5" name="AutoShap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1778000"/>
                <a:ext cx="4826000" cy="3556000"/>
              </a:xfrm>
              <a:prstGeom prst="rect">
                <a:avLst/>
              </a:prstGeom>
              <a:blipFill>
                <a:blip r:embed="rId4"/>
                <a:stretch>
                  <a:fillRect l="-3034" r="-3919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/>
          <p:cNvSpPr/>
          <p:nvPr/>
        </p:nvSpPr>
        <p:spPr>
          <a:xfrm>
            <a:off x="6350000" y="1778000"/>
            <a:ext cx="4826000" cy="3556000"/>
          </a:xfrm>
          <a:prstGeom prst="roundRect">
            <a:avLst>
              <a:gd name="adj" fmla="val 4285"/>
            </a:avLst>
          </a:prstGeom>
          <a:solidFill>
            <a:srgbClr val="217448">
              <a:alpha val="8000"/>
            </a:srgbClr>
          </a:solidFill>
          <a:ln w="12700" cap="flat" cmpd="sng">
            <a:solidFill>
              <a:srgbClr val="21744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654800" y="2006600"/>
            <a:ext cx="4216400" cy="314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课后任务（四选必做）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① 复现 C1~C3 与 P1~P4：Python 或 Excel 均可，跑通一遍比看懂更重要。</a:t>
            </a:r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② 自选 2 股 + 1 基金，重跑四因子归因表，写出暴露与 t 值。</a:t>
            </a:r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③ 写 1~2 页 Memo：任一真实决策/案例，写明暴露估计、选股逻辑、风险声明。</a:t>
            </a:r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④ 自查题：三因子中的 SMB 如何构造？HML 的代理误差影响什么？</a:t>
            </a: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E8C"/>
                </a:solidFill>
                <a:latin typeface="Noto Sans SC"/>
                <a:ea typeface="Noto Sans SC"/>
                <a:cs typeface="Noto Sans SC"/>
                <a:sym typeface="Noto Sans SC"/>
              </a:rPr>
              <a:t>附录 · 口径与限制声明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6202D"/>
                </a:solidFill>
                <a:latin typeface="Noto Sans SC"/>
                <a:ea typeface="Noto Sans SC"/>
                <a:cs typeface="Noto Sans SC"/>
                <a:sym typeface="Noto Sans SC"/>
              </a:rPr>
              <a:t>口径声明：数字可复现，结论有边界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43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174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778000"/>
            <a:ext cx="1016000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1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数据与口径</a:t>
            </a:r>
            <a:r>
              <a:rPr lang="en-US" sz="18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：数据源</a:t>
            </a:r>
            <a:r>
              <a:rPr lang="en-US" sz="18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=</a:t>
            </a:r>
            <a:r>
              <a:rPr lang="en-US" sz="18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中证指数（指数行情</a:t>
            </a:r>
            <a:r>
              <a:rPr lang="en-US" sz="18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）、</a:t>
            </a:r>
            <a:r>
              <a:rPr lang="en-US" sz="18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腾讯行情（个股</a:t>
            </a:r>
            <a:r>
              <a:rPr lang="en-US" sz="18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8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基金前复权日线</a:t>
            </a:r>
            <a:r>
              <a:rPr lang="en-US" sz="18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）、</a:t>
            </a:r>
            <a:r>
              <a:rPr lang="en-US" sz="18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天天基金（基金单位净值</a:t>
            </a:r>
            <a:r>
              <a:rPr lang="en-US" sz="18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）；</a:t>
            </a:r>
            <a:r>
              <a:rPr lang="en-US" sz="18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样本</a:t>
            </a:r>
            <a:r>
              <a:rPr lang="en-US" sz="18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=2023-01~2026-08 月频（C1/C2 注明起始点、C3 </a:t>
            </a:r>
            <a:r>
              <a:rPr lang="en-US" sz="18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为日频</a:t>
            </a:r>
            <a:r>
              <a:rPr lang="en-US" sz="18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）；</a:t>
            </a:r>
            <a:r>
              <a:rPr lang="en-US" sz="18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回归</a:t>
            </a:r>
            <a:r>
              <a:rPr lang="en-US" sz="18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=</a:t>
            </a:r>
            <a:r>
              <a:rPr lang="en-US" sz="18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月频四因子</a:t>
            </a:r>
            <a:r>
              <a:rPr lang="en-US" sz="18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 OLS（24 </a:t>
            </a:r>
            <a:r>
              <a:rPr lang="en-US" sz="18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个月滚动</a:t>
            </a:r>
            <a:r>
              <a:rPr lang="en-US" sz="18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）；</a:t>
            </a:r>
            <a:r>
              <a:rPr lang="en-US" sz="18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r_f</a:t>
            </a:r>
            <a:r>
              <a:rPr lang="en-US" sz="18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=2.0%/</a:t>
            </a:r>
            <a:r>
              <a:rPr lang="en-US" sz="18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年固定</a:t>
            </a:r>
            <a:r>
              <a:rPr lang="en-US" sz="18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；α </a:t>
            </a:r>
            <a:r>
              <a:rPr lang="en-US" sz="18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年化</a:t>
            </a:r>
            <a:r>
              <a:rPr lang="en-US" sz="18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=月 α×12；universe=沪深300 </a:t>
            </a:r>
            <a:r>
              <a:rPr lang="en-US" sz="18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当期成分（前视简化已声明</a:t>
            </a:r>
            <a:r>
              <a:rPr lang="en-US" sz="18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）。</a:t>
            </a:r>
            <a:endParaRPr lang="en-US" sz="1800" dirty="0"/>
          </a:p>
          <a:p>
            <a:pPr marL="0" indent="0" algn="l">
              <a:lnSpc>
                <a:spcPct val="116666"/>
              </a:lnSpc>
            </a:pPr>
            <a:r>
              <a:rPr lang="en-US" sz="1800" b="1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因子构造</a:t>
            </a:r>
            <a:r>
              <a:rPr lang="en-US" sz="18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：SMB</a:t>
            </a:r>
            <a:r>
              <a:rPr lang="en-US" sz="18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/HML 按 Fama-French </a:t>
            </a:r>
            <a:r>
              <a:rPr lang="en-US" sz="18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口径近似；MOM</a:t>
            </a:r>
            <a:r>
              <a:rPr lang="en-US" sz="18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=12-1 </a:t>
            </a:r>
            <a:r>
              <a:rPr lang="en-US" sz="18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动量；HML</a:t>
            </a:r>
            <a:r>
              <a:rPr lang="en-US" sz="18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 用 HML_LS </a:t>
            </a:r>
            <a:r>
              <a:rPr lang="en-US" sz="18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代理（参考私募风格指数口径，未验证为公开可复现，仅作教学演示</a:t>
            </a:r>
            <a:r>
              <a:rPr lang="en-US" sz="18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）。</a:t>
            </a:r>
          </a:p>
          <a:p>
            <a:pPr marL="0" indent="0" algn="l">
              <a:lnSpc>
                <a:spcPct val="116666"/>
              </a:lnSpc>
            </a:pPr>
            <a:r>
              <a:rPr lang="en-US" sz="1800" b="1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限制</a:t>
            </a:r>
            <a:r>
              <a:rPr lang="en-US" sz="18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：私募净值透明度低、产品可能中途调仓；因子为代理变量，存在构造误差；样本仅覆盖</a:t>
            </a:r>
            <a:r>
              <a:rPr lang="en-US" sz="18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 2021 抱团、2024 微盘危机、2024-09 </a:t>
            </a:r>
            <a:r>
              <a:rPr lang="en-US" sz="18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急涨等特定时期，不代表全周期规律</a:t>
            </a:r>
            <a:r>
              <a:rPr lang="en-US" sz="18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16666"/>
              </a:lnSpc>
            </a:pPr>
            <a:r>
              <a:rPr lang="en-US" sz="1800" b="1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用途</a:t>
            </a:r>
            <a:r>
              <a:rPr lang="en-US" sz="1800" b="0" i="0" u="none" strike="noStrike" dirty="0" err="1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：全部案例为教学演示，用于说明方法与审查思路，不构成任何投资建议</a:t>
            </a:r>
            <a:r>
              <a:rPr lang="en-US" sz="1800" b="0" i="0" u="none" strike="noStrike" dirty="0">
                <a:solidFill>
                  <a:srgbClr val="2B354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PRESID" val="1790120990530532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4721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62498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67155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69005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70323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71799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72720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73236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76318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78829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79947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80958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81285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81664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82161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83703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84427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84204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85984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86004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87919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88146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88590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90388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92370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92195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209905934742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4102</Words>
  <Application>Microsoft Office PowerPoint</Application>
  <PresentationFormat>宽屏</PresentationFormat>
  <Paragraphs>515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2" baseType="lpstr">
      <vt:lpstr>Noto Sans SC</vt:lpstr>
      <vt:lpstr>Arial</vt:lpstr>
      <vt:lpstr>Cambria Math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剑 张</cp:lastModifiedBy>
  <cp:revision>3</cp:revision>
  <dcterms:modified xsi:type="dcterms:W3CDTF">2026-09-23T01:50:15Z</dcterms:modified>
</cp:coreProperties>
</file>