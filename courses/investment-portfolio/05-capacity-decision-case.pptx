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tags/tag3.xml" ContentType="application/vnd.openxmlformats-officedocument.presentationml.tags+xml"/>
  <Override PartName="/ppt/notesSlides/notesSlide2.xml" ContentType="application/vnd.openxmlformats-officedocument.presentationml.notesSlide+xml"/>
  <Override PartName="/ppt/tags/tag4.xml" ContentType="application/vnd.openxmlformats-officedocument.presentationml.tags+xml"/>
  <Override PartName="/ppt/notesSlides/notesSlide3.xml" ContentType="application/vnd.openxmlformats-officedocument.presentationml.notesSlide+xml"/>
  <Override PartName="/ppt/tags/tag5.xml" ContentType="application/vnd.openxmlformats-officedocument.presentationml.tags+xml"/>
  <Override PartName="/ppt/notesSlides/notesSlide4.xml" ContentType="application/vnd.openxmlformats-officedocument.presentationml.notesSlide+xml"/>
  <Override PartName="/ppt/tags/tag6.xml" ContentType="application/vnd.openxmlformats-officedocument.presentationml.tags+xml"/>
  <Override PartName="/ppt/notesSlides/notesSlide5.xml" ContentType="application/vnd.openxmlformats-officedocument.presentationml.notesSlide+xml"/>
  <Override PartName="/ppt/tags/tag7.xml" ContentType="application/vnd.openxmlformats-officedocument.presentationml.tags+xml"/>
  <Override PartName="/ppt/notesSlides/notesSlide6.xml" ContentType="application/vnd.openxmlformats-officedocument.presentationml.notesSlide+xml"/>
  <Override PartName="/ppt/tags/tag8.xml" ContentType="application/vnd.openxmlformats-officedocument.presentationml.tags+xml"/>
  <Override PartName="/ppt/notesSlides/notesSlide7.xml" ContentType="application/vnd.openxmlformats-officedocument.presentationml.notesSlide+xml"/>
  <Override PartName="/ppt/tags/tag9.xml" ContentType="application/vnd.openxmlformats-officedocument.presentationml.tags+xml"/>
  <Override PartName="/ppt/notesSlides/notesSlide8.xml" ContentType="application/vnd.openxmlformats-officedocument.presentationml.notesSlide+xml"/>
  <Override PartName="/ppt/tags/tag10.xml" ContentType="application/vnd.openxmlformats-officedocument.presentationml.tags+xml"/>
  <Override PartName="/ppt/notesSlides/notesSlide9.xml" ContentType="application/vnd.openxmlformats-officedocument.presentationml.notesSlide+xml"/>
  <Override PartName="/ppt/tags/tag11.xml" ContentType="application/vnd.openxmlformats-officedocument.presentationml.tags+xml"/>
  <Override PartName="/ppt/notesSlides/notesSlide10.xml" ContentType="application/vnd.openxmlformats-officedocument.presentationml.notesSlide+xml"/>
  <Override PartName="/ppt/tags/tag12.xml" ContentType="application/vnd.openxmlformats-officedocument.presentationml.tags+xml"/>
  <Override PartName="/ppt/notesSlides/notesSlide11.xml" ContentType="application/vnd.openxmlformats-officedocument.presentationml.notesSlide+xml"/>
  <Override PartName="/ppt/tags/tag13.xml" ContentType="application/vnd.openxmlformats-officedocument.presentationml.tags+xml"/>
  <Override PartName="/ppt/notesSlides/notesSlide12.xml" ContentType="application/vnd.openxmlformats-officedocument.presentationml.notesSlide+xml"/>
  <Override PartName="/ppt/tags/tag14.xml" ContentType="application/vnd.openxmlformats-officedocument.presentationml.tags+xml"/>
  <Override PartName="/ppt/notesSlides/notesSlide13.xml" ContentType="application/vnd.openxmlformats-officedocument.presentationml.notesSlide+xml"/>
  <Override PartName="/ppt/tags/tag15.xml" ContentType="application/vnd.openxmlformats-officedocument.presentationml.tags+xml"/>
  <Override PartName="/ppt/notesSlides/notesSlide14.xml" ContentType="application/vnd.openxmlformats-officedocument.presentationml.notesSlide+xml"/>
  <Override PartName="/ppt/tags/tag16.xml" ContentType="application/vnd.openxmlformats-officedocument.presentationml.tags+xml"/>
  <Override PartName="/ppt/notesSlides/notesSlide15.xml" ContentType="application/vnd.openxmlformats-officedocument.presentationml.notesSlide+xml"/>
  <Override PartName="/ppt/tags/tag17.xml" ContentType="application/vnd.openxmlformats-officedocument.presentationml.tags+xml"/>
  <Override PartName="/ppt/notesSlides/notesSlide16.xml" ContentType="application/vnd.openxmlformats-officedocument.presentationml.notesSlide+xml"/>
  <Override PartName="/ppt/tags/tag18.xml" ContentType="application/vnd.openxmlformats-officedocument.presentationml.tags+xml"/>
  <Override PartName="/ppt/notesSlides/notesSlide17.xml" ContentType="application/vnd.openxmlformats-officedocument.presentationml.notesSlide+xml"/>
  <Override PartName="/ppt/tags/tag19.xml" ContentType="application/vnd.openxmlformats-officedocument.presentationml.tags+xml"/>
  <Override PartName="/ppt/notesSlides/notesSlide18.xml" ContentType="application/vnd.openxmlformats-officedocument.presentationml.notesSlide+xml"/>
  <Override PartName="/ppt/tags/tag20.xml" ContentType="application/vnd.openxmlformats-officedocument.presentationml.tags+xml"/>
  <Override PartName="/ppt/notesSlides/notesSlide19.xml" ContentType="application/vnd.openxmlformats-officedocument.presentationml.notesSlide+xml"/>
  <Override PartName="/ppt/tags/tag21.xml" ContentType="application/vnd.openxmlformats-officedocument.presentationml.tags+xml"/>
  <Override PartName="/ppt/notesSlides/notesSlide20.xml" ContentType="application/vnd.openxmlformats-officedocument.presentationml.notesSlide+xml"/>
  <Override PartName="/ppt/tags/tag22.xml" ContentType="application/vnd.openxmlformats-officedocument.presentationml.tags+xml"/>
  <Override PartName="/ppt/notesSlides/notesSlide21.xml" ContentType="application/vnd.openxmlformats-officedocument.presentationml.notesSlide+xml"/>
  <Override PartName="/ppt/tags/tag23.xml" ContentType="application/vnd.openxmlformats-officedocument.presentationml.tags+xml"/>
  <Override PartName="/ppt/notesSlides/notesSlide22.xml" ContentType="application/vnd.openxmlformats-officedocument.presentationml.notesSlide+xml"/>
  <Override PartName="/ppt/tags/tag24.xml" ContentType="application/vnd.openxmlformats-officedocument.presentationml.tags+xml"/>
  <Override PartName="/ppt/notesSlides/notesSlide23.xml" ContentType="application/vnd.openxmlformats-officedocument.presentationml.notesSlide+xml"/>
  <Override PartName="/ppt/tags/tag25.xml" ContentType="application/vnd.openxmlformats-officedocument.presentationml.tags+xml"/>
  <Override PartName="/ppt/notesSlides/notesSlide24.xml" ContentType="application/vnd.openxmlformats-officedocument.presentationml.notesSlide+xml"/>
  <Override PartName="/ppt/tags/tag26.xml" ContentType="application/vnd.openxmlformats-officedocument.presentationml.tags+xml"/>
  <Override PartName="/ppt/notesSlides/notesSlide25.xml" ContentType="application/vnd.openxmlformats-officedocument.presentationml.notesSlide+xml"/>
  <Override PartName="/ppt/tags/tag27.xml" ContentType="application/vnd.openxmlformats-officedocument.presentationml.tags+xml"/>
  <Override PartName="/ppt/notesSlides/notesSlide26.xml" ContentType="application/vnd.openxmlformats-officedocument.presentationml.notesSlide+xml"/>
  <Override PartName="/ppt/tags/tag28.xml" ContentType="application/vnd.openxmlformats-officedocument.presentationml.tags+xml"/>
  <Override PartName="/ppt/notesSlides/notesSlide2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9" r:id="rId1"/>
    <p:sldMasterId id="2147483660" r:id="rId2"/>
  </p:sldMasterIdLst>
  <p:notesMasterIdLst>
    <p:notesMasterId r:id="rId30"/>
  </p:notes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  <p:sldId id="277" r:id="rId24"/>
    <p:sldId id="278" r:id="rId25"/>
    <p:sldId id="279" r:id="rId26"/>
    <p:sldId id="280" r:id="rId27"/>
    <p:sldId id="281" r:id="rId28"/>
    <p:sldId id="283" r:id="rId29"/>
  </p:sldIdLst>
  <p:sldSz cx="12192000" cy="6858000"/>
  <p:notesSz cx="6858000" cy="9144000"/>
  <p:custDataLst>
    <p:tags r:id="rId31"/>
  </p:custData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L="0"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L="457200"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L="914400"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L="1371600"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L="1828800"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L="2286000"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L="2743200"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L="3200400"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L="3657600"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26" d="100"/>
          <a:sy n="126" d="100"/>
        </p:scale>
        <p:origin x="487" y="75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34" Type="http://schemas.openxmlformats.org/officeDocument/2006/relationships/theme" Target="theme/them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slide" Target="slides/slide27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presProps" Target="presProp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tags" Target="tags/tag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notesMaster" Target="notesMasters/notesMaster1.xml"/><Relationship Id="rId35" Type="http://schemas.openxmlformats.org/officeDocument/2006/relationships/tableStyles" Target="tableStyles.xml"/><Relationship Id="rId8" Type="http://schemas.openxmlformats.org/officeDocument/2006/relationships/slide" Target="slides/slide6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27.10.2026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这一页是封面，引出策略容量的主题。</a:t>
            </a: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本套要点只覆盖原文第 1 到第 9 部分，从理论脉络讲到可操作的衡量方法。</a:t>
            </a: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核心线索是：收益随规模线性增长，而成本增长更快，规模存在上限。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这一页用一条时间轴串起容量理论的六个阶段，帮助学生建立学术脉络。</a:t>
            </a: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起点阶段问主动管理有没有价值，机制阶段发现超额随规模递减，2004年Berk-Green给出均衡结论：资金会一直流入到投资者净超额归零。</a:t>
            </a: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2010s修正为行业层面规模不经济，反身性指出资金流本身会制造业绩假象，应对阶段讲封闭与多变量取舍。</a:t>
            </a: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橙色节点是本课程核心的Berk-Green均衡。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这一页先定义什么是主动基金的容量。</a:t>
            </a: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一句话定义：在交易成本吃掉超额收益之前，一个策略最多能管理的资金规模。</a:t>
            </a: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它不是固定硬上限，而是一条曲线：规模越大超额越薄，最终归零。</a:t>
            </a: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可操作口径：在既定投资范围、交易方式和风险流动性要求下，仍能达到预定净超额目标的资金规模。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定义之后先回答动机：普通投资者为什么要关心一只主动基金的策略容量。</a:t>
            </a: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核心有两点：规模过大会把净超额吃光归零，而且过去的业绩未必能延续。</a:t>
            </a: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接下来两页先讲这两条理由，再进入成本机制、决定变量和测算方法。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理由一：毛超额相对稳定，但市场冲击成本随规模上升。</a:t>
            </a: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规模越过盈亏平衡点后，交易成本吃掉全部超额，投资者净超额归零。</a:t>
            </a: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资金继续涌入只是把收益以成本形式让给对手方，最后进场的持有人拿不到回报。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理由二：规模膨胀后，经理买不动熟悉的中小票，持仓被迫向大票迁移并摊薄。</a:t>
            </a: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结果不是超额慢慢变少，而是策略本身变成另一种近乎高费率指数的基金。</a:t>
            </a: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因此过去业绩来自旧策略，不能按线性外推未来，这正是要先估容量的原因。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这一页总览影响容量的主要因素，后面的展开页再细说。</a:t>
            </a: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按重要性：换手率与持有周期影响最大，其次是股票池流动性、持仓集中度。</a:t>
            </a: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此外还有信号衰减速度、同类资金拥挤度，以及监管“双十”约束。</a:t>
            </a: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低频策略容量可达高频的几十上百倍，差异主要来自换手与持有周期。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第 2 部分讲核心机制：毛超额与规模基本无关，但市场冲击成本随规模上升。</a:t>
            </a: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冲击成本近似平方根法则，净超额等于毛超额减成本项。</a:t>
            </a: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投资者整体最优规模约为盈亏平衡容量的 44%，而基金公司按规模收管理费，最优规模更大。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这一页用曲线讲清核心机制：蓝线净超额随规模按平方根下降，到盈亏平衡容量 A* 归零；橙线是投资者总超额金额（规模乘净超额），先升后降，在约 44% A* 处达到最大。对投资者整体最好的规模只有盈亏平衡点的 44%，而基金公司按规模收管理费，最优规模更大，这就是利益冲突所在。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第 3 部分是示意数字：100 亿与 20 亿两个规模对比。</a:t>
            </a: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规模翻五倍，年化冲击成本从约 2.6% 升到约 5.8%，涨约 2.2 倍。</a:t>
            </a: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若毛超额只有 6%，100 亿时净超额基本被成本吃光。数字为示意。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第 4 部分按重要性列出决定容量的变量。</a:t>
            </a: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最关键是换手率与持有周期，其次是股票池流动性、持仓集中度、信号衰减速度、拥挤度和监管约束。</a:t>
            </a: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低频策略容量可达高频策略的几十到上百倍。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第 5 部分给出各类策略的经验容量量级，差异很大。</a:t>
            </a: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高频、日内 T0 只有几亿到十几亿；主观大盘、低换手价值策略可达几百亿以上。</a:t>
            </a: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这是经验值，还要看全市场同类资金规模。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这张表给出不同策略的典型容量量级，是经验值而非精确上限。</a:t>
            </a: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高频和日内T0换手最快、靠微小价差累积，容量只有几亿到十几亿；打新增强受固定新股收益稀释，容量约几亿。</a:t>
            </a: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中频量化指增在几十亿到百亿级；主观成长、中小盘约几十亿；主观价值、大盘低换手可以到几百亿甚至更高。</a:t>
            </a: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整体规律是换手越高、股票越小，容量越小；同时还要看全市场同类资金的拥挤程度。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第 6 部分讲主观基金容量更隐蔽。</a:t>
            </a: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除交易成本外，还有能力圈约束和研究带宽两层：买不动熟悉的中小票，持仓摊薄成高费率指数基金。</a:t>
            </a: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后果不是超额慢慢变少，而是策略变了，过去业绩来自另一种策略。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第 7 部分先界定目标：是净超额不低于零，还是保住某一更高目标。</a:t>
            </a: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目标不同，对应的容量估计不同。</a:t>
            </a: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市场成交、机会、信号有效期和限制变化时，容量也要随之重新测算。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第 8 部分从交易所需天数入手：卖出天数约等于持仓金额除以参与率乘日均成交。</a:t>
            </a: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反过来，给定建仓期限和参与率，就能反推规模上限。</a:t>
            </a: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这是单股流动性约束，不是整只基金的精确容量，组合要逐只检查瓶颈。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这是一个合成算例，用卖出天数直观展示规模对可执行性的影响。</a:t>
            </a: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假设某股日均成交5000万元，单日参与率不超过10%即每天最多成交500万元，基金持有5%。</a:t>
            </a: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10亿规模对应持仓5000万，全部卖出要10个交易日；50亿对应2.5亿要50天；100亿对应5亿要100天，卖一半也需要50天。</a:t>
            </a: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规模与卖出天数近似线性放大，说明大容量策略在流动性差的股票上很难快速进出。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第 9 部分强调：流动性约束之外还要检查收益是否值得做。</a:t>
            </a: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净超额等于毛超额减交易成本再减费用，不能重复扣费。</a:t>
            </a: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不能只看卖出天数或单项成本，信号衰减快时还要权衡放慢交易是否错过机会。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290763" y="512763"/>
            <a:ext cx="4562475" cy="2566987"/>
          </a:xfrm>
        </p:spPr>
        <p:txBody>
          <a:bodyPr/>
          <a:lstStyle/>
          <a:p>
            <a:endParaRPr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这一页区分三种容量。目标容量是净超额仍能达到预设门槛的规模；总超额最大容量是AUM乘以净超额最大的规模；盈亏平衡容量是净超额降至零的规模。</a:t>
            </a:r>
          </a:p>
          <a:p>
            <a:r>
              <a:rPr lang="en-US"/>
              <a:t>管理产品时应先写清目标口径和安全边际，不应把盈亏平衡点直接当作建议申购上限。</a:t>
            </a:r>
          </a:p>
          <a:p>
            <a:r>
              <a:rPr lang="en-US"/>
              <a:t>来源：Marco Vangelisti, The Capacity of an Equity Strategy, The Journal of Portfolio Management, 2006, DOI: 10.3905/jpm.2006.611802。https://doi.org/10.3905/jpm.2006.611802</a:t>
            </a: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290763" y="512763"/>
            <a:ext cx="4562475" cy="2566987"/>
          </a:xfrm>
        </p:spPr>
        <p:txBody>
          <a:bodyPr/>
          <a:lstStyle/>
          <a:p>
            <a:endParaRPr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这一页把成本口径统一到净超额。交易与价差包含佣金、税费和买卖价差；冲击与延误是大额交易和等待执行造成的价格成本；费用另列一次，避免重复扣减。</a:t>
            </a:r>
          </a:p>
          <a:p>
            <a:r>
              <a:rPr lang="en-US"/>
              <a:t>合成算例：6.0−0.8−1.4−1.5=2.3%。随着AUM增加，市场冲击与延误通常不是固定比例，因此净超额曲线会下降。</a:t>
            </a:r>
          </a:p>
          <a:p>
            <a:r>
              <a:rPr lang="en-US"/>
              <a:t>可让学生指出：如果回测已使用含价差的成交价，再次扣完整价差可能重复计算。</a:t>
            </a: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290763" y="512763"/>
            <a:ext cx="4562475" cy="2566987"/>
          </a:xfrm>
        </p:spPr>
        <p:txBody>
          <a:bodyPr/>
          <a:lstStyle/>
          <a:p>
            <a:endParaRPr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先算单股可交易金额：D×p×ADV，再除以该股票在组合中的仓位w，得到由这一只股票反推的AUM上限。</a:t>
            </a:r>
          </a:p>
          <a:p>
            <a:r>
              <a:rPr lang="en-US"/>
              <a:t>例子统一假设ADV为5000万元、个股仓位5%。D=2天、p=10%时，可交易1000万元，对应AUM为2亿元；D=5天时为5亿元；p提高到20%时为10亿元。</a:t>
            </a:r>
          </a:p>
          <a:p>
            <a:r>
              <a:rPr lang="en-US"/>
              <a:t>强调这不是完整容量模型。组合需要逐股计算并取约束较强的部分，还要检查其他管理人的同向交易、申赎和信号衰减。提高参与率或拉长天数都可能增加价格冲击或错过信号。</a:t>
            </a: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290763" y="512763"/>
            <a:ext cx="4562475" cy="2566987"/>
          </a:xfrm>
        </p:spPr>
        <p:txBody>
          <a:bodyPr/>
          <a:lstStyle/>
          <a:p>
            <a:endParaRPr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研究使用1967—1999年美国股票数据，估计价格冲击并计算动量策略的盈亏平衡规模。</a:t>
            </a:r>
          </a:p>
          <a:p>
            <a:r>
              <a:rPr lang="en-US"/>
              <a:t>在11/1/3动量策略中，等权组合约2亿美元即达到零α；市值加权超过20亿美元；流动性加权及其与市值加权的混合组合约45亿至50亿美元。</a:t>
            </a:r>
          </a:p>
          <a:p>
            <a:r>
              <a:rPr lang="en-US"/>
              <a:t>结论不是今天应使用这些数字，而是加权方式会改变持仓的流动性分布，进而显著改变容量。数字相对1999年12月市场规模，不应直接换算成当前A股容量。</a:t>
            </a:r>
          </a:p>
          <a:p>
            <a:r>
              <a:rPr lang="en-US"/>
              <a:t>原文：https://kellogg.northwestern.edu/faculty/korajczy/htm/Korajczyk%20Sadka.jf2004.pdf；DOI: https://doi.org/10.1111/j.1540-6261.2004.00656.x</a:t>
            </a: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290763" y="512763"/>
            <a:ext cx="4562475" cy="2566987"/>
          </a:xfrm>
        </p:spPr>
        <p:txBody>
          <a:bodyPr/>
          <a:lstStyle/>
          <a:p>
            <a:endParaRPr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Ratcliffe、Miranda和Ang用特定交易成本模型与历史Smart Beta溢价假设估计容量。</a:t>
            </a:r>
          </a:p>
          <a:p>
            <a:r>
              <a:rPr lang="en-US"/>
              <a:t>在1天执行期限下，动量策略容量为650亿美元，小市值策略为5万亿美元；期限延长到5天，分别升至3200亿美元和超过10万亿美元。</a:t>
            </a:r>
          </a:p>
          <a:p>
            <a:r>
              <a:rPr lang="en-US"/>
              <a:t>这些数字说明执行期限对容量估计很敏感，不代表现实基金可以无条件达到同样规模。延长交易会增加信号衰减、等待暴露和偏离目标组合的风险。</a:t>
            </a:r>
          </a:p>
          <a:p>
            <a:r>
              <a:rPr lang="en-US"/>
              <a:t>DOI: https://doi.org/10.3905/jii.2017.8.3.039；SSRN: https://papers.ssrn.com/sol3/papers.cfm?abstract_id=2861324</a:t>
            </a:r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290763" y="512763"/>
            <a:ext cx="4562475" cy="2566987"/>
          </a:xfrm>
        </p:spPr>
        <p:txBody>
          <a:bodyPr/>
          <a:lstStyle/>
          <a:p>
            <a:endParaRPr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2025年6月16日，中国基金报等媒体报道衍复投资向渠道发布公告：计划自7月1日起关闭中证500、中证1000、万得小市值概念指数增强产品的新客户申购；已持有投资者追加不受影响，其他指数增强策略产品线正常开放。</a:t>
            </a:r>
          </a:p>
          <a:p>
            <a:r>
              <a:rPr lang="en-US"/>
              <a:t>教学重点是工具边界：暂停新客申购可以控制新增资金，同时保留存量客户追加，并不等于公司所有产品统一封盘。公告给出的表述是战略规划与投资者利益综合考量；没有公开完整成本模型、策略AUM、换手和目标净超额，不能据此反推出容量数值。</a:t>
            </a:r>
          </a:p>
          <a:p>
            <a:r>
              <a:rPr lang="en-US"/>
              <a:t>中国基金报：https://www.chnfund.com/article/ARade42a48-5582-3a66-d9b4-3a1a8a83e1a5；中国证券报：https://jnzstatic.cs.com.cn/zzb/htmlInfo/98c296ab15814ec7b9b57c43d533f041.html</a:t>
            </a:r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290763" y="512763"/>
            <a:ext cx="4562475" cy="2566987"/>
          </a:xfrm>
        </p:spPr>
        <p:txBody>
          <a:bodyPr/>
          <a:lstStyle/>
          <a:p>
            <a:endParaRPr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四种动作都能提高可承接规模，但都有代价。延长交易降低短期冲击，却可能错过信号；降低换手节省成本，却降低对模型组合的跟踪；扩大股票池分散成交，却可能改变风格并稀释Alpha；限制申购保护现有组合，却减少管理费增长并带来渠道沟通压力。</a:t>
            </a:r>
          </a:p>
          <a:p>
            <a:r>
              <a:rPr lang="en-US"/>
              <a:t>让学生用同一个标准比较：实施动作后的净超额、风险暴露和投资者体验，而不是只看能募集多少资金。</a:t>
            </a:r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290763" y="512763"/>
            <a:ext cx="4562475" cy="2566987"/>
          </a:xfrm>
        </p:spPr>
        <p:txBody>
          <a:bodyPr/>
          <a:lstStyle/>
          <a:p>
            <a:endParaRPr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容量管理需要前置指标，而不是等年度超额已经消失才处理。</a:t>
            </a:r>
          </a:p>
          <a:p>
            <a:r>
              <a:rPr lang="en-US"/>
              <a:t>参与率衡量自身交易占市场成交的比例；实施缺口衡量实际成交相对决策价格的全部成本；清仓天数用压力情景下的参与率估算退出时间；净超额与风格暴露用于识别策略是否被规模改变。</a:t>
            </a:r>
          </a:p>
          <a:p>
            <a:r>
              <a:rPr lang="en-US"/>
              <a:t>不同策略没有统一阈值。管理人应根据历史交易、压力情景和产品合同设触发线，并预先规定触发后的复核、限申购、降换手或降规模流程。</a:t>
            </a:r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290763" y="512763"/>
            <a:ext cx="4562475" cy="2566987"/>
          </a:xfrm>
        </p:spPr>
        <p:txBody>
          <a:bodyPr/>
          <a:lstStyle/>
          <a:p>
            <a:endParaRPr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完整来源链接：</a:t>
            </a:r>
          </a:p>
          <a:p>
            <a:r>
              <a:rPr lang="en-US"/>
              <a:t>1. Berk &amp; Green, Mutual Fund Flows and Performance in Rational Markets: https://www.nber.org/papers/w9275</a:t>
            </a:r>
          </a:p>
          <a:p>
            <a:r>
              <a:rPr lang="en-US"/>
              <a:t>2. Vangelisti, The Capacity of an Equity Strategy: https://doi.org/10.3905/jpm.2006.611802</a:t>
            </a:r>
          </a:p>
          <a:p>
            <a:r>
              <a:rPr lang="en-US"/>
              <a:t>3. Korajczyk &amp; Sadka, Are Momentum Profits Robust to Trading Costs?: https://doi.org/10.1111/j.1540-6261.2004.00656.x</a:t>
            </a:r>
          </a:p>
          <a:p>
            <a:r>
              <a:rPr lang="en-US"/>
              <a:t>4. Ratcliffe, Miranda &amp; Ang, Capacity of Smart Beta Strategies from a Transaction Cost Perspective: https://doi.org/10.3905/jii.2017.8.3.039</a:t>
            </a:r>
          </a:p>
          <a:p>
            <a:r>
              <a:rPr lang="en-US"/>
              <a:t>5. Frazzini, Israel &amp; Moskowitz, Trading Costs of Asset Pricing Anomalies: https://www.aqr.com/Insights/Research/Working-Paper/Trading-Costs-of-Asset-Pricing-Anomalies</a:t>
            </a:r>
          </a:p>
          <a:p>
            <a:r>
              <a:rPr lang="en-US"/>
              <a:t>6. 中国基金报案例报道: https://www.chnfund.com/article/ARade42a48-5582-3a66-d9b4-3a1a8a83e1a5；中国证券报: https://jnzstatic.cs.com.cn/zzb/htmlInfo/98c296ab15814ec7b9b57c43d533f041.html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标题幻灯片" type="title">
  <p:cSld name="TITLE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hape 30"/>
          <p:cNvSpPr txBox="1"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3" name="Shape 31"/>
          <p:cNvSpPr txBox="1"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>
            <a:endParaRPr/>
          </a:p>
        </p:txBody>
      </p:sp>
      <p:sp>
        <p:nvSpPr>
          <p:cNvPr id="14" name="Shape 32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5" name="Shape 33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6" name="Shape 34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标题和内容" type="obj">
  <p:cSld name="OBJECT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hape 54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9" name="Shape 55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20" name="Shape 56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1" name="Shape 57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2" name="Shape 58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节标题" type="secHead">
  <p:cSld name="SECTION_HEADER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Shape 59"/>
          <p:cNvSpPr txBox="1">
            <a:spLocks noGrp="1"/>
          </p:cNvSpPr>
          <p:nvPr>
            <p:ph type="title"/>
          </p:nvPr>
        </p:nvSpPr>
        <p:spPr>
          <a:xfrm>
            <a:off x="623888" y="1282304"/>
            <a:ext cx="7886700" cy="21395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5" name="Shape 60"/>
          <p:cNvSpPr txBox="1">
            <a:spLocks noGrp="1"/>
          </p:cNvSpPr>
          <p:nvPr>
            <p:ph type="body" idx="1"/>
          </p:nvPr>
        </p:nvSpPr>
        <p:spPr>
          <a:xfrm>
            <a:off x="623888" y="3442097"/>
            <a:ext cx="7886700" cy="11251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26" name="Shape 61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7" name="Shape 62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8" name="Shape 63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两栏内容" type="twoObj">
  <p:cSld name="TWO_OBJECTS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Shape 9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1" name="Shape 10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32" name="Shape 11"/>
          <p:cNvSpPr txBox="1">
            <a:spLocks noGrp="1"/>
          </p:cNvSpPr>
          <p:nvPr>
            <p:ph type="body" idx="2"/>
          </p:nvPr>
        </p:nvSpPr>
        <p:spPr>
          <a:xfrm>
            <a:off x="46291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33" name="Shape 12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4" name="Shape 13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5" name="Shape 14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比较" type="twoTxTwoObj">
  <p:cSld name="TWO_OBJECTS_WITH_TEXT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Shape 35"/>
          <p:cNvSpPr txBox="1"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8" name="Shape 36"/>
          <p:cNvSpPr txBox="1">
            <a:spLocks noGrp="1"/>
          </p:cNvSpPr>
          <p:nvPr>
            <p:ph type="body" idx="1"/>
          </p:nvPr>
        </p:nvSpPr>
        <p:spPr>
          <a:xfrm>
            <a:off x="629841" y="1260872"/>
            <a:ext cx="3868340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39" name="Shape 37"/>
          <p:cNvSpPr txBox="1">
            <a:spLocks noGrp="1"/>
          </p:cNvSpPr>
          <p:nvPr>
            <p:ph type="body" idx="2"/>
          </p:nvPr>
        </p:nvSpPr>
        <p:spPr>
          <a:xfrm>
            <a:off x="629841" y="1878806"/>
            <a:ext cx="3868340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40" name="Shape 38"/>
          <p:cNvSpPr txBox="1">
            <a:spLocks noGrp="1"/>
          </p:cNvSpPr>
          <p:nvPr>
            <p:ph type="body" idx="3"/>
          </p:nvPr>
        </p:nvSpPr>
        <p:spPr>
          <a:xfrm>
            <a:off x="4629150" y="1260872"/>
            <a:ext cx="3887391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41" name="Shape 39"/>
          <p:cNvSpPr txBox="1">
            <a:spLocks noGrp="1"/>
          </p:cNvSpPr>
          <p:nvPr>
            <p:ph type="body" idx="4"/>
          </p:nvPr>
        </p:nvSpPr>
        <p:spPr>
          <a:xfrm>
            <a:off x="4629150" y="1878806"/>
            <a:ext cx="3887391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42" name="Shape 40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3" name="Shape 41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4" name="Shape 42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仅标题" type="titleOnly">
  <p:cSld name="TITLE_ONLY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Shape 20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7" name="Shape 21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8" name="Shape 22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9" name="Shape 23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空白" type="blank">
  <p:cSld name="BLANK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Shape 6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2" name="Shape 7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3" name="Shape 8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内容与标题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Shape 43"/>
          <p:cNvSpPr txBox="1"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6" name="Shape 44"/>
          <p:cNvSpPr txBox="1">
            <a:spLocks noGrp="1"/>
          </p:cNvSpPr>
          <p:nvPr>
            <p:ph type="body" idx="1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810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619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marL="1371600" lvl="2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marL="2286000" lvl="4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marL="2743200" lvl="5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marL="3200400" lvl="6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marL="3657600" lvl="7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marL="4114800" lvl="8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>
            <a:endParaRPr/>
          </a:p>
        </p:txBody>
      </p:sp>
      <p:sp>
        <p:nvSpPr>
          <p:cNvPr id="57" name="Shape 45"/>
          <p:cNvSpPr txBox="1">
            <a:spLocks noGrp="1"/>
          </p:cNvSpPr>
          <p:nvPr>
            <p:ph type="body" idx="2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>
            <a:endParaRPr/>
          </a:p>
        </p:txBody>
      </p:sp>
      <p:sp>
        <p:nvSpPr>
          <p:cNvPr id="58" name="Shape 46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9" name="Shape 47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0" name="Shape 48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图片与标题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Shape 24"/>
          <p:cNvSpPr txBox="1"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3" name="Shape 25"/>
          <p:cNvSpPr>
            <a:spLocks noGrp="1"/>
          </p:cNvSpPr>
          <p:nvPr>
            <p:ph type="pic" idx="2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Shape 26"/>
          <p:cNvSpPr txBox="1">
            <a:spLocks noGrp="1"/>
          </p:cNvSpPr>
          <p:nvPr>
            <p:ph type="body" idx="1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>
            <a:endParaRPr/>
          </a:p>
        </p:txBody>
      </p:sp>
      <p:sp>
        <p:nvSpPr>
          <p:cNvPr id="65" name="Shape 27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6" name="Shape 28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7" name="Shape 29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标题和竖排文字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Shape 49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0" name="Shape 50"/>
          <p:cNvSpPr txBox="1">
            <a:spLocks noGrp="1"/>
          </p:cNvSpPr>
          <p:nvPr>
            <p:ph type="body" idx="1"/>
          </p:nvPr>
        </p:nvSpPr>
        <p:spPr>
          <a:xfrm rot="5400000">
            <a:off x="2940248" y="-942379"/>
            <a:ext cx="3263504" cy="788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71" name="Shape 51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2" name="Shape 52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3" name="Shape 53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竖排标题与文本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Shape 15"/>
          <p:cNvSpPr txBox="1">
            <a:spLocks noGrp="1"/>
          </p:cNvSpPr>
          <p:nvPr>
            <p:ph type="title"/>
          </p:nvPr>
        </p:nvSpPr>
        <p:spPr>
          <a:xfrm rot="5400000">
            <a:off x="5350073" y="1467445"/>
            <a:ext cx="4358879" cy="1971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6" name="Shape 16"/>
          <p:cNvSpPr txBox="1">
            <a:spLocks noGrp="1"/>
          </p:cNvSpPr>
          <p:nvPr>
            <p:ph type="body" idx="1"/>
          </p:nvPr>
        </p:nvSpPr>
        <p:spPr>
          <a:xfrm rot="5400000">
            <a:off x="1349573" y="-447080"/>
            <a:ext cx="4358879" cy="5800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77" name="Shape 17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8" name="Shape 18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9" name="Shape 19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1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/>
              <a:buNone/>
              <a:defRPr sz="33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>
            <a:endParaRPr/>
          </a:p>
        </p:txBody>
      </p:sp>
      <p:sp>
        <p:nvSpPr>
          <p:cNvPr id="7" name="Shape 2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marR="0" lvl="0" indent="-36195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Shape 3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9" name="Shape 4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0" name="Shape 5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默认主题"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57483699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2.xml"/><Relationship Id="rId1" Type="http://schemas.openxmlformats.org/officeDocument/2006/relationships/tags" Target="../tags/tag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12.xml"/><Relationship Id="rId1" Type="http://schemas.openxmlformats.org/officeDocument/2006/relationships/tags" Target="../tags/tag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12.xml"/><Relationship Id="rId1" Type="http://schemas.openxmlformats.org/officeDocument/2006/relationships/tags" Target="../tags/tag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12.xml"/><Relationship Id="rId1" Type="http://schemas.openxmlformats.org/officeDocument/2006/relationships/tags" Target="../tags/tag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12.xml"/><Relationship Id="rId1" Type="http://schemas.openxmlformats.org/officeDocument/2006/relationships/tags" Target="../tags/tag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12.xml"/><Relationship Id="rId1" Type="http://schemas.openxmlformats.org/officeDocument/2006/relationships/tags" Target="../tags/tag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12.xml"/><Relationship Id="rId1" Type="http://schemas.openxmlformats.org/officeDocument/2006/relationships/tags" Target="../tags/tag8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12.xml"/><Relationship Id="rId1" Type="http://schemas.openxmlformats.org/officeDocument/2006/relationships/tags" Target="../tags/tag9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12.xml"/><Relationship Id="rId1" Type="http://schemas.openxmlformats.org/officeDocument/2006/relationships/tags" Target="../tags/tag10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12.xml"/><Relationship Id="rId1" Type="http://schemas.openxmlformats.org/officeDocument/2006/relationships/tags" Target="../tags/tag1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.xml"/><Relationship Id="rId2" Type="http://schemas.openxmlformats.org/officeDocument/2006/relationships/slideLayout" Target="../slideLayouts/slideLayout12.xml"/><Relationship Id="rId1" Type="http://schemas.openxmlformats.org/officeDocument/2006/relationships/tags" Target="../tags/tag1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2.xml"/><Relationship Id="rId2" Type="http://schemas.openxmlformats.org/officeDocument/2006/relationships/slideLayout" Target="../slideLayouts/slideLayout12.xml"/><Relationship Id="rId1" Type="http://schemas.openxmlformats.org/officeDocument/2006/relationships/tags" Target="../tags/tag1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3.xml"/><Relationship Id="rId2" Type="http://schemas.openxmlformats.org/officeDocument/2006/relationships/slideLayout" Target="../slideLayouts/slideLayout12.xml"/><Relationship Id="rId1" Type="http://schemas.openxmlformats.org/officeDocument/2006/relationships/tags" Target="../tags/tag14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4.xml"/><Relationship Id="rId2" Type="http://schemas.openxmlformats.org/officeDocument/2006/relationships/slideLayout" Target="../slideLayouts/slideLayout12.xml"/><Relationship Id="rId1" Type="http://schemas.openxmlformats.org/officeDocument/2006/relationships/tags" Target="../tags/tag15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5.xml"/><Relationship Id="rId2" Type="http://schemas.openxmlformats.org/officeDocument/2006/relationships/slideLayout" Target="../slideLayouts/slideLayout12.xml"/><Relationship Id="rId1" Type="http://schemas.openxmlformats.org/officeDocument/2006/relationships/tags" Target="../tags/tag16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6.xml"/><Relationship Id="rId2" Type="http://schemas.openxmlformats.org/officeDocument/2006/relationships/slideLayout" Target="../slideLayouts/slideLayout12.xml"/><Relationship Id="rId1" Type="http://schemas.openxmlformats.org/officeDocument/2006/relationships/tags" Target="../tags/tag1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7.xml"/><Relationship Id="rId2" Type="http://schemas.openxmlformats.org/officeDocument/2006/relationships/slideLayout" Target="../slideLayouts/slideLayout12.xml"/><Relationship Id="rId1" Type="http://schemas.openxmlformats.org/officeDocument/2006/relationships/tags" Target="../tags/tag18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8.xml"/><Relationship Id="rId2" Type="http://schemas.openxmlformats.org/officeDocument/2006/relationships/slideLayout" Target="../slideLayouts/slideLayout12.xml"/><Relationship Id="rId1" Type="http://schemas.openxmlformats.org/officeDocument/2006/relationships/tags" Target="../tags/tag19.xml"/><Relationship Id="rId4" Type="http://schemas.openxmlformats.org/officeDocument/2006/relationships/image" Target="../media/image1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9.xml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20.xml"/><Relationship Id="rId4" Type="http://schemas.openxmlformats.org/officeDocument/2006/relationships/hyperlink" Target="https://doi.org/10.3905/jpm.2006.611802" TargetMode="Externa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0.xml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2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1.xml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2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2.xml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23.xml"/><Relationship Id="rId4" Type="http://schemas.openxmlformats.org/officeDocument/2006/relationships/hyperlink" Target="https://doi.org/10.1111/j.1540-6261.2004.00656.x" TargetMode="Externa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3.xml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24.xml"/><Relationship Id="rId4" Type="http://schemas.openxmlformats.org/officeDocument/2006/relationships/hyperlink" Target="https://doi.org/10.3905/jii.2017.8.3.039" TargetMode="Externa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4.xml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25.xml"/><Relationship Id="rId4" Type="http://schemas.openxmlformats.org/officeDocument/2006/relationships/hyperlink" Target="https://www.chnfund.com/article/ARade42a48-5582-3a66-d9b4-3a1a8a83e1a5" TargetMode="Externa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5.xml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26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6.xml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27.xml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aqr.com/Insights/Research/Working-Paper/Trading-Costs-of-Asset-Pricing-Anomalies" TargetMode="External"/><Relationship Id="rId3" Type="http://schemas.openxmlformats.org/officeDocument/2006/relationships/notesSlide" Target="../notesSlides/notesSlide27.xml"/><Relationship Id="rId7" Type="http://schemas.openxmlformats.org/officeDocument/2006/relationships/hyperlink" Target="https://doi.org/10.3905/jii.2017.8.3.039" TargetMode="External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28.xml"/><Relationship Id="rId6" Type="http://schemas.openxmlformats.org/officeDocument/2006/relationships/hyperlink" Target="https://doi.org/10.1111/j.1540-6261.2004.00656.x" TargetMode="External"/><Relationship Id="rId5" Type="http://schemas.openxmlformats.org/officeDocument/2006/relationships/hyperlink" Target="https://doi.org/10.3905/jpm.2006.611802" TargetMode="External"/><Relationship Id="rId4" Type="http://schemas.openxmlformats.org/officeDocument/2006/relationships/hyperlink" Target="https://www.nber.org/papers/w9275" TargetMode="External"/><Relationship Id="rId9" Type="http://schemas.openxmlformats.org/officeDocument/2006/relationships/hyperlink" Target="https://www.chnfund.com/article/ARade42a48-5582-3a66-d9b4-3a1a8a83e1a5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7F2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 txBox="1"/>
          <p:nvPr/>
        </p:nvSpPr>
        <p:spPr>
          <a:xfrm>
            <a:off x="1270000" y="2489200"/>
            <a:ext cx="9652000" cy="1219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5800" b="1" i="0" u="none" strike="noStrike">
                <a:solidFill>
                  <a:srgbClr val="1A2E4B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主动基金的策略容量</a:t>
            </a:r>
            <a:endParaRPr lang="en-US" sz="1100"/>
          </a:p>
        </p:txBody>
      </p:sp>
      <p:cxnSp>
        <p:nvCxnSpPr>
          <p:cNvPr id="3" name="Connector 3"/>
          <p:cNvCxnSpPr/>
          <p:nvPr/>
        </p:nvCxnSpPr>
        <p:spPr>
          <a:xfrm rot="-57290">
            <a:off x="5715053" y="3956050"/>
            <a:ext cx="762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50800" cap="flat" cmpd="sng">
            <a:solidFill>
              <a:srgbClr val="E8720C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id="4" name="AutoShape 4"/>
          <p:cNvSpPr txBox="1"/>
          <p:nvPr/>
        </p:nvSpPr>
        <p:spPr>
          <a:xfrm>
            <a:off x="1270000" y="4267200"/>
            <a:ext cx="9652000" cy="711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</p:spTree>
    <p:custDataLst>
      <p:tags r:id="rId1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7F2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 txBox="1"/>
          <p:nvPr/>
        </p:nvSpPr>
        <p:spPr>
          <a:xfrm>
            <a:off x="1016000" y="711200"/>
            <a:ext cx="3810000" cy="457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0" i="0" u="none" strike="noStrike">
                <a:solidFill>
                  <a:srgbClr val="788CAA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理论脉络 · 六个阶段</a:t>
            </a:r>
            <a:endParaRPr lang="en-US" sz="1100"/>
          </a:p>
        </p:txBody>
      </p:sp>
      <p:sp>
        <p:nvSpPr>
          <p:cNvPr id="3" name="AutoShape 3"/>
          <p:cNvSpPr txBox="1"/>
          <p:nvPr/>
        </p:nvSpPr>
        <p:spPr>
          <a:xfrm>
            <a:off x="1270000" y="1320800"/>
            <a:ext cx="9652000" cy="660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08333"/>
              </a:lnSpc>
              <a:defRPr/>
            </a:pPr>
            <a:r>
              <a:rPr lang="en-US" sz="3000" b="1" i="0" u="none" strike="noStrike">
                <a:solidFill>
                  <a:srgbClr val="1A2E4B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容量理论：从有没有价值到怎么管规模</a:t>
            </a:r>
            <a:endParaRPr lang="en-US" sz="1100"/>
          </a:p>
        </p:txBody>
      </p:sp>
      <p:cxnSp>
        <p:nvCxnSpPr>
          <p:cNvPr id="4" name="Connector 4"/>
          <p:cNvCxnSpPr/>
          <p:nvPr/>
        </p:nvCxnSpPr>
        <p:spPr>
          <a:xfrm rot="-4523">
            <a:off x="1270004" y="3803650"/>
            <a:ext cx="9652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31609C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id="5" name="AutoShape 5"/>
          <p:cNvSpPr/>
          <p:nvPr/>
        </p:nvSpPr>
        <p:spPr>
          <a:xfrm>
            <a:off x="355600" y="2235200"/>
            <a:ext cx="1828800" cy="1219200"/>
          </a:xfrm>
          <a:prstGeom prst="roundRect">
            <a:avLst>
              <a:gd name="adj" fmla="val 10416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D3DAE6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6" name="AutoShape 6"/>
          <p:cNvSpPr txBox="1"/>
          <p:nvPr/>
        </p:nvSpPr>
        <p:spPr>
          <a:xfrm>
            <a:off x="431800" y="2336800"/>
            <a:ext cx="1676400" cy="1041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12500"/>
              </a:lnSpc>
              <a:defRPr/>
            </a:pPr>
            <a:r>
              <a:rPr lang="en-US" sz="1200" b="1" i="0" u="none" strike="noStrike">
                <a:solidFill>
                  <a:srgbClr val="E8720C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1960s–1990s</a:t>
            </a:r>
            <a:endParaRPr lang="en-US" sz="1100"/>
          </a:p>
          <a:p>
            <a:pPr marL="0" indent="0" algn="ctr">
              <a:lnSpc>
                <a:spcPct val="112500"/>
              </a:lnSpc>
            </a:pPr>
            <a:r>
              <a:rPr lang="en-US" sz="1200" b="1" i="0" u="none" strike="noStrike">
                <a:solidFill>
                  <a:srgbClr val="1A2E4B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起点：有无价值</a:t>
            </a:r>
          </a:p>
          <a:p>
            <a:pPr marL="0" indent="0" algn="ctr">
              <a:lnSpc>
                <a:spcPct val="112500"/>
              </a:lnSpc>
            </a:pPr>
            <a:r>
              <a:rPr lang="en-US" sz="1200" b="0" i="0" u="none" strike="noStrike">
                <a:solidFill>
                  <a:srgbClr val="5A6982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超额蛋糕有限</a:t>
            </a:r>
          </a:p>
        </p:txBody>
      </p:sp>
      <p:sp>
        <p:nvSpPr>
          <p:cNvPr id="7" name="AutoShape 7"/>
          <p:cNvSpPr/>
          <p:nvPr/>
        </p:nvSpPr>
        <p:spPr>
          <a:xfrm>
            <a:off x="1181100" y="3721100"/>
            <a:ext cx="177800" cy="177800"/>
          </a:xfrm>
          <a:prstGeom prst="ellipse">
            <a:avLst/>
          </a:prstGeom>
          <a:solidFill>
            <a:srgbClr val="31609C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8" name="AutoShape 8"/>
          <p:cNvSpPr/>
          <p:nvPr/>
        </p:nvSpPr>
        <p:spPr>
          <a:xfrm>
            <a:off x="2286000" y="4191000"/>
            <a:ext cx="1828800" cy="1219200"/>
          </a:xfrm>
          <a:prstGeom prst="roundRect">
            <a:avLst>
              <a:gd name="adj" fmla="val 10416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D3DAE6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9" name="AutoShape 9"/>
          <p:cNvSpPr txBox="1"/>
          <p:nvPr/>
        </p:nvSpPr>
        <p:spPr>
          <a:xfrm>
            <a:off x="2362200" y="4292600"/>
            <a:ext cx="1676400" cy="1041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12500"/>
              </a:lnSpc>
              <a:defRPr/>
            </a:pPr>
            <a:r>
              <a:rPr lang="en-US" sz="1200" b="1" i="0" u="none" strike="noStrike">
                <a:solidFill>
                  <a:srgbClr val="E8720C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1980s–2000s</a:t>
            </a:r>
            <a:endParaRPr lang="en-US" sz="1100"/>
          </a:p>
          <a:p>
            <a:pPr marL="0" indent="0" algn="ctr">
              <a:lnSpc>
                <a:spcPct val="112500"/>
              </a:lnSpc>
            </a:pPr>
            <a:r>
              <a:rPr lang="en-US" sz="1200" b="1" i="0" u="none" strike="noStrike">
                <a:solidFill>
                  <a:srgbClr val="1A2E4B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机制：超额递减</a:t>
            </a:r>
          </a:p>
          <a:p>
            <a:pPr marL="0" indent="0" algn="ctr">
              <a:lnSpc>
                <a:spcPct val="112500"/>
              </a:lnSpc>
            </a:pPr>
            <a:r>
              <a:rPr lang="en-US" sz="1200" b="0" i="0" u="none" strike="noStrike">
                <a:solidFill>
                  <a:srgbClr val="5A6982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规模越大单位超额越少</a:t>
            </a:r>
          </a:p>
        </p:txBody>
      </p:sp>
      <p:sp>
        <p:nvSpPr>
          <p:cNvPr id="10" name="AutoShape 10"/>
          <p:cNvSpPr/>
          <p:nvPr/>
        </p:nvSpPr>
        <p:spPr>
          <a:xfrm>
            <a:off x="3111500" y="3721100"/>
            <a:ext cx="177800" cy="177800"/>
          </a:xfrm>
          <a:prstGeom prst="ellipse">
            <a:avLst/>
          </a:prstGeom>
          <a:solidFill>
            <a:srgbClr val="31609C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1" name="AutoShape 11"/>
          <p:cNvSpPr/>
          <p:nvPr/>
        </p:nvSpPr>
        <p:spPr>
          <a:xfrm>
            <a:off x="4216400" y="2235200"/>
            <a:ext cx="1828800" cy="1219200"/>
          </a:xfrm>
          <a:prstGeom prst="roundRect">
            <a:avLst>
              <a:gd name="adj" fmla="val 10416"/>
            </a:avLst>
          </a:prstGeom>
          <a:solidFill>
            <a:srgbClr val="FFF4E8">
              <a:alpha val="100000"/>
            </a:srgbClr>
          </a:solidFill>
          <a:ln w="12700" cap="flat" cmpd="sng">
            <a:solidFill>
              <a:srgbClr val="E8720C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2" name="AutoShape 12"/>
          <p:cNvSpPr txBox="1"/>
          <p:nvPr/>
        </p:nvSpPr>
        <p:spPr>
          <a:xfrm>
            <a:off x="4292600" y="2336800"/>
            <a:ext cx="1676400" cy="1041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12500"/>
              </a:lnSpc>
              <a:defRPr/>
            </a:pPr>
            <a:r>
              <a:rPr lang="en-US" sz="1200" b="1" i="0" u="none" strike="noStrike">
                <a:solidFill>
                  <a:srgbClr val="E8720C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2004</a:t>
            </a:r>
            <a:endParaRPr lang="en-US" sz="1100"/>
          </a:p>
          <a:p>
            <a:pPr marL="0" indent="0" algn="ctr">
              <a:lnSpc>
                <a:spcPct val="112500"/>
              </a:lnSpc>
            </a:pPr>
            <a:r>
              <a:rPr lang="en-US" sz="1200" b="1" i="0" u="none" strike="noStrike">
                <a:solidFill>
                  <a:srgbClr val="1A2E4B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均衡：Berk-Green</a:t>
            </a:r>
          </a:p>
          <a:p>
            <a:pPr marL="0" indent="0" algn="ctr">
              <a:lnSpc>
                <a:spcPct val="112500"/>
              </a:lnSpc>
            </a:pPr>
            <a:r>
              <a:rPr lang="en-US" sz="1200" b="0" i="0" u="none" strike="noStrike">
                <a:solidFill>
                  <a:srgbClr val="5A6982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流入至净超额归零</a:t>
            </a:r>
          </a:p>
        </p:txBody>
      </p:sp>
      <p:sp>
        <p:nvSpPr>
          <p:cNvPr id="13" name="AutoShape 13"/>
          <p:cNvSpPr/>
          <p:nvPr/>
        </p:nvSpPr>
        <p:spPr>
          <a:xfrm>
            <a:off x="5041900" y="3721100"/>
            <a:ext cx="177800" cy="177800"/>
          </a:xfrm>
          <a:prstGeom prst="ellipse">
            <a:avLst/>
          </a:prstGeom>
          <a:solidFill>
            <a:srgbClr val="E8720C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4" name="AutoShape 14"/>
          <p:cNvSpPr/>
          <p:nvPr/>
        </p:nvSpPr>
        <p:spPr>
          <a:xfrm>
            <a:off x="6146800" y="4191000"/>
            <a:ext cx="1828800" cy="1219200"/>
          </a:xfrm>
          <a:prstGeom prst="roundRect">
            <a:avLst>
              <a:gd name="adj" fmla="val 10416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D3DAE6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5" name="AutoShape 15"/>
          <p:cNvSpPr txBox="1"/>
          <p:nvPr/>
        </p:nvSpPr>
        <p:spPr>
          <a:xfrm>
            <a:off x="6223000" y="4292600"/>
            <a:ext cx="1676400" cy="1041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12500"/>
              </a:lnSpc>
              <a:defRPr/>
            </a:pPr>
            <a:r>
              <a:rPr lang="en-US" sz="1200" b="1" i="0" u="none" strike="noStrike">
                <a:solidFill>
                  <a:srgbClr val="E8720C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2010s</a:t>
            </a:r>
            <a:endParaRPr lang="en-US" sz="1100"/>
          </a:p>
          <a:p>
            <a:pPr marL="0" indent="0" algn="ctr">
              <a:lnSpc>
                <a:spcPct val="112500"/>
              </a:lnSpc>
            </a:pPr>
            <a:r>
              <a:rPr lang="en-US" sz="1200" b="1" i="0" u="none" strike="noStrike">
                <a:solidFill>
                  <a:srgbClr val="1A2E4B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修正：行业层面</a:t>
            </a:r>
          </a:p>
          <a:p>
            <a:pPr marL="0" indent="0" algn="ctr">
              <a:lnSpc>
                <a:spcPct val="112500"/>
              </a:lnSpc>
            </a:pPr>
            <a:r>
              <a:rPr lang="en-US" sz="1200" b="0" i="0" u="none" strike="noStrike">
                <a:solidFill>
                  <a:srgbClr val="5A6982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容量是同类公共池</a:t>
            </a:r>
          </a:p>
        </p:txBody>
      </p:sp>
      <p:sp>
        <p:nvSpPr>
          <p:cNvPr id="16" name="AutoShape 16"/>
          <p:cNvSpPr/>
          <p:nvPr/>
        </p:nvSpPr>
        <p:spPr>
          <a:xfrm>
            <a:off x="6972300" y="3721100"/>
            <a:ext cx="177800" cy="177800"/>
          </a:xfrm>
          <a:prstGeom prst="ellipse">
            <a:avLst/>
          </a:prstGeom>
          <a:solidFill>
            <a:srgbClr val="31609C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7" name="AutoShape 17"/>
          <p:cNvSpPr/>
          <p:nvPr/>
        </p:nvSpPr>
        <p:spPr>
          <a:xfrm>
            <a:off x="8077200" y="2235200"/>
            <a:ext cx="1828800" cy="1219200"/>
          </a:xfrm>
          <a:prstGeom prst="roundRect">
            <a:avLst>
              <a:gd name="adj" fmla="val 10416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D3DAE6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8" name="AutoShape 18"/>
          <p:cNvSpPr txBox="1"/>
          <p:nvPr/>
        </p:nvSpPr>
        <p:spPr>
          <a:xfrm>
            <a:off x="8153400" y="2336800"/>
            <a:ext cx="1676400" cy="1041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12500"/>
              </a:lnSpc>
              <a:defRPr/>
            </a:pPr>
            <a:r>
              <a:rPr lang="en-US" sz="1200" b="1" i="0" u="none" strike="noStrike">
                <a:solidFill>
                  <a:srgbClr val="E8720C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2007–2012</a:t>
            </a:r>
            <a:endParaRPr lang="en-US" sz="1100"/>
          </a:p>
          <a:p>
            <a:pPr marL="0" indent="0" algn="ctr">
              <a:lnSpc>
                <a:spcPct val="112500"/>
              </a:lnSpc>
            </a:pPr>
            <a:r>
              <a:rPr lang="en-US" sz="1200" b="1" i="0" u="none" strike="noStrike">
                <a:solidFill>
                  <a:srgbClr val="1A2E4B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反身性：资金造业绩</a:t>
            </a:r>
          </a:p>
          <a:p>
            <a:pPr marL="0" indent="0" algn="ctr">
              <a:lnSpc>
                <a:spcPct val="112500"/>
              </a:lnSpc>
            </a:pPr>
            <a:r>
              <a:rPr lang="en-US" sz="1200" b="0" i="0" u="none" strike="noStrike">
                <a:solidFill>
                  <a:srgbClr val="5A6982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规模顶点即估值顶点</a:t>
            </a:r>
          </a:p>
        </p:txBody>
      </p:sp>
      <p:sp>
        <p:nvSpPr>
          <p:cNvPr id="19" name="AutoShape 19"/>
          <p:cNvSpPr/>
          <p:nvPr/>
        </p:nvSpPr>
        <p:spPr>
          <a:xfrm>
            <a:off x="8902700" y="3721100"/>
            <a:ext cx="177800" cy="177800"/>
          </a:xfrm>
          <a:prstGeom prst="ellipse">
            <a:avLst/>
          </a:prstGeom>
          <a:solidFill>
            <a:srgbClr val="31609C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0" name="AutoShape 20"/>
          <p:cNvSpPr/>
          <p:nvPr/>
        </p:nvSpPr>
        <p:spPr>
          <a:xfrm>
            <a:off x="10007600" y="4191000"/>
            <a:ext cx="1828800" cy="1219200"/>
          </a:xfrm>
          <a:prstGeom prst="roundRect">
            <a:avLst>
              <a:gd name="adj" fmla="val 10416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D3DAE6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1" name="AutoShape 21"/>
          <p:cNvSpPr txBox="1"/>
          <p:nvPr/>
        </p:nvSpPr>
        <p:spPr>
          <a:xfrm>
            <a:off x="10083800" y="4292600"/>
            <a:ext cx="1676400" cy="1041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12500"/>
              </a:lnSpc>
              <a:defRPr/>
            </a:pPr>
            <a:r>
              <a:rPr lang="en-US" sz="1200" b="1" i="0" u="none" strike="noStrike">
                <a:solidFill>
                  <a:srgbClr val="E8720C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2007–2020</a:t>
            </a:r>
            <a:endParaRPr lang="en-US" sz="1100"/>
          </a:p>
          <a:p>
            <a:pPr marL="0" indent="0" algn="ctr">
              <a:lnSpc>
                <a:spcPct val="112500"/>
              </a:lnSpc>
            </a:pPr>
            <a:r>
              <a:rPr lang="en-US" sz="1200" b="1" i="0" u="none" strike="noStrike">
                <a:solidFill>
                  <a:srgbClr val="1A2E4B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应对：封闭与取舍</a:t>
            </a:r>
          </a:p>
          <a:p>
            <a:pPr marL="0" indent="0" algn="ctr">
              <a:lnSpc>
                <a:spcPct val="112500"/>
              </a:lnSpc>
            </a:pPr>
            <a:r>
              <a:rPr lang="en-US" sz="1200" b="0" i="0" u="none" strike="noStrike">
                <a:solidFill>
                  <a:srgbClr val="5A6982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多变量间做选择</a:t>
            </a:r>
          </a:p>
        </p:txBody>
      </p:sp>
      <p:sp>
        <p:nvSpPr>
          <p:cNvPr id="22" name="AutoShape 22"/>
          <p:cNvSpPr/>
          <p:nvPr/>
        </p:nvSpPr>
        <p:spPr>
          <a:xfrm>
            <a:off x="10833100" y="3721100"/>
            <a:ext cx="177800" cy="177800"/>
          </a:xfrm>
          <a:prstGeom prst="ellipse">
            <a:avLst/>
          </a:prstGeom>
          <a:solidFill>
            <a:srgbClr val="31609C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3" name="AutoShape 23"/>
          <p:cNvSpPr txBox="1"/>
          <p:nvPr/>
        </p:nvSpPr>
        <p:spPr>
          <a:xfrm>
            <a:off x="1270000" y="6019800"/>
            <a:ext cx="9652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100" b="0" i="0" u="none" strike="noStrike">
                <a:solidFill>
                  <a:srgbClr val="788CAA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来源：策略容量：衡量方法与真实基金案例 · 理论脉络（含量化旁支略）</a:t>
            </a:r>
            <a:endParaRPr lang="en-US" sz="1100"/>
          </a:p>
        </p:txBody>
      </p:sp>
    </p:spTree>
    <p:custDataLst>
      <p:tags r:id="rId1"/>
    </p:custData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7F2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8890000" y="4267200"/>
            <a:ext cx="2590800" cy="2590800"/>
          </a:xfrm>
          <a:prstGeom prst="ellipse">
            <a:avLst/>
          </a:prstGeom>
          <a:solidFill>
            <a:srgbClr val="1A2E4B">
              <a:alpha val="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1016000" y="711200"/>
            <a:ext cx="609600" cy="381000"/>
          </a:xfrm>
          <a:prstGeom prst="roundRect">
            <a:avLst>
              <a:gd name="adj" fmla="val 20000"/>
            </a:avLst>
          </a:prstGeom>
          <a:solidFill>
            <a:srgbClr val="1A2E4B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" name="AutoShape 4"/>
          <p:cNvSpPr txBox="1"/>
          <p:nvPr/>
        </p:nvSpPr>
        <p:spPr>
          <a:xfrm>
            <a:off x="1778000" y="736600"/>
            <a:ext cx="3556000" cy="330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00" b="0" i="0" u="none" strike="noStrike">
                <a:solidFill>
                  <a:srgbClr val="788CAA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引言 · 定义</a:t>
            </a:r>
            <a:endParaRPr lang="en-US" sz="1100"/>
          </a:p>
        </p:txBody>
      </p:sp>
      <p:sp>
        <p:nvSpPr>
          <p:cNvPr id="5" name="AutoShape 5"/>
          <p:cNvSpPr txBox="1"/>
          <p:nvPr/>
        </p:nvSpPr>
        <p:spPr>
          <a:xfrm>
            <a:off x="1016000" y="711200"/>
            <a:ext cx="6096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FFFFFF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01</a:t>
            </a:r>
            <a:endParaRPr lang="en-US" sz="1100"/>
          </a:p>
        </p:txBody>
      </p:sp>
      <p:sp>
        <p:nvSpPr>
          <p:cNvPr id="6" name="AutoShape 6"/>
          <p:cNvSpPr txBox="1"/>
          <p:nvPr/>
        </p:nvSpPr>
        <p:spPr>
          <a:xfrm>
            <a:off x="1270000" y="2489200"/>
            <a:ext cx="9652000" cy="1371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16666"/>
              </a:lnSpc>
              <a:defRPr/>
            </a:pPr>
            <a:r>
              <a:rPr lang="en-US" sz="3800" b="1" i="0" u="none" strike="noStrike">
                <a:solidFill>
                  <a:srgbClr val="1A2E4B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主动基金容量：成本吃光超额前的最大规模</a:t>
            </a:r>
            <a:endParaRPr lang="en-US" sz="1100"/>
          </a:p>
        </p:txBody>
      </p:sp>
      <p:cxnSp>
        <p:nvCxnSpPr>
          <p:cNvPr id="7" name="Connector 7"/>
          <p:cNvCxnSpPr/>
          <p:nvPr/>
        </p:nvCxnSpPr>
        <p:spPr>
          <a:xfrm rot="-42969">
            <a:off x="5588040" y="4464050"/>
            <a:ext cx="1016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63500" cap="flat" cmpd="sng">
            <a:solidFill>
              <a:srgbClr val="E8720C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</p:spTree>
    <p:custDataLst>
      <p:tags r:id="rId1"/>
    </p:custData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7F2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8890000" y="4267200"/>
            <a:ext cx="2590800" cy="2590800"/>
          </a:xfrm>
          <a:prstGeom prst="ellipse">
            <a:avLst/>
          </a:prstGeom>
          <a:solidFill>
            <a:srgbClr val="1A2E4B">
              <a:alpha val="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1016000" y="711200"/>
            <a:ext cx="609600" cy="381000"/>
          </a:xfrm>
          <a:prstGeom prst="roundRect">
            <a:avLst>
              <a:gd name="adj" fmla="val 20000"/>
            </a:avLst>
          </a:prstGeom>
          <a:solidFill>
            <a:srgbClr val="1A2E4B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" name="AutoShape 4"/>
          <p:cNvSpPr txBox="1"/>
          <p:nvPr/>
        </p:nvSpPr>
        <p:spPr>
          <a:xfrm>
            <a:off x="1778000" y="736600"/>
            <a:ext cx="3556000" cy="330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00" b="0" i="0" u="none" strike="noStrike">
                <a:solidFill>
                  <a:srgbClr val="788CAA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引言 · 动机</a:t>
            </a:r>
            <a:endParaRPr lang="en-US" sz="1100"/>
          </a:p>
        </p:txBody>
      </p:sp>
      <p:sp>
        <p:nvSpPr>
          <p:cNvPr id="5" name="AutoShape 5"/>
          <p:cNvSpPr txBox="1"/>
          <p:nvPr/>
        </p:nvSpPr>
        <p:spPr>
          <a:xfrm>
            <a:off x="1016000" y="711200"/>
            <a:ext cx="6096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FFFFFF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02</a:t>
            </a:r>
            <a:endParaRPr lang="en-US" sz="1100"/>
          </a:p>
        </p:txBody>
      </p:sp>
      <p:sp>
        <p:nvSpPr>
          <p:cNvPr id="6" name="AutoShape 6"/>
          <p:cNvSpPr txBox="1"/>
          <p:nvPr/>
        </p:nvSpPr>
        <p:spPr>
          <a:xfrm>
            <a:off x="1270000" y="2489200"/>
            <a:ext cx="9652000" cy="1371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16666"/>
              </a:lnSpc>
              <a:defRPr/>
            </a:pPr>
            <a:r>
              <a:rPr lang="en-US" sz="3800" b="1" i="0" u="none" strike="noStrike">
                <a:solidFill>
                  <a:srgbClr val="1A2E4B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为什么要关注容量：超额会被规模吃掉</a:t>
            </a:r>
            <a:endParaRPr lang="en-US" sz="1100"/>
          </a:p>
        </p:txBody>
      </p:sp>
      <p:cxnSp>
        <p:nvCxnSpPr>
          <p:cNvPr id="7" name="Connector 7"/>
          <p:cNvCxnSpPr/>
          <p:nvPr/>
        </p:nvCxnSpPr>
        <p:spPr>
          <a:xfrm rot="-42969">
            <a:off x="5588040" y="4464050"/>
            <a:ext cx="1016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63500" cap="flat" cmpd="sng">
            <a:solidFill>
              <a:srgbClr val="E8720C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</p:spTree>
    <p:custDataLst>
      <p:tags r:id="rId1"/>
    </p:custData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7F2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8890000" y="4267200"/>
            <a:ext cx="2590800" cy="2590800"/>
          </a:xfrm>
          <a:prstGeom prst="ellipse">
            <a:avLst/>
          </a:prstGeom>
          <a:solidFill>
            <a:srgbClr val="1A2E4B">
              <a:alpha val="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1016000" y="711200"/>
            <a:ext cx="609600" cy="381000"/>
          </a:xfrm>
          <a:prstGeom prst="roundRect">
            <a:avLst>
              <a:gd name="adj" fmla="val 20000"/>
            </a:avLst>
          </a:prstGeom>
          <a:solidFill>
            <a:srgbClr val="1A2E4B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" name="AutoShape 4"/>
          <p:cNvSpPr txBox="1"/>
          <p:nvPr/>
        </p:nvSpPr>
        <p:spPr>
          <a:xfrm>
            <a:off x="1778000" y="736600"/>
            <a:ext cx="3556000" cy="330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00" b="0" i="0" u="none" strike="noStrike">
                <a:solidFill>
                  <a:srgbClr val="788CAA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引言 · 动机</a:t>
            </a:r>
            <a:endParaRPr lang="en-US" sz="1100"/>
          </a:p>
        </p:txBody>
      </p:sp>
      <p:sp>
        <p:nvSpPr>
          <p:cNvPr id="5" name="AutoShape 5"/>
          <p:cNvSpPr txBox="1"/>
          <p:nvPr/>
        </p:nvSpPr>
        <p:spPr>
          <a:xfrm>
            <a:off x="1016000" y="711200"/>
            <a:ext cx="6096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FFFFFF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03</a:t>
            </a:r>
            <a:endParaRPr lang="en-US" sz="1100"/>
          </a:p>
        </p:txBody>
      </p:sp>
      <p:sp>
        <p:nvSpPr>
          <p:cNvPr id="6" name="AutoShape 6"/>
          <p:cNvSpPr txBox="1"/>
          <p:nvPr/>
        </p:nvSpPr>
        <p:spPr>
          <a:xfrm>
            <a:off x="1270000" y="2489200"/>
            <a:ext cx="9652000" cy="1371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16666"/>
              </a:lnSpc>
              <a:defRPr/>
            </a:pPr>
            <a:r>
              <a:rPr lang="en-US" sz="3800" b="1" i="0" u="none" strike="noStrike">
                <a:solidFill>
                  <a:srgbClr val="1A2E4B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规模过大，净超额被成本吃光归零</a:t>
            </a:r>
            <a:endParaRPr lang="en-US" sz="1100"/>
          </a:p>
        </p:txBody>
      </p:sp>
      <p:cxnSp>
        <p:nvCxnSpPr>
          <p:cNvPr id="7" name="Connector 7"/>
          <p:cNvCxnSpPr/>
          <p:nvPr/>
        </p:nvCxnSpPr>
        <p:spPr>
          <a:xfrm rot="-42969">
            <a:off x="5588040" y="4464050"/>
            <a:ext cx="1016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63500" cap="flat" cmpd="sng">
            <a:solidFill>
              <a:srgbClr val="E8720C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</p:spTree>
    <p:custDataLst>
      <p:tags r:id="rId1"/>
    </p:custData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7F2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8890000" y="4267200"/>
            <a:ext cx="2590800" cy="2590800"/>
          </a:xfrm>
          <a:prstGeom prst="ellipse">
            <a:avLst/>
          </a:prstGeom>
          <a:solidFill>
            <a:srgbClr val="1A2E4B">
              <a:alpha val="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1016000" y="711200"/>
            <a:ext cx="609600" cy="381000"/>
          </a:xfrm>
          <a:prstGeom prst="roundRect">
            <a:avLst>
              <a:gd name="adj" fmla="val 20000"/>
            </a:avLst>
          </a:prstGeom>
          <a:solidFill>
            <a:srgbClr val="1A2E4B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" name="AutoShape 4"/>
          <p:cNvSpPr txBox="1"/>
          <p:nvPr/>
        </p:nvSpPr>
        <p:spPr>
          <a:xfrm>
            <a:off x="1778000" y="736600"/>
            <a:ext cx="3556000" cy="330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00" b="0" i="0" u="none" strike="noStrike">
                <a:solidFill>
                  <a:srgbClr val="788CAA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引言 · 动机</a:t>
            </a:r>
            <a:endParaRPr lang="en-US" sz="1100"/>
          </a:p>
        </p:txBody>
      </p:sp>
      <p:sp>
        <p:nvSpPr>
          <p:cNvPr id="5" name="AutoShape 5"/>
          <p:cNvSpPr txBox="1"/>
          <p:nvPr/>
        </p:nvSpPr>
        <p:spPr>
          <a:xfrm>
            <a:off x="1016000" y="711200"/>
            <a:ext cx="6096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FFFFFF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04</a:t>
            </a:r>
            <a:endParaRPr lang="en-US" sz="1100"/>
          </a:p>
        </p:txBody>
      </p:sp>
      <p:sp>
        <p:nvSpPr>
          <p:cNvPr id="6" name="AutoShape 6"/>
          <p:cNvSpPr txBox="1"/>
          <p:nvPr/>
        </p:nvSpPr>
        <p:spPr>
          <a:xfrm>
            <a:off x="1270000" y="2489200"/>
            <a:ext cx="9652000" cy="1371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16666"/>
              </a:lnSpc>
              <a:defRPr/>
            </a:pPr>
            <a:r>
              <a:rPr lang="en-US" sz="3800" b="1" i="0" u="none" strike="noStrike">
                <a:solidFill>
                  <a:srgbClr val="1A2E4B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策略会变，过去业绩不能线性外推</a:t>
            </a:r>
            <a:endParaRPr lang="en-US" sz="1100"/>
          </a:p>
        </p:txBody>
      </p:sp>
      <p:cxnSp>
        <p:nvCxnSpPr>
          <p:cNvPr id="7" name="Connector 7"/>
          <p:cNvCxnSpPr/>
          <p:nvPr/>
        </p:nvCxnSpPr>
        <p:spPr>
          <a:xfrm rot="-42969">
            <a:off x="5588040" y="4464050"/>
            <a:ext cx="1016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63500" cap="flat" cmpd="sng">
            <a:solidFill>
              <a:srgbClr val="E8720C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</p:spTree>
    <p:custDataLst>
      <p:tags r:id="rId1"/>
    </p:custData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7F2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8890000" y="4267200"/>
            <a:ext cx="2590800" cy="2590800"/>
          </a:xfrm>
          <a:prstGeom prst="ellipse">
            <a:avLst/>
          </a:prstGeom>
          <a:solidFill>
            <a:srgbClr val="1A2E4B">
              <a:alpha val="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1016000" y="711200"/>
            <a:ext cx="609600" cy="381000"/>
          </a:xfrm>
          <a:prstGeom prst="roundRect">
            <a:avLst>
              <a:gd name="adj" fmla="val 20000"/>
            </a:avLst>
          </a:prstGeom>
          <a:solidFill>
            <a:srgbClr val="1A2E4B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" name="AutoShape 4"/>
          <p:cNvSpPr txBox="1"/>
          <p:nvPr/>
        </p:nvSpPr>
        <p:spPr>
          <a:xfrm>
            <a:off x="1778000" y="736600"/>
            <a:ext cx="3556000" cy="330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00" b="0" i="0" u="none" strike="noStrike">
                <a:solidFill>
                  <a:srgbClr val="788CAA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概览 · 影响因素</a:t>
            </a:r>
            <a:endParaRPr lang="en-US" sz="1100"/>
          </a:p>
        </p:txBody>
      </p:sp>
      <p:sp>
        <p:nvSpPr>
          <p:cNvPr id="5" name="AutoShape 5"/>
          <p:cNvSpPr txBox="1"/>
          <p:nvPr/>
        </p:nvSpPr>
        <p:spPr>
          <a:xfrm>
            <a:off x="1016000" y="711200"/>
            <a:ext cx="6096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FFFFFF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05</a:t>
            </a:r>
            <a:endParaRPr lang="en-US" sz="1100"/>
          </a:p>
        </p:txBody>
      </p:sp>
      <p:sp>
        <p:nvSpPr>
          <p:cNvPr id="6" name="AutoShape 6"/>
          <p:cNvSpPr txBox="1"/>
          <p:nvPr/>
        </p:nvSpPr>
        <p:spPr>
          <a:xfrm>
            <a:off x="1270000" y="2489200"/>
            <a:ext cx="9652000" cy="1371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16666"/>
              </a:lnSpc>
              <a:defRPr/>
            </a:pPr>
            <a:r>
              <a:rPr lang="en-US" sz="3800" b="1" i="0" u="none" strike="noStrike">
                <a:solidFill>
                  <a:srgbClr val="1A2E4B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容量由换手、流动性、集中度等因素决定</a:t>
            </a:r>
            <a:endParaRPr lang="en-US" sz="1100"/>
          </a:p>
        </p:txBody>
      </p:sp>
      <p:cxnSp>
        <p:nvCxnSpPr>
          <p:cNvPr id="7" name="Connector 7"/>
          <p:cNvCxnSpPr/>
          <p:nvPr/>
        </p:nvCxnSpPr>
        <p:spPr>
          <a:xfrm rot="-42969">
            <a:off x="5588040" y="4464050"/>
            <a:ext cx="1016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63500" cap="flat" cmpd="sng">
            <a:solidFill>
              <a:srgbClr val="E8720C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</p:spTree>
    <p:custDataLst>
      <p:tags r:id="rId1"/>
    </p:custData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7F2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8890000" y="4267200"/>
            <a:ext cx="2590800" cy="2590800"/>
          </a:xfrm>
          <a:prstGeom prst="ellipse">
            <a:avLst/>
          </a:prstGeom>
          <a:solidFill>
            <a:srgbClr val="1A2E4B">
              <a:alpha val="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1016000" y="711200"/>
            <a:ext cx="609600" cy="381000"/>
          </a:xfrm>
          <a:prstGeom prst="roundRect">
            <a:avLst>
              <a:gd name="adj" fmla="val 20000"/>
            </a:avLst>
          </a:prstGeom>
          <a:solidFill>
            <a:srgbClr val="1A2E4B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" name="AutoShape 4"/>
          <p:cNvSpPr txBox="1"/>
          <p:nvPr/>
        </p:nvSpPr>
        <p:spPr>
          <a:xfrm>
            <a:off x="1778000" y="736600"/>
            <a:ext cx="3556000" cy="330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00" b="0" i="0" u="none" strike="noStrike">
                <a:solidFill>
                  <a:srgbClr val="788CAA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核心机制</a:t>
            </a:r>
            <a:endParaRPr lang="en-US" sz="1100"/>
          </a:p>
        </p:txBody>
      </p:sp>
      <p:sp>
        <p:nvSpPr>
          <p:cNvPr id="5" name="AutoShape 5"/>
          <p:cNvSpPr txBox="1"/>
          <p:nvPr/>
        </p:nvSpPr>
        <p:spPr>
          <a:xfrm>
            <a:off x="1016000" y="711200"/>
            <a:ext cx="6096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FFFFFF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06</a:t>
            </a:r>
            <a:endParaRPr lang="en-US" sz="1100"/>
          </a:p>
        </p:txBody>
      </p:sp>
      <p:sp>
        <p:nvSpPr>
          <p:cNvPr id="6" name="AutoShape 6"/>
          <p:cNvSpPr txBox="1"/>
          <p:nvPr/>
        </p:nvSpPr>
        <p:spPr>
          <a:xfrm>
            <a:off x="1270000" y="2489200"/>
            <a:ext cx="9652000" cy="1371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16666"/>
              </a:lnSpc>
              <a:defRPr/>
            </a:pPr>
            <a:r>
              <a:rPr lang="en-US" sz="3800" b="1" i="0" u="none" strike="noStrike">
                <a:solidFill>
                  <a:srgbClr val="1A2E4B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收益线性增长，成本增长得更快</a:t>
            </a:r>
            <a:endParaRPr lang="en-US" sz="1100"/>
          </a:p>
        </p:txBody>
      </p:sp>
      <p:cxnSp>
        <p:nvCxnSpPr>
          <p:cNvPr id="7" name="Connector 7"/>
          <p:cNvCxnSpPr/>
          <p:nvPr/>
        </p:nvCxnSpPr>
        <p:spPr>
          <a:xfrm rot="-42969">
            <a:off x="5588040" y="4464050"/>
            <a:ext cx="1016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63500" cap="flat" cmpd="sng">
            <a:solidFill>
              <a:srgbClr val="E8720C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</p:spTree>
    <p:custDataLst>
      <p:tags r:id="rId1"/>
    </p:custData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7F2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 txBox="1"/>
          <p:nvPr/>
        </p:nvSpPr>
        <p:spPr>
          <a:xfrm>
            <a:off x="1778000" y="736600"/>
            <a:ext cx="4064000" cy="330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00" b="0" i="0" u="none" strike="noStrike">
                <a:solidFill>
                  <a:srgbClr val="788CAA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核心机制 · 图解</a:t>
            </a:r>
            <a:endParaRPr lang="en-US" sz="1100"/>
          </a:p>
        </p:txBody>
      </p:sp>
      <p:sp>
        <p:nvSpPr>
          <p:cNvPr id="3" name="AutoShape 3"/>
          <p:cNvSpPr txBox="1"/>
          <p:nvPr/>
        </p:nvSpPr>
        <p:spPr>
          <a:xfrm>
            <a:off x="1270000" y="1422400"/>
            <a:ext cx="9652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3000" b="1" i="0" u="none" strike="noStrike">
                <a:solidFill>
                  <a:srgbClr val="1A2E4B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净超额随规模下降，44%处总超额最大</a:t>
            </a:r>
            <a:endParaRPr lang="en-US" sz="1100"/>
          </a:p>
        </p:txBody>
      </p:sp>
      <p:sp>
        <p:nvSpPr>
          <p:cNvPr id="4" name="AutoShape 4"/>
          <p:cNvSpPr txBox="1"/>
          <p:nvPr/>
        </p:nvSpPr>
        <p:spPr>
          <a:xfrm>
            <a:off x="1524000" y="2032000"/>
            <a:ext cx="9144000" cy="279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788CAA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示意：毛超额6%，净超额 = 毛超额 − b√A；横轴归一化规模，1 = 盈亏平衡容量 A*</a:t>
            </a:r>
            <a:endParaRPr lang="en-US" sz="1100"/>
          </a:p>
        </p:txBody>
      </p:sp>
      <p:cxnSp>
        <p:nvCxnSpPr>
          <p:cNvPr id="5" name="Connector 5"/>
          <p:cNvCxnSpPr/>
          <p:nvPr/>
        </p:nvCxnSpPr>
        <p:spPr>
          <a:xfrm rot="-132155">
            <a:off x="3200522" y="6013450"/>
            <a:ext cx="3302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38100" cap="flat" cmpd="sng">
            <a:solidFill>
              <a:srgbClr val="1A2E4B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id="6" name="AutoShape 6"/>
          <p:cNvSpPr txBox="1"/>
          <p:nvPr/>
        </p:nvSpPr>
        <p:spPr>
          <a:xfrm>
            <a:off x="3606800" y="5918200"/>
            <a:ext cx="2794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3C4E69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净超额 α_net（规模越大越薄）</a:t>
            </a:r>
            <a:endParaRPr lang="en-US" sz="1100"/>
          </a:p>
        </p:txBody>
      </p:sp>
      <p:cxnSp>
        <p:nvCxnSpPr>
          <p:cNvPr id="7" name="Connector 7"/>
          <p:cNvCxnSpPr/>
          <p:nvPr/>
        </p:nvCxnSpPr>
        <p:spPr>
          <a:xfrm rot="-132155">
            <a:off x="6604122" y="6013450"/>
            <a:ext cx="3302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38100" cap="flat" cmpd="sng">
            <a:solidFill>
              <a:srgbClr val="E8720C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id="8" name="AutoShape 8"/>
          <p:cNvSpPr txBox="1"/>
          <p:nvPr/>
        </p:nvSpPr>
        <p:spPr>
          <a:xfrm>
            <a:off x="7010400" y="5918200"/>
            <a:ext cx="3048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3C4E69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投资者总超额金额 A×α_net（先升后降）</a:t>
            </a:r>
            <a:endParaRPr lang="en-US" sz="1100"/>
          </a:p>
        </p:txBody>
      </p:sp>
      <p:cxnSp>
        <p:nvCxnSpPr>
          <p:cNvPr id="9" name="Connector 9"/>
          <p:cNvCxnSpPr/>
          <p:nvPr/>
        </p:nvCxnSpPr>
        <p:spPr>
          <a:xfrm rot="-8594">
            <a:off x="3556008" y="2558459"/>
            <a:ext cx="5080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EEEEEE">
                <a:alpha val="100000"/>
              </a:srgbClr>
            </a:solidFill>
            <a:prstDash val="solid"/>
            <a:miter lim="4700000"/>
            <a:headEnd type="none" w="med" len="med"/>
            <a:tailEnd type="none" w="med" len="med"/>
          </a:ln>
        </p:spPr>
      </p:cxnSp>
      <p:cxnSp>
        <p:nvCxnSpPr>
          <p:cNvPr id="10" name="Connector 10"/>
          <p:cNvCxnSpPr/>
          <p:nvPr/>
        </p:nvCxnSpPr>
        <p:spPr>
          <a:xfrm rot="-8594">
            <a:off x="3556008" y="3023043"/>
            <a:ext cx="5080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EEEEEE">
                <a:alpha val="100000"/>
              </a:srgbClr>
            </a:solidFill>
            <a:prstDash val="solid"/>
            <a:miter lim="4700000"/>
            <a:headEnd type="none" w="med" len="med"/>
            <a:tailEnd type="none" w="med" len="med"/>
          </a:ln>
        </p:spPr>
      </p:cxnSp>
      <p:cxnSp>
        <p:nvCxnSpPr>
          <p:cNvPr id="11" name="Connector 11"/>
          <p:cNvCxnSpPr/>
          <p:nvPr/>
        </p:nvCxnSpPr>
        <p:spPr>
          <a:xfrm rot="-8594">
            <a:off x="3556008" y="3487627"/>
            <a:ext cx="5080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EEEEEE">
                <a:alpha val="100000"/>
              </a:srgbClr>
            </a:solidFill>
            <a:prstDash val="solid"/>
            <a:miter lim="4700000"/>
            <a:headEnd type="none" w="med" len="med"/>
            <a:tailEnd type="none" w="med" len="med"/>
          </a:ln>
        </p:spPr>
      </p:cxnSp>
      <p:cxnSp>
        <p:nvCxnSpPr>
          <p:cNvPr id="12" name="Connector 12"/>
          <p:cNvCxnSpPr/>
          <p:nvPr/>
        </p:nvCxnSpPr>
        <p:spPr>
          <a:xfrm rot="-8594">
            <a:off x="3556008" y="3952210"/>
            <a:ext cx="5080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EEEEEE">
                <a:alpha val="100000"/>
              </a:srgbClr>
            </a:solidFill>
            <a:prstDash val="solid"/>
            <a:miter lim="4700000"/>
            <a:headEnd type="none" w="med" len="med"/>
            <a:tailEnd type="none" w="med" len="med"/>
          </a:ln>
        </p:spPr>
      </p:cxnSp>
      <p:cxnSp>
        <p:nvCxnSpPr>
          <p:cNvPr id="13" name="Connector 13"/>
          <p:cNvCxnSpPr/>
          <p:nvPr/>
        </p:nvCxnSpPr>
        <p:spPr>
          <a:xfrm rot="-8594">
            <a:off x="3556008" y="4416794"/>
            <a:ext cx="5080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EEEEEE">
                <a:alpha val="100000"/>
              </a:srgbClr>
            </a:solidFill>
            <a:prstDash val="solid"/>
            <a:miter lim="4700000"/>
            <a:headEnd type="none" w="med" len="med"/>
            <a:tailEnd type="none" w="med" len="med"/>
          </a:ln>
        </p:spPr>
      </p:cxnSp>
      <p:cxnSp>
        <p:nvCxnSpPr>
          <p:cNvPr id="14" name="Connector 14"/>
          <p:cNvCxnSpPr/>
          <p:nvPr/>
        </p:nvCxnSpPr>
        <p:spPr>
          <a:xfrm rot="-8594">
            <a:off x="3556008" y="4881378"/>
            <a:ext cx="5080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EEEEEE">
                <a:alpha val="100000"/>
              </a:srgbClr>
            </a:solidFill>
            <a:prstDash val="solid"/>
            <a:miter lim="4700000"/>
            <a:headEnd type="none" w="med" len="med"/>
            <a:tailEnd type="none" w="med" len="med"/>
          </a:ln>
        </p:spPr>
      </p:cxnSp>
      <p:cxnSp>
        <p:nvCxnSpPr>
          <p:cNvPr id="15" name="Connector 15"/>
          <p:cNvCxnSpPr/>
          <p:nvPr/>
        </p:nvCxnSpPr>
        <p:spPr>
          <a:xfrm rot="-8594">
            <a:off x="3556008" y="5345962"/>
            <a:ext cx="5080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EEEEEE">
                <a:alpha val="100000"/>
              </a:srgbClr>
            </a:solidFill>
            <a:prstDash val="solid"/>
            <a:miter lim="4700000"/>
            <a:headEnd type="none" w="med" len="med"/>
            <a:tailEnd type="none" w="med" len="med"/>
          </a:ln>
        </p:spPr>
      </p:cxnSp>
      <p:cxnSp>
        <p:nvCxnSpPr>
          <p:cNvPr id="16" name="Connector 16"/>
          <p:cNvCxnSpPr/>
          <p:nvPr/>
        </p:nvCxnSpPr>
        <p:spPr>
          <a:xfrm rot="5385018">
            <a:off x="2098897" y="4015577"/>
            <a:ext cx="2914207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999999">
                <a:alpha val="100000"/>
              </a:srgbClr>
            </a:solidFill>
            <a:prstDash val="solid"/>
            <a:miter lim="4700000"/>
            <a:headEnd type="none" w="med" len="med"/>
            <a:tailEnd type="none" w="med" len="med"/>
          </a:ln>
        </p:spPr>
      </p:cxnSp>
      <p:cxnSp>
        <p:nvCxnSpPr>
          <p:cNvPr id="17" name="Connector 17"/>
          <p:cNvCxnSpPr/>
          <p:nvPr/>
        </p:nvCxnSpPr>
        <p:spPr>
          <a:xfrm rot="-8594">
            <a:off x="3556008" y="5345962"/>
            <a:ext cx="5080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999999">
                <a:alpha val="100000"/>
              </a:srgbClr>
            </a:solidFill>
            <a:prstDash val="solid"/>
            <a:miter lim="4700000"/>
            <a:headEnd type="none" w="med" len="med"/>
            <a:tailEnd type="none" w="med" len="med"/>
          </a:ln>
        </p:spPr>
      </p:cxnSp>
      <p:sp>
        <p:nvSpPr>
          <p:cNvPr id="18" name="AutoShape 18"/>
          <p:cNvSpPr txBox="1"/>
          <p:nvPr/>
        </p:nvSpPr>
        <p:spPr>
          <a:xfrm>
            <a:off x="3234690" y="2503170"/>
            <a:ext cx="254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r">
              <a:lnSpc>
                <a:spcPct val="125000"/>
              </a:lnSpc>
              <a:defRPr/>
            </a:pPr>
            <a:r>
              <a:rPr lang="en-US" sz="1000" b="0" i="0" u="none" strike="noStrike">
                <a:solidFill>
                  <a:srgbClr val="777777"/>
                </a:solidFill>
                <a:latin typeface="Noto Sans SC"/>
                <a:ea typeface="Noto Sans SC"/>
                <a:cs typeface="Noto Sans SC"/>
                <a:sym typeface="Noto Sans SC"/>
              </a:rPr>
              <a:t>6%</a:t>
            </a:r>
            <a:endParaRPr lang="en-US" sz="1100"/>
          </a:p>
        </p:txBody>
      </p:sp>
      <p:sp>
        <p:nvSpPr>
          <p:cNvPr id="19" name="AutoShape 19"/>
          <p:cNvSpPr txBox="1"/>
          <p:nvPr/>
        </p:nvSpPr>
        <p:spPr>
          <a:xfrm>
            <a:off x="3234690" y="2966720"/>
            <a:ext cx="254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r">
              <a:lnSpc>
                <a:spcPct val="125000"/>
              </a:lnSpc>
              <a:defRPr/>
            </a:pPr>
            <a:r>
              <a:rPr lang="en-US" sz="1000" b="0" i="0" u="none" strike="noStrike">
                <a:solidFill>
                  <a:srgbClr val="777777"/>
                </a:solidFill>
                <a:latin typeface="Noto Sans SC"/>
                <a:ea typeface="Noto Sans SC"/>
                <a:cs typeface="Noto Sans SC"/>
                <a:sym typeface="Noto Sans SC"/>
              </a:rPr>
              <a:t>5%</a:t>
            </a:r>
            <a:endParaRPr lang="en-US" sz="1100"/>
          </a:p>
        </p:txBody>
      </p:sp>
      <p:sp>
        <p:nvSpPr>
          <p:cNvPr id="20" name="AutoShape 20"/>
          <p:cNvSpPr txBox="1"/>
          <p:nvPr/>
        </p:nvSpPr>
        <p:spPr>
          <a:xfrm>
            <a:off x="3234690" y="3431540"/>
            <a:ext cx="254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r">
              <a:lnSpc>
                <a:spcPct val="125000"/>
              </a:lnSpc>
              <a:defRPr/>
            </a:pPr>
            <a:r>
              <a:rPr lang="en-US" sz="1000" b="0" i="0" u="none" strike="noStrike">
                <a:solidFill>
                  <a:srgbClr val="777777"/>
                </a:solidFill>
                <a:latin typeface="Noto Sans SC"/>
                <a:ea typeface="Noto Sans SC"/>
                <a:cs typeface="Noto Sans SC"/>
                <a:sym typeface="Noto Sans SC"/>
              </a:rPr>
              <a:t>4%</a:t>
            </a:r>
            <a:endParaRPr lang="en-US" sz="1100"/>
          </a:p>
        </p:txBody>
      </p:sp>
      <p:sp>
        <p:nvSpPr>
          <p:cNvPr id="21" name="AutoShape 21"/>
          <p:cNvSpPr txBox="1"/>
          <p:nvPr/>
        </p:nvSpPr>
        <p:spPr>
          <a:xfrm>
            <a:off x="3234690" y="3896360"/>
            <a:ext cx="254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r">
              <a:lnSpc>
                <a:spcPct val="125000"/>
              </a:lnSpc>
              <a:defRPr/>
            </a:pPr>
            <a:r>
              <a:rPr lang="en-US" sz="1000" b="0" i="0" u="none" strike="noStrike">
                <a:solidFill>
                  <a:srgbClr val="777777"/>
                </a:solidFill>
                <a:latin typeface="Noto Sans SC"/>
                <a:ea typeface="Noto Sans SC"/>
                <a:cs typeface="Noto Sans SC"/>
                <a:sym typeface="Noto Sans SC"/>
              </a:rPr>
              <a:t>3%</a:t>
            </a:r>
            <a:endParaRPr lang="en-US" sz="1100"/>
          </a:p>
        </p:txBody>
      </p:sp>
      <p:sp>
        <p:nvSpPr>
          <p:cNvPr id="22" name="AutoShape 22"/>
          <p:cNvSpPr txBox="1"/>
          <p:nvPr/>
        </p:nvSpPr>
        <p:spPr>
          <a:xfrm>
            <a:off x="3234690" y="4361180"/>
            <a:ext cx="254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r">
              <a:lnSpc>
                <a:spcPct val="125000"/>
              </a:lnSpc>
              <a:defRPr/>
            </a:pPr>
            <a:r>
              <a:rPr lang="en-US" sz="1000" b="0" i="0" u="none" strike="noStrike">
                <a:solidFill>
                  <a:srgbClr val="777777"/>
                </a:solidFill>
                <a:latin typeface="Noto Sans SC"/>
                <a:ea typeface="Noto Sans SC"/>
                <a:cs typeface="Noto Sans SC"/>
                <a:sym typeface="Noto Sans SC"/>
              </a:rPr>
              <a:t>2%</a:t>
            </a:r>
            <a:endParaRPr lang="en-US" sz="1100"/>
          </a:p>
        </p:txBody>
      </p:sp>
      <p:sp>
        <p:nvSpPr>
          <p:cNvPr id="23" name="AutoShape 23"/>
          <p:cNvSpPr txBox="1"/>
          <p:nvPr/>
        </p:nvSpPr>
        <p:spPr>
          <a:xfrm>
            <a:off x="3234690" y="4826000"/>
            <a:ext cx="254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r">
              <a:lnSpc>
                <a:spcPct val="125000"/>
              </a:lnSpc>
              <a:defRPr/>
            </a:pPr>
            <a:r>
              <a:rPr lang="en-US" sz="1000" b="0" i="0" u="none" strike="noStrike">
                <a:solidFill>
                  <a:srgbClr val="777777"/>
                </a:solidFill>
                <a:latin typeface="Noto Sans SC"/>
                <a:ea typeface="Noto Sans SC"/>
                <a:cs typeface="Noto Sans SC"/>
                <a:sym typeface="Noto Sans SC"/>
              </a:rPr>
              <a:t>1%</a:t>
            </a:r>
            <a:endParaRPr lang="en-US" sz="1100"/>
          </a:p>
        </p:txBody>
      </p:sp>
      <p:sp>
        <p:nvSpPr>
          <p:cNvPr id="24" name="AutoShape 24"/>
          <p:cNvSpPr txBox="1"/>
          <p:nvPr/>
        </p:nvSpPr>
        <p:spPr>
          <a:xfrm>
            <a:off x="3348990" y="5289550"/>
            <a:ext cx="1397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r">
              <a:lnSpc>
                <a:spcPct val="125000"/>
              </a:lnSpc>
              <a:defRPr/>
            </a:pPr>
            <a:r>
              <a:rPr lang="en-US" sz="1000" b="0" i="0" u="none" strike="noStrike">
                <a:solidFill>
                  <a:srgbClr val="777777"/>
                </a:solidFill>
                <a:latin typeface="Noto Sans SC"/>
                <a:ea typeface="Noto Sans SC"/>
                <a:cs typeface="Noto Sans SC"/>
                <a:sym typeface="Noto Sans SC"/>
              </a:rPr>
              <a:t>0</a:t>
            </a:r>
            <a:endParaRPr lang="en-US" sz="1100"/>
          </a:p>
        </p:txBody>
      </p:sp>
      <p:sp>
        <p:nvSpPr>
          <p:cNvPr id="25" name="AutoShape 25"/>
          <p:cNvSpPr txBox="1"/>
          <p:nvPr/>
        </p:nvSpPr>
        <p:spPr>
          <a:xfrm>
            <a:off x="3486150" y="5527040"/>
            <a:ext cx="1397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000" b="0" i="0" u="none" strike="noStrike">
                <a:solidFill>
                  <a:srgbClr val="777777"/>
                </a:solidFill>
                <a:latin typeface="Noto Sans SC"/>
                <a:ea typeface="Noto Sans SC"/>
                <a:cs typeface="Noto Sans SC"/>
                <a:sym typeface="Noto Sans SC"/>
              </a:rPr>
              <a:t>0</a:t>
            </a:r>
            <a:endParaRPr lang="en-US" sz="1100"/>
          </a:p>
        </p:txBody>
      </p:sp>
      <p:sp>
        <p:nvSpPr>
          <p:cNvPr id="26" name="AutoShape 26"/>
          <p:cNvSpPr txBox="1"/>
          <p:nvPr/>
        </p:nvSpPr>
        <p:spPr>
          <a:xfrm>
            <a:off x="5803900" y="5527040"/>
            <a:ext cx="5842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000" b="0" i="0" u="none" strike="noStrike">
                <a:solidFill>
                  <a:srgbClr val="777777"/>
                </a:solidFill>
                <a:latin typeface="Noto Sans SC"/>
                <a:ea typeface="Noto Sans SC"/>
                <a:cs typeface="Noto Sans SC"/>
                <a:sym typeface="Noto Sans SC"/>
              </a:rPr>
              <a:t>0.5 × A*</a:t>
            </a:r>
            <a:endParaRPr lang="en-US" sz="1100"/>
          </a:p>
        </p:txBody>
      </p:sp>
      <p:sp>
        <p:nvSpPr>
          <p:cNvPr id="27" name="AutoShape 27"/>
          <p:cNvSpPr txBox="1"/>
          <p:nvPr/>
        </p:nvSpPr>
        <p:spPr>
          <a:xfrm>
            <a:off x="8016240" y="5527040"/>
            <a:ext cx="123952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000" b="0" i="0" u="none" strike="noStrike">
                <a:solidFill>
                  <a:srgbClr val="777777"/>
                </a:solidFill>
                <a:latin typeface="Noto Sans SC"/>
                <a:ea typeface="Noto Sans SC"/>
                <a:cs typeface="Noto Sans SC"/>
                <a:sym typeface="Noto Sans SC"/>
              </a:rPr>
              <a:t>A*（盈亏平衡容量）</a:t>
            </a:r>
            <a:endParaRPr lang="en-US" sz="1100"/>
          </a:p>
        </p:txBody>
      </p:sp>
      <p:sp>
        <p:nvSpPr>
          <p:cNvPr id="28" name="Freeform 28"/>
          <p:cNvSpPr/>
          <p:nvPr/>
        </p:nvSpPr>
        <p:spPr>
          <a:xfrm>
            <a:off x="5811520" y="2564765"/>
            <a:ext cx="0" cy="2779141"/>
          </a:xfrm>
          <a:custGeom>
            <a:avLst/>
            <a:gdLst/>
            <a:ahLst/>
            <a:cxnLst/>
            <a:rect l="l" t="t" r="r" b="b"/>
            <a:pathLst>
              <a:path h="2779141">
                <a:moveTo>
                  <a:pt x="0" y="0"/>
                </a:moveTo>
                <a:lnTo>
                  <a:pt x="0" y="42291"/>
                </a:lnTo>
                <a:moveTo>
                  <a:pt x="0" y="76073"/>
                </a:moveTo>
                <a:lnTo>
                  <a:pt x="0" y="118364"/>
                </a:lnTo>
                <a:moveTo>
                  <a:pt x="0" y="152146"/>
                </a:moveTo>
                <a:lnTo>
                  <a:pt x="0" y="194310"/>
                </a:lnTo>
                <a:moveTo>
                  <a:pt x="0" y="228092"/>
                </a:moveTo>
                <a:lnTo>
                  <a:pt x="0" y="270383"/>
                </a:lnTo>
                <a:moveTo>
                  <a:pt x="0" y="304165"/>
                </a:moveTo>
                <a:lnTo>
                  <a:pt x="0" y="346329"/>
                </a:lnTo>
                <a:moveTo>
                  <a:pt x="0" y="380111"/>
                </a:moveTo>
                <a:lnTo>
                  <a:pt x="0" y="422402"/>
                </a:lnTo>
                <a:moveTo>
                  <a:pt x="0" y="456184"/>
                </a:moveTo>
                <a:lnTo>
                  <a:pt x="0" y="498475"/>
                </a:lnTo>
                <a:moveTo>
                  <a:pt x="0" y="532257"/>
                </a:moveTo>
                <a:lnTo>
                  <a:pt x="0" y="574421"/>
                </a:lnTo>
                <a:moveTo>
                  <a:pt x="0" y="608203"/>
                </a:moveTo>
                <a:lnTo>
                  <a:pt x="0" y="650494"/>
                </a:lnTo>
                <a:moveTo>
                  <a:pt x="0" y="684276"/>
                </a:moveTo>
                <a:lnTo>
                  <a:pt x="0" y="726440"/>
                </a:lnTo>
                <a:moveTo>
                  <a:pt x="0" y="760222"/>
                </a:moveTo>
                <a:lnTo>
                  <a:pt x="0" y="802513"/>
                </a:lnTo>
                <a:moveTo>
                  <a:pt x="0" y="836295"/>
                </a:moveTo>
                <a:lnTo>
                  <a:pt x="0" y="878586"/>
                </a:lnTo>
                <a:moveTo>
                  <a:pt x="0" y="912368"/>
                </a:moveTo>
                <a:lnTo>
                  <a:pt x="0" y="954532"/>
                </a:lnTo>
                <a:moveTo>
                  <a:pt x="0" y="988314"/>
                </a:moveTo>
                <a:lnTo>
                  <a:pt x="0" y="1030605"/>
                </a:lnTo>
                <a:moveTo>
                  <a:pt x="0" y="1064387"/>
                </a:moveTo>
                <a:lnTo>
                  <a:pt x="0" y="1106551"/>
                </a:lnTo>
                <a:moveTo>
                  <a:pt x="0" y="1140333"/>
                </a:moveTo>
                <a:lnTo>
                  <a:pt x="0" y="1182624"/>
                </a:lnTo>
                <a:moveTo>
                  <a:pt x="0" y="1216406"/>
                </a:moveTo>
                <a:lnTo>
                  <a:pt x="0" y="1258697"/>
                </a:lnTo>
                <a:moveTo>
                  <a:pt x="0" y="1292479"/>
                </a:moveTo>
                <a:lnTo>
                  <a:pt x="0" y="1334643"/>
                </a:lnTo>
                <a:moveTo>
                  <a:pt x="0" y="1368425"/>
                </a:moveTo>
                <a:lnTo>
                  <a:pt x="0" y="1410716"/>
                </a:lnTo>
                <a:moveTo>
                  <a:pt x="0" y="1444498"/>
                </a:moveTo>
                <a:lnTo>
                  <a:pt x="0" y="1486662"/>
                </a:lnTo>
                <a:moveTo>
                  <a:pt x="0" y="1520571"/>
                </a:moveTo>
                <a:lnTo>
                  <a:pt x="0" y="1562735"/>
                </a:lnTo>
                <a:moveTo>
                  <a:pt x="0" y="1596517"/>
                </a:moveTo>
                <a:lnTo>
                  <a:pt x="0" y="1638808"/>
                </a:lnTo>
                <a:moveTo>
                  <a:pt x="0" y="1672590"/>
                </a:moveTo>
                <a:lnTo>
                  <a:pt x="0" y="1714754"/>
                </a:lnTo>
                <a:moveTo>
                  <a:pt x="0" y="1748536"/>
                </a:moveTo>
                <a:lnTo>
                  <a:pt x="0" y="1790827"/>
                </a:lnTo>
                <a:moveTo>
                  <a:pt x="0" y="1824609"/>
                </a:moveTo>
                <a:lnTo>
                  <a:pt x="0" y="1866773"/>
                </a:lnTo>
                <a:moveTo>
                  <a:pt x="0" y="1900682"/>
                </a:moveTo>
                <a:lnTo>
                  <a:pt x="0" y="1942846"/>
                </a:lnTo>
                <a:moveTo>
                  <a:pt x="0" y="1976628"/>
                </a:moveTo>
                <a:lnTo>
                  <a:pt x="0" y="2018919"/>
                </a:lnTo>
                <a:moveTo>
                  <a:pt x="0" y="2052701"/>
                </a:moveTo>
                <a:lnTo>
                  <a:pt x="0" y="2094865"/>
                </a:lnTo>
                <a:moveTo>
                  <a:pt x="0" y="2128647"/>
                </a:moveTo>
                <a:lnTo>
                  <a:pt x="0" y="2170938"/>
                </a:lnTo>
                <a:moveTo>
                  <a:pt x="0" y="2204720"/>
                </a:moveTo>
                <a:lnTo>
                  <a:pt x="0" y="2247011"/>
                </a:lnTo>
                <a:moveTo>
                  <a:pt x="0" y="2280793"/>
                </a:moveTo>
                <a:lnTo>
                  <a:pt x="0" y="2322957"/>
                </a:lnTo>
                <a:moveTo>
                  <a:pt x="0" y="2356739"/>
                </a:moveTo>
                <a:lnTo>
                  <a:pt x="0" y="2399030"/>
                </a:lnTo>
                <a:moveTo>
                  <a:pt x="0" y="2432812"/>
                </a:moveTo>
                <a:lnTo>
                  <a:pt x="0" y="2474976"/>
                </a:lnTo>
                <a:moveTo>
                  <a:pt x="0" y="2508758"/>
                </a:moveTo>
                <a:lnTo>
                  <a:pt x="0" y="2551049"/>
                </a:lnTo>
                <a:moveTo>
                  <a:pt x="0" y="2584831"/>
                </a:moveTo>
                <a:lnTo>
                  <a:pt x="0" y="2627122"/>
                </a:lnTo>
                <a:moveTo>
                  <a:pt x="0" y="2660904"/>
                </a:moveTo>
                <a:lnTo>
                  <a:pt x="0" y="2703068"/>
                </a:lnTo>
                <a:moveTo>
                  <a:pt x="0" y="2736850"/>
                </a:moveTo>
                <a:lnTo>
                  <a:pt x="0" y="2779141"/>
                </a:lnTo>
              </a:path>
            </a:pathLst>
          </a:custGeom>
          <a:solidFill>
            <a:srgbClr val="000000">
              <a:alpha val="0"/>
            </a:srgbClr>
          </a:solidFill>
          <a:ln w="12700" cap="flat" cmpd="sng">
            <a:solidFill>
              <a:srgbClr val="CC0000">
                <a:alpha val="100000"/>
              </a:srgbClr>
            </a:solidFill>
            <a:prstDash val="solid"/>
            <a:miter lim="400000"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9" name="AutoShape 29"/>
          <p:cNvSpPr/>
          <p:nvPr/>
        </p:nvSpPr>
        <p:spPr>
          <a:xfrm>
            <a:off x="5807710" y="2764790"/>
            <a:ext cx="67310" cy="67310"/>
          </a:xfrm>
          <a:prstGeom prst="ellipse">
            <a:avLst/>
          </a:prstGeom>
          <a:solidFill>
            <a:srgbClr val="E8730C">
              <a:alpha val="100000"/>
            </a:srgbClr>
          </a:solidFill>
          <a:ln cap="flat" cmpd="sng">
            <a:solidFill>
              <a:srgbClr val="000000">
                <a:alpha val="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0" name="AutoShape 30"/>
          <p:cNvSpPr/>
          <p:nvPr/>
        </p:nvSpPr>
        <p:spPr>
          <a:xfrm>
            <a:off x="5892800" y="2514600"/>
            <a:ext cx="1828800" cy="571500"/>
          </a:xfrm>
          <a:prstGeom prst="roundRect">
            <a:avLst>
              <a:gd name="adj" fmla="val 15037"/>
            </a:avLst>
          </a:prstGeom>
          <a:solidFill>
            <a:srgbClr val="FFF8F0">
              <a:alpha val="100000"/>
            </a:srgbClr>
          </a:solidFill>
          <a:ln w="12700" cap="flat" cmpd="sng">
            <a:solidFill>
              <a:srgbClr val="E8730C">
                <a:alpha val="100000"/>
              </a:srgbClr>
            </a:solidFill>
            <a:prstDash val="solid"/>
            <a:miter lim="400000"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1" name="AutoShape 31"/>
          <p:cNvSpPr txBox="1"/>
          <p:nvPr/>
        </p:nvSpPr>
        <p:spPr>
          <a:xfrm>
            <a:off x="5977890" y="2540000"/>
            <a:ext cx="15875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000" b="0" i="0" u="none" strike="noStrike">
                <a:solidFill>
                  <a:srgbClr val="B3500A"/>
                </a:solidFill>
                <a:latin typeface="Noto Sans SC"/>
                <a:ea typeface="Noto Sans SC"/>
                <a:cs typeface="Noto Sans SC"/>
                <a:sym typeface="Noto Sans SC"/>
              </a:rPr>
              <a:t>投资者总超额（金额）最大</a:t>
            </a:r>
            <a:endParaRPr lang="en-US" sz="1100"/>
          </a:p>
        </p:txBody>
      </p:sp>
      <p:sp>
        <p:nvSpPr>
          <p:cNvPr id="32" name="AutoShape 32"/>
          <p:cNvSpPr txBox="1"/>
          <p:nvPr/>
        </p:nvSpPr>
        <p:spPr>
          <a:xfrm>
            <a:off x="5977890" y="2806700"/>
            <a:ext cx="137414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000" b="0" i="0" u="none" strike="noStrike">
                <a:solidFill>
                  <a:srgbClr val="B3500A"/>
                </a:solidFill>
                <a:latin typeface="Noto Sans SC"/>
                <a:ea typeface="Noto Sans SC"/>
                <a:cs typeface="Noto Sans SC"/>
                <a:sym typeface="Noto Sans SC"/>
              </a:rPr>
              <a:t>≈ 盈亏平衡容量的 44%</a:t>
            </a:r>
            <a:endParaRPr lang="en-US" sz="1100"/>
          </a:p>
        </p:txBody>
      </p:sp>
      <p:sp>
        <p:nvSpPr>
          <p:cNvPr id="33" name="Freeform 33"/>
          <p:cNvSpPr/>
          <p:nvPr/>
        </p:nvSpPr>
        <p:spPr>
          <a:xfrm>
            <a:off x="3556000" y="2564765"/>
            <a:ext cx="5080000" cy="2787523"/>
          </a:xfrm>
          <a:custGeom>
            <a:avLst/>
            <a:gdLst/>
            <a:ahLst/>
            <a:cxnLst/>
            <a:rect l="l" t="t" r="r" b="b"/>
            <a:pathLst>
              <a:path w="5080000" h="2787523">
                <a:moveTo>
                  <a:pt x="0" y="0"/>
                </a:moveTo>
                <a:lnTo>
                  <a:pt x="254000" y="623443"/>
                </a:lnTo>
                <a:lnTo>
                  <a:pt x="508000" y="880999"/>
                </a:lnTo>
                <a:lnTo>
                  <a:pt x="762000" y="1079500"/>
                </a:lnTo>
                <a:lnTo>
                  <a:pt x="1016000" y="1246759"/>
                </a:lnTo>
                <a:lnTo>
                  <a:pt x="1270000" y="1393698"/>
                </a:lnTo>
                <a:lnTo>
                  <a:pt x="1524000" y="1526413"/>
                </a:lnTo>
                <a:lnTo>
                  <a:pt x="1778000" y="1648841"/>
                </a:lnTo>
                <a:lnTo>
                  <a:pt x="2032000" y="1762887"/>
                </a:lnTo>
                <a:lnTo>
                  <a:pt x="2286000" y="1870202"/>
                </a:lnTo>
                <a:lnTo>
                  <a:pt x="2540000" y="1971548"/>
                </a:lnTo>
                <a:lnTo>
                  <a:pt x="2794000" y="2066925"/>
                </a:lnTo>
                <a:lnTo>
                  <a:pt x="3048000" y="2159000"/>
                </a:lnTo>
                <a:lnTo>
                  <a:pt x="3302000" y="2246884"/>
                </a:lnTo>
                <a:lnTo>
                  <a:pt x="3556000" y="2332228"/>
                </a:lnTo>
                <a:lnTo>
                  <a:pt x="3810000" y="2414143"/>
                </a:lnTo>
                <a:lnTo>
                  <a:pt x="4064000" y="2492756"/>
                </a:lnTo>
                <a:lnTo>
                  <a:pt x="4318000" y="2570353"/>
                </a:lnTo>
                <a:lnTo>
                  <a:pt x="4572000" y="2644775"/>
                </a:lnTo>
                <a:lnTo>
                  <a:pt x="4826000" y="2716530"/>
                </a:lnTo>
                <a:lnTo>
                  <a:pt x="5080000" y="2787523"/>
                </a:lnTo>
              </a:path>
            </a:pathLst>
          </a:custGeom>
          <a:solidFill>
            <a:srgbClr val="000000">
              <a:alpha val="0"/>
            </a:srgbClr>
          </a:solidFill>
          <a:ln w="25400" cap="flat" cmpd="sng">
            <a:solidFill>
              <a:srgbClr val="1A2E4B">
                <a:alpha val="100000"/>
              </a:srgbClr>
            </a:solidFill>
            <a:prstDash val="solid"/>
            <a:miter lim="400000"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4" name="Freeform 34"/>
          <p:cNvSpPr/>
          <p:nvPr/>
        </p:nvSpPr>
        <p:spPr>
          <a:xfrm>
            <a:off x="3556000" y="2797937"/>
            <a:ext cx="5080000" cy="2554351"/>
          </a:xfrm>
          <a:custGeom>
            <a:avLst/>
            <a:gdLst/>
            <a:ahLst/>
            <a:cxnLst/>
            <a:rect l="l" t="t" r="r" b="b"/>
            <a:pathLst>
              <a:path w="5080000" h="2554351">
                <a:moveTo>
                  <a:pt x="0" y="2554351"/>
                </a:moveTo>
                <a:lnTo>
                  <a:pt x="254000" y="1884553"/>
                </a:lnTo>
                <a:lnTo>
                  <a:pt x="508000" y="1375156"/>
                </a:lnTo>
                <a:lnTo>
                  <a:pt x="762000" y="968883"/>
                </a:lnTo>
                <a:lnTo>
                  <a:pt x="1016000" y="647065"/>
                </a:lnTo>
                <a:lnTo>
                  <a:pt x="1270000" y="397891"/>
                </a:lnTo>
                <a:lnTo>
                  <a:pt x="1524000" y="213741"/>
                </a:lnTo>
                <a:lnTo>
                  <a:pt x="1778000" y="90424"/>
                </a:lnTo>
                <a:lnTo>
                  <a:pt x="2032000" y="19431"/>
                </a:lnTo>
                <a:lnTo>
                  <a:pt x="2286000" y="0"/>
                </a:lnTo>
                <a:lnTo>
                  <a:pt x="2540000" y="29591"/>
                </a:lnTo>
                <a:lnTo>
                  <a:pt x="2794000" y="103886"/>
                </a:lnTo>
                <a:lnTo>
                  <a:pt x="3048000" y="222123"/>
                </a:lnTo>
                <a:lnTo>
                  <a:pt x="3302000" y="381762"/>
                </a:lnTo>
                <a:lnTo>
                  <a:pt x="3556000" y="582041"/>
                </a:lnTo>
                <a:lnTo>
                  <a:pt x="3810000" y="821055"/>
                </a:lnTo>
                <a:lnTo>
                  <a:pt x="4064000" y="1096391"/>
                </a:lnTo>
                <a:lnTo>
                  <a:pt x="4318000" y="1410589"/>
                </a:lnTo>
                <a:lnTo>
                  <a:pt x="4572000" y="1757807"/>
                </a:lnTo>
                <a:lnTo>
                  <a:pt x="4826000" y="2139569"/>
                </a:lnTo>
                <a:lnTo>
                  <a:pt x="5080000" y="2554351"/>
                </a:lnTo>
              </a:path>
            </a:pathLst>
          </a:custGeom>
          <a:solidFill>
            <a:srgbClr val="000000">
              <a:alpha val="0"/>
            </a:srgbClr>
          </a:solidFill>
          <a:ln w="25400" cap="flat" cmpd="sng">
            <a:solidFill>
              <a:srgbClr val="E8730C">
                <a:alpha val="100000"/>
              </a:srgbClr>
            </a:solidFill>
            <a:prstDash val="solid"/>
            <a:miter lim="400000"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</p:spTree>
    <p:custDataLst>
      <p:tags r:id="rId1"/>
    </p:custData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7F2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8890000" y="4267200"/>
            <a:ext cx="2590800" cy="2590800"/>
          </a:xfrm>
          <a:prstGeom prst="ellipse">
            <a:avLst/>
          </a:prstGeom>
          <a:solidFill>
            <a:srgbClr val="1A2E4B">
              <a:alpha val="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1016000" y="711200"/>
            <a:ext cx="609600" cy="381000"/>
          </a:xfrm>
          <a:prstGeom prst="roundRect">
            <a:avLst>
              <a:gd name="adj" fmla="val 20000"/>
            </a:avLst>
          </a:prstGeom>
          <a:solidFill>
            <a:srgbClr val="1A2E4B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" name="AutoShape 4"/>
          <p:cNvSpPr txBox="1"/>
          <p:nvPr/>
        </p:nvSpPr>
        <p:spPr>
          <a:xfrm>
            <a:off x="1778000" y="736600"/>
            <a:ext cx="3556000" cy="330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00" b="0" i="0" u="none" strike="noStrike">
                <a:solidFill>
                  <a:srgbClr val="788CAA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数字示意</a:t>
            </a:r>
            <a:endParaRPr lang="en-US" sz="1100"/>
          </a:p>
        </p:txBody>
      </p:sp>
      <p:sp>
        <p:nvSpPr>
          <p:cNvPr id="5" name="AutoShape 5"/>
          <p:cNvSpPr txBox="1"/>
          <p:nvPr/>
        </p:nvSpPr>
        <p:spPr>
          <a:xfrm>
            <a:off x="1016000" y="711200"/>
            <a:ext cx="6096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FFFFFF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07</a:t>
            </a:r>
            <a:endParaRPr lang="en-US" sz="1100"/>
          </a:p>
        </p:txBody>
      </p:sp>
      <p:sp>
        <p:nvSpPr>
          <p:cNvPr id="6" name="AutoShape 6"/>
          <p:cNvSpPr txBox="1"/>
          <p:nvPr/>
        </p:nvSpPr>
        <p:spPr>
          <a:xfrm>
            <a:off x="1270000" y="2489200"/>
            <a:ext cx="9652000" cy="1371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16666"/>
              </a:lnSpc>
              <a:defRPr/>
            </a:pPr>
            <a:r>
              <a:rPr lang="en-US" sz="3800" b="1" i="0" u="none" strike="noStrike">
                <a:solidFill>
                  <a:srgbClr val="1A2E4B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规模翻五倍，冲击成本涨约2.2倍</a:t>
            </a:r>
            <a:endParaRPr lang="en-US" sz="1100"/>
          </a:p>
        </p:txBody>
      </p:sp>
      <p:cxnSp>
        <p:nvCxnSpPr>
          <p:cNvPr id="7" name="Connector 7"/>
          <p:cNvCxnSpPr/>
          <p:nvPr/>
        </p:nvCxnSpPr>
        <p:spPr>
          <a:xfrm rot="-42969">
            <a:off x="5588040" y="4464050"/>
            <a:ext cx="1016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63500" cap="flat" cmpd="sng">
            <a:solidFill>
              <a:srgbClr val="E8720C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</p:spTree>
    <p:custDataLst>
      <p:tags r:id="rId1"/>
    </p:custData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7F2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8890000" y="4267200"/>
            <a:ext cx="2590800" cy="2590800"/>
          </a:xfrm>
          <a:prstGeom prst="ellipse">
            <a:avLst/>
          </a:prstGeom>
          <a:solidFill>
            <a:srgbClr val="1A2E4B">
              <a:alpha val="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1016000" y="711200"/>
            <a:ext cx="609600" cy="381000"/>
          </a:xfrm>
          <a:prstGeom prst="roundRect">
            <a:avLst>
              <a:gd name="adj" fmla="val 20000"/>
            </a:avLst>
          </a:prstGeom>
          <a:solidFill>
            <a:srgbClr val="1A2E4B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" name="AutoShape 4"/>
          <p:cNvSpPr txBox="1"/>
          <p:nvPr/>
        </p:nvSpPr>
        <p:spPr>
          <a:xfrm>
            <a:off x="1778000" y="736600"/>
            <a:ext cx="3556000" cy="330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00" b="0" i="0" u="none" strike="noStrike">
                <a:solidFill>
                  <a:srgbClr val="788CAA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决定变量</a:t>
            </a:r>
            <a:endParaRPr lang="en-US" sz="1100"/>
          </a:p>
        </p:txBody>
      </p:sp>
      <p:sp>
        <p:nvSpPr>
          <p:cNvPr id="5" name="AutoShape 5"/>
          <p:cNvSpPr txBox="1"/>
          <p:nvPr/>
        </p:nvSpPr>
        <p:spPr>
          <a:xfrm>
            <a:off x="1016000" y="711200"/>
            <a:ext cx="6096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FFFFFF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08</a:t>
            </a:r>
            <a:endParaRPr lang="en-US" sz="1100"/>
          </a:p>
        </p:txBody>
      </p:sp>
      <p:sp>
        <p:nvSpPr>
          <p:cNvPr id="6" name="AutoShape 6"/>
          <p:cNvSpPr txBox="1"/>
          <p:nvPr/>
        </p:nvSpPr>
        <p:spPr>
          <a:xfrm>
            <a:off x="1270000" y="2489200"/>
            <a:ext cx="9652000" cy="1371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16666"/>
              </a:lnSpc>
              <a:defRPr/>
            </a:pPr>
            <a:r>
              <a:rPr lang="en-US" sz="3800" b="1" i="0" u="none" strike="noStrike">
                <a:solidFill>
                  <a:srgbClr val="1A2E4B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换手、流动性、集中度决定容量</a:t>
            </a:r>
            <a:endParaRPr lang="en-US" sz="1100"/>
          </a:p>
        </p:txBody>
      </p:sp>
      <p:cxnSp>
        <p:nvCxnSpPr>
          <p:cNvPr id="7" name="Connector 7"/>
          <p:cNvCxnSpPr/>
          <p:nvPr/>
        </p:nvCxnSpPr>
        <p:spPr>
          <a:xfrm rot="-42969">
            <a:off x="5588040" y="4464050"/>
            <a:ext cx="1016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63500" cap="flat" cmpd="sng">
            <a:solidFill>
              <a:srgbClr val="E8720C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</p:spTree>
    <p:custDataLst>
      <p:tags r:id="rId1"/>
    </p:custData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7F2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8890000" y="4267200"/>
            <a:ext cx="2590800" cy="2590800"/>
          </a:xfrm>
          <a:prstGeom prst="ellipse">
            <a:avLst/>
          </a:prstGeom>
          <a:solidFill>
            <a:srgbClr val="1A2E4B">
              <a:alpha val="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1016000" y="711200"/>
            <a:ext cx="609600" cy="381000"/>
          </a:xfrm>
          <a:prstGeom prst="roundRect">
            <a:avLst>
              <a:gd name="adj" fmla="val 20000"/>
            </a:avLst>
          </a:prstGeom>
          <a:solidFill>
            <a:srgbClr val="1A2E4B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" name="AutoShape 4"/>
          <p:cNvSpPr txBox="1"/>
          <p:nvPr/>
        </p:nvSpPr>
        <p:spPr>
          <a:xfrm>
            <a:off x="1778000" y="736600"/>
            <a:ext cx="3556000" cy="330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00" b="0" i="0" u="none" strike="noStrike">
                <a:solidFill>
                  <a:srgbClr val="788CAA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策略量级</a:t>
            </a:r>
            <a:endParaRPr lang="en-US" sz="1100"/>
          </a:p>
        </p:txBody>
      </p:sp>
      <p:sp>
        <p:nvSpPr>
          <p:cNvPr id="5" name="AutoShape 5"/>
          <p:cNvSpPr txBox="1"/>
          <p:nvPr/>
        </p:nvSpPr>
        <p:spPr>
          <a:xfrm>
            <a:off x="1016000" y="711200"/>
            <a:ext cx="6096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FFFFFF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09</a:t>
            </a:r>
            <a:endParaRPr lang="en-US" sz="1100"/>
          </a:p>
        </p:txBody>
      </p:sp>
      <p:sp>
        <p:nvSpPr>
          <p:cNvPr id="6" name="AutoShape 6"/>
          <p:cNvSpPr txBox="1"/>
          <p:nvPr/>
        </p:nvSpPr>
        <p:spPr>
          <a:xfrm>
            <a:off x="1270000" y="2489200"/>
            <a:ext cx="9652000" cy="1371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16666"/>
              </a:lnSpc>
              <a:defRPr/>
            </a:pPr>
            <a:r>
              <a:rPr lang="en-US" sz="3800" b="1" i="0" u="none" strike="noStrike">
                <a:solidFill>
                  <a:srgbClr val="1A2E4B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高频几亿，大盘低换手可达数百亿</a:t>
            </a:r>
            <a:endParaRPr lang="en-US" sz="1100"/>
          </a:p>
        </p:txBody>
      </p:sp>
      <p:cxnSp>
        <p:nvCxnSpPr>
          <p:cNvPr id="7" name="Connector 7"/>
          <p:cNvCxnSpPr/>
          <p:nvPr/>
        </p:nvCxnSpPr>
        <p:spPr>
          <a:xfrm rot="-42969">
            <a:off x="5588040" y="4464050"/>
            <a:ext cx="1016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63500" cap="flat" cmpd="sng">
            <a:solidFill>
              <a:srgbClr val="E8720C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</p:spTree>
    <p:custDataLst>
      <p:tags r:id="rId1"/>
    </p:custData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7F2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 txBox="1"/>
          <p:nvPr/>
        </p:nvSpPr>
        <p:spPr>
          <a:xfrm>
            <a:off x="1016000" y="711200"/>
            <a:ext cx="3810000" cy="457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0" i="0" u="none" strike="noStrike">
                <a:solidFill>
                  <a:srgbClr val="788CAA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参考 · 各类策略典型容量</a:t>
            </a:r>
            <a:endParaRPr lang="en-US" sz="1100"/>
          </a:p>
        </p:txBody>
      </p:sp>
      <p:sp>
        <p:nvSpPr>
          <p:cNvPr id="3" name="AutoShape 3"/>
          <p:cNvSpPr txBox="1"/>
          <p:nvPr/>
        </p:nvSpPr>
        <p:spPr>
          <a:xfrm>
            <a:off x="1270000" y="1371600"/>
            <a:ext cx="9652000" cy="660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08333"/>
              </a:lnSpc>
              <a:defRPr/>
            </a:pPr>
            <a:r>
              <a:rPr lang="en-US" sz="3000" b="1" i="0" u="none" strike="noStrike">
                <a:solidFill>
                  <a:srgbClr val="1A2E4B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换手越高、股票越小，容量越小</a:t>
            </a:r>
            <a:endParaRPr lang="en-US" sz="1100"/>
          </a:p>
        </p:txBody>
      </p:sp>
      <p:graphicFrame>
        <p:nvGraphicFramePr>
          <p:cNvPr id="4" name="Table 4"/>
          <p:cNvGraphicFramePr>
            <a:graphicFrameLocks noGrp="1"/>
          </p:cNvGraphicFramePr>
          <p:nvPr/>
        </p:nvGraphicFramePr>
        <p:xfrm>
          <a:off x="1778000" y="2540000"/>
          <a:ext cx="8636000" cy="3835400"/>
        </p:xfrm>
        <a:graphic>
          <a:graphicData uri="http://schemas.openxmlformats.org/drawingml/2006/table">
            <a:tbl>
              <a:tblPr>
                <a:effectLst/>
              </a:tblPr>
              <a:tblGrid>
                <a:gridCol w="482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1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84200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600" b="1" i="0" u="none" strike="noStrike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策略类型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A2E4B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600" b="1" i="0" u="none" strike="noStrike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典型容量（经验值）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A2E4B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47700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500" b="0" i="0" u="none" strike="noStrike">
                          <a:solidFill>
                            <a:srgbClr val="1A2E4B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高频 / 日内 T0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500" b="1" i="0" u="none" strike="noStrike">
                          <a:solidFill>
                            <a:srgbClr val="E8720C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几亿到十几亿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47700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500" b="0" i="0" u="none" strike="noStrike">
                          <a:solidFill>
                            <a:srgbClr val="1A2E4B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打新增强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5F0E8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500" b="1" i="0" u="none" strike="noStrike">
                          <a:solidFill>
                            <a:srgbClr val="E8720C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几亿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5F0E8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47700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500" b="0" i="0" u="none" strike="noStrike">
                          <a:solidFill>
                            <a:srgbClr val="1A2E4B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中频量化选股 / 指增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500" b="1" i="0" u="none" strike="noStrike">
                          <a:solidFill>
                            <a:srgbClr val="E8720C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几十亿到百亿级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47700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500" b="0" i="0" u="none" strike="noStrike">
                          <a:solidFill>
                            <a:srgbClr val="1A2E4B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主观成长、中小盘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5F0E8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500" b="1" i="0" u="none" strike="noStrike">
                          <a:solidFill>
                            <a:srgbClr val="E8720C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几十亿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5F0E8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60400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500" b="0" i="0" u="none" strike="noStrike">
                          <a:solidFill>
                            <a:srgbClr val="1A2E4B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主观价值、大盘、低换手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500" b="1" i="0" u="none" strike="noStrike">
                          <a:solidFill>
                            <a:srgbClr val="E8720C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几百亿甚至更高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" name="AutoShape 5"/>
          <p:cNvSpPr txBox="1"/>
          <p:nvPr/>
        </p:nvSpPr>
        <p:spPr>
          <a:xfrm>
            <a:off x="1778000" y="6502400"/>
            <a:ext cx="8636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100" b="0" i="0" u="none" strike="noStrike">
                <a:solidFill>
                  <a:srgbClr val="788CAA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经验量级，还取决于全市场同类规模与个股流动性；来源：策略容量：衡量方法与真实基金案例</a:t>
            </a:r>
            <a:endParaRPr lang="en-US" sz="1100"/>
          </a:p>
        </p:txBody>
      </p:sp>
    </p:spTree>
    <p:custDataLst>
      <p:tags r:id="rId1"/>
    </p:custData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7F2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8890000" y="4267200"/>
            <a:ext cx="2590800" cy="2590800"/>
          </a:xfrm>
          <a:prstGeom prst="ellipse">
            <a:avLst/>
          </a:prstGeom>
          <a:solidFill>
            <a:srgbClr val="1A2E4B">
              <a:alpha val="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1016000" y="711200"/>
            <a:ext cx="609600" cy="381000"/>
          </a:xfrm>
          <a:prstGeom prst="roundRect">
            <a:avLst>
              <a:gd name="adj" fmla="val 20000"/>
            </a:avLst>
          </a:prstGeom>
          <a:solidFill>
            <a:srgbClr val="1A2E4B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" name="AutoShape 4"/>
          <p:cNvSpPr txBox="1"/>
          <p:nvPr/>
        </p:nvSpPr>
        <p:spPr>
          <a:xfrm>
            <a:off x="1778000" y="736600"/>
            <a:ext cx="3556000" cy="330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00" b="0" i="0" u="none" strike="noStrike">
                <a:solidFill>
                  <a:srgbClr val="788CAA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主观基金</a:t>
            </a:r>
            <a:endParaRPr lang="en-US" sz="1100"/>
          </a:p>
        </p:txBody>
      </p:sp>
      <p:sp>
        <p:nvSpPr>
          <p:cNvPr id="5" name="AutoShape 5"/>
          <p:cNvSpPr txBox="1"/>
          <p:nvPr/>
        </p:nvSpPr>
        <p:spPr>
          <a:xfrm>
            <a:off x="1016000" y="711200"/>
            <a:ext cx="6096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FFFFFF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10</a:t>
            </a:r>
            <a:endParaRPr lang="en-US" sz="1100"/>
          </a:p>
        </p:txBody>
      </p:sp>
      <p:sp>
        <p:nvSpPr>
          <p:cNvPr id="6" name="AutoShape 6"/>
          <p:cNvSpPr txBox="1"/>
          <p:nvPr/>
        </p:nvSpPr>
        <p:spPr>
          <a:xfrm>
            <a:off x="1270000" y="2489200"/>
            <a:ext cx="9652000" cy="1371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16666"/>
              </a:lnSpc>
              <a:defRPr/>
            </a:pPr>
            <a:r>
              <a:rPr lang="en-US" sz="3800" b="1" i="0" u="none" strike="noStrike">
                <a:solidFill>
                  <a:srgbClr val="1A2E4B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规模膨胀，会让策略本身发生改变</a:t>
            </a:r>
            <a:endParaRPr lang="en-US" sz="1100"/>
          </a:p>
        </p:txBody>
      </p:sp>
      <p:cxnSp>
        <p:nvCxnSpPr>
          <p:cNvPr id="7" name="Connector 7"/>
          <p:cNvCxnSpPr/>
          <p:nvPr/>
        </p:nvCxnSpPr>
        <p:spPr>
          <a:xfrm rot="-42969">
            <a:off x="5588040" y="4464050"/>
            <a:ext cx="1016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63500" cap="flat" cmpd="sng">
            <a:solidFill>
              <a:srgbClr val="E8720C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</p:spTree>
    <p:custDataLst>
      <p:tags r:id="rId1"/>
    </p:custData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7F2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8890000" y="4267200"/>
            <a:ext cx="2590800" cy="2590800"/>
          </a:xfrm>
          <a:prstGeom prst="ellipse">
            <a:avLst/>
          </a:prstGeom>
          <a:solidFill>
            <a:srgbClr val="1A2E4B">
              <a:alpha val="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1016000" y="711200"/>
            <a:ext cx="609600" cy="381000"/>
          </a:xfrm>
          <a:prstGeom prst="roundRect">
            <a:avLst>
              <a:gd name="adj" fmla="val 20000"/>
            </a:avLst>
          </a:prstGeom>
          <a:solidFill>
            <a:srgbClr val="1A2E4B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" name="AutoShape 4"/>
          <p:cNvSpPr txBox="1"/>
          <p:nvPr/>
        </p:nvSpPr>
        <p:spPr>
          <a:xfrm>
            <a:off x="1778000" y="736600"/>
            <a:ext cx="3556000" cy="330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00" b="0" i="0" u="none" strike="noStrike">
                <a:solidFill>
                  <a:srgbClr val="788CAA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界定目标</a:t>
            </a:r>
            <a:endParaRPr lang="en-US" sz="1100"/>
          </a:p>
        </p:txBody>
      </p:sp>
      <p:sp>
        <p:nvSpPr>
          <p:cNvPr id="5" name="AutoShape 5"/>
          <p:cNvSpPr txBox="1"/>
          <p:nvPr/>
        </p:nvSpPr>
        <p:spPr>
          <a:xfrm>
            <a:off x="1016000" y="711200"/>
            <a:ext cx="6096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FFFFFF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11</a:t>
            </a:r>
            <a:endParaRPr lang="en-US" sz="1100"/>
          </a:p>
        </p:txBody>
      </p:sp>
      <p:sp>
        <p:nvSpPr>
          <p:cNvPr id="6" name="AutoShape 6"/>
          <p:cNvSpPr txBox="1"/>
          <p:nvPr/>
        </p:nvSpPr>
        <p:spPr>
          <a:xfrm>
            <a:off x="1270000" y="2489200"/>
            <a:ext cx="9652000" cy="1371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16666"/>
              </a:lnSpc>
              <a:defRPr/>
            </a:pPr>
            <a:r>
              <a:rPr lang="en-US" sz="3800" b="1" i="0" u="none" strike="noStrike">
                <a:solidFill>
                  <a:srgbClr val="1A2E4B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先定保住多少收益，再估计容量</a:t>
            </a:r>
            <a:endParaRPr lang="en-US" sz="1100"/>
          </a:p>
        </p:txBody>
      </p:sp>
      <p:cxnSp>
        <p:nvCxnSpPr>
          <p:cNvPr id="7" name="Connector 7"/>
          <p:cNvCxnSpPr/>
          <p:nvPr/>
        </p:nvCxnSpPr>
        <p:spPr>
          <a:xfrm rot="-42969">
            <a:off x="5588040" y="4464050"/>
            <a:ext cx="1016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63500" cap="flat" cmpd="sng">
            <a:solidFill>
              <a:srgbClr val="E8720C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</p:spTree>
    <p:custDataLst>
      <p:tags r:id="rId1"/>
    </p:custData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7F2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8890000" y="4267200"/>
            <a:ext cx="2590800" cy="2590800"/>
          </a:xfrm>
          <a:prstGeom prst="ellipse">
            <a:avLst/>
          </a:prstGeom>
          <a:solidFill>
            <a:srgbClr val="1A2E4B">
              <a:alpha val="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1016000" y="711200"/>
            <a:ext cx="609600" cy="381000"/>
          </a:xfrm>
          <a:prstGeom prst="roundRect">
            <a:avLst>
              <a:gd name="adj" fmla="val 20000"/>
            </a:avLst>
          </a:prstGeom>
          <a:solidFill>
            <a:srgbClr val="1A2E4B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" name="AutoShape 4"/>
          <p:cNvSpPr txBox="1"/>
          <p:nvPr/>
        </p:nvSpPr>
        <p:spPr>
          <a:xfrm>
            <a:off x="1778000" y="736600"/>
            <a:ext cx="3556000" cy="330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00" b="0" i="0" u="none" strike="noStrike">
                <a:solidFill>
                  <a:srgbClr val="788CAA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交易天数</a:t>
            </a:r>
            <a:endParaRPr lang="en-US" sz="1100"/>
          </a:p>
        </p:txBody>
      </p:sp>
      <p:sp>
        <p:nvSpPr>
          <p:cNvPr id="5" name="AutoShape 5"/>
          <p:cNvSpPr txBox="1"/>
          <p:nvPr/>
        </p:nvSpPr>
        <p:spPr>
          <a:xfrm>
            <a:off x="1016000" y="711200"/>
            <a:ext cx="6096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FFFFFF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12</a:t>
            </a:r>
            <a:endParaRPr lang="en-US" sz="1100"/>
          </a:p>
        </p:txBody>
      </p:sp>
      <p:sp>
        <p:nvSpPr>
          <p:cNvPr id="6" name="AutoShape 6"/>
          <p:cNvSpPr txBox="1"/>
          <p:nvPr/>
        </p:nvSpPr>
        <p:spPr>
          <a:xfrm>
            <a:off x="1270000" y="2489200"/>
            <a:ext cx="9652000" cy="1371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16666"/>
              </a:lnSpc>
              <a:defRPr/>
            </a:pPr>
            <a:r>
              <a:rPr lang="en-US" sz="3800" b="1" i="0" u="none" strike="noStrike">
                <a:solidFill>
                  <a:srgbClr val="1A2E4B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按参与率反推卖出天数与规模上限</a:t>
            </a:r>
            <a:endParaRPr lang="en-US" sz="1100"/>
          </a:p>
        </p:txBody>
      </p:sp>
      <p:cxnSp>
        <p:nvCxnSpPr>
          <p:cNvPr id="7" name="Connector 7"/>
          <p:cNvCxnSpPr/>
          <p:nvPr/>
        </p:nvCxnSpPr>
        <p:spPr>
          <a:xfrm rot="-42969">
            <a:off x="5588040" y="4464050"/>
            <a:ext cx="1016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63500" cap="flat" cmpd="sng">
            <a:solidFill>
              <a:srgbClr val="E8720C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</p:spTree>
    <p:custDataLst>
      <p:tags r:id="rId1"/>
    </p:custData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7F2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 txBox="1"/>
          <p:nvPr/>
        </p:nvSpPr>
        <p:spPr>
          <a:xfrm>
            <a:off x="1016000" y="711200"/>
            <a:ext cx="3810000" cy="457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0" i="0" u="none" strike="noStrike">
                <a:solidFill>
                  <a:srgbClr val="788CAA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参考 · 合成算例：卖出天数</a:t>
            </a:r>
            <a:endParaRPr lang="en-US" sz="1100"/>
          </a:p>
        </p:txBody>
      </p:sp>
      <p:sp>
        <p:nvSpPr>
          <p:cNvPr id="3" name="AutoShape 3"/>
          <p:cNvSpPr txBox="1"/>
          <p:nvPr/>
        </p:nvSpPr>
        <p:spPr>
          <a:xfrm>
            <a:off x="1270000" y="1371600"/>
            <a:ext cx="9652000" cy="660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08333"/>
              </a:lnSpc>
              <a:defRPr/>
            </a:pPr>
            <a:r>
              <a:rPr lang="en-US" sz="3000" b="1" i="0" u="none" strike="noStrike">
                <a:solidFill>
                  <a:srgbClr val="1A2E4B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规模越大，清仓需要的交易日越多</a:t>
            </a:r>
            <a:endParaRPr lang="en-US" sz="1100"/>
          </a:p>
        </p:txBody>
      </p:sp>
      <p:graphicFrame>
        <p:nvGraphicFramePr>
          <p:cNvPr id="4" name="Table 4"/>
          <p:cNvGraphicFramePr>
            <a:graphicFrameLocks noGrp="1"/>
          </p:cNvGraphicFramePr>
          <p:nvPr/>
        </p:nvGraphicFramePr>
        <p:xfrm>
          <a:off x="1524000" y="2590800"/>
          <a:ext cx="9144000" cy="2692400"/>
        </p:xfrm>
        <a:graphic>
          <a:graphicData uri="http://schemas.openxmlformats.org/drawingml/2006/table">
            <a:tbl>
              <a:tblPr>
                <a:effectLst/>
              </a:tblPr>
              <a:tblGrid>
                <a:gridCol w="203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13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413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609600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500" b="1" i="0" u="none" strike="noStrike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基金规模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A2E4B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500" b="1" i="0" u="none" strike="noStrike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对应股票持仓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A2E4B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500" b="1" i="0" u="none" strike="noStrike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全部卖出需时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A2E4B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500" b="1" i="0" u="none" strike="noStrike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卖出一半需时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A2E4B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500" b="0" i="0" u="none" strike="noStrike">
                          <a:solidFill>
                            <a:srgbClr val="1A2E4B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10 亿元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500" b="0" i="0" u="none" strike="noStrike">
                          <a:solidFill>
                            <a:srgbClr val="1A2E4B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5000 万元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500" b="1" i="0" u="none" strike="noStrike">
                          <a:solidFill>
                            <a:srgbClr val="E8720C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10 个交易日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500" b="0" i="0" u="none" strike="noStrike">
                          <a:solidFill>
                            <a:srgbClr val="5A6982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5 个交易日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500" b="0" i="0" u="none" strike="noStrike">
                          <a:solidFill>
                            <a:srgbClr val="1A2E4B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50 亿元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5F0E8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500" b="0" i="0" u="none" strike="noStrike">
                          <a:solidFill>
                            <a:srgbClr val="1A2E4B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2.5 亿元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5F0E8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500" b="1" i="0" u="none" strike="noStrike">
                          <a:solidFill>
                            <a:srgbClr val="E8720C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50 个交易日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5F0E8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500" b="0" i="0" u="none" strike="noStrike">
                          <a:solidFill>
                            <a:srgbClr val="5A6982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25 个交易日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5F0E8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11200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500" b="0" i="0" u="none" strike="noStrike">
                          <a:solidFill>
                            <a:srgbClr val="1A2E4B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100 亿元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500" b="0" i="0" u="none" strike="noStrike">
                          <a:solidFill>
                            <a:srgbClr val="1A2E4B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5 亿元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500" b="1" i="0" u="none" strike="noStrike">
                          <a:solidFill>
                            <a:srgbClr val="E8720C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100 个交易日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500" b="0" i="0" u="none" strike="noStrike">
                          <a:solidFill>
                            <a:srgbClr val="5A6982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50 个交易日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5" name="AutoShape 5"/>
          <p:cNvSpPr txBox="1"/>
          <p:nvPr/>
        </p:nvSpPr>
        <p:spPr>
          <a:xfrm>
            <a:off x="1524000" y="5969000"/>
            <a:ext cx="9144000" cy="558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16666"/>
              </a:lnSpc>
              <a:defRPr/>
            </a:pPr>
            <a:r>
              <a:rPr lang="en-US" sz="1100" b="0" i="0" u="none" strike="noStrike">
                <a:solidFill>
                  <a:srgbClr val="788CAA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假设：个股日均成交 5000 万元，单日参与率 10%（每天最多成交 500 万元），基金持有该股 5%；合成算例，未计价格变化。来源：策略容量：衡量方法与真实基金案例</a:t>
            </a:r>
            <a:endParaRPr lang="en-US" sz="1100"/>
          </a:p>
        </p:txBody>
      </p:sp>
    </p:spTree>
    <p:custDataLst>
      <p:tags r:id="rId1"/>
    </p:custData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7F2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8890000" y="4267200"/>
            <a:ext cx="2590800" cy="2590800"/>
          </a:xfrm>
          <a:prstGeom prst="ellipse">
            <a:avLst/>
          </a:prstGeom>
          <a:solidFill>
            <a:srgbClr val="1A2E4B">
              <a:alpha val="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1016000" y="711200"/>
            <a:ext cx="609600" cy="381000"/>
          </a:xfrm>
          <a:prstGeom prst="roundRect">
            <a:avLst>
              <a:gd name="adj" fmla="val 20000"/>
            </a:avLst>
          </a:prstGeom>
          <a:solidFill>
            <a:srgbClr val="1A2E4B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" name="AutoShape 4"/>
          <p:cNvSpPr txBox="1"/>
          <p:nvPr/>
        </p:nvSpPr>
        <p:spPr>
          <a:xfrm>
            <a:off x="1778000" y="736600"/>
            <a:ext cx="3556000" cy="330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00" b="0" i="0" u="none" strike="noStrike">
                <a:solidFill>
                  <a:srgbClr val="788CAA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是否值得做</a:t>
            </a:r>
            <a:endParaRPr lang="en-US" sz="1100"/>
          </a:p>
        </p:txBody>
      </p:sp>
      <p:sp>
        <p:nvSpPr>
          <p:cNvPr id="5" name="AutoShape 5"/>
          <p:cNvSpPr txBox="1"/>
          <p:nvPr/>
        </p:nvSpPr>
        <p:spPr>
          <a:xfrm>
            <a:off x="1016000" y="711200"/>
            <a:ext cx="6096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FFFFFF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13</a:t>
            </a:r>
            <a:endParaRPr lang="en-US" sz="1100"/>
          </a:p>
        </p:txBody>
      </p:sp>
      <p:sp>
        <p:nvSpPr>
          <p:cNvPr id="6" name="AutoShape 6"/>
          <p:cNvSpPr txBox="1"/>
          <p:nvPr/>
        </p:nvSpPr>
        <p:spPr>
          <a:xfrm>
            <a:off x="1270000" y="2489200"/>
            <a:ext cx="9652000" cy="1371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16666"/>
              </a:lnSpc>
              <a:defRPr/>
            </a:pPr>
            <a:r>
              <a:rPr lang="en-US" sz="3800" b="1" i="0" u="none" strike="noStrike">
                <a:solidFill>
                  <a:srgbClr val="1A2E4B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扣完成本费用，净超额为正才值得</a:t>
            </a:r>
            <a:endParaRPr lang="en-US" sz="1100"/>
          </a:p>
        </p:txBody>
      </p:sp>
      <p:cxnSp>
        <p:nvCxnSpPr>
          <p:cNvPr id="7" name="Connector 7"/>
          <p:cNvCxnSpPr/>
          <p:nvPr/>
        </p:nvCxnSpPr>
        <p:spPr>
          <a:xfrm rot="-42969">
            <a:off x="5588040" y="4464050"/>
            <a:ext cx="1016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63500" cap="flat" cmpd="sng">
            <a:solidFill>
              <a:srgbClr val="E8720C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pic>
        <p:nvPicPr>
          <p:cNvPr id="8" name="Picture 8" descr="主动基金策略容量课件页脚标识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668000" y="6318250"/>
            <a:ext cx="1524000" cy="539750"/>
          </a:xfrm>
          <a:prstGeom prst="rect">
            <a:avLst/>
          </a:prstGeom>
        </p:spPr>
      </p:pic>
    </p:spTree>
    <p:custDataLst>
      <p:tags r:id="rId1"/>
    </p:custData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7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000" name="Eyebrow"/>
          <p:cNvSpPr/>
          <p:nvPr/>
        </p:nvSpPr>
        <p:spPr>
          <a:xfrm>
            <a:off x="1016000" y="635000"/>
            <a:ext cx="6350000" cy="381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/>
            <a:r>
              <a:rPr lang="en-US" sz="1800" b="0">
                <a:solidFill>
                  <a:srgbClr val="788CAA"/>
                </a:solidFill>
                <a:latin typeface="Microsoft YaHei"/>
                <a:ea typeface="Microsoft YaHei"/>
              </a:rPr>
              <a:t>扩展 · 三种口径</a:t>
            </a:r>
          </a:p>
        </p:txBody>
      </p:sp>
      <p:sp>
        <p:nvSpPr>
          <p:cNvPr id="100001" name="Title"/>
          <p:cNvSpPr/>
          <p:nvPr/>
        </p:nvSpPr>
        <p:spPr>
          <a:xfrm>
            <a:off x="1016000" y="1219200"/>
            <a:ext cx="10160000" cy="762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ctr"/>
            <a:r>
              <a:rPr lang="en-US" sz="3600" b="1">
                <a:solidFill>
                  <a:srgbClr val="1A2E4B"/>
                </a:solidFill>
                <a:latin typeface="Microsoft YaHei"/>
                <a:ea typeface="Microsoft YaHei"/>
              </a:rPr>
              <a:t>容量口径：保收益、总超额或盈亏平衡</a:t>
            </a:r>
          </a:p>
        </p:txBody>
      </p:sp>
      <p:sp>
        <p:nvSpPr>
          <p:cNvPr id="100002" name="Source">
            <a:hlinkClick r:id="rId4"/>
          </p:cNvPr>
          <p:cNvSpPr/>
          <p:nvPr/>
        </p:nvSpPr>
        <p:spPr>
          <a:xfrm>
            <a:off x="1016000" y="6413500"/>
            <a:ext cx="10160000" cy="254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/>
            <a:r>
              <a:rPr lang="en-US" sz="1100" b="0">
                <a:solidFill>
                  <a:srgbClr val="788CAA"/>
                </a:solidFill>
                <a:latin typeface="Microsoft YaHei"/>
                <a:ea typeface="Microsoft YaHei"/>
                <a:hlinkClick r:id="rId4"/>
              </a:rPr>
              <a:t>来源：Vangelisti (2006), The Capacity of an Equity Strategy；译文为教学整理。</a:t>
            </a:r>
          </a:p>
        </p:txBody>
      </p:sp>
      <p:sp>
        <p:nvSpPr>
          <p:cNvPr id="100003" name="Card01"/>
          <p:cNvSpPr/>
          <p:nvPr/>
        </p:nvSpPr>
        <p:spPr>
          <a:xfrm>
            <a:off x="1016000" y="2286000"/>
            <a:ext cx="3175000" cy="3429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00004" name="Num01"/>
          <p:cNvSpPr/>
          <p:nvPr/>
        </p:nvSpPr>
        <p:spPr>
          <a:xfrm>
            <a:off x="1270000" y="2514600"/>
            <a:ext cx="635000" cy="3556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/>
            <a:r>
              <a:rPr lang="en-US" sz="1800" b="1">
                <a:solidFill>
                  <a:srgbClr val="E8720C"/>
                </a:solidFill>
                <a:latin typeface="Microsoft YaHei"/>
                <a:ea typeface="Microsoft YaHei"/>
              </a:rPr>
              <a:t>01</a:t>
            </a:r>
          </a:p>
        </p:txBody>
      </p:sp>
      <p:sp>
        <p:nvSpPr>
          <p:cNvPr id="100005" name="Head01"/>
          <p:cNvSpPr/>
          <p:nvPr/>
        </p:nvSpPr>
        <p:spPr>
          <a:xfrm>
            <a:off x="1270000" y="2946400"/>
            <a:ext cx="2667000" cy="6985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/>
            <a:r>
              <a:rPr lang="en-US" sz="2400" b="1">
                <a:solidFill>
                  <a:srgbClr val="1A2E4B"/>
                </a:solidFill>
                <a:latin typeface="Microsoft YaHei"/>
                <a:ea typeface="Microsoft YaHei"/>
              </a:rPr>
              <a:t>目标容量</a:t>
            </a:r>
          </a:p>
        </p:txBody>
      </p:sp>
      <p:sp>
        <p:nvSpPr>
          <p:cNvPr id="100006" name="Body01"/>
          <p:cNvSpPr/>
          <p:nvPr/>
        </p:nvSpPr>
        <p:spPr>
          <a:xfrm>
            <a:off x="1270000" y="3810000"/>
            <a:ext cx="2667000" cy="1397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/>
          <a:lstStyle/>
          <a:p>
            <a:pPr algn="l"/>
            <a:r>
              <a:rPr lang="en-US" sz="1800" b="0">
                <a:solidFill>
                  <a:srgbClr val="1A2E4B"/>
                </a:solidFill>
                <a:latin typeface="Microsoft YaHei"/>
                <a:ea typeface="Microsoft YaHei"/>
              </a:rPr>
              <a:t>净超额不低于</a:t>
            </a:r>
          </a:p>
          <a:p>
            <a:pPr algn="l"/>
            <a:r>
              <a:rPr lang="en-US" sz="1800" b="0">
                <a:solidFill>
                  <a:srgbClr val="1A2E4B"/>
                </a:solidFill>
                <a:latin typeface="Microsoft YaHei"/>
                <a:ea typeface="Microsoft YaHei"/>
              </a:rPr>
              <a:t>预设最低目标</a:t>
            </a:r>
          </a:p>
          <a:p>
            <a:pPr algn="l"/>
            <a:r>
              <a:rPr lang="en-US" sz="1800" b="0">
                <a:solidFill>
                  <a:srgbClr val="1A2E4B"/>
                </a:solidFill>
                <a:latin typeface="Microsoft YaHei"/>
                <a:ea typeface="Microsoft YaHei"/>
              </a:rPr>
              <a:t>适合设定申购上限</a:t>
            </a:r>
          </a:p>
        </p:txBody>
      </p:sp>
      <p:sp>
        <p:nvSpPr>
          <p:cNvPr id="100007" name="Card02"/>
          <p:cNvSpPr/>
          <p:nvPr/>
        </p:nvSpPr>
        <p:spPr>
          <a:xfrm>
            <a:off x="4508500" y="2286000"/>
            <a:ext cx="3175000" cy="3429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00008" name="Num02"/>
          <p:cNvSpPr/>
          <p:nvPr/>
        </p:nvSpPr>
        <p:spPr>
          <a:xfrm>
            <a:off x="4762500" y="2514600"/>
            <a:ext cx="635000" cy="3556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/>
            <a:r>
              <a:rPr lang="en-US" sz="1800" b="1">
                <a:solidFill>
                  <a:srgbClr val="E8720C"/>
                </a:solidFill>
                <a:latin typeface="Microsoft YaHei"/>
                <a:ea typeface="Microsoft YaHei"/>
              </a:rPr>
              <a:t>02</a:t>
            </a:r>
          </a:p>
        </p:txBody>
      </p:sp>
      <p:sp>
        <p:nvSpPr>
          <p:cNvPr id="100009" name="Head02"/>
          <p:cNvSpPr/>
          <p:nvPr/>
        </p:nvSpPr>
        <p:spPr>
          <a:xfrm>
            <a:off x="4762500" y="2946400"/>
            <a:ext cx="2667000" cy="6985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/>
            <a:r>
              <a:rPr lang="en-US" sz="2400" b="1">
                <a:solidFill>
                  <a:srgbClr val="1A2E4B"/>
                </a:solidFill>
                <a:latin typeface="Microsoft YaHei"/>
                <a:ea typeface="Microsoft YaHei"/>
              </a:rPr>
              <a:t>总超额最大容量</a:t>
            </a:r>
          </a:p>
        </p:txBody>
      </p:sp>
      <p:sp>
        <p:nvSpPr>
          <p:cNvPr id="100010" name="Body02"/>
          <p:cNvSpPr/>
          <p:nvPr/>
        </p:nvSpPr>
        <p:spPr>
          <a:xfrm>
            <a:off x="4762500" y="3810000"/>
            <a:ext cx="2667000" cy="1397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/>
          <a:lstStyle/>
          <a:p>
            <a:pPr algn="l"/>
            <a:r>
              <a:rPr lang="en-US" sz="1800" b="0">
                <a:solidFill>
                  <a:srgbClr val="1A2E4B"/>
                </a:solidFill>
                <a:latin typeface="Microsoft YaHei"/>
                <a:ea typeface="Microsoft YaHei"/>
              </a:rPr>
              <a:t>A × 净超额最大</a:t>
            </a:r>
          </a:p>
          <a:p>
            <a:pPr algn="l"/>
            <a:r>
              <a:rPr lang="en-US" sz="1800" b="0">
                <a:solidFill>
                  <a:srgbClr val="1A2E4B"/>
                </a:solidFill>
                <a:latin typeface="Microsoft YaHei"/>
                <a:ea typeface="Microsoft YaHei"/>
              </a:rPr>
              <a:t>投资者总超额最高</a:t>
            </a:r>
          </a:p>
          <a:p>
            <a:pPr algn="l"/>
            <a:r>
              <a:rPr lang="en-US" sz="1800" b="0">
                <a:solidFill>
                  <a:srgbClr val="1A2E4B"/>
                </a:solidFill>
                <a:latin typeface="Microsoft YaHei"/>
                <a:ea typeface="Microsoft YaHei"/>
              </a:rPr>
              <a:t>不等于管理费最大</a:t>
            </a:r>
          </a:p>
        </p:txBody>
      </p:sp>
      <p:sp>
        <p:nvSpPr>
          <p:cNvPr id="100011" name="Card03"/>
          <p:cNvSpPr/>
          <p:nvPr/>
        </p:nvSpPr>
        <p:spPr>
          <a:xfrm>
            <a:off x="8001000" y="2286000"/>
            <a:ext cx="3175000" cy="3429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00012" name="Num03"/>
          <p:cNvSpPr/>
          <p:nvPr/>
        </p:nvSpPr>
        <p:spPr>
          <a:xfrm>
            <a:off x="8255000" y="2514600"/>
            <a:ext cx="635000" cy="3556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/>
            <a:r>
              <a:rPr lang="en-US" sz="1800" b="1">
                <a:solidFill>
                  <a:srgbClr val="E8720C"/>
                </a:solidFill>
                <a:latin typeface="Microsoft YaHei"/>
                <a:ea typeface="Microsoft YaHei"/>
              </a:rPr>
              <a:t>03</a:t>
            </a:r>
          </a:p>
        </p:txBody>
      </p:sp>
      <p:sp>
        <p:nvSpPr>
          <p:cNvPr id="100013" name="Head03"/>
          <p:cNvSpPr/>
          <p:nvPr/>
        </p:nvSpPr>
        <p:spPr>
          <a:xfrm>
            <a:off x="8255000" y="2946400"/>
            <a:ext cx="2667000" cy="6985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/>
            <a:r>
              <a:rPr lang="en-US" sz="2400" b="1">
                <a:solidFill>
                  <a:srgbClr val="1A2E4B"/>
                </a:solidFill>
                <a:latin typeface="Microsoft YaHei"/>
                <a:ea typeface="Microsoft YaHei"/>
              </a:rPr>
              <a:t>盈亏平衡容量</a:t>
            </a:r>
          </a:p>
        </p:txBody>
      </p:sp>
      <p:sp>
        <p:nvSpPr>
          <p:cNvPr id="100014" name="Body03"/>
          <p:cNvSpPr/>
          <p:nvPr/>
        </p:nvSpPr>
        <p:spPr>
          <a:xfrm>
            <a:off x="8255000" y="3810000"/>
            <a:ext cx="2667000" cy="1397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/>
          <a:lstStyle/>
          <a:p>
            <a:pPr algn="l"/>
            <a:r>
              <a:rPr lang="en-US" sz="1800" b="0">
                <a:solidFill>
                  <a:srgbClr val="1A2E4B"/>
                </a:solidFill>
                <a:latin typeface="Microsoft YaHei"/>
                <a:ea typeface="Microsoft YaHei"/>
              </a:rPr>
              <a:t>净超额降为 0</a:t>
            </a:r>
          </a:p>
          <a:p>
            <a:pPr algn="l"/>
            <a:r>
              <a:rPr lang="en-US" sz="1800" b="0">
                <a:solidFill>
                  <a:srgbClr val="1A2E4B"/>
                </a:solidFill>
                <a:latin typeface="Microsoft YaHei"/>
                <a:ea typeface="Microsoft YaHei"/>
              </a:rPr>
              <a:t>成本吃完全部超额</a:t>
            </a:r>
          </a:p>
          <a:p>
            <a:pPr algn="l"/>
            <a:r>
              <a:rPr lang="en-US" sz="1800" b="0">
                <a:solidFill>
                  <a:srgbClr val="1A2E4B"/>
                </a:solidFill>
                <a:latin typeface="Microsoft YaHei"/>
                <a:ea typeface="Microsoft YaHei"/>
              </a:rPr>
              <a:t>不宜作为建议规模</a:t>
            </a:r>
          </a:p>
        </p:txBody>
      </p:sp>
      <p:sp>
        <p:nvSpPr>
          <p:cNvPr id="100015" name="Takeaway"/>
          <p:cNvSpPr/>
          <p:nvPr/>
        </p:nvSpPr>
        <p:spPr>
          <a:xfrm>
            <a:off x="1016000" y="5867400"/>
            <a:ext cx="10160000" cy="4445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ctr"/>
            <a:r>
              <a:rPr lang="en-US" sz="1800" b="1">
                <a:solidFill>
                  <a:srgbClr val="1A2E4B"/>
                </a:solidFill>
                <a:latin typeface="Microsoft YaHei"/>
                <a:ea typeface="Microsoft YaHei"/>
              </a:rPr>
              <a:t>先选定口径，再报告估计区间；同一个策略可以有多个“容量”。</a:t>
            </a:r>
          </a:p>
        </p:txBody>
      </p:sp>
    </p:spTree>
    <p:custDataLst>
      <p:tags r:id="rId1"/>
    </p:custData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7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016" name="Eyebrow"/>
          <p:cNvSpPr/>
          <p:nvPr/>
        </p:nvSpPr>
        <p:spPr>
          <a:xfrm>
            <a:off x="1016000" y="635000"/>
            <a:ext cx="6350000" cy="381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/>
            <a:r>
              <a:rPr lang="en-US" sz="1800" b="0">
                <a:solidFill>
                  <a:srgbClr val="788CAA"/>
                </a:solidFill>
                <a:latin typeface="Microsoft YaHei"/>
                <a:ea typeface="Microsoft YaHei"/>
              </a:rPr>
              <a:t>扩展 · 成本分解</a:t>
            </a:r>
          </a:p>
        </p:txBody>
      </p:sp>
      <p:sp>
        <p:nvSpPr>
          <p:cNvPr id="100017" name="Title"/>
          <p:cNvSpPr/>
          <p:nvPr/>
        </p:nvSpPr>
        <p:spPr>
          <a:xfrm>
            <a:off x="1016000" y="1219200"/>
            <a:ext cx="10160000" cy="762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ctr"/>
            <a:r>
              <a:rPr lang="en-US" sz="3600" b="1">
                <a:solidFill>
                  <a:srgbClr val="1A2E4B"/>
                </a:solidFill>
                <a:latin typeface="Microsoft YaHei"/>
                <a:ea typeface="Microsoft YaHei"/>
              </a:rPr>
              <a:t>成本口径决定容量口径</a:t>
            </a:r>
          </a:p>
        </p:txBody>
      </p:sp>
      <p:sp>
        <p:nvSpPr>
          <p:cNvPr id="100018" name="Source"/>
          <p:cNvSpPr/>
          <p:nvPr/>
        </p:nvSpPr>
        <p:spPr>
          <a:xfrm>
            <a:off x="1016000" y="6413500"/>
            <a:ext cx="10160000" cy="254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/>
            <a:r>
              <a:rPr lang="en-US" sz="1100" b="0">
                <a:solidFill>
                  <a:srgbClr val="788CAA"/>
                </a:solidFill>
                <a:latin typeface="Microsoft YaHei"/>
                <a:ea typeface="Microsoft YaHei"/>
              </a:rPr>
              <a:t>合成算例，用于说明成本口径，不代表任何真实产品。</a:t>
            </a:r>
          </a:p>
        </p:txBody>
      </p:sp>
      <p:sp>
        <p:nvSpPr>
          <p:cNvPr id="100019" name="CostCard1"/>
          <p:cNvSpPr/>
          <p:nvPr/>
        </p:nvSpPr>
        <p:spPr>
          <a:xfrm>
            <a:off x="762000" y="2413000"/>
            <a:ext cx="1905000" cy="1778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00020" name="CostValue1"/>
          <p:cNvSpPr/>
          <p:nvPr/>
        </p:nvSpPr>
        <p:spPr>
          <a:xfrm>
            <a:off x="863600" y="2768600"/>
            <a:ext cx="1701800" cy="635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ctr"/>
            <a:r>
              <a:rPr lang="en-US" sz="3400" b="1">
                <a:solidFill>
                  <a:srgbClr val="1A2E4B"/>
                </a:solidFill>
                <a:latin typeface="Microsoft YaHei"/>
                <a:ea typeface="Microsoft YaHei"/>
              </a:rPr>
              <a:t>6.0%</a:t>
            </a:r>
          </a:p>
        </p:txBody>
      </p:sp>
      <p:sp>
        <p:nvSpPr>
          <p:cNvPr id="100021" name="CostLabel1"/>
          <p:cNvSpPr/>
          <p:nvPr/>
        </p:nvSpPr>
        <p:spPr>
          <a:xfrm>
            <a:off x="863600" y="3530600"/>
            <a:ext cx="1701800" cy="4318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ctr"/>
            <a:r>
              <a:rPr lang="en-US" sz="1800" b="0">
                <a:solidFill>
                  <a:srgbClr val="1A2E4B"/>
                </a:solidFill>
                <a:latin typeface="Microsoft YaHei"/>
                <a:ea typeface="Microsoft YaHei"/>
              </a:rPr>
              <a:t>毛超额</a:t>
            </a:r>
          </a:p>
        </p:txBody>
      </p:sp>
      <p:sp>
        <p:nvSpPr>
          <p:cNvPr id="100022" name="CostCard2"/>
          <p:cNvSpPr/>
          <p:nvPr/>
        </p:nvSpPr>
        <p:spPr>
          <a:xfrm>
            <a:off x="2952750" y="2413000"/>
            <a:ext cx="1905000" cy="1778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00023" name="CostValue2"/>
          <p:cNvSpPr/>
          <p:nvPr/>
        </p:nvSpPr>
        <p:spPr>
          <a:xfrm>
            <a:off x="3054350" y="2768600"/>
            <a:ext cx="1701800" cy="635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ctr"/>
            <a:r>
              <a:rPr lang="en-US" sz="3400" b="1">
                <a:solidFill>
                  <a:srgbClr val="1A2E4B"/>
                </a:solidFill>
                <a:latin typeface="Microsoft YaHei"/>
                <a:ea typeface="Microsoft YaHei"/>
              </a:rPr>
              <a:t>−0.8%</a:t>
            </a:r>
          </a:p>
        </p:txBody>
      </p:sp>
      <p:sp>
        <p:nvSpPr>
          <p:cNvPr id="100024" name="CostLabel2"/>
          <p:cNvSpPr/>
          <p:nvPr/>
        </p:nvSpPr>
        <p:spPr>
          <a:xfrm>
            <a:off x="3054350" y="3530600"/>
            <a:ext cx="1701800" cy="4318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ctr"/>
            <a:r>
              <a:rPr lang="en-US" sz="1800" b="0">
                <a:solidFill>
                  <a:srgbClr val="1A2E4B"/>
                </a:solidFill>
                <a:latin typeface="Microsoft YaHei"/>
                <a:ea typeface="Microsoft YaHei"/>
              </a:rPr>
              <a:t>交易与价差</a:t>
            </a:r>
          </a:p>
        </p:txBody>
      </p:sp>
      <p:sp>
        <p:nvSpPr>
          <p:cNvPr id="100025" name="CostCard3"/>
          <p:cNvSpPr/>
          <p:nvPr/>
        </p:nvSpPr>
        <p:spPr>
          <a:xfrm>
            <a:off x="5143500" y="2413000"/>
            <a:ext cx="1905000" cy="1778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00026" name="CostValue3"/>
          <p:cNvSpPr/>
          <p:nvPr/>
        </p:nvSpPr>
        <p:spPr>
          <a:xfrm>
            <a:off x="5245100" y="2768600"/>
            <a:ext cx="1701800" cy="635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ctr"/>
            <a:r>
              <a:rPr lang="en-US" sz="3400" b="1">
                <a:solidFill>
                  <a:srgbClr val="1A2E4B"/>
                </a:solidFill>
                <a:latin typeface="Microsoft YaHei"/>
                <a:ea typeface="Microsoft YaHei"/>
              </a:rPr>
              <a:t>−1.4%</a:t>
            </a:r>
          </a:p>
        </p:txBody>
      </p:sp>
      <p:sp>
        <p:nvSpPr>
          <p:cNvPr id="100027" name="CostLabel3"/>
          <p:cNvSpPr/>
          <p:nvPr/>
        </p:nvSpPr>
        <p:spPr>
          <a:xfrm>
            <a:off x="5245100" y="3530600"/>
            <a:ext cx="1701800" cy="4318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ctr"/>
            <a:r>
              <a:rPr lang="en-US" sz="1800" b="0">
                <a:solidFill>
                  <a:srgbClr val="1A2E4B"/>
                </a:solidFill>
                <a:latin typeface="Microsoft YaHei"/>
                <a:ea typeface="Microsoft YaHei"/>
              </a:rPr>
              <a:t>冲击与延误</a:t>
            </a:r>
          </a:p>
        </p:txBody>
      </p:sp>
      <p:sp>
        <p:nvSpPr>
          <p:cNvPr id="100028" name="CostCard4"/>
          <p:cNvSpPr/>
          <p:nvPr/>
        </p:nvSpPr>
        <p:spPr>
          <a:xfrm>
            <a:off x="7334250" y="2413000"/>
            <a:ext cx="1905000" cy="1778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00029" name="CostValue4"/>
          <p:cNvSpPr/>
          <p:nvPr/>
        </p:nvSpPr>
        <p:spPr>
          <a:xfrm>
            <a:off x="7435850" y="2768600"/>
            <a:ext cx="1701800" cy="635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ctr"/>
            <a:r>
              <a:rPr lang="en-US" sz="3400" b="1">
                <a:solidFill>
                  <a:srgbClr val="1A2E4B"/>
                </a:solidFill>
                <a:latin typeface="Microsoft YaHei"/>
                <a:ea typeface="Microsoft YaHei"/>
              </a:rPr>
              <a:t>−1.5%</a:t>
            </a:r>
          </a:p>
        </p:txBody>
      </p:sp>
      <p:sp>
        <p:nvSpPr>
          <p:cNvPr id="100030" name="CostLabel4"/>
          <p:cNvSpPr/>
          <p:nvPr/>
        </p:nvSpPr>
        <p:spPr>
          <a:xfrm>
            <a:off x="7435850" y="3530600"/>
            <a:ext cx="1701800" cy="4318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ctr"/>
            <a:r>
              <a:rPr lang="en-US" sz="1800" b="0">
                <a:solidFill>
                  <a:srgbClr val="1A2E4B"/>
                </a:solidFill>
                <a:latin typeface="Microsoft YaHei"/>
                <a:ea typeface="Microsoft YaHei"/>
              </a:rPr>
              <a:t>费用</a:t>
            </a:r>
          </a:p>
        </p:txBody>
      </p:sp>
      <p:sp>
        <p:nvSpPr>
          <p:cNvPr id="100031" name="CostCard5"/>
          <p:cNvSpPr/>
          <p:nvPr/>
        </p:nvSpPr>
        <p:spPr>
          <a:xfrm>
            <a:off x="9525000" y="2413000"/>
            <a:ext cx="1905000" cy="1778000"/>
          </a:xfrm>
          <a:prstGeom prst="roundRect">
            <a:avLst/>
          </a:prstGeom>
          <a:solidFill>
            <a:srgbClr val="1A2E4B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00032" name="CostValue5"/>
          <p:cNvSpPr/>
          <p:nvPr/>
        </p:nvSpPr>
        <p:spPr>
          <a:xfrm>
            <a:off x="9626600" y="2768600"/>
            <a:ext cx="1701800" cy="635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ctr"/>
            <a:r>
              <a:rPr lang="en-US" sz="3400" b="1">
                <a:solidFill>
                  <a:srgbClr val="FFFFFF"/>
                </a:solidFill>
                <a:latin typeface="Microsoft YaHei"/>
                <a:ea typeface="Microsoft YaHei"/>
              </a:rPr>
              <a:t>=2.3%</a:t>
            </a:r>
          </a:p>
        </p:txBody>
      </p:sp>
      <p:sp>
        <p:nvSpPr>
          <p:cNvPr id="100033" name="CostLabel5"/>
          <p:cNvSpPr/>
          <p:nvPr/>
        </p:nvSpPr>
        <p:spPr>
          <a:xfrm>
            <a:off x="9626600" y="3530600"/>
            <a:ext cx="1701800" cy="4318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ctr"/>
            <a:r>
              <a:rPr lang="en-US" sz="1800" b="1">
                <a:solidFill>
                  <a:srgbClr val="FFFFFF"/>
                </a:solidFill>
                <a:latin typeface="Microsoft YaHei"/>
                <a:ea typeface="Microsoft YaHei"/>
              </a:rPr>
              <a:t>净超额</a:t>
            </a:r>
          </a:p>
        </p:txBody>
      </p:sp>
      <p:sp>
        <p:nvSpPr>
          <p:cNvPr id="100034" name="Arrow1"/>
          <p:cNvSpPr/>
          <p:nvPr/>
        </p:nvSpPr>
        <p:spPr>
          <a:xfrm>
            <a:off x="2628900" y="3022600"/>
            <a:ext cx="355600" cy="508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ctr"/>
            <a:r>
              <a:rPr lang="en-US" sz="2400" b="1">
                <a:solidFill>
                  <a:srgbClr val="E8720C"/>
                </a:solidFill>
                <a:latin typeface="Microsoft YaHei"/>
                <a:ea typeface="Microsoft YaHei"/>
              </a:rPr>
              <a:t>→</a:t>
            </a:r>
          </a:p>
        </p:txBody>
      </p:sp>
      <p:sp>
        <p:nvSpPr>
          <p:cNvPr id="100035" name="Arrow2"/>
          <p:cNvSpPr/>
          <p:nvPr/>
        </p:nvSpPr>
        <p:spPr>
          <a:xfrm>
            <a:off x="4819650" y="3022600"/>
            <a:ext cx="355600" cy="508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ctr"/>
            <a:r>
              <a:rPr lang="en-US" sz="2400" b="1">
                <a:solidFill>
                  <a:srgbClr val="E8720C"/>
                </a:solidFill>
                <a:latin typeface="Microsoft YaHei"/>
                <a:ea typeface="Microsoft YaHei"/>
              </a:rPr>
              <a:t>→</a:t>
            </a:r>
          </a:p>
        </p:txBody>
      </p:sp>
      <p:sp>
        <p:nvSpPr>
          <p:cNvPr id="100036" name="Arrow3"/>
          <p:cNvSpPr/>
          <p:nvPr/>
        </p:nvSpPr>
        <p:spPr>
          <a:xfrm>
            <a:off x="7010400" y="3022600"/>
            <a:ext cx="355600" cy="508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ctr"/>
            <a:r>
              <a:rPr lang="en-US" sz="2400" b="1">
                <a:solidFill>
                  <a:srgbClr val="E8720C"/>
                </a:solidFill>
                <a:latin typeface="Microsoft YaHei"/>
                <a:ea typeface="Microsoft YaHei"/>
              </a:rPr>
              <a:t>→</a:t>
            </a:r>
          </a:p>
        </p:txBody>
      </p:sp>
      <p:sp>
        <p:nvSpPr>
          <p:cNvPr id="100037" name="Arrow4"/>
          <p:cNvSpPr/>
          <p:nvPr/>
        </p:nvSpPr>
        <p:spPr>
          <a:xfrm>
            <a:off x="9201150" y="3022600"/>
            <a:ext cx="355600" cy="508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ctr"/>
            <a:r>
              <a:rPr lang="en-US" sz="2400" b="1">
                <a:solidFill>
                  <a:srgbClr val="E8720C"/>
                </a:solidFill>
                <a:latin typeface="Microsoft YaHei"/>
                <a:ea typeface="Microsoft YaHei"/>
              </a:rPr>
              <a:t>→</a:t>
            </a:r>
          </a:p>
        </p:txBody>
      </p:sp>
      <p:sp>
        <p:nvSpPr>
          <p:cNvPr id="100038" name="FormulaCard"/>
          <p:cNvSpPr/>
          <p:nvPr/>
        </p:nvSpPr>
        <p:spPr>
          <a:xfrm>
            <a:off x="1016000" y="4635500"/>
            <a:ext cx="10160000" cy="825500"/>
          </a:xfrm>
          <a:prstGeom prst="roundRect">
            <a:avLst/>
          </a:prstGeom>
          <a:solidFill>
            <a:srgbClr val="F5F0E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00039" name="Formula"/>
          <p:cNvSpPr/>
          <p:nvPr/>
        </p:nvSpPr>
        <p:spPr>
          <a:xfrm>
            <a:off x="1333500" y="4775200"/>
            <a:ext cx="9525000" cy="5334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ctr"/>
            <a:r>
              <a:rPr lang="en-US" sz="2000" b="1">
                <a:solidFill>
                  <a:srgbClr val="1A2E4B"/>
                </a:solidFill>
                <a:latin typeface="Microsoft YaHei"/>
                <a:ea typeface="Microsoft YaHei"/>
              </a:rPr>
              <a:t>净超额 = 毛超额 − 显性交易 − 买卖价差 − 市场冲击 − 延误 − 费用</a:t>
            </a:r>
          </a:p>
        </p:txBody>
      </p:sp>
      <p:sp>
        <p:nvSpPr>
          <p:cNvPr id="100040" name="Caveat"/>
          <p:cNvSpPr/>
          <p:nvPr/>
        </p:nvSpPr>
        <p:spPr>
          <a:xfrm>
            <a:off x="1016000" y="5689600"/>
            <a:ext cx="10160000" cy="4445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ctr"/>
            <a:r>
              <a:rPr lang="en-US" sz="1800" b="0">
                <a:solidFill>
                  <a:srgbClr val="788CAA"/>
                </a:solidFill>
                <a:latin typeface="Microsoft YaHei"/>
                <a:ea typeface="Microsoft YaHei"/>
              </a:rPr>
              <a:t>冲击与延误随规模上升；费用口径只扣一次。</a:t>
            </a:r>
          </a:p>
        </p:txBody>
      </p:sp>
    </p:spTree>
    <p:custDataLst>
      <p:tags r:id="rId1"/>
    </p:custData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7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041" name="Eyebrow"/>
          <p:cNvSpPr/>
          <p:nvPr/>
        </p:nvSpPr>
        <p:spPr>
          <a:xfrm>
            <a:off x="1016000" y="635000"/>
            <a:ext cx="6350000" cy="381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/>
            <a:r>
              <a:rPr lang="en-US" sz="1800" b="0">
                <a:solidFill>
                  <a:srgbClr val="788CAA"/>
                </a:solidFill>
                <a:latin typeface="Microsoft YaHei"/>
                <a:ea typeface="Microsoft YaHei"/>
              </a:rPr>
              <a:t>扩展 · 参与率估算</a:t>
            </a:r>
          </a:p>
        </p:txBody>
      </p:sp>
      <p:sp>
        <p:nvSpPr>
          <p:cNvPr id="100042" name="Title"/>
          <p:cNvSpPr/>
          <p:nvPr/>
        </p:nvSpPr>
        <p:spPr>
          <a:xfrm>
            <a:off x="1016000" y="1219200"/>
            <a:ext cx="10160000" cy="762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ctr"/>
            <a:r>
              <a:rPr lang="en-US" sz="3600" b="1">
                <a:solidFill>
                  <a:srgbClr val="1A2E4B"/>
                </a:solidFill>
                <a:latin typeface="Microsoft YaHei"/>
                <a:ea typeface="Microsoft YaHei"/>
              </a:rPr>
              <a:t>用参与率先估流动性上限</a:t>
            </a:r>
          </a:p>
        </p:txBody>
      </p:sp>
      <p:sp>
        <p:nvSpPr>
          <p:cNvPr id="100043" name="Source"/>
          <p:cNvSpPr/>
          <p:nvPr/>
        </p:nvSpPr>
        <p:spPr>
          <a:xfrm>
            <a:off x="1016000" y="6413500"/>
            <a:ext cx="10160000" cy="254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/>
            <a:r>
              <a:rPr lang="en-US" sz="1100" b="0">
                <a:solidFill>
                  <a:srgbClr val="788CAA"/>
                </a:solidFill>
                <a:latin typeface="Microsoft YaHei"/>
                <a:ea typeface="Microsoft YaHei"/>
              </a:rPr>
              <a:t>合成算例：ADV=5000万元，w=5%；仅估算单股流动性约束。</a:t>
            </a:r>
          </a:p>
        </p:txBody>
      </p:sp>
      <p:sp>
        <p:nvSpPr>
          <p:cNvPr id="100044" name="FormulaCard"/>
          <p:cNvSpPr/>
          <p:nvPr/>
        </p:nvSpPr>
        <p:spPr>
          <a:xfrm>
            <a:off x="1016000" y="2222500"/>
            <a:ext cx="10160000" cy="1016000"/>
          </a:xfrm>
          <a:prstGeom prst="roundRect">
            <a:avLst/>
          </a:prstGeom>
          <a:solidFill>
            <a:srgbClr val="F5F0E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00045" name="Formula"/>
          <p:cNvSpPr/>
          <p:nvPr/>
        </p:nvSpPr>
        <p:spPr>
          <a:xfrm>
            <a:off x="1397000" y="2374900"/>
            <a:ext cx="9398000" cy="6604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ctr"/>
            <a:r>
              <a:rPr lang="en-US" sz="3200" b="1">
                <a:solidFill>
                  <a:srgbClr val="1A2E4B"/>
                </a:solidFill>
                <a:latin typeface="Microsoft YaHei"/>
                <a:ea typeface="Microsoft YaHei"/>
              </a:rPr>
              <a:t>A_liq = D × p × ADV ÷ w</a:t>
            </a:r>
          </a:p>
        </p:txBody>
      </p:sp>
      <p:sp>
        <p:nvSpPr>
          <p:cNvPr id="100046" name="Definitions"/>
          <p:cNvSpPr/>
          <p:nvPr/>
        </p:nvSpPr>
        <p:spPr>
          <a:xfrm>
            <a:off x="1016000" y="3340100"/>
            <a:ext cx="10160000" cy="4572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ctr"/>
            <a:r>
              <a:rPr lang="en-US" sz="1800" b="0">
                <a:solidFill>
                  <a:srgbClr val="788CAA"/>
                </a:solidFill>
                <a:latin typeface="Microsoft YaHei"/>
                <a:ea typeface="Microsoft YaHei"/>
              </a:rPr>
              <a:t>D=执行天数｜p=成交参与率｜ADV=个股日均成交额｜w=个股仓位</a:t>
            </a:r>
          </a:p>
        </p:txBody>
      </p:sp>
      <p:sp>
        <p:nvSpPr>
          <p:cNvPr id="100047" name="Scenario2 亿元"/>
          <p:cNvSpPr/>
          <p:nvPr/>
        </p:nvSpPr>
        <p:spPr>
          <a:xfrm>
            <a:off x="1016000" y="4000500"/>
            <a:ext cx="3175000" cy="14605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00048" name="ScenarioValue2 亿元"/>
          <p:cNvSpPr/>
          <p:nvPr/>
        </p:nvSpPr>
        <p:spPr>
          <a:xfrm>
            <a:off x="1143000" y="4191000"/>
            <a:ext cx="2921000" cy="5715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ctr"/>
            <a:r>
              <a:rPr lang="en-US" sz="3200" b="1">
                <a:solidFill>
                  <a:srgbClr val="E8720C"/>
                </a:solidFill>
                <a:latin typeface="Microsoft YaHei"/>
                <a:ea typeface="Microsoft YaHei"/>
              </a:rPr>
              <a:t>2 亿元</a:t>
            </a:r>
          </a:p>
        </p:txBody>
      </p:sp>
      <p:sp>
        <p:nvSpPr>
          <p:cNvPr id="100049" name="ScenarioLabel2 亿元"/>
          <p:cNvSpPr/>
          <p:nvPr/>
        </p:nvSpPr>
        <p:spPr>
          <a:xfrm>
            <a:off x="1143000" y="4864100"/>
            <a:ext cx="2921000" cy="381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ctr"/>
            <a:r>
              <a:rPr lang="en-US" sz="1800" b="0">
                <a:solidFill>
                  <a:srgbClr val="1A2E4B"/>
                </a:solidFill>
                <a:latin typeface="Microsoft YaHei"/>
                <a:ea typeface="Microsoft YaHei"/>
              </a:rPr>
              <a:t>D=2 天｜p=10%</a:t>
            </a:r>
          </a:p>
        </p:txBody>
      </p:sp>
      <p:sp>
        <p:nvSpPr>
          <p:cNvPr id="100050" name="Scenario5 亿元"/>
          <p:cNvSpPr/>
          <p:nvPr/>
        </p:nvSpPr>
        <p:spPr>
          <a:xfrm>
            <a:off x="4508500" y="4000500"/>
            <a:ext cx="3175000" cy="14605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00051" name="ScenarioValue5 亿元"/>
          <p:cNvSpPr/>
          <p:nvPr/>
        </p:nvSpPr>
        <p:spPr>
          <a:xfrm>
            <a:off x="4635500" y="4191000"/>
            <a:ext cx="2921000" cy="5715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ctr"/>
            <a:r>
              <a:rPr lang="en-US" sz="3200" b="1">
                <a:solidFill>
                  <a:srgbClr val="E8720C"/>
                </a:solidFill>
                <a:latin typeface="Microsoft YaHei"/>
                <a:ea typeface="Microsoft YaHei"/>
              </a:rPr>
              <a:t>5 亿元</a:t>
            </a:r>
          </a:p>
        </p:txBody>
      </p:sp>
      <p:sp>
        <p:nvSpPr>
          <p:cNvPr id="100052" name="ScenarioLabel5 亿元"/>
          <p:cNvSpPr/>
          <p:nvPr/>
        </p:nvSpPr>
        <p:spPr>
          <a:xfrm>
            <a:off x="4635500" y="4864100"/>
            <a:ext cx="2921000" cy="381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ctr"/>
            <a:r>
              <a:rPr lang="en-US" sz="1800" b="0">
                <a:solidFill>
                  <a:srgbClr val="1A2E4B"/>
                </a:solidFill>
                <a:latin typeface="Microsoft YaHei"/>
                <a:ea typeface="Microsoft YaHei"/>
              </a:rPr>
              <a:t>D=5 天｜p=10%</a:t>
            </a:r>
          </a:p>
        </p:txBody>
      </p:sp>
      <p:sp>
        <p:nvSpPr>
          <p:cNvPr id="100053" name="Scenario10 亿元"/>
          <p:cNvSpPr/>
          <p:nvPr/>
        </p:nvSpPr>
        <p:spPr>
          <a:xfrm>
            <a:off x="8001000" y="4000500"/>
            <a:ext cx="3175000" cy="14605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00054" name="ScenarioValue10 亿元"/>
          <p:cNvSpPr/>
          <p:nvPr/>
        </p:nvSpPr>
        <p:spPr>
          <a:xfrm>
            <a:off x="8128000" y="4191000"/>
            <a:ext cx="2921000" cy="5715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ctr"/>
            <a:r>
              <a:rPr lang="en-US" sz="3200" b="1">
                <a:solidFill>
                  <a:srgbClr val="E8720C"/>
                </a:solidFill>
                <a:latin typeface="Microsoft YaHei"/>
                <a:ea typeface="Microsoft YaHei"/>
              </a:rPr>
              <a:t>10 亿元</a:t>
            </a:r>
          </a:p>
        </p:txBody>
      </p:sp>
      <p:sp>
        <p:nvSpPr>
          <p:cNvPr id="100055" name="ScenarioLabel10 亿元"/>
          <p:cNvSpPr/>
          <p:nvPr/>
        </p:nvSpPr>
        <p:spPr>
          <a:xfrm>
            <a:off x="8128000" y="4864100"/>
            <a:ext cx="2921000" cy="381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ctr"/>
            <a:r>
              <a:rPr lang="en-US" sz="1800" b="0">
                <a:solidFill>
                  <a:srgbClr val="1A2E4B"/>
                </a:solidFill>
                <a:latin typeface="Microsoft YaHei"/>
                <a:ea typeface="Microsoft YaHei"/>
              </a:rPr>
              <a:t>D=5 天｜p=20%</a:t>
            </a:r>
          </a:p>
        </p:txBody>
      </p:sp>
      <p:sp>
        <p:nvSpPr>
          <p:cNvPr id="100056" name="Caveat"/>
          <p:cNvSpPr/>
          <p:nvPr/>
        </p:nvSpPr>
        <p:spPr>
          <a:xfrm>
            <a:off x="1016000" y="5715000"/>
            <a:ext cx="10160000" cy="4826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ctr"/>
            <a:r>
              <a:rPr lang="en-US" sz="1800" b="1">
                <a:solidFill>
                  <a:srgbClr val="1A2E4B"/>
                </a:solidFill>
                <a:latin typeface="Microsoft YaHei"/>
                <a:ea typeface="Microsoft YaHei"/>
              </a:rPr>
              <a:t>执行天数不能超过信号有效窗口；组合容量还需逐股汇总并检查拥挤交易。</a:t>
            </a:r>
          </a:p>
        </p:txBody>
      </p:sp>
    </p:spTree>
    <p:custDataLst>
      <p:tags r:id="rId1"/>
    </p:custData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7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057" name="Eyebrow"/>
          <p:cNvSpPr/>
          <p:nvPr/>
        </p:nvSpPr>
        <p:spPr>
          <a:xfrm>
            <a:off x="1016000" y="635000"/>
            <a:ext cx="6350000" cy="381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/>
            <a:r>
              <a:rPr lang="en-US" sz="1800" b="0">
                <a:solidFill>
                  <a:srgbClr val="788CAA"/>
                </a:solidFill>
                <a:latin typeface="Microsoft YaHei"/>
                <a:ea typeface="Microsoft YaHei"/>
              </a:rPr>
              <a:t>实证 · 加权方式</a:t>
            </a:r>
          </a:p>
        </p:txBody>
      </p:sp>
      <p:sp>
        <p:nvSpPr>
          <p:cNvPr id="100058" name="Title"/>
          <p:cNvSpPr/>
          <p:nvPr/>
        </p:nvSpPr>
        <p:spPr>
          <a:xfrm>
            <a:off x="1016000" y="1219200"/>
            <a:ext cx="10160000" cy="762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ctr"/>
            <a:r>
              <a:rPr lang="en-US" sz="3600" b="1">
                <a:solidFill>
                  <a:srgbClr val="1A2E4B"/>
                </a:solidFill>
                <a:latin typeface="Microsoft YaHei"/>
                <a:ea typeface="Microsoft YaHei"/>
              </a:rPr>
              <a:t>加权方式可让动量容量相差数十倍</a:t>
            </a:r>
          </a:p>
        </p:txBody>
      </p:sp>
      <p:sp>
        <p:nvSpPr>
          <p:cNvPr id="100059" name="Source">
            <a:hlinkClick r:id="rId4"/>
          </p:cNvPr>
          <p:cNvSpPr/>
          <p:nvPr/>
        </p:nvSpPr>
        <p:spPr>
          <a:xfrm>
            <a:off x="1016000" y="6413500"/>
            <a:ext cx="10160000" cy="254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/>
            <a:r>
              <a:rPr lang="en-US" sz="1100" b="0">
                <a:solidFill>
                  <a:srgbClr val="788CAA"/>
                </a:solidFill>
                <a:latin typeface="Microsoft YaHei"/>
                <a:ea typeface="Microsoft YaHei"/>
                <a:hlinkClick r:id="rId4"/>
              </a:rPr>
              <a:t>来源：Korajczyk &amp; Sadka (2004), The Journal of Finance；美国样本，规模按1999年12月市值口径。</a:t>
            </a:r>
          </a:p>
        </p:txBody>
      </p:sp>
      <p:sp>
        <p:nvSpPr>
          <p:cNvPr id="100060" name="Subtitle"/>
          <p:cNvSpPr/>
          <p:nvPr/>
        </p:nvSpPr>
        <p:spPr>
          <a:xfrm>
            <a:off x="1016000" y="2006600"/>
            <a:ext cx="7874000" cy="381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/>
            <a:r>
              <a:rPr lang="en-US" sz="1800" b="0">
                <a:solidFill>
                  <a:srgbClr val="788CAA"/>
                </a:solidFill>
                <a:latin typeface="Microsoft YaHei"/>
                <a:ea typeface="Microsoft YaHei"/>
              </a:rPr>
              <a:t>11/1/3 动量策略：零 α 盈亏平衡规模</a:t>
            </a:r>
          </a:p>
        </p:txBody>
      </p:sp>
      <p:sp>
        <p:nvSpPr>
          <p:cNvPr id="100061" name="Unit"/>
          <p:cNvSpPr/>
          <p:nvPr/>
        </p:nvSpPr>
        <p:spPr>
          <a:xfrm>
            <a:off x="8890000" y="2006600"/>
            <a:ext cx="2286000" cy="381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r"/>
            <a:r>
              <a:rPr lang="en-US" sz="1400" b="0">
                <a:solidFill>
                  <a:srgbClr val="788CAA"/>
                </a:solidFill>
                <a:latin typeface="Microsoft YaHei"/>
                <a:ea typeface="Microsoft YaHei"/>
              </a:rPr>
              <a:t>单位：十亿美元</a:t>
            </a:r>
          </a:p>
        </p:txBody>
      </p:sp>
      <p:sp>
        <p:nvSpPr>
          <p:cNvPr id="100062" name="LabelEW"/>
          <p:cNvSpPr/>
          <p:nvPr/>
        </p:nvSpPr>
        <p:spPr>
          <a:xfrm>
            <a:off x="1016000" y="2794000"/>
            <a:ext cx="2349500" cy="4826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/>
            <a:r>
              <a:rPr lang="en-US" sz="2000" b="1">
                <a:solidFill>
                  <a:srgbClr val="1A2E4B"/>
                </a:solidFill>
                <a:latin typeface="Microsoft YaHei"/>
                <a:ea typeface="Microsoft YaHei"/>
              </a:rPr>
              <a:t>等权</a:t>
            </a:r>
          </a:p>
        </p:txBody>
      </p:sp>
      <p:sp>
        <p:nvSpPr>
          <p:cNvPr id="100063" name="BarEW"/>
          <p:cNvSpPr/>
          <p:nvPr/>
        </p:nvSpPr>
        <p:spPr>
          <a:xfrm>
            <a:off x="3556000" y="2819400"/>
            <a:ext cx="228600" cy="431800"/>
          </a:xfrm>
          <a:prstGeom prst="rect">
            <a:avLst/>
          </a:prstGeom>
          <a:solidFill>
            <a:srgbClr val="1A2E4B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00064" name="ValueEW"/>
          <p:cNvSpPr/>
          <p:nvPr/>
        </p:nvSpPr>
        <p:spPr>
          <a:xfrm>
            <a:off x="3975100" y="2794000"/>
            <a:ext cx="2413000" cy="4826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/>
            <a:r>
              <a:rPr lang="en-US" sz="2000" b="1">
                <a:solidFill>
                  <a:srgbClr val="1A2E4B"/>
                </a:solidFill>
                <a:latin typeface="Microsoft YaHei"/>
                <a:ea typeface="Microsoft YaHei"/>
              </a:rPr>
              <a:t>0.2</a:t>
            </a:r>
          </a:p>
        </p:txBody>
      </p:sp>
      <p:sp>
        <p:nvSpPr>
          <p:cNvPr id="100065" name="LabelVW"/>
          <p:cNvSpPr/>
          <p:nvPr/>
        </p:nvSpPr>
        <p:spPr>
          <a:xfrm>
            <a:off x="1016000" y="3873500"/>
            <a:ext cx="2349500" cy="4826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/>
            <a:r>
              <a:rPr lang="en-US" sz="2000" b="1">
                <a:solidFill>
                  <a:srgbClr val="1A2E4B"/>
                </a:solidFill>
                <a:latin typeface="Microsoft YaHei"/>
                <a:ea typeface="Microsoft YaHei"/>
              </a:rPr>
              <a:t>市值加权</a:t>
            </a:r>
          </a:p>
        </p:txBody>
      </p:sp>
      <p:sp>
        <p:nvSpPr>
          <p:cNvPr id="100066" name="BarVW"/>
          <p:cNvSpPr/>
          <p:nvPr/>
        </p:nvSpPr>
        <p:spPr>
          <a:xfrm>
            <a:off x="3556000" y="3898900"/>
            <a:ext cx="2286000" cy="431800"/>
          </a:xfrm>
          <a:prstGeom prst="rect">
            <a:avLst/>
          </a:prstGeom>
          <a:solidFill>
            <a:srgbClr val="1A2E4B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00067" name="ValueVW"/>
          <p:cNvSpPr/>
          <p:nvPr/>
        </p:nvSpPr>
        <p:spPr>
          <a:xfrm>
            <a:off x="6032500" y="3873500"/>
            <a:ext cx="2413000" cy="4826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/>
            <a:r>
              <a:rPr lang="en-US" sz="2000" b="1">
                <a:solidFill>
                  <a:srgbClr val="1A2E4B"/>
                </a:solidFill>
                <a:latin typeface="Microsoft YaHei"/>
                <a:ea typeface="Microsoft YaHei"/>
              </a:rPr>
              <a:t>&gt;2.0</a:t>
            </a:r>
          </a:p>
        </p:txBody>
      </p:sp>
      <p:sp>
        <p:nvSpPr>
          <p:cNvPr id="100068" name="LabelLW"/>
          <p:cNvSpPr/>
          <p:nvPr/>
        </p:nvSpPr>
        <p:spPr>
          <a:xfrm>
            <a:off x="1016000" y="4953000"/>
            <a:ext cx="2349500" cy="4826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/>
            <a:r>
              <a:rPr lang="en-US" sz="2000" b="1">
                <a:solidFill>
                  <a:srgbClr val="1A2E4B"/>
                </a:solidFill>
                <a:latin typeface="Microsoft YaHei"/>
                <a:ea typeface="Microsoft YaHei"/>
              </a:rPr>
              <a:t>流动性/混合加权</a:t>
            </a:r>
          </a:p>
        </p:txBody>
      </p:sp>
      <p:sp>
        <p:nvSpPr>
          <p:cNvPr id="100069" name="BarLW"/>
          <p:cNvSpPr/>
          <p:nvPr/>
        </p:nvSpPr>
        <p:spPr>
          <a:xfrm>
            <a:off x="3556000" y="4978400"/>
            <a:ext cx="5715000" cy="431800"/>
          </a:xfrm>
          <a:prstGeom prst="rect">
            <a:avLst/>
          </a:prstGeom>
          <a:solidFill>
            <a:srgbClr val="E8720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00070" name="ValueLW"/>
          <p:cNvSpPr/>
          <p:nvPr/>
        </p:nvSpPr>
        <p:spPr>
          <a:xfrm>
            <a:off x="9461500" y="4953000"/>
            <a:ext cx="2413000" cy="4826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/>
            <a:r>
              <a:rPr lang="en-US" sz="2000" b="1">
                <a:solidFill>
                  <a:srgbClr val="E8720C"/>
                </a:solidFill>
                <a:latin typeface="Microsoft YaHei"/>
                <a:ea typeface="Microsoft YaHei"/>
              </a:rPr>
              <a:t>约 4.5–5.0</a:t>
            </a:r>
          </a:p>
        </p:txBody>
      </p:sp>
      <p:sp>
        <p:nvSpPr>
          <p:cNvPr id="100071" name="Takeaway"/>
          <p:cNvSpPr/>
          <p:nvPr/>
        </p:nvSpPr>
        <p:spPr>
          <a:xfrm>
            <a:off x="1016000" y="5778500"/>
            <a:ext cx="10160000" cy="4445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ctr"/>
            <a:r>
              <a:rPr lang="en-US" sz="1800" b="1">
                <a:solidFill>
                  <a:srgbClr val="1A2E4B"/>
                </a:solidFill>
                <a:latin typeface="Microsoft YaHei"/>
                <a:ea typeface="Microsoft YaHei"/>
              </a:rPr>
              <a:t>等权组合毛收益更高，但价格冲击使其扣成本后的容量最小。</a:t>
            </a:r>
          </a:p>
        </p:txBody>
      </p:sp>
    </p:spTree>
    <p:custDataLst>
      <p:tags r:id="rId1"/>
    </p:custData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7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072" name="Eyebrow"/>
          <p:cNvSpPr/>
          <p:nvPr/>
        </p:nvSpPr>
        <p:spPr>
          <a:xfrm>
            <a:off x="1016000" y="635000"/>
            <a:ext cx="6350000" cy="381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/>
            <a:r>
              <a:rPr lang="en-US" sz="1800" b="0">
                <a:solidFill>
                  <a:srgbClr val="788CAA"/>
                </a:solidFill>
                <a:latin typeface="Microsoft YaHei"/>
                <a:ea typeface="Microsoft YaHei"/>
              </a:rPr>
              <a:t>实证 · 执行期限</a:t>
            </a:r>
          </a:p>
        </p:txBody>
      </p:sp>
      <p:sp>
        <p:nvSpPr>
          <p:cNvPr id="100073" name="Title"/>
          <p:cNvSpPr/>
          <p:nvPr/>
        </p:nvSpPr>
        <p:spPr>
          <a:xfrm>
            <a:off x="1016000" y="1219200"/>
            <a:ext cx="10160000" cy="762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ctr"/>
            <a:r>
              <a:rPr lang="en-US" sz="3600" b="1">
                <a:solidFill>
                  <a:srgbClr val="1A2E4B"/>
                </a:solidFill>
                <a:latin typeface="Microsoft YaHei"/>
                <a:ea typeface="Microsoft YaHei"/>
              </a:rPr>
              <a:t>延长交易期限，模型容量显著上升</a:t>
            </a:r>
          </a:p>
        </p:txBody>
      </p:sp>
      <p:sp>
        <p:nvSpPr>
          <p:cNvPr id="100074" name="Source">
            <a:hlinkClick r:id="rId4"/>
          </p:cNvPr>
          <p:cNvSpPr/>
          <p:nvPr/>
        </p:nvSpPr>
        <p:spPr>
          <a:xfrm>
            <a:off x="1016000" y="6413500"/>
            <a:ext cx="10160000" cy="254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/>
            <a:r>
              <a:rPr lang="en-US" sz="1100" b="0">
                <a:solidFill>
                  <a:srgbClr val="788CAA"/>
                </a:solidFill>
                <a:latin typeface="Microsoft YaHei"/>
                <a:ea typeface="Microsoft YaHei"/>
                <a:hlinkClick r:id="rId4"/>
              </a:rPr>
              <a:t>来源：Ratcliffe, Miranda &amp; Ang (2017), The Journal of Index Investing, 8(3), 39–50。</a:t>
            </a:r>
          </a:p>
        </p:txBody>
      </p:sp>
      <p:sp>
        <p:nvSpPr>
          <p:cNvPr id="100075" name="Panel动量"/>
          <p:cNvSpPr/>
          <p:nvPr/>
        </p:nvSpPr>
        <p:spPr>
          <a:xfrm>
            <a:off x="1016000" y="2286000"/>
            <a:ext cx="4826000" cy="3429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00076" name="Name动量"/>
          <p:cNvSpPr/>
          <p:nvPr/>
        </p:nvSpPr>
        <p:spPr>
          <a:xfrm>
            <a:off x="1333500" y="2514600"/>
            <a:ext cx="4191000" cy="4572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ctr"/>
            <a:r>
              <a:rPr lang="en-US" sz="2200" b="1">
                <a:solidFill>
                  <a:srgbClr val="1A2E4B"/>
                </a:solidFill>
                <a:latin typeface="Microsoft YaHei"/>
                <a:ea typeface="Microsoft YaHei"/>
              </a:rPr>
              <a:t>动量</a:t>
            </a:r>
          </a:p>
        </p:txBody>
      </p:sp>
      <p:sp>
        <p:nvSpPr>
          <p:cNvPr id="100077" name="OldLabel动量"/>
          <p:cNvSpPr/>
          <p:nvPr/>
        </p:nvSpPr>
        <p:spPr>
          <a:xfrm>
            <a:off x="1333500" y="3048000"/>
            <a:ext cx="4191000" cy="3556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ctr"/>
            <a:r>
              <a:rPr lang="en-US" sz="1800" b="0">
                <a:solidFill>
                  <a:srgbClr val="788CAA"/>
                </a:solidFill>
                <a:latin typeface="Microsoft YaHei"/>
                <a:ea typeface="Microsoft YaHei"/>
              </a:rPr>
              <a:t>1 天执行</a:t>
            </a:r>
          </a:p>
        </p:txBody>
      </p:sp>
      <p:sp>
        <p:nvSpPr>
          <p:cNvPr id="100078" name="Old动量"/>
          <p:cNvSpPr/>
          <p:nvPr/>
        </p:nvSpPr>
        <p:spPr>
          <a:xfrm>
            <a:off x="1270000" y="3429000"/>
            <a:ext cx="4318000" cy="6096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ctr"/>
            <a:r>
              <a:rPr lang="en-US" sz="3400" b="1">
                <a:solidFill>
                  <a:srgbClr val="1A2E4B"/>
                </a:solidFill>
                <a:latin typeface="Microsoft YaHei"/>
                <a:ea typeface="Microsoft YaHei"/>
              </a:rPr>
              <a:t>650 亿美元</a:t>
            </a:r>
          </a:p>
        </p:txBody>
      </p:sp>
      <p:sp>
        <p:nvSpPr>
          <p:cNvPr id="100079" name="Arrow动量"/>
          <p:cNvSpPr/>
          <p:nvPr/>
        </p:nvSpPr>
        <p:spPr>
          <a:xfrm>
            <a:off x="2984500" y="4000500"/>
            <a:ext cx="889000" cy="5334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ctr"/>
            <a:r>
              <a:rPr lang="en-US" sz="2800" b="1">
                <a:solidFill>
                  <a:srgbClr val="E8720C"/>
                </a:solidFill>
                <a:latin typeface="Microsoft YaHei"/>
                <a:ea typeface="Microsoft YaHei"/>
              </a:rPr>
              <a:t>↓</a:t>
            </a:r>
          </a:p>
        </p:txBody>
      </p:sp>
      <p:sp>
        <p:nvSpPr>
          <p:cNvPr id="100080" name="NewLabel动量"/>
          <p:cNvSpPr/>
          <p:nvPr/>
        </p:nvSpPr>
        <p:spPr>
          <a:xfrm>
            <a:off x="1333500" y="4445000"/>
            <a:ext cx="4191000" cy="3556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ctr"/>
            <a:r>
              <a:rPr lang="en-US" sz="1800" b="0">
                <a:solidFill>
                  <a:srgbClr val="788CAA"/>
                </a:solidFill>
                <a:latin typeface="Microsoft YaHei"/>
                <a:ea typeface="Microsoft YaHei"/>
              </a:rPr>
              <a:t>5 天执行</a:t>
            </a:r>
          </a:p>
        </p:txBody>
      </p:sp>
      <p:sp>
        <p:nvSpPr>
          <p:cNvPr id="100081" name="New动量"/>
          <p:cNvSpPr/>
          <p:nvPr/>
        </p:nvSpPr>
        <p:spPr>
          <a:xfrm>
            <a:off x="1270000" y="4851400"/>
            <a:ext cx="4318000" cy="6096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ctr"/>
            <a:r>
              <a:rPr lang="en-US" sz="3400" b="1">
                <a:solidFill>
                  <a:srgbClr val="E8720C"/>
                </a:solidFill>
                <a:latin typeface="Microsoft YaHei"/>
                <a:ea typeface="Microsoft YaHei"/>
              </a:rPr>
              <a:t>3,200 亿美元</a:t>
            </a:r>
          </a:p>
        </p:txBody>
      </p:sp>
      <p:sp>
        <p:nvSpPr>
          <p:cNvPr id="100082" name="Panel小市值"/>
          <p:cNvSpPr/>
          <p:nvPr/>
        </p:nvSpPr>
        <p:spPr>
          <a:xfrm>
            <a:off x="6350000" y="2286000"/>
            <a:ext cx="4826000" cy="3429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00083" name="Name小市值"/>
          <p:cNvSpPr/>
          <p:nvPr/>
        </p:nvSpPr>
        <p:spPr>
          <a:xfrm>
            <a:off x="6667500" y="2514600"/>
            <a:ext cx="4191000" cy="4572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ctr"/>
            <a:r>
              <a:rPr lang="en-US" sz="2200" b="1">
                <a:solidFill>
                  <a:srgbClr val="1A2E4B"/>
                </a:solidFill>
                <a:latin typeface="Microsoft YaHei"/>
                <a:ea typeface="Microsoft YaHei"/>
              </a:rPr>
              <a:t>小市值</a:t>
            </a:r>
          </a:p>
        </p:txBody>
      </p:sp>
      <p:sp>
        <p:nvSpPr>
          <p:cNvPr id="100084" name="OldLabel小市值"/>
          <p:cNvSpPr/>
          <p:nvPr/>
        </p:nvSpPr>
        <p:spPr>
          <a:xfrm>
            <a:off x="6667500" y="3048000"/>
            <a:ext cx="4191000" cy="3556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ctr"/>
            <a:r>
              <a:rPr lang="en-US" sz="1800" b="0">
                <a:solidFill>
                  <a:srgbClr val="788CAA"/>
                </a:solidFill>
                <a:latin typeface="Microsoft YaHei"/>
                <a:ea typeface="Microsoft YaHei"/>
              </a:rPr>
              <a:t>1 天执行</a:t>
            </a:r>
          </a:p>
        </p:txBody>
      </p:sp>
      <p:sp>
        <p:nvSpPr>
          <p:cNvPr id="100085" name="Old小市值"/>
          <p:cNvSpPr/>
          <p:nvPr/>
        </p:nvSpPr>
        <p:spPr>
          <a:xfrm>
            <a:off x="6604000" y="3429000"/>
            <a:ext cx="4318000" cy="6096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ctr"/>
            <a:r>
              <a:rPr lang="en-US" sz="3400" b="1">
                <a:solidFill>
                  <a:srgbClr val="1A2E4B"/>
                </a:solidFill>
                <a:latin typeface="Microsoft YaHei"/>
                <a:ea typeface="Microsoft YaHei"/>
              </a:rPr>
              <a:t>5 万亿美元</a:t>
            </a:r>
          </a:p>
        </p:txBody>
      </p:sp>
      <p:sp>
        <p:nvSpPr>
          <p:cNvPr id="100086" name="Arrow小市值"/>
          <p:cNvSpPr/>
          <p:nvPr/>
        </p:nvSpPr>
        <p:spPr>
          <a:xfrm>
            <a:off x="8318500" y="4000500"/>
            <a:ext cx="889000" cy="5334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ctr"/>
            <a:r>
              <a:rPr lang="en-US" sz="2800" b="1">
                <a:solidFill>
                  <a:srgbClr val="E8720C"/>
                </a:solidFill>
                <a:latin typeface="Microsoft YaHei"/>
                <a:ea typeface="Microsoft YaHei"/>
              </a:rPr>
              <a:t>↓</a:t>
            </a:r>
          </a:p>
        </p:txBody>
      </p:sp>
      <p:sp>
        <p:nvSpPr>
          <p:cNvPr id="100087" name="NewLabel小市值"/>
          <p:cNvSpPr/>
          <p:nvPr/>
        </p:nvSpPr>
        <p:spPr>
          <a:xfrm>
            <a:off x="6667500" y="4445000"/>
            <a:ext cx="4191000" cy="3556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ctr"/>
            <a:r>
              <a:rPr lang="en-US" sz="1800" b="0">
                <a:solidFill>
                  <a:srgbClr val="788CAA"/>
                </a:solidFill>
                <a:latin typeface="Microsoft YaHei"/>
                <a:ea typeface="Microsoft YaHei"/>
              </a:rPr>
              <a:t>5 天执行</a:t>
            </a:r>
          </a:p>
        </p:txBody>
      </p:sp>
      <p:sp>
        <p:nvSpPr>
          <p:cNvPr id="100088" name="New小市值"/>
          <p:cNvSpPr/>
          <p:nvPr/>
        </p:nvSpPr>
        <p:spPr>
          <a:xfrm>
            <a:off x="6604000" y="4851400"/>
            <a:ext cx="4318000" cy="6096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ctr"/>
            <a:r>
              <a:rPr lang="en-US" sz="3400" b="1">
                <a:solidFill>
                  <a:srgbClr val="E8720C"/>
                </a:solidFill>
                <a:latin typeface="Microsoft YaHei"/>
                <a:ea typeface="Microsoft YaHei"/>
              </a:rPr>
              <a:t>&gt;10 万亿美元</a:t>
            </a:r>
          </a:p>
        </p:txBody>
      </p:sp>
      <p:sp>
        <p:nvSpPr>
          <p:cNvPr id="100089" name="Caveat"/>
          <p:cNvSpPr/>
          <p:nvPr/>
        </p:nvSpPr>
        <p:spPr>
          <a:xfrm>
            <a:off x="1016000" y="5867400"/>
            <a:ext cx="10160000" cy="4064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ctr"/>
            <a:r>
              <a:rPr lang="en-US" sz="1800" b="1">
                <a:solidFill>
                  <a:srgbClr val="1A2E4B"/>
                </a:solidFill>
                <a:latin typeface="Microsoft YaHei"/>
                <a:ea typeface="Microsoft YaHei"/>
              </a:rPr>
              <a:t>延长执行可降低冲击，但信号衰减与暴露偏离需另计。</a:t>
            </a:r>
          </a:p>
        </p:txBody>
      </p:sp>
    </p:spTree>
    <p:custDataLst>
      <p:tags r:id="rId1"/>
    </p:custData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7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090" name="Eyebrow"/>
          <p:cNvSpPr/>
          <p:nvPr/>
        </p:nvSpPr>
        <p:spPr>
          <a:xfrm>
            <a:off x="1016000" y="635000"/>
            <a:ext cx="6350000" cy="381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/>
            <a:r>
              <a:rPr lang="en-US" sz="1800" b="0">
                <a:solidFill>
                  <a:srgbClr val="788CAA"/>
                </a:solidFill>
                <a:latin typeface="Microsoft YaHei"/>
                <a:ea typeface="Microsoft YaHei"/>
              </a:rPr>
              <a:t>案例 · 申购控制</a:t>
            </a:r>
          </a:p>
        </p:txBody>
      </p:sp>
      <p:sp>
        <p:nvSpPr>
          <p:cNvPr id="100091" name="Title"/>
          <p:cNvSpPr/>
          <p:nvPr/>
        </p:nvSpPr>
        <p:spPr>
          <a:xfrm>
            <a:off x="1016000" y="1219200"/>
            <a:ext cx="10160000" cy="762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ctr"/>
            <a:r>
              <a:rPr lang="en-US" sz="3600" b="1">
                <a:solidFill>
                  <a:srgbClr val="1A2E4B"/>
                </a:solidFill>
                <a:latin typeface="Microsoft YaHei"/>
                <a:ea typeface="Microsoft YaHei"/>
              </a:rPr>
              <a:t>暂停新客申购不等于统一封盘</a:t>
            </a:r>
          </a:p>
        </p:txBody>
      </p:sp>
      <p:sp>
        <p:nvSpPr>
          <p:cNvPr id="100092" name="Source">
            <a:hlinkClick r:id="rId4"/>
          </p:cNvPr>
          <p:cNvSpPr/>
          <p:nvPr/>
        </p:nvSpPr>
        <p:spPr>
          <a:xfrm>
            <a:off x="1016000" y="6413500"/>
            <a:ext cx="10160000" cy="254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/>
            <a:r>
              <a:rPr lang="en-US" sz="1100" b="0">
                <a:solidFill>
                  <a:srgbClr val="788CAA"/>
                </a:solidFill>
                <a:latin typeface="Microsoft YaHei"/>
                <a:ea typeface="Microsoft YaHei"/>
                <a:hlinkClick r:id="rId4"/>
              </a:rPr>
              <a:t>来源：中国基金报、中国证券报，2025-06-16；公司公告经媒体转述。</a:t>
            </a:r>
          </a:p>
        </p:txBody>
      </p:sp>
      <p:sp>
        <p:nvSpPr>
          <p:cNvPr id="100093" name="Case2025.06.16"/>
          <p:cNvSpPr/>
          <p:nvPr/>
        </p:nvSpPr>
        <p:spPr>
          <a:xfrm>
            <a:off x="1016000" y="2286000"/>
            <a:ext cx="3175000" cy="3175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00094" name="CaseDate2025.06.16"/>
          <p:cNvSpPr/>
          <p:nvPr/>
        </p:nvSpPr>
        <p:spPr>
          <a:xfrm>
            <a:off x="1270000" y="2565400"/>
            <a:ext cx="2667000" cy="4572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/>
            <a:r>
              <a:rPr lang="en-US" sz="2200" b="1">
                <a:solidFill>
                  <a:srgbClr val="E8720C"/>
                </a:solidFill>
                <a:latin typeface="Microsoft YaHei"/>
                <a:ea typeface="Microsoft YaHei"/>
              </a:rPr>
              <a:t>2025.06.16</a:t>
            </a:r>
          </a:p>
        </p:txBody>
      </p:sp>
      <p:sp>
        <p:nvSpPr>
          <p:cNvPr id="100095" name="CaseHead2025.06.16"/>
          <p:cNvSpPr/>
          <p:nvPr/>
        </p:nvSpPr>
        <p:spPr>
          <a:xfrm>
            <a:off x="1270000" y="3175000"/>
            <a:ext cx="2667000" cy="508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/>
            <a:r>
              <a:rPr lang="en-US" sz="2200" b="1">
                <a:solidFill>
                  <a:srgbClr val="1A2E4B"/>
                </a:solidFill>
                <a:latin typeface="Microsoft YaHei"/>
                <a:ea typeface="Microsoft YaHei"/>
              </a:rPr>
              <a:t>公告</a:t>
            </a:r>
          </a:p>
        </p:txBody>
      </p:sp>
      <p:sp>
        <p:nvSpPr>
          <p:cNvPr id="100096" name="CaseBody2025.06.16"/>
          <p:cNvSpPr/>
          <p:nvPr/>
        </p:nvSpPr>
        <p:spPr>
          <a:xfrm>
            <a:off x="1270000" y="3937000"/>
            <a:ext cx="2667000" cy="10795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/>
          <a:lstStyle/>
          <a:p>
            <a:pPr algn="l"/>
            <a:r>
              <a:rPr lang="en-US" sz="1800" b="0">
                <a:solidFill>
                  <a:srgbClr val="1A2E4B"/>
                </a:solidFill>
                <a:latin typeface="Microsoft YaHei"/>
                <a:ea typeface="Microsoft YaHei"/>
              </a:rPr>
              <a:t>衍复投资部分指增产品</a:t>
            </a:r>
          </a:p>
          <a:p>
            <a:pPr algn="l"/>
            <a:r>
              <a:rPr lang="en-US" sz="1800" b="0">
                <a:solidFill>
                  <a:srgbClr val="1A2E4B"/>
                </a:solidFill>
                <a:latin typeface="Microsoft YaHei"/>
                <a:ea typeface="Microsoft YaHei"/>
              </a:rPr>
              <a:t>拟暂停新客户申购</a:t>
            </a:r>
          </a:p>
        </p:txBody>
      </p:sp>
      <p:sp>
        <p:nvSpPr>
          <p:cNvPr id="100097" name="Case2025.07.01"/>
          <p:cNvSpPr/>
          <p:nvPr/>
        </p:nvSpPr>
        <p:spPr>
          <a:xfrm>
            <a:off x="4508500" y="2286000"/>
            <a:ext cx="3175000" cy="3175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00098" name="CaseDate2025.07.01"/>
          <p:cNvSpPr/>
          <p:nvPr/>
        </p:nvSpPr>
        <p:spPr>
          <a:xfrm>
            <a:off x="4762500" y="2565400"/>
            <a:ext cx="2667000" cy="4572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/>
            <a:r>
              <a:rPr lang="en-US" sz="2200" b="1">
                <a:solidFill>
                  <a:srgbClr val="E8720C"/>
                </a:solidFill>
                <a:latin typeface="Microsoft YaHei"/>
                <a:ea typeface="Microsoft YaHei"/>
              </a:rPr>
              <a:t>2025.07.01</a:t>
            </a:r>
          </a:p>
        </p:txBody>
      </p:sp>
      <p:sp>
        <p:nvSpPr>
          <p:cNvPr id="100099" name="CaseHead2025.07.01"/>
          <p:cNvSpPr/>
          <p:nvPr/>
        </p:nvSpPr>
        <p:spPr>
          <a:xfrm>
            <a:off x="4762500" y="3175000"/>
            <a:ext cx="2667000" cy="508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/>
            <a:r>
              <a:rPr lang="en-US" sz="2200" b="1">
                <a:solidFill>
                  <a:srgbClr val="1A2E4B"/>
                </a:solidFill>
                <a:latin typeface="Microsoft YaHei"/>
                <a:ea typeface="Microsoft YaHei"/>
              </a:rPr>
              <a:t>生效</a:t>
            </a:r>
          </a:p>
        </p:txBody>
      </p:sp>
      <p:sp>
        <p:nvSpPr>
          <p:cNvPr id="100100" name="CaseBody2025.07.01"/>
          <p:cNvSpPr/>
          <p:nvPr/>
        </p:nvSpPr>
        <p:spPr>
          <a:xfrm>
            <a:off x="4762500" y="3937000"/>
            <a:ext cx="2667000" cy="10795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/>
          <a:lstStyle/>
          <a:p>
            <a:pPr algn="l"/>
            <a:r>
              <a:rPr lang="en-US" sz="1800" b="0">
                <a:solidFill>
                  <a:srgbClr val="1A2E4B"/>
                </a:solidFill>
                <a:latin typeface="Microsoft YaHei"/>
                <a:ea typeface="Microsoft YaHei"/>
              </a:rPr>
              <a:t>中证500、中证1000、</a:t>
            </a:r>
          </a:p>
          <a:p>
            <a:pPr algn="l"/>
            <a:r>
              <a:rPr lang="en-US" sz="1800" b="0">
                <a:solidFill>
                  <a:srgbClr val="1A2E4B"/>
                </a:solidFill>
                <a:latin typeface="Microsoft YaHei"/>
                <a:ea typeface="Microsoft YaHei"/>
              </a:rPr>
              <a:t>万得小市值概念指增</a:t>
            </a:r>
          </a:p>
        </p:txBody>
      </p:sp>
      <p:sp>
        <p:nvSpPr>
          <p:cNvPr id="100101" name="Case适用边界"/>
          <p:cNvSpPr/>
          <p:nvPr/>
        </p:nvSpPr>
        <p:spPr>
          <a:xfrm>
            <a:off x="8001000" y="2286000"/>
            <a:ext cx="3175000" cy="3175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00102" name="CaseDate适用边界"/>
          <p:cNvSpPr/>
          <p:nvPr/>
        </p:nvSpPr>
        <p:spPr>
          <a:xfrm>
            <a:off x="8255000" y="2565400"/>
            <a:ext cx="2667000" cy="4572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/>
            <a:r>
              <a:rPr lang="en-US" sz="2200" b="1">
                <a:solidFill>
                  <a:srgbClr val="E8720C"/>
                </a:solidFill>
                <a:latin typeface="Microsoft YaHei"/>
                <a:ea typeface="Microsoft YaHei"/>
              </a:rPr>
              <a:t>适用边界</a:t>
            </a:r>
          </a:p>
        </p:txBody>
      </p:sp>
      <p:sp>
        <p:nvSpPr>
          <p:cNvPr id="100103" name="CaseHead适用边界"/>
          <p:cNvSpPr/>
          <p:nvPr/>
        </p:nvSpPr>
        <p:spPr>
          <a:xfrm>
            <a:off x="8255000" y="3175000"/>
            <a:ext cx="2667000" cy="508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/>
            <a:r>
              <a:rPr lang="en-US" sz="2200" b="1">
                <a:solidFill>
                  <a:srgbClr val="1A2E4B"/>
                </a:solidFill>
                <a:latin typeface="Microsoft YaHei"/>
                <a:ea typeface="Microsoft YaHei"/>
              </a:rPr>
              <a:t>并非全面暂停</a:t>
            </a:r>
          </a:p>
        </p:txBody>
      </p:sp>
      <p:sp>
        <p:nvSpPr>
          <p:cNvPr id="100104" name="CaseBody适用边界"/>
          <p:cNvSpPr/>
          <p:nvPr/>
        </p:nvSpPr>
        <p:spPr>
          <a:xfrm>
            <a:off x="8255000" y="3937000"/>
            <a:ext cx="2667000" cy="10795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/>
          <a:lstStyle/>
          <a:p>
            <a:pPr algn="l"/>
            <a:r>
              <a:rPr lang="en-US" sz="1800" b="0">
                <a:solidFill>
                  <a:srgbClr val="1A2E4B"/>
                </a:solidFill>
                <a:latin typeface="Microsoft YaHei"/>
                <a:ea typeface="Microsoft YaHei"/>
              </a:rPr>
              <a:t>存量客户追加不受影响</a:t>
            </a:r>
          </a:p>
          <a:p>
            <a:pPr algn="l"/>
            <a:r>
              <a:rPr lang="en-US" sz="1800" b="0">
                <a:solidFill>
                  <a:srgbClr val="1A2E4B"/>
                </a:solidFill>
                <a:latin typeface="Microsoft YaHei"/>
                <a:ea typeface="Microsoft YaHei"/>
              </a:rPr>
              <a:t>其他指增产品线正常开放</a:t>
            </a:r>
          </a:p>
        </p:txBody>
      </p:sp>
      <p:sp>
        <p:nvSpPr>
          <p:cNvPr id="100105" name="Caveat"/>
          <p:cNvSpPr/>
          <p:nvPr/>
        </p:nvSpPr>
        <p:spPr>
          <a:xfrm>
            <a:off x="1016000" y="5740400"/>
            <a:ext cx="10160000" cy="4826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ctr"/>
            <a:r>
              <a:rPr lang="en-US" sz="1800" b="1">
                <a:solidFill>
                  <a:srgbClr val="1A2E4B"/>
                </a:solidFill>
                <a:latin typeface="Microsoft YaHei"/>
                <a:ea typeface="Microsoft YaHei"/>
              </a:rPr>
              <a:t>公告未披露成本模型与目标净超额，不能据此反推容量数值。</a:t>
            </a:r>
          </a:p>
        </p:txBody>
      </p:sp>
    </p:spTree>
    <p:custDataLst>
      <p:tags r:id="rId1"/>
    </p:custData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7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106" name="Eyebrow"/>
          <p:cNvSpPr/>
          <p:nvPr/>
        </p:nvSpPr>
        <p:spPr>
          <a:xfrm>
            <a:off x="1016000" y="635000"/>
            <a:ext cx="6350000" cy="381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/>
            <a:r>
              <a:rPr lang="en-US" sz="1800" b="0">
                <a:solidFill>
                  <a:srgbClr val="788CAA"/>
                </a:solidFill>
                <a:latin typeface="Microsoft YaHei"/>
                <a:ea typeface="Microsoft YaHei"/>
              </a:rPr>
              <a:t>管理 · 扩容取舍</a:t>
            </a:r>
          </a:p>
        </p:txBody>
      </p:sp>
      <p:sp>
        <p:nvSpPr>
          <p:cNvPr id="100107" name="Title"/>
          <p:cNvSpPr/>
          <p:nvPr/>
        </p:nvSpPr>
        <p:spPr>
          <a:xfrm>
            <a:off x="1016000" y="1219200"/>
            <a:ext cx="10160000" cy="762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ctr"/>
            <a:r>
              <a:rPr lang="en-US" sz="3600" b="1">
                <a:solidFill>
                  <a:srgbClr val="1A2E4B"/>
                </a:solidFill>
                <a:latin typeface="Microsoft YaHei"/>
                <a:ea typeface="Microsoft YaHei"/>
              </a:rPr>
              <a:t>四种扩容动作都要付出成本</a:t>
            </a:r>
          </a:p>
        </p:txBody>
      </p:sp>
      <p:sp>
        <p:nvSpPr>
          <p:cNvPr id="100109" name="Action延长交易"/>
          <p:cNvSpPr/>
          <p:nvPr/>
        </p:nvSpPr>
        <p:spPr>
          <a:xfrm>
            <a:off x="1016000" y="2286000"/>
            <a:ext cx="4826000" cy="15875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00110" name="ActionHead延长交易"/>
          <p:cNvSpPr/>
          <p:nvPr/>
        </p:nvSpPr>
        <p:spPr>
          <a:xfrm>
            <a:off x="1320800" y="2489200"/>
            <a:ext cx="4216400" cy="4572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/>
            <a:r>
              <a:rPr lang="en-US" sz="2200" b="1">
                <a:solidFill>
                  <a:srgbClr val="1A2E4B"/>
                </a:solidFill>
                <a:latin typeface="Microsoft YaHei"/>
                <a:ea typeface="Microsoft YaHei"/>
              </a:rPr>
              <a:t>延长交易</a:t>
            </a:r>
          </a:p>
        </p:txBody>
      </p:sp>
      <p:sp>
        <p:nvSpPr>
          <p:cNvPr id="100111" name="ActionBody延长交易"/>
          <p:cNvSpPr/>
          <p:nvPr/>
        </p:nvSpPr>
        <p:spPr>
          <a:xfrm>
            <a:off x="1320800" y="3048000"/>
            <a:ext cx="4216400" cy="6604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/>
          <a:lstStyle/>
          <a:p>
            <a:pPr algn="l"/>
            <a:r>
              <a:rPr lang="en-US" sz="1800" b="0">
                <a:solidFill>
                  <a:srgbClr val="788CAA"/>
                </a:solidFill>
                <a:latin typeface="Microsoft YaHei"/>
                <a:ea typeface="Microsoft YaHei"/>
              </a:rPr>
              <a:t>降低短期冲击</a:t>
            </a:r>
          </a:p>
          <a:p>
            <a:pPr algn="l"/>
            <a:r>
              <a:rPr lang="en-US" sz="1800" b="0">
                <a:solidFill>
                  <a:srgbClr val="788CAA"/>
                </a:solidFill>
                <a:latin typeface="Microsoft YaHei"/>
                <a:ea typeface="Microsoft YaHei"/>
              </a:rPr>
              <a:t>代价：信号衰减、暴露偏离</a:t>
            </a:r>
          </a:p>
        </p:txBody>
      </p:sp>
      <p:sp>
        <p:nvSpPr>
          <p:cNvPr id="100112" name="Action降低换手"/>
          <p:cNvSpPr/>
          <p:nvPr/>
        </p:nvSpPr>
        <p:spPr>
          <a:xfrm>
            <a:off x="6350000" y="2286000"/>
            <a:ext cx="4826000" cy="15875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00113" name="ActionHead降低换手"/>
          <p:cNvSpPr/>
          <p:nvPr/>
        </p:nvSpPr>
        <p:spPr>
          <a:xfrm>
            <a:off x="6654800" y="2489200"/>
            <a:ext cx="4216400" cy="4572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/>
            <a:r>
              <a:rPr lang="en-US" sz="2200" b="1">
                <a:solidFill>
                  <a:srgbClr val="1A2E4B"/>
                </a:solidFill>
                <a:latin typeface="Microsoft YaHei"/>
                <a:ea typeface="Microsoft YaHei"/>
              </a:rPr>
              <a:t>降低换手</a:t>
            </a:r>
          </a:p>
        </p:txBody>
      </p:sp>
      <p:sp>
        <p:nvSpPr>
          <p:cNvPr id="100114" name="ActionBody降低换手"/>
          <p:cNvSpPr/>
          <p:nvPr/>
        </p:nvSpPr>
        <p:spPr>
          <a:xfrm>
            <a:off x="6654800" y="3048000"/>
            <a:ext cx="4216400" cy="6604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/>
          <a:lstStyle/>
          <a:p>
            <a:pPr algn="l"/>
            <a:r>
              <a:rPr lang="en-US" sz="1800" b="0">
                <a:solidFill>
                  <a:srgbClr val="788CAA"/>
                </a:solidFill>
                <a:latin typeface="Microsoft YaHei"/>
                <a:ea typeface="Microsoft YaHei"/>
              </a:rPr>
              <a:t>减少交易次数</a:t>
            </a:r>
          </a:p>
          <a:p>
            <a:pPr algn="l"/>
            <a:r>
              <a:rPr lang="en-US" sz="1800" b="0">
                <a:solidFill>
                  <a:srgbClr val="788CAA"/>
                </a:solidFill>
                <a:latin typeface="Microsoft YaHei"/>
                <a:ea typeface="Microsoft YaHei"/>
              </a:rPr>
              <a:t>代价：信号跟踪变弱</a:t>
            </a:r>
          </a:p>
        </p:txBody>
      </p:sp>
      <p:sp>
        <p:nvSpPr>
          <p:cNvPr id="100115" name="Action扩大股票池"/>
          <p:cNvSpPr/>
          <p:nvPr/>
        </p:nvSpPr>
        <p:spPr>
          <a:xfrm>
            <a:off x="1016000" y="4191000"/>
            <a:ext cx="4826000" cy="15875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00116" name="ActionHead扩大股票池"/>
          <p:cNvSpPr/>
          <p:nvPr/>
        </p:nvSpPr>
        <p:spPr>
          <a:xfrm>
            <a:off x="1320800" y="4394200"/>
            <a:ext cx="4216400" cy="4572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/>
            <a:r>
              <a:rPr lang="en-US" sz="2200" b="1">
                <a:solidFill>
                  <a:srgbClr val="1A2E4B"/>
                </a:solidFill>
                <a:latin typeface="Microsoft YaHei"/>
                <a:ea typeface="Microsoft YaHei"/>
              </a:rPr>
              <a:t>扩大股票池</a:t>
            </a:r>
          </a:p>
        </p:txBody>
      </p:sp>
      <p:sp>
        <p:nvSpPr>
          <p:cNvPr id="100117" name="ActionBody扩大股票池"/>
          <p:cNvSpPr/>
          <p:nvPr/>
        </p:nvSpPr>
        <p:spPr>
          <a:xfrm>
            <a:off x="1320800" y="4953000"/>
            <a:ext cx="4216400" cy="6604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/>
          <a:lstStyle/>
          <a:p>
            <a:pPr algn="l"/>
            <a:r>
              <a:rPr lang="en-US" sz="1800" b="0">
                <a:solidFill>
                  <a:srgbClr val="788CAA"/>
                </a:solidFill>
                <a:latin typeface="Microsoft YaHei"/>
                <a:ea typeface="Microsoft YaHei"/>
              </a:rPr>
              <a:t>分散单笔成交</a:t>
            </a:r>
          </a:p>
          <a:p>
            <a:pPr algn="l"/>
            <a:r>
              <a:rPr lang="en-US" sz="1800" b="0">
                <a:solidFill>
                  <a:srgbClr val="788CAA"/>
                </a:solidFill>
                <a:latin typeface="Microsoft YaHei"/>
                <a:ea typeface="Microsoft YaHei"/>
              </a:rPr>
              <a:t>代价：风格漂移、Alpha变稀</a:t>
            </a:r>
          </a:p>
        </p:txBody>
      </p:sp>
      <p:sp>
        <p:nvSpPr>
          <p:cNvPr id="100118" name="Action限制申购"/>
          <p:cNvSpPr/>
          <p:nvPr/>
        </p:nvSpPr>
        <p:spPr>
          <a:xfrm>
            <a:off x="6350000" y="4191000"/>
            <a:ext cx="4826000" cy="15875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00119" name="ActionHead限制申购"/>
          <p:cNvSpPr/>
          <p:nvPr/>
        </p:nvSpPr>
        <p:spPr>
          <a:xfrm>
            <a:off x="6654800" y="4394200"/>
            <a:ext cx="4216400" cy="4572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/>
            <a:r>
              <a:rPr lang="en-US" sz="2200" b="1">
                <a:solidFill>
                  <a:srgbClr val="1A2E4B"/>
                </a:solidFill>
                <a:latin typeface="Microsoft YaHei"/>
                <a:ea typeface="Microsoft YaHei"/>
              </a:rPr>
              <a:t>限制申购</a:t>
            </a:r>
          </a:p>
        </p:txBody>
      </p:sp>
      <p:sp>
        <p:nvSpPr>
          <p:cNvPr id="100120" name="ActionBody限制申购"/>
          <p:cNvSpPr/>
          <p:nvPr/>
        </p:nvSpPr>
        <p:spPr>
          <a:xfrm>
            <a:off x="6654800" y="4953000"/>
            <a:ext cx="4216400" cy="6604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/>
          <a:lstStyle/>
          <a:p>
            <a:pPr algn="l"/>
            <a:r>
              <a:rPr lang="en-US" sz="1800" b="0">
                <a:solidFill>
                  <a:srgbClr val="788CAA"/>
                </a:solidFill>
                <a:latin typeface="Microsoft YaHei"/>
                <a:ea typeface="Microsoft YaHei"/>
              </a:rPr>
              <a:t>直接控制新增资金</a:t>
            </a:r>
          </a:p>
          <a:p>
            <a:pPr algn="l"/>
            <a:r>
              <a:rPr lang="en-US" sz="1800" b="0">
                <a:solidFill>
                  <a:srgbClr val="788CAA"/>
                </a:solidFill>
                <a:latin typeface="Microsoft YaHei"/>
                <a:ea typeface="Microsoft YaHei"/>
              </a:rPr>
              <a:t>代价：规模收入与渠道压力</a:t>
            </a:r>
          </a:p>
        </p:txBody>
      </p:sp>
      <p:sp>
        <p:nvSpPr>
          <p:cNvPr id="100121" name="Takeaway"/>
          <p:cNvSpPr/>
          <p:nvPr/>
        </p:nvSpPr>
        <p:spPr>
          <a:xfrm>
            <a:off x="1016000" y="5943600"/>
            <a:ext cx="10160000" cy="3556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ctr"/>
            <a:r>
              <a:rPr lang="en-US" sz="1800" b="1">
                <a:solidFill>
                  <a:srgbClr val="1A2E4B"/>
                </a:solidFill>
                <a:latin typeface="Microsoft YaHei"/>
                <a:ea typeface="Microsoft YaHei"/>
              </a:rPr>
              <a:t>扩容不是免费午餐：先比较动作后的净超额，再决定是否扩AUM。</a:t>
            </a:r>
          </a:p>
        </p:txBody>
      </p:sp>
    </p:spTree>
    <p:custDataLst>
      <p:tags r:id="rId1"/>
    </p:custData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7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122" name="Eyebrow"/>
          <p:cNvSpPr/>
          <p:nvPr/>
        </p:nvSpPr>
        <p:spPr>
          <a:xfrm>
            <a:off x="1016000" y="635000"/>
            <a:ext cx="6350000" cy="381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/>
            <a:r>
              <a:rPr lang="en-US" sz="1800" b="0">
                <a:solidFill>
                  <a:srgbClr val="788CAA"/>
                </a:solidFill>
                <a:latin typeface="Microsoft YaHei"/>
                <a:ea typeface="Microsoft YaHei"/>
              </a:rPr>
              <a:t>管理 · 监测仪表盘</a:t>
            </a:r>
          </a:p>
        </p:txBody>
      </p:sp>
      <p:sp>
        <p:nvSpPr>
          <p:cNvPr id="100123" name="Title"/>
          <p:cNvSpPr/>
          <p:nvPr/>
        </p:nvSpPr>
        <p:spPr>
          <a:xfrm>
            <a:off x="1016000" y="1219200"/>
            <a:ext cx="10160000" cy="762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ctr"/>
            <a:r>
              <a:rPr lang="en-US" sz="3600" b="1">
                <a:solidFill>
                  <a:srgbClr val="1A2E4B"/>
                </a:solidFill>
                <a:latin typeface="Microsoft YaHei"/>
                <a:ea typeface="Microsoft YaHei"/>
              </a:rPr>
              <a:t>用仪表盘监控容量，而非等超额消失</a:t>
            </a:r>
          </a:p>
        </p:txBody>
      </p:sp>
      <p:sp>
        <p:nvSpPr>
          <p:cNvPr id="100125" name="Metric1"/>
          <p:cNvSpPr/>
          <p:nvPr/>
        </p:nvSpPr>
        <p:spPr>
          <a:xfrm>
            <a:off x="762000" y="2413000"/>
            <a:ext cx="2413000" cy="3175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00126" name="MetricHead1"/>
          <p:cNvSpPr/>
          <p:nvPr/>
        </p:nvSpPr>
        <p:spPr>
          <a:xfrm>
            <a:off x="939800" y="2641600"/>
            <a:ext cx="2057400" cy="635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ctr"/>
            <a:r>
              <a:rPr lang="en-US" sz="2000" b="1">
                <a:solidFill>
                  <a:srgbClr val="1A2E4B"/>
                </a:solidFill>
                <a:latin typeface="Microsoft YaHei"/>
                <a:ea typeface="Microsoft YaHei"/>
              </a:rPr>
              <a:t>参与率</a:t>
            </a:r>
          </a:p>
        </p:txBody>
      </p:sp>
      <p:sp>
        <p:nvSpPr>
          <p:cNvPr id="100127" name="MetricBody1"/>
          <p:cNvSpPr/>
          <p:nvPr/>
        </p:nvSpPr>
        <p:spPr>
          <a:xfrm>
            <a:off x="939800" y="3429000"/>
            <a:ext cx="2057400" cy="1270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/>
          <a:lstStyle/>
          <a:p>
            <a:pPr algn="ctr"/>
            <a:r>
              <a:rPr lang="en-US" sz="1800" b="0">
                <a:solidFill>
                  <a:srgbClr val="788CAA"/>
                </a:solidFill>
                <a:latin typeface="Microsoft YaHei"/>
                <a:ea typeface="Microsoft YaHei"/>
              </a:rPr>
              <a:t>自身成交量占</a:t>
            </a:r>
          </a:p>
          <a:p>
            <a:pPr algn="ctr"/>
            <a:r>
              <a:rPr lang="en-US" sz="1800" b="0">
                <a:solidFill>
                  <a:srgbClr val="788CAA"/>
                </a:solidFill>
                <a:latin typeface="Microsoft YaHei"/>
                <a:ea typeface="Microsoft YaHei"/>
              </a:rPr>
              <a:t>市场成交量的比例</a:t>
            </a:r>
          </a:p>
          <a:p>
            <a:pPr algn="ctr"/>
            <a:r>
              <a:rPr lang="en-US" sz="1800" b="0">
                <a:solidFill>
                  <a:srgbClr val="788CAA"/>
                </a:solidFill>
                <a:latin typeface="Microsoft YaHei"/>
                <a:ea typeface="Microsoft YaHei"/>
              </a:rPr>
              <a:t>持续上升</a:t>
            </a:r>
          </a:p>
        </p:txBody>
      </p:sp>
      <p:sp>
        <p:nvSpPr>
          <p:cNvPr id="100128" name="MetricAction1"/>
          <p:cNvSpPr/>
          <p:nvPr/>
        </p:nvSpPr>
        <p:spPr>
          <a:xfrm>
            <a:off x="889000" y="4927600"/>
            <a:ext cx="2159000" cy="4318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ctr"/>
            <a:r>
              <a:rPr lang="en-US" sz="1800" b="1">
                <a:solidFill>
                  <a:srgbClr val="E8720C"/>
                </a:solidFill>
                <a:latin typeface="Microsoft YaHei"/>
                <a:ea typeface="Microsoft YaHei"/>
              </a:rPr>
              <a:t>降速 / 限申购</a:t>
            </a:r>
          </a:p>
        </p:txBody>
      </p:sp>
      <p:sp>
        <p:nvSpPr>
          <p:cNvPr id="100129" name="Metric2"/>
          <p:cNvSpPr/>
          <p:nvPr/>
        </p:nvSpPr>
        <p:spPr>
          <a:xfrm>
            <a:off x="3514090" y="2413000"/>
            <a:ext cx="2413000" cy="3175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00130" name="MetricHead2"/>
          <p:cNvSpPr/>
          <p:nvPr/>
        </p:nvSpPr>
        <p:spPr>
          <a:xfrm>
            <a:off x="3691890" y="2641600"/>
            <a:ext cx="2057400" cy="635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ctr"/>
            <a:r>
              <a:rPr lang="en-US" sz="2000" b="1">
                <a:solidFill>
                  <a:srgbClr val="1A2E4B"/>
                </a:solidFill>
                <a:latin typeface="Microsoft YaHei"/>
                <a:ea typeface="Microsoft YaHei"/>
              </a:rPr>
              <a:t>实施缺口</a:t>
            </a:r>
          </a:p>
        </p:txBody>
      </p:sp>
      <p:sp>
        <p:nvSpPr>
          <p:cNvPr id="100131" name="MetricBody2"/>
          <p:cNvSpPr/>
          <p:nvPr/>
        </p:nvSpPr>
        <p:spPr>
          <a:xfrm>
            <a:off x="3691890" y="3429000"/>
            <a:ext cx="2057400" cy="1270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/>
          <a:lstStyle/>
          <a:p>
            <a:pPr algn="ctr"/>
            <a:r>
              <a:rPr lang="en-US" sz="1800" b="0">
                <a:solidFill>
                  <a:srgbClr val="788CAA"/>
                </a:solidFill>
                <a:latin typeface="Microsoft YaHei"/>
                <a:ea typeface="Microsoft YaHei"/>
              </a:rPr>
              <a:t>实际成交相对</a:t>
            </a:r>
          </a:p>
          <a:p>
            <a:pPr algn="ctr"/>
            <a:r>
              <a:rPr lang="en-US" sz="1800" b="0">
                <a:solidFill>
                  <a:srgbClr val="788CAA"/>
                </a:solidFill>
                <a:latin typeface="Microsoft YaHei"/>
                <a:ea typeface="Microsoft YaHei"/>
              </a:rPr>
              <a:t>决策价格的成本</a:t>
            </a:r>
          </a:p>
          <a:p>
            <a:pPr algn="ctr"/>
            <a:r>
              <a:rPr lang="en-US" sz="1800" b="0">
                <a:solidFill>
                  <a:srgbClr val="788CAA"/>
                </a:solidFill>
                <a:latin typeface="Microsoft YaHei"/>
                <a:ea typeface="Microsoft YaHei"/>
              </a:rPr>
              <a:t>持续上升</a:t>
            </a:r>
          </a:p>
        </p:txBody>
      </p:sp>
      <p:sp>
        <p:nvSpPr>
          <p:cNvPr id="100132" name="MetricAction2"/>
          <p:cNvSpPr/>
          <p:nvPr/>
        </p:nvSpPr>
        <p:spPr>
          <a:xfrm>
            <a:off x="3641090" y="4927600"/>
            <a:ext cx="2159000" cy="4318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ctr"/>
            <a:r>
              <a:rPr lang="en-US" sz="1800" b="1">
                <a:solidFill>
                  <a:srgbClr val="E8720C"/>
                </a:solidFill>
                <a:latin typeface="Microsoft YaHei"/>
                <a:ea typeface="Microsoft YaHei"/>
              </a:rPr>
              <a:t>优化执行 / 降换手</a:t>
            </a:r>
          </a:p>
        </p:txBody>
      </p:sp>
      <p:sp>
        <p:nvSpPr>
          <p:cNvPr id="100133" name="Metric3"/>
          <p:cNvSpPr/>
          <p:nvPr/>
        </p:nvSpPr>
        <p:spPr>
          <a:xfrm>
            <a:off x="6264910" y="2413000"/>
            <a:ext cx="2413000" cy="3175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00134" name="MetricHead3"/>
          <p:cNvSpPr/>
          <p:nvPr/>
        </p:nvSpPr>
        <p:spPr>
          <a:xfrm>
            <a:off x="6442710" y="2641600"/>
            <a:ext cx="2057400" cy="635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ctr"/>
            <a:r>
              <a:rPr lang="en-US" sz="2000" b="1">
                <a:solidFill>
                  <a:srgbClr val="1A2E4B"/>
                </a:solidFill>
                <a:latin typeface="Microsoft YaHei"/>
                <a:ea typeface="Microsoft YaHei"/>
              </a:rPr>
              <a:t>清仓天数</a:t>
            </a:r>
          </a:p>
        </p:txBody>
      </p:sp>
      <p:sp>
        <p:nvSpPr>
          <p:cNvPr id="100135" name="MetricBody3"/>
          <p:cNvSpPr/>
          <p:nvPr/>
        </p:nvSpPr>
        <p:spPr>
          <a:xfrm>
            <a:off x="6442710" y="3429000"/>
            <a:ext cx="2057400" cy="1270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/>
          <a:lstStyle/>
          <a:p>
            <a:pPr algn="ctr"/>
            <a:r>
              <a:rPr lang="en-US" sz="1800" b="0">
                <a:solidFill>
                  <a:srgbClr val="788CAA"/>
                </a:solidFill>
                <a:latin typeface="Microsoft YaHei"/>
                <a:ea typeface="Microsoft YaHei"/>
              </a:rPr>
              <a:t>按压力参与率</a:t>
            </a:r>
          </a:p>
          <a:p>
            <a:pPr algn="ctr"/>
            <a:r>
              <a:rPr lang="en-US" sz="1800" b="0">
                <a:solidFill>
                  <a:srgbClr val="788CAA"/>
                </a:solidFill>
                <a:latin typeface="Microsoft YaHei"/>
                <a:ea typeface="Microsoft YaHei"/>
              </a:rPr>
              <a:t>估算退出时间</a:t>
            </a:r>
          </a:p>
          <a:p>
            <a:pPr algn="ctr"/>
            <a:r>
              <a:rPr lang="en-US" sz="1800" b="0">
                <a:solidFill>
                  <a:srgbClr val="788CAA"/>
                </a:solidFill>
                <a:latin typeface="Microsoft YaHei"/>
                <a:ea typeface="Microsoft YaHei"/>
              </a:rPr>
              <a:t>超过容忍窗口</a:t>
            </a:r>
          </a:p>
        </p:txBody>
      </p:sp>
      <p:sp>
        <p:nvSpPr>
          <p:cNvPr id="100136" name="MetricAction3"/>
          <p:cNvSpPr/>
          <p:nvPr/>
        </p:nvSpPr>
        <p:spPr>
          <a:xfrm>
            <a:off x="6391910" y="4927600"/>
            <a:ext cx="2159000" cy="4318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ctr"/>
            <a:r>
              <a:rPr lang="en-US" sz="1800" b="1">
                <a:solidFill>
                  <a:srgbClr val="E8720C"/>
                </a:solidFill>
                <a:latin typeface="Microsoft YaHei"/>
                <a:ea typeface="Microsoft YaHei"/>
              </a:rPr>
              <a:t>降集中度 / 降规模</a:t>
            </a:r>
          </a:p>
        </p:txBody>
      </p:sp>
      <p:sp>
        <p:nvSpPr>
          <p:cNvPr id="100137" name="Metric4"/>
          <p:cNvSpPr/>
          <p:nvPr/>
        </p:nvSpPr>
        <p:spPr>
          <a:xfrm>
            <a:off x="9017000" y="2413000"/>
            <a:ext cx="2413000" cy="3175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00138" name="MetricHead4"/>
          <p:cNvSpPr/>
          <p:nvPr/>
        </p:nvSpPr>
        <p:spPr>
          <a:xfrm>
            <a:off x="9194800" y="2641600"/>
            <a:ext cx="2057400" cy="635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ctr"/>
            <a:r>
              <a:rPr lang="en-US" sz="2000" b="1">
                <a:solidFill>
                  <a:srgbClr val="1A2E4B"/>
                </a:solidFill>
                <a:latin typeface="Microsoft YaHei"/>
                <a:ea typeface="Microsoft YaHei"/>
              </a:rPr>
              <a:t>净超额与暴露</a:t>
            </a:r>
          </a:p>
        </p:txBody>
      </p:sp>
      <p:sp>
        <p:nvSpPr>
          <p:cNvPr id="100139" name="MetricBody4"/>
          <p:cNvSpPr/>
          <p:nvPr/>
        </p:nvSpPr>
        <p:spPr>
          <a:xfrm>
            <a:off x="9194800" y="3429000"/>
            <a:ext cx="2057400" cy="1270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/>
          <a:lstStyle/>
          <a:p>
            <a:pPr algn="ctr"/>
            <a:r>
              <a:rPr lang="en-US" sz="1800" b="0">
                <a:solidFill>
                  <a:srgbClr val="788CAA"/>
                </a:solidFill>
                <a:latin typeface="Microsoft YaHei"/>
                <a:ea typeface="Microsoft YaHei"/>
              </a:rPr>
              <a:t>超额变薄或</a:t>
            </a:r>
          </a:p>
          <a:p>
            <a:pPr algn="ctr"/>
            <a:r>
              <a:rPr lang="en-US" sz="1800" b="0">
                <a:solidFill>
                  <a:srgbClr val="788CAA"/>
                </a:solidFill>
                <a:latin typeface="Microsoft YaHei"/>
                <a:ea typeface="Microsoft YaHei"/>
              </a:rPr>
              <a:t>小盘、流动性暴露</a:t>
            </a:r>
          </a:p>
          <a:p>
            <a:pPr algn="ctr"/>
            <a:r>
              <a:rPr lang="en-US" sz="1800" b="0">
                <a:solidFill>
                  <a:srgbClr val="788CAA"/>
                </a:solidFill>
                <a:latin typeface="Microsoft YaHei"/>
                <a:ea typeface="Microsoft YaHei"/>
              </a:rPr>
              <a:t>被动上升</a:t>
            </a:r>
          </a:p>
        </p:txBody>
      </p:sp>
      <p:sp>
        <p:nvSpPr>
          <p:cNvPr id="100140" name="MetricAction4"/>
          <p:cNvSpPr/>
          <p:nvPr/>
        </p:nvSpPr>
        <p:spPr>
          <a:xfrm>
            <a:off x="9144000" y="4927600"/>
            <a:ext cx="2159000" cy="4318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ctr"/>
            <a:r>
              <a:rPr lang="en-US" sz="1800" b="1">
                <a:solidFill>
                  <a:srgbClr val="E8720C"/>
                </a:solidFill>
                <a:latin typeface="Microsoft YaHei"/>
                <a:ea typeface="Microsoft YaHei"/>
              </a:rPr>
              <a:t>复核容量与风格</a:t>
            </a:r>
          </a:p>
        </p:txBody>
      </p:sp>
      <p:sp>
        <p:nvSpPr>
          <p:cNvPr id="100141" name="Takeaway"/>
          <p:cNvSpPr/>
          <p:nvPr/>
        </p:nvSpPr>
        <p:spPr>
          <a:xfrm>
            <a:off x="1016000" y="5842000"/>
            <a:ext cx="10160000" cy="4445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ctr"/>
            <a:r>
              <a:rPr lang="en-US" sz="1800" b="1">
                <a:solidFill>
                  <a:srgbClr val="1A2E4B"/>
                </a:solidFill>
                <a:latin typeface="Microsoft YaHei"/>
                <a:ea typeface="Microsoft YaHei"/>
              </a:rPr>
              <a:t>监测频率和触发线应事先写入投资与募资流程。</a:t>
            </a:r>
          </a:p>
        </p:txBody>
      </p:sp>
    </p:spTree>
    <p:custDataLst>
      <p:tags r:id="rId1"/>
    </p:custData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7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157" name="Eyebrow"/>
          <p:cNvSpPr/>
          <p:nvPr/>
        </p:nvSpPr>
        <p:spPr>
          <a:xfrm>
            <a:off x="1016000" y="635000"/>
            <a:ext cx="6350000" cy="381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/>
            <a:r>
              <a:rPr lang="en-US" sz="1800" b="0">
                <a:solidFill>
                  <a:srgbClr val="788CAA"/>
                </a:solidFill>
                <a:latin typeface="Microsoft YaHei"/>
                <a:ea typeface="Microsoft YaHei"/>
              </a:rPr>
              <a:t>附录 · 来源</a:t>
            </a:r>
          </a:p>
        </p:txBody>
      </p:sp>
      <p:sp>
        <p:nvSpPr>
          <p:cNvPr id="100158" name="Title"/>
          <p:cNvSpPr/>
          <p:nvPr/>
        </p:nvSpPr>
        <p:spPr>
          <a:xfrm>
            <a:off x="1016000" y="1219200"/>
            <a:ext cx="10160000" cy="762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ctr"/>
            <a:r>
              <a:rPr lang="en-US" sz="3600" b="1">
                <a:solidFill>
                  <a:srgbClr val="1A2E4B"/>
                </a:solidFill>
                <a:latin typeface="Microsoft YaHei"/>
                <a:ea typeface="Microsoft YaHei"/>
              </a:rPr>
              <a:t>参考资料与数据来源</a:t>
            </a:r>
          </a:p>
        </p:txBody>
      </p:sp>
      <p:sp>
        <p:nvSpPr>
          <p:cNvPr id="100160" name="RefBadge01"/>
          <p:cNvSpPr/>
          <p:nvPr/>
        </p:nvSpPr>
        <p:spPr>
          <a:xfrm>
            <a:off x="1016000" y="2120900"/>
            <a:ext cx="457200" cy="457200"/>
          </a:xfrm>
          <a:prstGeom prst="roundRect">
            <a:avLst/>
          </a:prstGeom>
          <a:solidFill>
            <a:srgbClr val="1A2E4B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00161" name="RefNum01"/>
          <p:cNvSpPr/>
          <p:nvPr/>
        </p:nvSpPr>
        <p:spPr>
          <a:xfrm>
            <a:off x="1016000" y="21209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ctr"/>
            <a:r>
              <a:rPr lang="en-US" sz="1600" b="1">
                <a:solidFill>
                  <a:srgbClr val="FFFFFF"/>
                </a:solidFill>
                <a:latin typeface="Microsoft YaHei"/>
                <a:ea typeface="Microsoft YaHei"/>
              </a:rPr>
              <a:t>01</a:t>
            </a:r>
          </a:p>
        </p:txBody>
      </p:sp>
      <p:sp>
        <p:nvSpPr>
          <p:cNvPr id="100162" name="RefTitle01">
            <a:hlinkClick r:id="rId4"/>
          </p:cNvPr>
          <p:cNvSpPr/>
          <p:nvPr/>
        </p:nvSpPr>
        <p:spPr>
          <a:xfrm>
            <a:off x="1651000" y="2095500"/>
            <a:ext cx="4191000" cy="9144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/>
          <a:lstStyle/>
          <a:p>
            <a:pPr algn="l"/>
            <a:r>
              <a:rPr lang="en-US" sz="1800" b="1">
                <a:solidFill>
                  <a:srgbClr val="1A2E4B"/>
                </a:solidFill>
                <a:latin typeface="Microsoft YaHei"/>
                <a:ea typeface="Microsoft YaHei"/>
                <a:hlinkClick r:id="rId4"/>
              </a:rPr>
              <a:t>Berk &amp; Green (2004)</a:t>
            </a:r>
          </a:p>
          <a:p>
            <a:pPr algn="l"/>
            <a:r>
              <a:rPr lang="en-US" sz="1800" b="1">
                <a:solidFill>
                  <a:srgbClr val="1A2E4B"/>
                </a:solidFill>
                <a:latin typeface="Microsoft YaHei"/>
                <a:ea typeface="Microsoft YaHei"/>
                <a:hlinkClick r:id="rId4"/>
              </a:rPr>
              <a:t>Mutual Fund Flows and Performance in Rational Markets</a:t>
            </a:r>
          </a:p>
        </p:txBody>
      </p:sp>
      <p:sp>
        <p:nvSpPr>
          <p:cNvPr id="100163" name="RefDetail01"/>
          <p:cNvSpPr/>
          <p:nvPr/>
        </p:nvSpPr>
        <p:spPr>
          <a:xfrm>
            <a:off x="1651000" y="3060700"/>
            <a:ext cx="4191000" cy="3556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/>
            <a:r>
              <a:rPr lang="en-US" sz="1400" b="0">
                <a:solidFill>
                  <a:srgbClr val="788CAA"/>
                </a:solidFill>
                <a:latin typeface="Microsoft YaHei"/>
                <a:ea typeface="Microsoft YaHei"/>
              </a:rPr>
              <a:t>规模报酬递减与资金流均衡</a:t>
            </a:r>
          </a:p>
        </p:txBody>
      </p:sp>
      <p:sp>
        <p:nvSpPr>
          <p:cNvPr id="100164" name="RefBadge02"/>
          <p:cNvSpPr/>
          <p:nvPr/>
        </p:nvSpPr>
        <p:spPr>
          <a:xfrm>
            <a:off x="6350000" y="2120900"/>
            <a:ext cx="457200" cy="457200"/>
          </a:xfrm>
          <a:prstGeom prst="roundRect">
            <a:avLst/>
          </a:prstGeom>
          <a:solidFill>
            <a:srgbClr val="1A2E4B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00165" name="RefNum02"/>
          <p:cNvSpPr/>
          <p:nvPr/>
        </p:nvSpPr>
        <p:spPr>
          <a:xfrm>
            <a:off x="6350000" y="21209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ctr"/>
            <a:r>
              <a:rPr lang="en-US" sz="1600" b="1">
                <a:solidFill>
                  <a:srgbClr val="FFFFFF"/>
                </a:solidFill>
                <a:latin typeface="Microsoft YaHei"/>
                <a:ea typeface="Microsoft YaHei"/>
              </a:rPr>
              <a:t>02</a:t>
            </a:r>
          </a:p>
        </p:txBody>
      </p:sp>
      <p:sp>
        <p:nvSpPr>
          <p:cNvPr id="100166" name="RefTitle02">
            <a:hlinkClick r:id="rId5"/>
          </p:cNvPr>
          <p:cNvSpPr/>
          <p:nvPr/>
        </p:nvSpPr>
        <p:spPr>
          <a:xfrm>
            <a:off x="6985000" y="2095500"/>
            <a:ext cx="4191000" cy="9144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/>
          <a:lstStyle/>
          <a:p>
            <a:pPr algn="l"/>
            <a:r>
              <a:rPr lang="en-US" sz="1800" b="1">
                <a:solidFill>
                  <a:srgbClr val="1A2E4B"/>
                </a:solidFill>
                <a:latin typeface="Microsoft YaHei"/>
                <a:ea typeface="Microsoft YaHei"/>
                <a:hlinkClick r:id="rId5"/>
              </a:rPr>
              <a:t>Vangelisti (2006)</a:t>
            </a:r>
          </a:p>
          <a:p>
            <a:pPr algn="l"/>
            <a:r>
              <a:rPr lang="en-US" sz="1800" b="1">
                <a:solidFill>
                  <a:srgbClr val="1A2E4B"/>
                </a:solidFill>
                <a:latin typeface="Microsoft YaHei"/>
                <a:ea typeface="Microsoft YaHei"/>
                <a:hlinkClick r:id="rId5"/>
              </a:rPr>
              <a:t>The Capacity of an Equity Strategy</a:t>
            </a:r>
          </a:p>
        </p:txBody>
      </p:sp>
      <p:sp>
        <p:nvSpPr>
          <p:cNvPr id="100167" name="RefDetail02"/>
          <p:cNvSpPr/>
          <p:nvPr/>
        </p:nvSpPr>
        <p:spPr>
          <a:xfrm>
            <a:off x="6985000" y="3060700"/>
            <a:ext cx="4191000" cy="3556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/>
            <a:r>
              <a:rPr lang="en-US" sz="1400" b="0">
                <a:solidFill>
                  <a:srgbClr val="788CAA"/>
                </a:solidFill>
                <a:latin typeface="Microsoft YaHei"/>
                <a:ea typeface="Microsoft YaHei"/>
              </a:rPr>
              <a:t>三种容量口径；容量应估计为区间</a:t>
            </a:r>
          </a:p>
        </p:txBody>
      </p:sp>
      <p:sp>
        <p:nvSpPr>
          <p:cNvPr id="100168" name="RefBadge03"/>
          <p:cNvSpPr/>
          <p:nvPr/>
        </p:nvSpPr>
        <p:spPr>
          <a:xfrm>
            <a:off x="1016000" y="3454400"/>
            <a:ext cx="457200" cy="457200"/>
          </a:xfrm>
          <a:prstGeom prst="roundRect">
            <a:avLst/>
          </a:prstGeom>
          <a:solidFill>
            <a:srgbClr val="1A2E4B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00169" name="RefNum03"/>
          <p:cNvSpPr/>
          <p:nvPr/>
        </p:nvSpPr>
        <p:spPr>
          <a:xfrm>
            <a:off x="1016000" y="34544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ctr"/>
            <a:r>
              <a:rPr lang="en-US" sz="1600" b="1">
                <a:solidFill>
                  <a:srgbClr val="FFFFFF"/>
                </a:solidFill>
                <a:latin typeface="Microsoft YaHei"/>
                <a:ea typeface="Microsoft YaHei"/>
              </a:rPr>
              <a:t>03</a:t>
            </a:r>
          </a:p>
        </p:txBody>
      </p:sp>
      <p:sp>
        <p:nvSpPr>
          <p:cNvPr id="100170" name="RefTitle03">
            <a:hlinkClick r:id="rId6"/>
          </p:cNvPr>
          <p:cNvSpPr/>
          <p:nvPr/>
        </p:nvSpPr>
        <p:spPr>
          <a:xfrm>
            <a:off x="1651000" y="3429000"/>
            <a:ext cx="4191000" cy="9144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/>
          <a:lstStyle/>
          <a:p>
            <a:pPr algn="l"/>
            <a:r>
              <a:rPr lang="en-US" sz="1800" b="1">
                <a:solidFill>
                  <a:srgbClr val="1A2E4B"/>
                </a:solidFill>
                <a:latin typeface="Microsoft YaHei"/>
                <a:ea typeface="Microsoft YaHei"/>
                <a:hlinkClick r:id="rId6"/>
              </a:rPr>
              <a:t>Korajczyk（2004）</a:t>
            </a:r>
          </a:p>
          <a:p>
            <a:pPr algn="l"/>
            <a:r>
              <a:rPr lang="en-US" sz="1800" b="1">
                <a:solidFill>
                  <a:srgbClr val="1A2E4B"/>
                </a:solidFill>
                <a:latin typeface="Microsoft YaHei"/>
                <a:ea typeface="Microsoft YaHei"/>
                <a:hlinkClick r:id="rId6"/>
              </a:rPr>
              <a:t>动量收益与交易成本</a:t>
            </a:r>
          </a:p>
        </p:txBody>
      </p:sp>
      <p:sp>
        <p:nvSpPr>
          <p:cNvPr id="100171" name="RefDetail03"/>
          <p:cNvSpPr/>
          <p:nvPr/>
        </p:nvSpPr>
        <p:spPr>
          <a:xfrm>
            <a:off x="1651000" y="4394200"/>
            <a:ext cx="4191000" cy="3556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/>
            <a:r>
              <a:rPr lang="en-US" sz="1400" b="0">
                <a:solidFill>
                  <a:srgbClr val="788CAA"/>
                </a:solidFill>
                <a:latin typeface="Microsoft YaHei"/>
                <a:ea typeface="Microsoft YaHei"/>
              </a:rPr>
              <a:t>动量、价格冲击与加权方式</a:t>
            </a:r>
          </a:p>
        </p:txBody>
      </p:sp>
      <p:sp>
        <p:nvSpPr>
          <p:cNvPr id="100172" name="RefBadge04"/>
          <p:cNvSpPr/>
          <p:nvPr/>
        </p:nvSpPr>
        <p:spPr>
          <a:xfrm>
            <a:off x="6350000" y="3454400"/>
            <a:ext cx="457200" cy="457200"/>
          </a:xfrm>
          <a:prstGeom prst="roundRect">
            <a:avLst/>
          </a:prstGeom>
          <a:solidFill>
            <a:srgbClr val="1A2E4B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00173" name="RefNum04"/>
          <p:cNvSpPr/>
          <p:nvPr/>
        </p:nvSpPr>
        <p:spPr>
          <a:xfrm>
            <a:off x="6350000" y="34544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ctr"/>
            <a:r>
              <a:rPr lang="en-US" sz="1600" b="1">
                <a:solidFill>
                  <a:srgbClr val="FFFFFF"/>
                </a:solidFill>
                <a:latin typeface="Microsoft YaHei"/>
                <a:ea typeface="Microsoft YaHei"/>
              </a:rPr>
              <a:t>04</a:t>
            </a:r>
          </a:p>
        </p:txBody>
      </p:sp>
      <p:sp>
        <p:nvSpPr>
          <p:cNvPr id="100174" name="RefTitle04">
            <a:hlinkClick r:id="rId7"/>
          </p:cNvPr>
          <p:cNvSpPr/>
          <p:nvPr/>
        </p:nvSpPr>
        <p:spPr>
          <a:xfrm>
            <a:off x="6985000" y="3429000"/>
            <a:ext cx="4191000" cy="9144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/>
          <a:lstStyle/>
          <a:p>
            <a:pPr algn="l"/>
            <a:r>
              <a:rPr lang="en-US" sz="1800" b="1">
                <a:solidFill>
                  <a:srgbClr val="1A2E4B"/>
                </a:solidFill>
                <a:latin typeface="Microsoft YaHei"/>
                <a:ea typeface="Microsoft YaHei"/>
                <a:hlinkClick r:id="rId7"/>
              </a:rPr>
              <a:t>Ratcliffe（2017）</a:t>
            </a:r>
          </a:p>
          <a:p>
            <a:pPr algn="l"/>
            <a:r>
              <a:rPr lang="en-US" sz="1800" b="1">
                <a:solidFill>
                  <a:srgbClr val="1A2E4B"/>
                </a:solidFill>
                <a:latin typeface="Microsoft YaHei"/>
                <a:ea typeface="Microsoft YaHei"/>
                <a:hlinkClick r:id="rId7"/>
              </a:rPr>
              <a:t>Smart Beta 策略容量</a:t>
            </a:r>
          </a:p>
        </p:txBody>
      </p:sp>
      <p:sp>
        <p:nvSpPr>
          <p:cNvPr id="100175" name="RefDetail04"/>
          <p:cNvSpPr/>
          <p:nvPr/>
        </p:nvSpPr>
        <p:spPr>
          <a:xfrm>
            <a:off x="6985000" y="4394200"/>
            <a:ext cx="4191000" cy="3556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/>
            <a:r>
              <a:rPr lang="en-US" sz="1400" b="0">
                <a:solidFill>
                  <a:srgbClr val="788CAA"/>
                </a:solidFill>
                <a:latin typeface="Microsoft YaHei"/>
                <a:ea typeface="Microsoft YaHei"/>
              </a:rPr>
              <a:t>执行期限与 Smart Beta 容量</a:t>
            </a:r>
          </a:p>
        </p:txBody>
      </p:sp>
      <p:sp>
        <p:nvSpPr>
          <p:cNvPr id="100176" name="RefBadge05"/>
          <p:cNvSpPr/>
          <p:nvPr/>
        </p:nvSpPr>
        <p:spPr>
          <a:xfrm>
            <a:off x="1016000" y="4787900"/>
            <a:ext cx="457200" cy="457200"/>
          </a:xfrm>
          <a:prstGeom prst="roundRect">
            <a:avLst/>
          </a:prstGeom>
          <a:solidFill>
            <a:srgbClr val="1A2E4B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00177" name="RefNum05"/>
          <p:cNvSpPr/>
          <p:nvPr/>
        </p:nvSpPr>
        <p:spPr>
          <a:xfrm>
            <a:off x="1016000" y="47879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ctr"/>
            <a:r>
              <a:rPr lang="en-US" sz="1600" b="1">
                <a:solidFill>
                  <a:srgbClr val="FFFFFF"/>
                </a:solidFill>
                <a:latin typeface="Microsoft YaHei"/>
                <a:ea typeface="Microsoft YaHei"/>
              </a:rPr>
              <a:t>05</a:t>
            </a:r>
          </a:p>
        </p:txBody>
      </p:sp>
      <p:sp>
        <p:nvSpPr>
          <p:cNvPr id="100178" name="RefTitle05">
            <a:hlinkClick r:id="rId8"/>
          </p:cNvPr>
          <p:cNvSpPr/>
          <p:nvPr/>
        </p:nvSpPr>
        <p:spPr>
          <a:xfrm>
            <a:off x="1651000" y="4762500"/>
            <a:ext cx="4191000" cy="6858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/>
          <a:lstStyle/>
          <a:p>
            <a:pPr algn="l"/>
            <a:r>
              <a:rPr lang="en-US" sz="1800" b="1">
                <a:solidFill>
                  <a:srgbClr val="1A2E4B"/>
                </a:solidFill>
                <a:latin typeface="Microsoft YaHei"/>
                <a:ea typeface="Microsoft YaHei"/>
                <a:hlinkClick r:id="rId8"/>
              </a:rPr>
              <a:t>Frazzini 等（2012）</a:t>
            </a:r>
          </a:p>
          <a:p>
            <a:pPr algn="l"/>
            <a:r>
              <a:rPr lang="en-US" sz="1800" b="1">
                <a:solidFill>
                  <a:srgbClr val="1A2E4B"/>
                </a:solidFill>
                <a:latin typeface="Microsoft YaHei"/>
                <a:ea typeface="Microsoft YaHei"/>
                <a:hlinkClick r:id="rId8"/>
              </a:rPr>
              <a:t>资产定价异象的交易成本</a:t>
            </a:r>
          </a:p>
        </p:txBody>
      </p:sp>
      <p:sp>
        <p:nvSpPr>
          <p:cNvPr id="100179" name="RefDetail05"/>
          <p:cNvSpPr/>
          <p:nvPr/>
        </p:nvSpPr>
        <p:spPr>
          <a:xfrm>
            <a:off x="1651000" y="5499100"/>
            <a:ext cx="4191000" cy="3556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/>
            <a:r>
              <a:rPr lang="en-US" sz="1400" b="0">
                <a:solidFill>
                  <a:srgbClr val="788CAA"/>
                </a:solidFill>
                <a:latin typeface="Microsoft YaHei"/>
                <a:ea typeface="Microsoft YaHei"/>
              </a:rPr>
              <a:t>真实交易成本与组合优化</a:t>
            </a:r>
          </a:p>
        </p:txBody>
      </p:sp>
      <p:sp>
        <p:nvSpPr>
          <p:cNvPr id="100180" name="RefBadge06"/>
          <p:cNvSpPr/>
          <p:nvPr/>
        </p:nvSpPr>
        <p:spPr>
          <a:xfrm>
            <a:off x="6350000" y="4787900"/>
            <a:ext cx="457200" cy="457200"/>
          </a:xfrm>
          <a:prstGeom prst="roundRect">
            <a:avLst/>
          </a:prstGeom>
          <a:solidFill>
            <a:srgbClr val="1A2E4B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00181" name="RefNum06"/>
          <p:cNvSpPr/>
          <p:nvPr/>
        </p:nvSpPr>
        <p:spPr>
          <a:xfrm>
            <a:off x="6350000" y="47879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ctr"/>
            <a:r>
              <a:rPr lang="en-US" sz="1600" b="1">
                <a:solidFill>
                  <a:srgbClr val="FFFFFF"/>
                </a:solidFill>
                <a:latin typeface="Microsoft YaHei"/>
                <a:ea typeface="Microsoft YaHei"/>
              </a:rPr>
              <a:t>06</a:t>
            </a:r>
          </a:p>
        </p:txBody>
      </p:sp>
      <p:sp>
        <p:nvSpPr>
          <p:cNvPr id="100182" name="RefTitle06">
            <a:hlinkClick r:id="rId9"/>
          </p:cNvPr>
          <p:cNvSpPr/>
          <p:nvPr/>
        </p:nvSpPr>
        <p:spPr>
          <a:xfrm>
            <a:off x="6985000" y="4762500"/>
            <a:ext cx="4191000" cy="6858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/>
          <a:lstStyle/>
          <a:p>
            <a:pPr algn="l"/>
            <a:r>
              <a:rPr lang="en-US" sz="1800" b="1">
                <a:solidFill>
                  <a:srgbClr val="1A2E4B"/>
                </a:solidFill>
                <a:latin typeface="Microsoft YaHei"/>
                <a:ea typeface="Microsoft YaHei"/>
                <a:hlinkClick r:id="rId9"/>
              </a:rPr>
              <a:t>中国基金报等（2025）</a:t>
            </a:r>
          </a:p>
          <a:p>
            <a:pPr algn="l"/>
            <a:r>
              <a:rPr lang="en-US" sz="1800" b="1">
                <a:solidFill>
                  <a:srgbClr val="1A2E4B"/>
                </a:solidFill>
                <a:latin typeface="Microsoft YaHei"/>
                <a:ea typeface="Microsoft YaHei"/>
                <a:hlinkClick r:id="rId9"/>
              </a:rPr>
              <a:t>部分指增暂停新客申购</a:t>
            </a:r>
          </a:p>
        </p:txBody>
      </p:sp>
      <p:sp>
        <p:nvSpPr>
          <p:cNvPr id="100183" name="RefDetail06"/>
          <p:cNvSpPr/>
          <p:nvPr/>
        </p:nvSpPr>
        <p:spPr>
          <a:xfrm>
            <a:off x="6985000" y="5499100"/>
            <a:ext cx="4191000" cy="3556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/>
            <a:r>
              <a:rPr lang="en-US" sz="1400" b="0">
                <a:solidFill>
                  <a:srgbClr val="788CAA"/>
                </a:solidFill>
                <a:latin typeface="Microsoft YaHei"/>
                <a:ea typeface="Microsoft YaHei"/>
              </a:rPr>
              <a:t>申购控制案例，2025-06-16</a:t>
            </a:r>
          </a:p>
        </p:txBody>
      </p:sp>
    </p:spTree>
    <p:custDataLst>
      <p:tags r:id="rId1"/>
    </p:custData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OCALPRESID" val="17931030619966298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OCALSLIDEID" val="17931030621949908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OCALSLIDEID" val="17931030622127770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OCALSLIDEID" val="17931030622271203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OCALSLIDEID" val="17931030622368838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OCALSLIDEID" val="17931030623258798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OCALSLIDEID" val="17931030623510329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OCALSLIDEID" val="17931030623571423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OCALSLIDEID" val="17931030623705927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OCALSLIDEID" val="17931030624069071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OCALSLIDEID" val="17931030624366476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OCALSLIDEID" val="17931030624430105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OCALSLIDEID" val="17931030624526265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OCALSLIDEID" val="17931030624769772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OCALSLIDEID" val="17931030625030190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OCALSLIDEID" val="17931030625169150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OCALSLIDEID" val="17931030625422877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OCALSLIDEID" val="17931030625535764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OCALSLIDEID" val="17931030625663419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OCALSLIDEID" val="17931030626235912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OCALSLIDEID" val="17931030626679235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OCALSLIDEID" val="17931030627115172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OCALSLIDEID" val="17931030627198967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OCALSLIDEID" val="17931030627302534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OCALSLIDEID" val="17931030627469292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OCALSLIDEID" val="17931030627610506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OCALSLIDEID" val="17931030627654269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OCALSLIDEID" val="17931030627836962"/>
</p:tagLst>
</file>

<file path=ppt/theme/theme1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1832</Words>
  <Application>Microsoft Office PowerPoint</Application>
  <PresentationFormat>宽屏</PresentationFormat>
  <Paragraphs>395</Paragraphs>
  <Slides>27</Slides>
  <Notes>27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27</vt:i4>
      </vt:variant>
    </vt:vector>
  </HeadingPairs>
  <TitlesOfParts>
    <vt:vector size="32" baseType="lpstr">
      <vt:lpstr>Noto Sans SC</vt:lpstr>
      <vt:lpstr>Microsoft YaHei</vt:lpstr>
      <vt:lpstr>Arial</vt:lpstr>
      <vt:lpstr>Office 主题​​</vt:lpstr>
      <vt:lpstr>默认主题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剑 张</cp:lastModifiedBy>
  <cp:revision>2</cp:revision>
  <dcterms:modified xsi:type="dcterms:W3CDTF">2026-10-27T12:11:27Z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OfficeCLI.Version">
    <vt:lpwstr>1.0.159</vt:lpwstr>
  </property>
  <property fmtid="{D5CDD505-2E9C-101B-9397-08002B2CF9AE}" pid="3" name="OfficeCLI.LastModified">
    <vt:lpwstr>2026-10-27T11:26:46Z</vt:lpwstr>
  </property>
</Properties>
</file>