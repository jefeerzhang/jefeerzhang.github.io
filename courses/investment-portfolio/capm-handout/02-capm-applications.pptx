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今天是第7章第2课时，我们来讲资本资产定价模型的应用。上一节课我们学习了CAPM的基本理论，这节课我们要把模型落到真实市场里——用三个案例检验β的三重实证特征，再用Agent实操回归、SML绘制和策略回测。核心判断：β可直接观测但具时变性，α待统计检验且多数不显著；CAPM是风险定价的基准框架，而非投资决策的最终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有四个明确的学习目标。第一，能解释β和α的投资含义，特别是要学会判断一个α能不能用——必须看显著性和窗口稳定性，没有t值的α不得写入投资分析报告。第二，能比较调β的趋势策略和追α的价值策略各自的适用条件。第三，会用Blume调整处理β不稳定的问题。第四，也是这门课的特色——能独立驱动Agent完成CAPM回归、SML绘制和组合分析，并审查其输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课时分为五个教学环节。第一环节是理论，快速回顾CAPM的推导、公式和参数估计。第二环节是三个案例，分别检验β的三重实证特征：924行情里β可直接观测且横截面关系成立、微盘危机中β具时变性且向1收敛、张坤的超额收益需区分选股α与风格β。第三到第五环节是Agent实操，分别做CAPM回归与SML绘制、两类积极策略回测、β的调整与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第一部分——理论。核心问题很简单：一只股票该给我多少回报才值得买？CAPM的回答是：把这个问题压缩成一个数字β，也就是这只股票与大盘共同波动的程度。但β从哪来、怎么估、稳不稳，是接下来几页要回答的。完整推导在配套深化材料§1，课堂只保留主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APM的推导分三步。第一步，上一章的结论：给定风险资产画有效前沿，引入无风险资产后，从r_f作切线得到切点组合T，这是最优的风险组合。第二步，CAPM的关键假设——同质预期：如果所有人看到的期望收益、方差、协方差都一样，那每个人的切点T都相同，所有人都买T，T就必须等于市场组合M。第三步，推论：既然人人只持有M，任何资产的期望超额收益只能来自它对M波动的贡献，也就是β，于是得到证券市场线SM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这是CAPM的核心公式和符号表。证券市场线SML：E(r_i) = r_f + β_i × MRP，其中MRP是市场风险溢价，等于E(r_m) - r_f。六个符号里，r_f和MRP是参数，本课时分别取2.12%和6.39%；β和α是逐股估计的。特别注意α——它是模型解释不了的那部分收益，是"能力"的候选证据，但必须做显著性检验，没有t值的α不得写入投资分析报告。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ML的读法：横轴是β，纵轴是期望收益，斜率是MRP。落在线上方的股票α大于0，说明被低估；线下方α小于0，说明被高估。β等于1对应市场组合本身。但有三条性质常被忽略：第一，β衡量的是不可分散的那部分风险，特有风险不进入定价；第二，SML的斜率是MRP不是市场收益，市场涨20%不等于MRP是20%；第三，CAPM是单期模型，必须显式声明期限和频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APM有三个参数要估。r_f无风险利率，本课时取Shibor-1Y五年均值2.12%。r_f的选择可以讨论，但必须写出来，因为它改变水平不改变排序。MRP市场风险溢价，是CAPM里最脆弱的一块，本课时取长期事前口径6.39%，但换个窗口可能从正变负。β是逐股估计的，窗口、频率、市场代理、复权方式都必须一并报告，因为β具有时变性。课堂纪律：所有参数口径必须写入投资分析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MRP窗口敏感性的实测数据。同样是"历史法"，长期239个月是+6.39%，股改后大牛市段是+12.01%，近十年几乎为零只有+0.85%，而本讲义的5年样本窗居然是负的-1.48%。背后的事实是沪深300最近5年累计下跌4.83%。如果直接用过去5年当MRP，CAPM会预测高β股票应该亏钱，这显然荒谬。所以MRP的选择不是技术细节，而是立场——它决定了模型的水平，也决定了α的正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β用时间序列回归估计：r_i - r_f = α + β(r_m - r_f) + ε。但估计出的β不稳定，需要Blume调整。这个调整来自Marshall Blume 1971年发表在Journal of Finance上的论文"On the Assessment of Risk"。他用纽约证券交易所股票两个相邻子期间的β做回归，发现前期β对后期β的回归系数约为2/3，截距约为1/3，说明β具有均值回归特征——极端值会向市场平均β=1靠拢。因此调整公式：β_adj = 2/3×β_sample + 1/3×1，本质上是贝叶斯收缩，先验是市场β=1。为什么需要调整？有两条机制加一个加速器。第一，经营多元化，公司业务扩张后高β会被稀释。第二，估计误差，极端值部分是统计噪声。第三，危机加速器，崩盘期相关性向1收敛，平静期估的β在压力期系统性失真。估计窗口越短、误差越大，越应当使用Blume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APM在实务中有三大用途。第一，股票估值：用CAPM算股权成本，代入WACC，折现现金流得到目标价。卖方研报里多数目标价背后就是这三个参数。第二，组合风险调整：组合β等于各资产β的加权平均，对冲量等于组合市值乘以目标β与现值β的差。β是可以拧的，这是机构和散户最大的操作差异之一。第三，绩效评估：用Sharpe、Treynor、Jensen α给业绩打分，其中α必须做t检验。没有t值的α不得写入投资分析报告，这是硬规则。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第二部分——案例。我们用三个真实案例检验β的三重实证特征。第一个案例是2024年924行情，β可直接观测且横截面关系成立，涨幅排序和β排序高度一致。第二个案例是2024年初的微盘危机，β具时变性，崩盘期间所有β都向1收敛，平静期估出的β在压力期不能直接使用。第三个案例是张坤，从顶流到老登，他的超额收益到底是选股α还是消费风格的β？三个案例合起来是三句话：β可直接观测、β具时变性、α待检验且多不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案例1是2024年924行情。9月24日政策组合拳出台后，两周内市场急速反转。东方财富涨了129%，β是2.1；创业板指涨66.6%；寒武纪涨63.7%；沪深300涨32.5%；中证银行涨17.4%；长江电力只涨了3.9%，β只有0.14。涨幅排序和β排序高度一致，秩相关0.91。这说明β不需要相信模型，也能在市场里直接看见——它就是放大器，涨的时候放大涨幅，跌的时候放大跌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案例2是2024年1-2月的微盘危机。我们用20只股票池计算三个窗口的平均两两相关系数：平静期0.24，急涨期0.29，崩盘期0.31。相关性的抬升其实不算剧烈，但个股β的位移相当大——光迅科技β上升了1.09，恒瑞医药+1.07，中国神华反而下降了0.63。这说明平静期估出的β，在压力期不能直接使用。教材说β有向1变动的趋势，危机把这个过程加速呈现了。预期中的β=1，在危机期可能是2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案例3是张坤。2019-2021年他凭重仓消费白酒成为公募顶流，管理规模接近千亿，但2021年后回撤接近腰斩。问题是：那轮超额收益到底是选股α还是消费风格的β？用沪深300加中证消费做双因子回归，R²高达0.7到0.9，消费指数系数大于1，说明大部分超额可以由风格解释。更严格的四因子归因显示，2023-2026年他的α是-29.8%每年，t值-3.95，高度显著为负。这个案例的教训变成一条操作规则：没有t值的α不得写入投资分析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案例合起来是三项实证检验结论。案例1，924行情，β可直接观测——涨幅排名与β排名的Spearman秩相关系数达0.91，高β股涨幅显著高于低β股，CAPM的横截面定价关系直接成立。案例2，微盘危机，β具时变性——崩盘期个股β相对平静期发生剧烈位移，光迅科技β上升1.09，说明平静期估出的β在压力期系统性失真，不能直接使用。案例3，张坤，α多不显著——控制消费、市值等风格因子后，α为-29.8%每年，t值-3.95，显著为负，说明超额收益来自风格暴露而非选股能力。CAPM在投资中的应用价值，正建立在这三项实证结论之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gent实操一是CAPM回归与SML绘制。把提示词交给Agent：用沪深300日收益，2024-09到2026-08，对20只股票做时间序列回归，输出β、α（累计值与年化值并列报告，换算公式须写出）、t值、R²，再画SML图。实测结论：高β组平均β1.93，低β组0.20；20只中t值绝对值大于2的只有4只；样本期市场超额收益年化19.3%。统计上免费的午餐很少。审查要点：α是年化还是累计必须写换算公式；只保留显著的α重绘SML看还剩几只。操作规则：没有t值的α不得写入投资分析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gent实操二是两类积极策略回测。P2趋势性策略调β：沪深300在60日均线上方持有高β5只，否则持有低β5只。回测年化79.7%，最大回撤21.7%，换仓43次。但高年化主要由2025年高β股上涨贡献，不宜解读为策略稳定能力。P3价值性策略追α：每月末选α最大的5只持有。关键子区间：2024年2月杀跌段策略+10.1%防御成功，924段策略+56.8%但信号滞后错过前几日反弹。核心框架：策略有效性等于信号真实性乘执行成本乘持续性，回测只能验证第一条的一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gent实操三回答一个操作问题：下个季度的β，你打算用哪一个？有三个选项。A是样本β，直接用回归估出的，简单但窗口短噪声大，危机期失真。B是Blume调整，把样本β向1拉一拉，调整β等于三分之二样本β加三分之一，是保守先验，窗口越短越该用。C是横截面预测，用当期β对上期β、市值对数、资产负债率回归，是Rosenberg六因子模型的简化版，利用基本面信息预测力更强。学生任务：为下季度决策明确采用哪个β并写出理由，这条判断直接写入投资分析报告的方法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最后小结。一句话总结：CAPM给出的不是最终结论，而是一套风险定价语言——β是需要滚动重估的敏感度参数，α是待检验的差额，多数无法通过t检验。课后任务是投资分析报告 Part 2：自选10只股票，计算α与β，绘制SML图，给出2只买入2只回避的建议。结果下方必须注明数据来源、样本窗、频率、复权方式和r_f取值。这门课的立场是：先学会用CAPM，再学会怀疑它。下课。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第7章 · 第2课时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95500"/>
            <a:ext cx="965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资本资产定价模型的应用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8647" flipH="false" flipV="false">
            <a:off x="1016026" y="3867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4127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7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7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可直接观测但具时变性，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7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7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待统计检验且多数不显著——CAPM 是风险定价的基准框架，而非投资决策的最终依据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84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投资学 · 2026 秋季学期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本课时学习目标与能力要求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905000" y="1778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解释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的投资含义，判断一个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能不能用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05000" y="2184400"/>
            <a:ext cx="914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显著性检验、窗口稳定性——未报告 t 值的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不得写入投资分析报告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68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7686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比较趋势性（调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）与价值性（追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）两类积极策略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3175000"/>
            <a:ext cx="914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策略有效性 = 信号真实性 × 执行成本 × 持续性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7592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05000" y="37592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用 Blume 调整处理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的不稳定性，说明何时该用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4165600"/>
            <a:ext cx="914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估计窗口越短、误差越大，越应当使用保守先验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749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47498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独立驱动 Agent 完成 CAPM 回归、SML 绘制与组合分析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05000" y="5156200"/>
            <a:ext cx="914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把提示词交给 Agent、独立实现并审查输出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6159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学习目标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本课时教学框架与环节安排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五个教学环节，每个实操环节均以任务交由 Agent 独立执行并审查输出收尾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6043" flipH="false" flipV="false">
            <a:off x="1778024" y="35496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-26043" flipH="false" flipV="false">
            <a:off x="4013224" y="35496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-26043" flipH="false" flipV="false">
            <a:off x="6248424" y="35496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26043" flipH="false" flipV="false">
            <a:off x="8483624" y="35496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270000" y="3327400"/>
            <a:ext cx="457200" cy="457200"/>
          </a:xfrm>
          <a:prstGeom prst="ellipse">
            <a:avLst/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3403600"/>
            <a:ext cx="45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" y="2489200"/>
            <a:ext cx="15748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理论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推导 · 公式 · 参数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05200" y="3327400"/>
            <a:ext cx="457200" cy="457200"/>
          </a:xfrm>
          <a:prstGeom prst="ellipse">
            <a:avLst/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05200" y="3403600"/>
            <a:ext cx="45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46400" y="2489200"/>
            <a:ext cx="15748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案例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5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的三重实证特征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40400" y="3327400"/>
            <a:ext cx="457200" cy="457200"/>
          </a:xfrm>
          <a:prstGeom prst="ellipse">
            <a:avLst/>
          </a:prstGeom>
          <a:solidFill>
            <a:srgbClr val="C875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40400" y="3403600"/>
            <a:ext cx="45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29200" y="2489200"/>
            <a:ext cx="1879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实操一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回归与 SML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75600" y="3327400"/>
            <a:ext cx="457200" cy="457200"/>
          </a:xfrm>
          <a:prstGeom prst="ellipse">
            <a:avLst/>
          </a:prstGeom>
          <a:solidFill>
            <a:srgbClr val="C875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75600" y="3403600"/>
            <a:ext cx="45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64400" y="2489200"/>
            <a:ext cx="1879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实操二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策略回测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210800" y="3327400"/>
            <a:ext cx="457200" cy="457200"/>
          </a:xfrm>
          <a:prstGeom prst="ellipse">
            <a:avLst/>
          </a:prstGeom>
          <a:solidFill>
            <a:srgbClr val="C875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210800" y="3403600"/>
            <a:ext cx="45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499600" y="2489200"/>
            <a:ext cx="1879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实操三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500">
                    <a:solidFill>
                      <a:srgbClr val="C87533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 调整与预测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4445000"/>
            <a:ext cx="10160000" cy="1270000"/>
          </a:xfrm>
          <a:prstGeom prst="roundRect">
            <a:avLst>
              <a:gd name="adj" fmla="val 0"/>
            </a:avLst>
          </a:prstGeom>
          <a:solidFill>
            <a:srgbClr val="1A2E4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397000" y="4635500"/>
            <a:ext cx="9398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核心主线</a:t>
            </a:r>
            <a:r>
              <a:rPr lang="en-US" b="fals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：先建立理论框架（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是什么、怎么估），再用三个真实案例检验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的三重实证特征——可直接观测、具时变性、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待检验且多不显著。然后进入 Agent 实操，从回归到策略回测，最后落到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的调整与预测。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1016000" y="6159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课程路线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270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理论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单只股票必要收益率的确定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CAPM 将这一问题归结为一个核心参数——个股与市场组合的共同波动程度（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8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）。但该参数的来源、估计方法与时变特征，是接下来三页需要回答的问题。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6096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公式从哪来：三步推导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3048000" cy="3556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9812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540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有效前沿 + 无风险资产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048000"/>
            <a:ext cx="254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给定风险资产画出有效前沿。引入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4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4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f</m:t>
                    </m:r>
                  </m:sub>
                </m:sSub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后，投资者持有"无风险资产 + 一个风险组合"。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从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4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4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f</m:t>
                    </m:r>
                  </m:sub>
                </m:sSub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作前沿的切线，切点记为 T——最优风险组合只有一个。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1778000"/>
            <a:ext cx="3048000" cy="3556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19812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2540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同质预期 →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7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T=M</m:t>
                </m:r>
              </m:oMath>
            </a14:m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3048000"/>
            <a:ext cx="254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如果所有投资者看到的期望收益、方差、协方差都一样（同质预期），每个人算出的切点 T 都相同。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所有人只买 T，T 就必须等于市场组合 M——所有资产的市值加权组合。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778000"/>
            <a:ext cx="3048000" cy="3556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82000" y="19812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540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推论：证券市场线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3048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既然人人只持有 M，任何资产的期望超额收益，只能来自它对 M 波动的贡献——即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4191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500">
                      <a:solidFill>
                        <a:srgbClr val="1A2E4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E</m:t>
                  </m:r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500">
                              <a:solidFill>
                                <a:srgbClr val="1A2E4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r</m:t>
                          </m:r>
                        </m:e>
                        <m:sub>
                          <m:r>
                            <a:rPr sz="1500">
                              <a:solidFill>
                                <a:srgbClr val="1A2E4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sub>
                      </m:sSub>
                    </m:e>
                  </m:d>
                  <m:r>
                    <a:rPr sz="1500">
                      <a:solidFill>
                        <a:srgbClr val="1A2E4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-</m:t>
                  </m:r>
                  <m:sSub>
                    <m:e>
                      <m:r>
                        <a:rPr sz="1500">
                          <a:solidFill>
                            <a:srgbClr val="1A2E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r</m:t>
                      </m:r>
                    </m:e>
                    <m:sub>
                      <m:r>
                        <a:rPr sz="1500">
                          <a:solidFill>
                            <a:srgbClr val="1A2E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f</m:t>
                      </m:r>
                    </m:sub>
                  </m:sSub>
                  <m:r>
                    <a:rPr sz="1500">
                      <a:solidFill>
                        <a:srgbClr val="1A2E4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sSub>
                    <m:e>
                      <m:r>
                        <a:rPr sz="1500">
                          <a:solidFill>
                            <a:srgbClr val="1A2E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β</m:t>
                      </m:r>
                    </m:e>
                    <m:sub>
                      <m:r>
                        <a:rPr sz="1500">
                          <a:solidFill>
                            <a:srgbClr val="1A2E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sub>
                  </m:sSub>
                  <m:d>
                    <m:dPr>
                      <m:begChr m:val="["/>
                      <m:sepChr m:val=","/>
                      <m:endChr m:val="]"/>
                    </m:dPr>
                    <m:e>
                      <m:r>
                        <a:rPr sz="1500">
                          <a:solidFill>
                            <a:srgbClr val="1A2E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E</m:t>
                      </m:r>
                      <m:d>
                        <m:dPr>
                          <m:sepChr m:val=","/>
                        </m:dPr>
                        <m:e>
                          <m:sSub>
                            <m:e>
                              <m:r>
                                <a:rPr sz="1500">
                                  <a:solidFill>
                                    <a:srgbClr val="1A2E4B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500">
                                  <a:solidFill>
                                    <a:srgbClr val="1A2E4B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a:rPr sz="1500">
                          <a:solidFill>
                            <a:srgbClr val="1A2E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</m:t>
                      </m:r>
                      <m:sSub>
                        <m:e>
                          <m:r>
                            <a:rPr sz="1500">
                              <a:solidFill>
                                <a:srgbClr val="1A2E4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r</m:t>
                          </m:r>
                        </m:e>
                        <m:sub>
                          <m:r>
                            <a:rPr sz="1500">
                              <a:solidFill>
                                <a:srgbClr val="1A2E4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f</m:t>
                          </m:r>
                        </m:sub>
                      </m:sSub>
                    </m:e>
                  </m:d>
                </m:oMath>
              </m:oMathPara>
            </a14:m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6159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 · 完整推导见配套深化材料 §1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公式与符号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145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8796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证券市场线（SML）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225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22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E</m:t>
                  </m:r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22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22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</m:sub>
                      </m:sSub>
                    </m:e>
                  </m:d>
                  <m:r>
                    <a:rPr sz="22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22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22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</m:t>
                      </m:r>
                    </m:sub>
                  </m:sSub>
                  <m:r>
                    <a:rPr sz="22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22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22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r>
                    <a:rPr sz="22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×MRP, MRP≡E</m:t>
                  </m:r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22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22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m</m:t>
                          </m:r>
                        </m:sub>
                      </m:sSub>
                    </m:e>
                  </m:d>
                  <m:r>
                    <a:rPr sz="22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22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22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</m:t>
                      </m:r>
                    </m:sub>
                  </m:sSub>
                  <m:r>
                    <a:rPr sz="22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]</m:t>
                  </m:r>
                </m:oMath>
              </m:oMathPara>
            </a14:m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16000" y="2946400"/>
          <a:ext cx="10160000" cy="289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778000"/>
                <a:gridCol w="4572000"/>
                <a:gridCol w="2540000"/>
              </a:tblGrid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本课时取值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sz="1300">
                                <a:solidFill>
                                  <a:srgbClr val="1F2329"/>
                                </a:solidFill>
                                <a:latin typeface="Noto Serif SC"/>
                                <a:ea typeface="Noto Serif SC"/>
                                <a:cs typeface="Noto Serif SC"/>
                                <a:sym typeface="Noto Serif SC"/>
                              </a:rPr>
                              <m:t>E</m:t>
                            </m:r>
                            <m:d>
                              <m:dPr>
                                <m:sepChr m:val=","/>
                              </m:dPr>
                              <m:e>
                                <m:sSub>
                                  <m:e>
                                    <m:r>
                                      <a:rPr sz="1300">
                                        <a:solidFill>
                                          <a:srgbClr val="1F2329"/>
                                        </a:solidFill>
                                        <a:latin typeface="Noto Serif SC"/>
                                        <a:ea typeface="Noto Serif SC"/>
                                        <a:cs typeface="Noto Serif SC"/>
                                        <a:sym typeface="Noto Serif SC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sz="1300">
                                        <a:solidFill>
                                          <a:srgbClr val="1F2329"/>
                                        </a:solidFill>
                                        <a:latin typeface="Noto Serif SC"/>
                                        <a:ea typeface="Noto Serif SC"/>
                                        <a:cs typeface="Noto Serif SC"/>
                                        <a:sym typeface="Noto Serif SC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期望收益率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投资者要求（并预期获得）的年化回报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由模型算出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b>
                              <m:e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f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无风险利率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时间价值，不承担风险也能拿到的回报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2.12%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sz="1300">
                                <a:solidFill>
                                  <a:srgbClr val="1F2329"/>
                                </a:solidFill>
                                <a:latin typeface="Noto Serif SC"/>
                                <a:ea typeface="Noto Serif SC"/>
                                <a:cs typeface="Noto Serif SC"/>
                                <a:sym typeface="Noto Serif SC"/>
                              </a:rPr>
                              <m:t>MRP</m:t>
                            </m:r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市场风险溢价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承担一单位"市场风险"的价格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6.39%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b>
                              <m:e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i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贝塔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相对市场的敏感度；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sz="1300">
                              <a:solidFill>
                                <a:srgbClr val="1F2329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β=1</m:t>
                          </m:r>
                        </m:oMath>
                      </a14:m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与市场同涨同跌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逐股估计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b>
                              <m:e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i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阿尔法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模型解释不了的那部分收益，"能力"的候选证据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逐股检验显著性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b>
                              <m:e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sz="1300">
                                    <a:solidFill>
                                      <a:srgbClr val="1F2329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i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残差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个股特有风险（可分散，市场不给补偿）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8" id="8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61595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 ·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000">
                        <a:solidFill>
                          <a:srgbClr val="6B728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000">
                        <a:solidFill>
                          <a:srgbClr val="6B728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f</m:t>
                    </m:r>
                  </m:sub>
                </m:sSub>
              </m:oMath>
            </a14:m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= Shibor-1Y 五年均值；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0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MRP</m:t>
                </m:r>
              </m:oMath>
            </a14:m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= 沪深300月频超额收益算术平均 ×12 年化（2006-10~2026-08，239个月）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SML 怎么读，以及三条常被忽略的性质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318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-13750" flipH="false" flipV="false">
            <a:off x="1651013" y="5073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5385053" flipH="false" flipV="false">
            <a:off x="190500" y="3613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-2399338" flipH="false" flipV="false">
            <a:off x="1191204" y="3549643"/>
            <a:ext cx="39676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A2E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209800" y="3860800"/>
            <a:ext cx="152400" cy="152400"/>
          </a:xfrm>
          <a:prstGeom prst="ellipse">
            <a:avLst/>
          </a:prstGeom>
          <a:solidFill>
            <a:srgbClr val="C875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87800" y="3048000"/>
            <a:ext cx="152400" cy="152400"/>
          </a:xfrm>
          <a:prstGeom prst="ellipse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41500" y="23495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100">
                    <a:solidFill>
                      <a:srgbClr val="C87533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α&gt;0</m:t>
                </m:r>
              </m:oMath>
            </a14:m>
            <a:r>
              <a:rPr lang="en-US" b="true" i="false" strike="noStrike" u="none" sz="11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 · 线上方 · 低估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46990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1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α&lt;0</m:t>
                </m:r>
              </m:oMath>
            </a14:m>
            <a:r>
              <a:rPr lang="en-US" b="tru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· 线下方 · 高估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51308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100">
                      <a:solidFill>
                        <a:srgbClr val="6B728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β=0</m:t>
                  </m:r>
                </m:oMath>
              </m:oMathPara>
            </a14:m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51308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100">
                      <a:solidFill>
                        <a:srgbClr val="6B728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β=1 </m:t>
                  </m:r>
                  <m:d>
                    <m:dPr>
                      <m:sepChr m:val=","/>
                    </m:dPr>
                    <m:e>
                      <m:r>
                        <a:rPr sz="11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M</m:t>
                      </m:r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2222500"/>
            <a:ext cx="50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100">
                      <a:solidFill>
                        <a:srgbClr val="6B728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E</m:t>
                  </m:r>
                  <m:d>
                    <m:dPr>
                      <m:sepChr m:val=","/>
                    </m:dPr>
                    <m:e>
                      <m:r>
                        <a:rPr sz="11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r</m:t>
                      </m:r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4699000"/>
            <a:ext cx="50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1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r</m:t>
                      </m:r>
                    </m:e>
                    <m:sub>
                      <m:r>
                        <a:rPr sz="11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f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19685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SML：斜率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2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=MRP</m:t>
                </m:r>
              </m:oMath>
            </a14:m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842000" y="1778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三条常被忽略的性质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8185" flipH="false" flipV="false">
            <a:off x="5842008" y="22542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5842000" y="24765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24765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衡量的是"不可分散"的那部分风险。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特有风险（残差）不进入定价——投资者可以分散掉它，市场不会为"可以被免费消除的风险"付钱。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842000" y="34290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34290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SML 的斜率是 MRP，不是市场组合的收益。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市场涨了 20%，不等于 MRP 是 20%——MRP 是市场超额收益的期望，要扣掉无风险利率。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842000" y="43815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86500" y="43815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CAPM 是单期模型。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用它计算 1 年、5 年还是 10 年的必要回报，必须显式声明期限与频率——日频、周频、月频估出的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不可直接混用。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1016000" y="6159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参数估计三件套：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b="1" sz="2800">
                        <a:solidFill>
                          <a:srgbClr val="1A2E4B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r</m:t>
                    </m:r>
                  </m:e>
                  <m:sub>
                    <m:r>
                      <a:rPr b="1" sz="2800">
                        <a:solidFill>
                          <a:srgbClr val="1A2E4B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f</m:t>
                    </m:r>
                  </m:sub>
                </m:sSub>
              </m:oMath>
            </a14:m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、MRP、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8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778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794000"/>
                <a:gridCol w="2032000"/>
                <a:gridCol w="4064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怎么估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本课时取值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关键提醒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b>
                              <m:e>
                                <m:r>
                                  <a:rPr b="1" sz="1600">
                                    <a:solidFill>
                                      <a:srgbClr val="1A2E4B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b="1" sz="1600">
                                    <a:solidFill>
                                      <a:srgbClr val="1A2E4B"/>
                                    </a:solidFill>
                                    <a:latin typeface="Noto Serif SC"/>
                                    <a:ea typeface="Noto Serif SC"/>
                                    <a:cs typeface="Noto Serif SC"/>
                                    <a:sym typeface="Noto Serif SC"/>
                                  </a:rPr>
                                  <m:t>f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选择与定价期限匹配的国债 / 拆借利率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2.12%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15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Shibor-1Y 五年均值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口径可以讨论，但必须写出来；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sSub>
                            <m:e>
                              <m:r>
                                <a:rPr sz="1300">
                                  <a:solidFill>
                                    <a:srgbClr val="1F2329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1F2329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f</m:t>
                              </m:r>
                            </m:sub>
                          </m:sSub>
                        </m:oMath>
                      </a14:m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每差 0.3pp，预期收益整体平移 0.3pp——改变水平，不改变排序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b="1" sz="1600">
                                <a:solidFill>
                                  <a:srgbClr val="1A2E4B"/>
                                </a:solidFill>
                                <a:latin typeface="Noto Serif SC"/>
                                <a:ea typeface="Noto Serif SC"/>
                                <a:cs typeface="Noto Serif SC"/>
                                <a:sym typeface="Noto Serif SC"/>
                              </a:rPr>
                              <m:t>MRP</m:t>
                            </m:r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历史法（回看）或事前法（前瞻）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6.39%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15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长期事前口径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CAPM 里最脆弱的一块——同一句"历史法"，换个窗口就换个结论，甚至从正变负（见下页）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b="1" sz="1600">
                                <a:solidFill>
                                  <a:srgbClr val="1A2E4B"/>
                                </a:solidFill>
                                <a:latin typeface="Noto Serif SC"/>
                                <a:ea typeface="Noto Serif SC"/>
                                <a:cs typeface="Noto Serif SC"/>
                                <a:sym typeface="Noto Serif SC"/>
                              </a:rPr>
                              <m:t>β</m:t>
                            </m:r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个股超额收益对市场超额收益回归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逐股估计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窗口、频率、市场代理、复权方式必须一并报告；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sz="1300">
                              <a:solidFill>
                                <a:srgbClr val="1F2329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oMath>
                      </a14:m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具有时变性，危机期会系统性失真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1016000" y="5524500"/>
            <a:ext cx="10160000" cy="381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5588000"/>
            <a:ext cx="965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课堂纪律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：所有参数的口径必须写入投资分析报告——不写口径的数字没有意义。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6159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 · 数据口径：2021-09 ~ 2026-08 周频前复权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MRP 的窗口敏感性：估计窗口对参数取值的影响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7780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064000"/>
                <a:gridCol w="1524000"/>
                <a:gridCol w="2286000"/>
                <a:gridCol w="2286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窗口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月数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MRP 实测值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2006-10 ~ 2026-08（长期）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+6.39%/年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本讲义采用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2006-11 ~ 2015-12（牛市段）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+12.01%/年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股改后大牛市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2016-01 ~ 2026-08（近十年）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+0.85%/年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几乎为零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2021-09 ~ 2026-08（本讲义样本窗）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B4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−1.48%/年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为负！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1016000" y="4635500"/>
            <a:ext cx="10160000" cy="1143000"/>
          </a:xfrm>
          <a:prstGeom prst="roundRect">
            <a:avLst>
              <a:gd name="adj" fmla="val 0"/>
            </a:avLst>
          </a:prstGeom>
          <a:solidFill>
            <a:srgbClr val="B432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33500" y="48006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事实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：沪深300 在最近 5 年累计 −4.83%（4843.06 → 4609.18）。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后果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：如果直接用"过去 5 年"当 MRP，CAPM 会预测"高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股票应该亏钱"——这正是它最受批评的地方。MRP 的选择不是技术细节，而是</a:t>
            </a: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立场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 · 来源：沪深300 月度算术平均超额收益，Tushare / 中证指数官网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8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 的估计与 Blume 调整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968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回归方程（时间序列）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476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i,t</m:t>
                      </m:r>
                    </m:sub>
                  </m:sSub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f,t</m:t>
                      </m:r>
                    </m:sub>
                  </m:sSub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α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6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6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m,t</m:t>
                          </m:r>
                        </m:sub>
                      </m:s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</m:t>
                      </m:r>
                      <m:sSub>
                        <m:e>
                          <m:r>
                            <a:rPr sz="16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600">
                              <a:solidFill>
                                <a:srgbClr val="1A2E4B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f,t</m:t>
                          </m:r>
                        </m:sub>
                      </m:sSub>
                    </m:e>
                  </m:d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ε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i,t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778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1968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Blume 调整（贝叶斯收缩）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260600"/>
            <a:ext cx="431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调整</m:t>
                      </m:r>
                    </m:sub>
                  </m:sSub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2</m:t>
                      </m:r>
                    </m:num>
                    <m:den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3</m:t>
                      </m:r>
                    </m:den>
                  </m:f>
                  <m:sSub>
                    <m:e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样本</m:t>
                      </m:r>
                    </m:sub>
                  </m:sSub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f>
                    <m:fPr>
                      <m:type m:val="bar"/>
                    </m:fPr>
                    <m:num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1</m:t>
                      </m:r>
                    </m:num>
                    <m:den>
                      <m:r>
                        <a:rPr sz="1600">
                          <a:solidFill>
                            <a:srgbClr val="1A2E4B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3</m:t>
                      </m:r>
                    </m:den>
                  </m:f>
                  <m:r>
                    <a:rPr sz="1600">
                      <a:solidFill>
                        <a:srgbClr val="1A2E4B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×1</m:t>
                  </m:r>
                </m:oMath>
              </m:oMathPara>
            </a14:m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31750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Blume (1971, </a:t>
            </a:r>
            <a:r>
              <a:rPr lang="en-US" b="false" i="tru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J. Finance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 实证发现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1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具均值回归特征；2/3 与 1/3 为 NYSE 股票子期间回归所得经验系数，先验为市场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1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β=1</m:t>
                </m:r>
              </m:oMath>
            </a14:m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9624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6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6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为什么需要调整？两条机制 + 一个加速器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443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5974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4597400"/>
            <a:ext cx="971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经营多元化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：公司随时间扩张业务线，单一业务的高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会被其他业务稀释，整体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向 1 靠拢。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165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60500" y="5016500"/>
            <a:ext cx="971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估计误差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：样本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的极端值（无论高低）部分是统计噪声，未来会向均值回归——用调整后的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做预测更稳。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4356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4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460500" y="5397500"/>
            <a:ext cx="97155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危机加速器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：崩盘期相关性向 1 收敛，平静期估出的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在压力期系统性失真（案例 2 实测：光迅科技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位移 +1.09）。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1016000" y="6159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 · 估计窗口越短、误差越大，越应当使用 Blume 调整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的三种用途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3175000" cy="3810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032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6035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股票估值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25" flipH="false" flipV="false">
            <a:off x="1270079" y="3067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270000" y="32766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股权成本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e</m:t>
                    </m:r>
                  </m:sub>
                </m:sSub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</m:t>
                </m:r>
                <m:sSub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f</m:t>
                    </m:r>
                  </m:sub>
                </m:sSub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+β×MRP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→ WACC → 折现现金流 → 目标价。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卖方研报里多数目标价的背后，正是这三个参数。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5016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对应：案例 A · §3.1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1778000"/>
            <a:ext cx="3175000" cy="3810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62500" y="2032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62500" y="26035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组合风险调整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5925" flipH="false" flipV="false">
            <a:off x="4762579" y="3067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762500" y="32766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组合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β</m:t>
                    </m:r>
                  </m:e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p</m:t>
                    </m:r>
                  </m:sub>
                </m:sSub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ff"/>
                  </m:naryPr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⁣</m:t>
                    </m:r>
                  </m:sub>
                  <m:sup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⁣</m:t>
                    </m:r>
                  </m:sup>
                  <m:e>
                    <m:sSub>
                      <m:e>
                        <m:r>
                          <a:rPr sz="1300">
                            <a:solidFill>
                              <a:srgbClr val="2B2B2B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w</m:t>
                        </m:r>
                      </m:e>
                      <m:sub>
                        <m:r>
                          <a:rPr sz="1300">
                            <a:solidFill>
                              <a:srgbClr val="2B2B2B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i</m:t>
                        </m:r>
                      </m:sub>
                    </m:sSub>
                  </m:e>
                </m:nary>
                <m:sSub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β</m:t>
                    </m:r>
                  </m:e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i</m:t>
                    </m:r>
                  </m:sub>
                </m:sSub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；对冲量 = 组合市值 × (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β</m:t>
                    </m:r>
                  </m:e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目标</m:t>
                    </m:r>
                  </m:sub>
                </m:sSub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-</m:t>
                </m:r>
                <m:sSub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β</m:t>
                    </m:r>
                  </m:e>
                  <m:sub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现值</m:t>
                    </m:r>
                  </m:sub>
                </m:sSub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)。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是可以"拧"的——这是机构与散户最大的操作差异之一。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62500" y="5016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对应：§3.2 · §4 组合构建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778000"/>
            <a:ext cx="3175000" cy="3810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2032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875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0" y="26035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绩效评估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85925" flipH="false" flipV="false">
            <a:off x="8255079" y="3067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255000" y="32766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Sharpe / Treynor / Jensen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，其中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必须做 t 检验。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未报告 t 值的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不得写入投资分析报告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——这是操作规则。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0" y="5016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对应：案例 B · §3.3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1016000" y="6159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理论框架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270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 · 案例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685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4000">
                    <a:solidFill>
                      <a:srgbClr val="FFFFFF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的三重实证特征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380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三个真实案例，三句话结论：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8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看得见</a:t>
            </a: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（924 行情）·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8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靠不住</a:t>
            </a: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（崩盘收敛）·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8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难核实</a:t>
            </a: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（张坤的神话）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6096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案例分析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案例 1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39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924 行情：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与横截面收益率的实证关系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1543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52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2024-09-24 政策组合拳出台后，约两周内创业板指、科创50 涨幅数倍于沪深300，高弹性板块领涨，银行、公用事业落后。同一件事，不同股票的"体验"相差数倍。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413000"/>
          <a:ext cx="10160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2032000"/>
                <a:gridCol w="2032000"/>
                <a:gridCol w="3556000"/>
              </a:tblGrid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两周累计涨幅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b="1" sz="1300">
                              <a:solidFill>
                                <a:srgbClr val="FFFFFF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oMath>
                      </a14:m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（2024 全年日频）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东方财富 300059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+129.0%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券商 · 高弹性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创业板指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C875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+66.6%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成长指数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寒武纪 688256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+63.7%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sz="1300">
                              <a:solidFill>
                                <a:srgbClr val="1F2329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oMath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芯片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沪深300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+32.5%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中证银行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+17.4%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sz="1300">
                              <a:solidFill>
                                <a:srgbClr val="1F2329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oMath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金融 · 防御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长江电力 600900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+3.9%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0.14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水电 · 类债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1016000" y="5397500"/>
            <a:ext cx="10160000" cy="4445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54737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：涨幅排序与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排序高度一致（秩相关 0.91）——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不需要"相信模型"，也能在市场里直接看见。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案例1 · 区间 2024-09-24 ~ 2024-10-08 · 数据来源：Tushare 前复权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案例 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39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危机期间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 的时变性：向 1 收敛的实证证据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1543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52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2024 年 1–2 月微盘危机中，平时低相关的股票同步下跌——相关性向 1 收敛，平静期估出的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在压力期系统性失真。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765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三个窗口的平均两两相关系数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956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16000" y="2895600"/>
          <a:ext cx="4826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1270000"/>
                <a:gridCol w="1270000"/>
              </a:tblGrid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窗口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平均相关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市场状态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2025-03 ~ 2025-08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2024-09-24 ~ 10-08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急涨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2024-01-02 ~ 02-08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B4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崩盘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6350000" y="24765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5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 位移最大的 3 只股票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8956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350000" y="2895600"/>
          <a:ext cx="4826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524000"/>
                <a:gridCol w="1524000"/>
              </a:tblGrid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股票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平静窗 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b="1" sz="1200">
                              <a:solidFill>
                                <a:srgbClr val="FFFFFF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oMath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崩盘窗 </a:t>
                      </a:r>
                      <a14:m xmlns:a14="http://schemas.microsoft.com/office/drawing/2010/main">
                        <m:oMath xmlns:m="http://schemas.openxmlformats.org/officeDocument/2006/math" xmlns:mml="http://www.w3.org/1998/Math/MathML">
                          <m:r>
                            <a:rPr b="1" sz="1200">
                              <a:solidFill>
                                <a:srgbClr val="FFFFFF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oMath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光迅科技 002281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~0.5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B4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+1.09 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恒瑞医药 600276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~0.6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B4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+1.07 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中国神华 601088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~0.9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B4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−0.63 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2" id="12"/>
          <p:cNvSpPr/>
          <p:nvPr/>
        </p:nvSpPr>
        <p:spPr>
          <a:xfrm rot="0" flipH="false" flipV="false">
            <a:off x="1016000" y="4889500"/>
            <a:ext cx="10160000" cy="952500"/>
          </a:xfrm>
          <a:prstGeom prst="roundRect">
            <a:avLst>
              <a:gd name="adj" fmla="val 0"/>
            </a:avLst>
          </a:prstGeom>
          <a:solidFill>
            <a:srgbClr val="B432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50165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关键发现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：相关性的抬升幅度温和（0.24 → 0.31），但个股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的位移相当剧烈——光迅科技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上升 1.09、恒瑞医药 +1.07。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：平静期估出的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，在压力期不能直接使用。预期中的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β=1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，在危机期可能是 2。</a:t>
            </a:r>
          </a:p>
        </p:txBody>
      </p:sp>
      <p:cxnSp>
        <p:nvCxnSpPr>
          <p:cNvPr name="Connector 14" id="14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案例2 · 20 只股票池日收益 · 数据来源：Tushare 前复权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案例 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39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张坤：超额收益是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α</m:t>
                </m:r>
              </m:oMath>
            </a14:m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 还是风格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1543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52600"/>
            <a:ext cx="101600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易方达张坤 2019–2021 年因重仓消费/白酒获得广泛追捧，管理规模一度接近千亿；2021 年高点后净值最大回撤接近腰斩，2026 年 7 月大幅调仓（白酒持仓减半、股票仓位降至 75%）——即便最坚定的持有者也最终调整了持仓。问题：2019–2021 的超额收益，是选股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，还是消费风格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4826000" cy="21336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94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双因子回归（月频）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925" flipH="false" flipV="false">
            <a:off x="1270079" y="329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270000" y="3454400"/>
            <a:ext cx="4318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对沪深300 + 中证消费月收益回归：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b="1"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p>
                    <m:r>
                      <a:rPr b="1"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  <m:r>
                  <a:rPr b="1"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=0.7∼0.9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（高拟合度）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消费指数系数 &gt; 1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（风格暴露显著）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→ 大部分超额可由风格解释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794000"/>
            <a:ext cx="4826000" cy="2133600"/>
          </a:xfrm>
          <a:prstGeom prst="roundRect">
            <a:avLst>
              <a:gd name="adj" fmla="val 0"/>
            </a:avLst>
          </a:prstGeom>
          <a:solidFill>
            <a:srgbClr val="B432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94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更严格的四因子归因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5925" flipH="false" flipV="false">
            <a:off x="6604079" y="329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432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604000" y="3454400"/>
            <a:ext cx="4318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005827 在 2023-01 ~ 2026-08 月频四因子：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α=-29.8%/</m:t>
                </m:r>
                <m:r>
                  <a:rPr b="1"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年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（显著为负）</a:t>
            </a:r>
          </a:p>
          <a:p>
            <a:pPr algn="l" marL="0" indent="0">
              <a:lnSpc>
                <a:spcPct val="141666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t=-3.95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（高度显著）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→ 扣除风格后，"能力"为负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130800"/>
            <a:ext cx="10160000" cy="7112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33500" y="5232400"/>
            <a:ext cx="9525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操作规则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：案例 3 的疑问变成一条可执行规则——</a:t>
            </a:r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未报告 t 值的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不得写入投资分析报告</a:t>
            </a:r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轮动策略跑赢基准，不能证明"追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4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"有效，还需样本外检验、多窗口对比、成本敏感性。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案例3 · 易方达蓝筹精选 005827.OF · 数据来源：Morningstar / Tushare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三案例实证检验结论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85925" flipH="false" flipV="false">
            <a:off x="1016079" y="1416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841500"/>
            <a:ext cx="3175000" cy="3556000"/>
          </a:xfrm>
          <a:prstGeom prst="roundRect">
            <a:avLst>
              <a:gd name="adj" fmla="val 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159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案例 1 · 924 行情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730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FFFFFF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可直接观测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25" flipH="false" flipV="false">
            <a:off x="1270079" y="367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270000" y="3937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924 行情中，涨幅排名与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排名的 Spearman 秩相关系数达 0.91：高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股涨幅显著高于低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股，CAPM 的横截面定价关系直接成立。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1841500"/>
            <a:ext cx="3175000" cy="3556000"/>
          </a:xfrm>
          <a:prstGeom prst="roundRect">
            <a:avLst>
              <a:gd name="adj" fmla="val 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762500" y="2159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案例 2 · 微盘危机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62500" y="2730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FFFFFF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具时变性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5925" flipH="false" flipV="false">
            <a:off x="4762579" y="367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762500" y="3937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崩盘期个股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相对平静期发生剧烈位移（光迅科技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上升 1.09），说明平静期估出的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在压力期系统性失真，不能直接使用。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841500"/>
            <a:ext cx="3175000" cy="3556000"/>
          </a:xfrm>
          <a:prstGeom prst="roundRect">
            <a:avLst>
              <a:gd name="adj" fmla="val 0"/>
            </a:avLst>
          </a:prstGeom>
          <a:solidFill>
            <a:srgbClr val="C875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159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 3 · 张坤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2730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FFFFFF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α</m:t>
                </m:r>
              </m:oMath>
            </a14:m>
            <a:r>
              <a:rPr lang="en-US" b="true" i="false" strike="noStrike" u="none" sz="2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多不显著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5925" flipH="false" flipV="false">
            <a:off x="8255079" y="367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55000" y="3937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控制消费、市值等风格因子后，张坤的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α=-29.8%/</m:t>
                </m:r>
                <m:r>
                  <a:rPr sz="13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年</m:t>
                </m:r>
              </m:oMath>
            </a14:m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t=-3.95</m:t>
                </m:r>
              </m:oMath>
            </a14:m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，显著为负），超额收益来自风格暴露而非选股能力。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65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在投资中的应用价值，正建立在这三项实证结论之上。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6159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案例小结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实操一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39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回归与 SML 绘制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1543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826000" cy="2540000"/>
          </a:xfrm>
          <a:prstGeom prst="roundRect">
            <a:avLst>
              <a:gd name="adj" fmla="val 0"/>
            </a:avLst>
          </a:prstGeom>
          <a:solidFill>
            <a:srgbClr val="1A2E4B">
              <a:alpha val="4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68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 P1（交给 Agent 执行）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349500"/>
            <a:ext cx="4318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 = 沪深300 日收益，样本 2024-09 ~ 2026-08，前复权。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对 20 只股票做 CAPM 时间序列回归：</a:t>
            </a:r>
          </a:p>
          <a:p>
            <a:pPr algn="l" marL="0" indent="0">
              <a:lnSpc>
                <a:spcPct val="133333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r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sub>
                  </m:sSub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-</m:t>
                  </m:r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r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f</m:t>
                      </m:r>
                    </m:sub>
                  </m:sSub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=α+β</m:t>
                  </m:r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200">
                              <a:solidFill>
                                <a:srgbClr val="2B2B2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r</m:t>
                          </m:r>
                        </m:e>
                        <m:sub>
                          <m:r>
                            <a:rPr sz="1200">
                              <a:solidFill>
                                <a:srgbClr val="2B2B2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m</m:t>
                          </m:r>
                        </m:sub>
                      </m:s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</m:t>
                      </m:r>
                      <m:sSub>
                        <m:e>
                          <m:r>
                            <a:rPr sz="1200">
                              <a:solidFill>
                                <a:srgbClr val="2B2B2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r</m:t>
                          </m:r>
                        </m:e>
                        <m:sub>
                          <m:r>
                            <a:rPr sz="1200">
                              <a:solidFill>
                                <a:srgbClr val="2B2B2B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f</m:t>
                          </m:r>
                        </m:sub>
                      </m:sSub>
                    </m:e>
                  </m:d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+ε</m:t>
                  </m:r>
                </m:oMath>
              </m:oMathPara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（累计值与年化值并列报告，换算公式须写出）、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t</m:t>
                </m:r>
                <m:d>
                  <m:dPr>
                    <m:sepChr m:val=","/>
                  </m:dPr>
                  <m:e>
                    <m:r>
                      <a:rPr sz="12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α</m:t>
                    </m:r>
                  </m:e>
                </m:d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sz="12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p>
                    <m:r>
                      <a:rPr sz="12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；画 SML 图，标注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α&gt;0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α&lt;0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4826000" cy="2540000"/>
          </a:xfrm>
          <a:prstGeom prst="roundRect">
            <a:avLst>
              <a:gd name="adj" fmla="val 0"/>
            </a:avLst>
          </a:prstGeom>
          <a:solidFill>
            <a:srgbClr val="C8753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1968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实测结论（2 年日频）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413000"/>
            <a:ext cx="431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高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组平均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β=1.93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，低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β=0.20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20 只中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|t</m:t>
                </m:r>
                <m:d>
                  <m:dPr>
                    <m:sepChr m:val=","/>
                  </m:dPr>
                  <m:e>
                    <m:r>
                      <a:rPr sz="1300">
                        <a:solidFill>
                          <a:srgbClr val="2B2B2B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α</m:t>
                    </m:r>
                  </m:e>
                </m:d>
                <m:r>
                  <a:rPr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|&gt;2</m:t>
                </m:r>
              </m:oMath>
            </a14:m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的仅 </a:t>
            </a: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4 只（4/20）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样本期市场超额收益年化 </a:t>
            </a: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19.3%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→ 统计上"免费的午餐"很少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720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审查要点（小组互查时逐条核对）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497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5143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3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是年化值还是累计值？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换算公式必须写出。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5143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2. 只保留 |t| &gt; 2 的股票重绘 SML</a:t>
            </a:r>
            <a:r>
              <a:rPr lang="en-US" b="false" i="false" strike="noStrike" u="none" sz="13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，还剩几只？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715000"/>
            <a:ext cx="1016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思考题</a:t>
            </a:r>
            <a:r>
              <a:rPr lang="en-US" b="fals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：SML 下方的股票 = "被高估、应卖出"？若该股上月刚更换管理层，判断还成立吗？（模型输入的是历史，决策面对的是未来。）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Agent 实操一 · 操作规则：未报告 t 值的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1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不得写入投资分析报告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实操二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39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两类积极策略的回测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1543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826000" cy="2794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68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P2 · 趋势性：调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4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25" flipH="false" flipV="false">
            <a:off x="1270079" y="2343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270000" y="2540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沪深300 &gt; 60日均线 → 持有高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5只；否则持有低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5只。信号日收盘切换，双边成本各 0.1%。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回测 2023-01 ~ 2026-08：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年化 </a:t>
            </a: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+79.7%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· 最大回撤 −21.7% · 换仓 43 次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（基准沪深300：年化 +6.8%，回撤 −24.8%）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778000"/>
            <a:ext cx="4826000" cy="2794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1968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P3 · 价值性：追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400">
                    <a:solidFill>
                      <a:srgbClr val="C87533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5925" flipH="false" flipV="false">
            <a:off x="6604079" y="2343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540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每月末用过去 60 个交易日对 20 只做 CAPM 回归，选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最大 5 只等权持有 1 个月，双边成本各 0.1%。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关键子区间：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2024-02 杀跌段：策略 +10.1% vs 基准 −1.9%（防御成功）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924 段：策略 +56.8% vs 基准 +32.5%（信号滞后）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699000"/>
            <a:ext cx="10160000" cy="11684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33500" y="4826000"/>
            <a:ext cx="9525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策略有效性 = 信号真实性 × 执行成本 × 持续性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。回测只能验证其中第一条的一半。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P2 的高年化主要由 2025 年高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股上涨贡献，不宜解读为策略自身的稳定能力；趋势策略为"确认"付出成本。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轮动跑赢基准，能否证明"追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"有效？回看案例 3——张坤在 2019–2021 样本内的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 同样显著。还缺样本外检验、多窗口对比、成本敏感性。</a:t>
            </a:r>
          </a:p>
        </p:txBody>
      </p:sp>
      <p:cxnSp>
        <p:nvCxnSpPr>
          <p:cNvPr name="Connector 15" id="15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Agent 实操二 · 回看案例 1（924）与案例 2（崩盘）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7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实操三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39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 的调整与预测：前瞻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2600">
                    <a:solidFill>
                      <a:srgbClr val="1A2E4B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β</m:t>
                </m:r>
              </m:oMath>
            </a14:m>
            <a:r>
              <a:rPr lang="en-US" b="true" i="false" strike="noStrike" u="none" sz="2600">
                <a:solidFill>
                  <a:srgbClr val="1A2E4B"/>
                </a:solidFill>
                <a:latin typeface="Noto Serif SC"/>
                <a:ea typeface="Noto Serif SC"/>
                <a:cs typeface="Noto Serif SC"/>
                <a:sym typeface="Noto Serif SC"/>
              </a:rPr>
              <a:t> 的估计方法选择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1543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 P4：对宁德时代与寒武纪用 1/2/3 年窗口估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，算 Blume 调整值；再用 20 只股票池做横截面回归预测。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3175000" cy="2286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4765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选项 A · 样本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400">
                    <a:solidFill>
                      <a:srgbClr val="1A2E4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925" flipH="false" flipV="false">
            <a:off x="1270079" y="2851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270000" y="3048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直接用回归估出的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2B2B2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：简单、无额外假设。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缺点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：窗口短则噪声大，危机期系统性失真（案例 2）。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2286000"/>
            <a:ext cx="3175000" cy="2286000"/>
          </a:xfrm>
          <a:prstGeom prst="roundRect">
            <a:avLst>
              <a:gd name="adj" fmla="val 0"/>
            </a:avLst>
          </a:prstGeom>
          <a:solidFill>
            <a:srgbClr val="1A2E4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62500" y="24765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选项 B · Blume 调整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5925" flipH="false" flipV="false">
            <a:off x="4762579" y="2851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762500" y="3048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β</m:t>
                      </m:r>
                    </m:e>
                    <m:sub>
                      <m:r>
                        <m:rPr>
                          <m:nor/>
                        </m:rP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adj</m:t>
                      </m:r>
                    </m:sub>
                  </m:sSub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</m:num>
                    <m:den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3</m:t>
                      </m:r>
                    </m:den>
                  </m:f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β+</m:t>
                  </m:r>
                  <m:f>
                    <m:fPr>
                      <m:type m:val="bar"/>
                    </m:fPr>
                    <m:num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</m:t>
                      </m:r>
                    </m:num>
                    <m:den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3</m:t>
                      </m:r>
                    </m:den>
                  </m:f>
                </m:oMath>
              </m:oMathPara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：保守先验，向 1 收敛，预测更稳。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适用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：估计窗口越短、误差越大，越应当使用。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2286000"/>
            <a:ext cx="3175000" cy="2286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4765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选项 C · 横截面预测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5925" flipH="false" flipV="false">
            <a:off x="8255079" y="2851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255000" y="3048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β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t</m:t>
                      </m:r>
                    </m:sub>
                  </m:sSub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=a+</m:t>
                  </m:r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b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</m:t>
                      </m:r>
                    </m:sub>
                  </m:sSub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β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t-1</m:t>
                      </m:r>
                    </m:sub>
                  </m:sSub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+</m:t>
                  </m:r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b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</m:sub>
                  </m:sSub>
                  <m:r>
                    <m:rPr>
                      <m:sty m:val="p"/>
                    </m:rP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ln</m:t>
                  </m:r>
                  <m:d>
                    <m:dPr>
                      <m:sepChr m:val=","/>
                    </m:dPr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MC</m:t>
                      </m:r>
                    </m:e>
                  </m:d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+</m:t>
                  </m:r>
                  <m:sSub>
                    <m:e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b</m:t>
                      </m:r>
                    </m:e>
                    <m:sub>
                      <m:r>
                        <a:rPr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3</m:t>
                      </m:r>
                    </m:sub>
                  </m:sSub>
                  <m:r>
                    <a:rPr sz="1200">
                      <a:solidFill>
                        <a:srgbClr val="2B2B2B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LEV</m:t>
                  </m:r>
                </m:oMath>
              </m:oMathPara>
            </a14:m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Rosenberg &amp; Guy（1976）六因子模型的简化版。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r>
              <a:rPr lang="en-US" b="false" i="false" strike="noStrike" u="none" sz="12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：利用基本面信息，预测力更强。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6355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i="1" sz="1200">
                    <a:solidFill>
                      <a:srgbClr val="6B728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向 1 收敛的两条机制：</a:t>
            </a:r>
            <a:r>
              <a:rPr lang="en-US" b="tru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经营多元化</a:t>
            </a:r>
            <a:r>
              <a:rPr lang="en-US" b="fals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估计误差</a:t>
            </a:r>
            <a:r>
              <a:rPr lang="en-US" b="fals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；案例 2 展示了第三种力量——危机期相关结构的突变。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953000"/>
            <a:ext cx="10160000" cy="825500"/>
          </a:xfrm>
          <a:prstGeom prst="roundRect">
            <a:avLst>
              <a:gd name="adj" fmla="val 0"/>
            </a:avLst>
          </a:prstGeom>
          <a:solidFill>
            <a:srgbClr val="1A2E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333500" y="5080000"/>
            <a:ext cx="952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学生任务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：为下季度的组合决策明确采用哪一个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（样本 / Blume / 横截面预测），并写出理由——这条判断将直接写入投资分析报告的方法说明。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61595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Agent 实操三 · 对应教材 7-9 ~ 7-11 与阅读资料 7-2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A2E4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89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小结与课后任务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97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不是最终结论，是一套风险定价语言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259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921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600">
                    <a:solidFill>
                      <a:srgbClr val="C87533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是需滚动重估的敏感度参数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1600">
                    <a:solidFill>
                      <a:srgbClr val="C87533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是待检验的差额——多数无法通过 t 检验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857500"/>
            <a:ext cx="4826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3048000"/>
            <a:ext cx="431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87533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课后任务 · 投资分析报告 Part 2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925" flipH="false" flipV="false">
            <a:off x="6604079" y="3448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75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604000" y="36576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自选 10 只股票（覆盖高/中/低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），计算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与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300">
                    <a:solidFill>
                      <a:srgbClr val="DCDCD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β</m:t>
                </m:r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、绘制 SML 图。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给出 </a:t>
            </a:r>
            <a:r>
              <a:rPr lang="en-US" b="tru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 只买入、2 只回避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的建议（模板卡 3）。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结果下方注明数据来源、样本窗、频率、复权方式与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DCDCD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300">
                        <a:solidFill>
                          <a:srgbClr val="DCDCD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f</m:t>
                    </m:r>
                  </m:sub>
                </m:sSub>
              </m:oMath>
            </a14:m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取值。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46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B4B4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先学会用它，再学会怀疑它。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026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61976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第2课时 · 资本资产定价模型的应用 · 投资学 2026 秋季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