
<file path=[Content_Types].xml><?xml version="1.0" encoding="utf-8"?>
<Types xmlns="http://schemas.openxmlformats.org/package/2006/content-types"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 mar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 marL="457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 marL="914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 marL="1371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 marL="18288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 marL="22860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 marL="2743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 marL="3200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 marL="3657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slides/slide10.xml" Type="http://schemas.openxmlformats.org/officeDocument/2006/relationships/slide"/><Relationship Id="rId19" Target="slides/slide11.xml" Type="http://schemas.openxmlformats.org/officeDocument/2006/relationships/slide"/><Relationship Id="rId2" Target="viewProps.xml" Type="http://schemas.openxmlformats.org/officeDocument/2006/relationships/viewProps"/><Relationship Id="rId20" Target="slides/slide12.xml" Type="http://schemas.openxmlformats.org/officeDocument/2006/relationships/slide"/><Relationship Id="rId21" Target="notesSlides/notesSlide1.xml" Type="http://schemas.openxmlformats.org/officeDocument/2006/relationships/notesSlide"/><Relationship Id="rId22" Target="notesSlides/notesSlide2.xml" Type="http://schemas.openxmlformats.org/officeDocument/2006/relationships/notesSlide"/><Relationship Id="rId23" Target="notesSlides/notesSlide3.xml" Type="http://schemas.openxmlformats.org/officeDocument/2006/relationships/notesSlide"/><Relationship Id="rId24" Target="notesSlides/notesSlide4.xml" Type="http://schemas.openxmlformats.org/officeDocument/2006/relationships/notesSlide"/><Relationship Id="rId25" Target="notesSlides/notesSlide5.xml" Type="http://schemas.openxmlformats.org/officeDocument/2006/relationships/notesSlide"/><Relationship Id="rId26" Target="notesSlides/notesSlide6.xml" Type="http://schemas.openxmlformats.org/officeDocument/2006/relationships/notesSlide"/><Relationship Id="rId27" Target="notesSlides/notesSlide7.xml" Type="http://schemas.openxmlformats.org/officeDocument/2006/relationships/notesSlide"/><Relationship Id="rId28" Target="notesSlides/notesSlide8.xml" Type="http://schemas.openxmlformats.org/officeDocument/2006/relationships/notesSlide"/><Relationship Id="rId29" Target="notesSlides/notesSlide9.xml" Type="http://schemas.openxmlformats.org/officeDocument/2006/relationships/notesSlide"/><Relationship Id="rId3" Target="presProps.xml" Type="http://schemas.openxmlformats.org/officeDocument/2006/relationships/presProps"/><Relationship Id="rId30" Target="notesSlides/notesSlide10.xml" Type="http://schemas.openxmlformats.org/officeDocument/2006/relationships/notesSlide"/><Relationship Id="rId31" Target="notesSlides/notesSlide11.xml" Type="http://schemas.openxmlformats.org/officeDocument/2006/relationships/notesSlide"/><Relationship Id="rId32" Target="notesSlides/notesSlide12.xml" Type="http://schemas.openxmlformats.org/officeDocument/2006/relationships/notesSlide"/><Relationship Id="rId4" Target="slideMasters/slideMaster1.xml" Type="http://schemas.openxmlformats.org/officeDocument/2006/relationships/slideMaster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本次实验作业评价中国开放式证券投资基金的积极组合管理能力，核心问题：收益高是否说明管理好。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两项任务各占 50%，研究区间 2022.6—2026.9，建议一周内完成，截止日期以提交页面为准。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本页是整份实验作业的路线图，共六个环节。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核心问题：收益高是否说明积极组合管理效果较好，需要作出可复查的初步评价。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先理解任务，再看范围与材料；任务一自主建立评价，任务二提出改进并自行实验；最后是研究边界与提交成果。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本环节先给一个待检验的说法：收益高说明积极组合管理好。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判断前你会卡在四个地方：风格判断、基准选择、数据复查、结论是否相称。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这一页只提问题，答案靠数据与分析建立。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实验任务由两项组成，各占 50%。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任务一：明确问题、形成方法、比较基金，交付确认过的方案、结果与初步评价。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任务二：从任务一发现提出新问题，自主设计并执行，交付计划、产物、新证据与更新认识。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推进路线共六步，方法与深度自主决定。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第二个环节说明研究范围与起步材料。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样本：9 只普通主动权益基金，2022 年 6 月选样，成立超两年、有一定规模。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数据：Tushare MCP，接入说明见课程 QQ 群；数据由问题决定，记录来源并核查。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区间：2022.6—2026.9；先判断风格，再选至少 3 只比较。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任务一必算 12 项指标，本页逐项列出要点。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三组口径：超额收益、IR、TE 以基金合同基准为基准；Beta 相对市场指数；夏普与索提诺分母不同。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口径、数据来源与基准选择写入方案。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任务一与 Agent 往返推进五个环节：澄清、探查、方案、执行核验、评价追问。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每环节留一项可回查的真实参与。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至少核查一项关键计算或假设；完成标准含风格判断、至少 3 只比较、方案、核查与初评。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任务二第一步：指出任务一中一项具体结果、分歧或局限，说明它在表格、图、程序输出或原始交流中的位置。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本页七组现象与追问仅作启发，不限定选题。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方向、对象、方法、深度与规模自主决定，关键是问题从何而来、为什么值得研究，并通过实际分析检验。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执行前先保存任务二计划，例如 plans/task2_plan.md。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四问：问题来源、研究什么、数据与核验、不同结果支持或削弱什么。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完成标准：研究问题、确认计划、实际分析及核验，并说明新证据如何影响原认识。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研究与工具的边界共五条：数据可比、基准有据、结论相称、资料支持、工具范围确认。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核心一条：收益高不等于管理能力强，判断须说明依据与适用范围。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Agent 可连续工作，但你要能解释它为什么这样做，并检查实际产物。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提交材料共七类：报告、两份方案、原始交流、过程记录、数据与来源清单、分析计算文件与结果、README。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文件夹按学号_姓名命名，压缩为学号_姓名_基金实验.zip，入口提交。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建议一周内完成，截止日期以提交页面为准；评分规则以教师公布为准。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结尾给出三个可立即开始的行动。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接入 Tushare MCP 并试取数据，确认交流可保存；写下理解与不确定之处并澄清；判断风格并选样。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材料包压缩为学号_姓名_基金实验.zip，入口提交；建议一周内完成。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png" Type="http://schemas.openxmlformats.org/officeDocument/2006/relationships/image"/><Relationship Id="rId3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notesSlides/notesSlide5.xml" Type="http://schemas.openxmlformats.org/officeDocument/2006/relationships/notesSlide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10.png" Type="http://schemas.openxmlformats.org/officeDocument/2006/relationships/image"/><Relationship Id="rId7" Target="../media/image11.svg" Type="http://schemas.openxmlformats.org/officeDocument/2006/relationships/image"/><Relationship Id="rId8" Target="../media/image2.png" Type="http://schemas.openxmlformats.org/officeDocument/2006/relationships/image"/><Relationship Id="rId9" Target="../media/image3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0.xml" Type="http://schemas.openxmlformats.org/officeDocument/2006/relationships/notesSlide"/></Relationships>
</file>

<file path=ppt/slides/_rels/slide1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https://send2me.cn/s6scThjh/S7uneaqptLkaHg" TargetMode="External" Type="http://schemas.openxmlformats.org/officeDocument/2006/relationships/hyperlink"/><Relationship Id="rId3" Target="../notesSlides/notesSlide11.xml" Type="http://schemas.openxmlformats.org/officeDocument/2006/relationships/notesSlide"/></Relationships>
</file>

<file path=ppt/slides/_rels/slide1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https://send2me.cn/s6scThjh/S7uneaqptLkaHg" TargetMode="External" Type="http://schemas.openxmlformats.org/officeDocument/2006/relationships/hyperlink"/><Relationship Id="rId3" Target="../notesSlides/notesSlide12.xml" Type="http://schemas.openxmlformats.org/officeDocument/2006/relationships/notesSlide"/><Relationship Id="rId4" Target="../media/image1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2825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1016000" y="838200"/>
            <a:ext cx="8255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EXPERIMENT 02 · ACTIVE FUND MANAGEMENT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-4297" flipH="false" flipV="false">
            <a:off x="1016004" y="13652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4FC39B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rcRect l="1812" r="1812" t="0" b="0"/>
          <a:stretch>
            <a:fillRect/>
          </a:stretch>
        </p:blipFill>
        <p:spPr>
          <a:xfrm rot="0" flipH="false" flipV="false">
            <a:off x="10414000" y="508000"/>
            <a:ext cx="1524000" cy="1524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5" id="5"/>
          <p:cNvSpPr txBox="true"/>
          <p:nvPr/>
        </p:nvSpPr>
        <p:spPr>
          <a:xfrm rot="0" flipH="false" flipV="false">
            <a:off x="1016000" y="2667000"/>
            <a:ext cx="10160000" cy="1371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400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中国开放式证券投资基金的积极组合管理能力评价</a:t>
            </a:r>
            <a:endParaRPr lang="en-US" sz="1100"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1041400" y="4216400"/>
            <a:ext cx="9652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D2E2DC"/>
                </a:solidFill>
                <a:latin typeface="Noto Sans SC"/>
                <a:ea typeface="Noto Sans SC"/>
                <a:cs typeface="Noto Sans SC"/>
                <a:sym typeface="Noto Sans SC"/>
              </a:rPr>
              <a:t>学生实验手册 · 用数据核查基金表现，自主设计后续实验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-4297" flipH="false" flipV="false">
            <a:off x="1016004" y="51752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4FC39B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8" id="8"/>
          <p:cNvSpPr txBox="true"/>
          <p:nvPr/>
        </p:nvSpPr>
        <p:spPr>
          <a:xfrm rot="0" flipH="false" flipV="false">
            <a:off x="1016000" y="5435600"/>
            <a:ext cx="228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每位同学独立完成</a:t>
            </a:r>
            <a:endParaRPr lang="en-US" sz="1100"/>
          </a:p>
        </p:txBody>
      </p:sp>
      <p:sp>
        <p:nvSpPr>
          <p:cNvPr name="AutoShape 9" id="9"/>
          <p:cNvSpPr txBox="true"/>
          <p:nvPr/>
        </p:nvSpPr>
        <p:spPr>
          <a:xfrm rot="0" flipH="false" flipV="false">
            <a:off x="3149600" y="5435600"/>
            <a:ext cx="228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两项任务各占 50%</a:t>
            </a:r>
            <a:endParaRPr lang="en-US" sz="1100"/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5283200" y="5435600"/>
            <a:ext cx="228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研究区间 2022.6—2026.9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7569200" y="5435600"/>
            <a:ext cx="228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建议一周内完成</a:t>
            </a:r>
            <a:endParaRPr lang="en-US" sz="1100"/>
          </a:p>
        </p:txBody>
      </p:sp>
      <p:cxnSp>
        <p:nvCxnSpPr>
          <p:cNvPr name="Connector 12" id="12"/>
          <p:cNvCxnSpPr/>
          <p:nvPr/>
        </p:nvCxnSpPr>
        <p:spPr>
          <a:xfrm rot="-4297" flipH="false" flipV="false">
            <a:off x="1016004" y="61658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4FC39B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3" id="13"/>
          <p:cNvSpPr txBox="true"/>
          <p:nvPr/>
        </p:nvSpPr>
        <p:spPr>
          <a:xfrm rot="0" flipH="false" flipV="false">
            <a:off x="1016000" y="6400800"/>
            <a:ext cx="7112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B4C8C0"/>
                </a:solidFill>
                <a:latin typeface="Noto Sans SC"/>
                <a:ea typeface="Noto Sans SC"/>
                <a:cs typeface="Noto Sans SC"/>
                <a:sym typeface="Noto Sans SC"/>
              </a:rPr>
              <a:t>四川农业大学经济学院 · 投资组合管理课程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7F5E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1016000" y="431800"/>
            <a:ext cx="6350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1E8E6E"/>
                </a:solidFill>
                <a:latin typeface="Noto Sans SC"/>
                <a:ea typeface="Noto Sans SC"/>
                <a:cs typeface="Noto Sans SC"/>
                <a:sym typeface="Noto Sans SC"/>
              </a:rPr>
              <a:t>EXPERIMENT 02 · 目录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1016000" y="762000"/>
            <a:ext cx="3810000" cy="609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000">
                <a:solidFill>
                  <a:srgbClr val="0D2825"/>
                </a:solidFill>
                <a:latin typeface="Noto Serif SC"/>
                <a:ea typeface="Noto Serif SC"/>
                <a:cs typeface="Noto Serif SC"/>
                <a:sym typeface="Noto Serif SC"/>
              </a:rPr>
              <a:t>实验流程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4297" flipH="false" flipV="false">
            <a:off x="1016004" y="14922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1E8E6E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1016000" y="1752600"/>
            <a:ext cx="10160000" cy="584200"/>
          </a:xfrm>
          <a:prstGeom prst="roundRect">
            <a:avLst>
              <a:gd name="adj" fmla="val 34782"/>
            </a:avLst>
          </a:prstGeom>
          <a:solidFill>
            <a:srgbClr val="0D282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1320800" y="1752600"/>
            <a:ext cx="9550400" cy="584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5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核心问题：基金收益较高，是否足以说明积极组合管理效果较好？——请对这一判断作出初步评价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5388145" flipH="false" flipV="false">
            <a:off x="4127500" y="4324361"/>
            <a:ext cx="3683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ED6C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name="Connector 8" id="8"/>
          <p:cNvCxnSpPr/>
          <p:nvPr/>
        </p:nvCxnSpPr>
        <p:spPr>
          <a:xfrm rot="-4297" flipH="false" flipV="false">
            <a:off x="1016004" y="37020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ED6C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name="Connector 9" id="9"/>
          <p:cNvCxnSpPr/>
          <p:nvPr/>
        </p:nvCxnSpPr>
        <p:spPr>
          <a:xfrm rot="-4297" flipH="false" flipV="false">
            <a:off x="1016004" y="4946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ED6C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0" id="10"/>
          <p:cNvSpPr txBox="true"/>
          <p:nvPr/>
        </p:nvSpPr>
        <p:spPr>
          <a:xfrm rot="0" flipH="false" flipV="false">
            <a:off x="1016000" y="2540000"/>
            <a:ext cx="7112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000">
                <a:solidFill>
                  <a:srgbClr val="1E8E6E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1879600" y="2565400"/>
            <a:ext cx="39624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700">
                <a:solidFill>
                  <a:srgbClr val="0D2825"/>
                </a:solidFill>
                <a:latin typeface="Noto Sans SC"/>
                <a:ea typeface="Noto Sans SC"/>
                <a:cs typeface="Noto Sans SC"/>
                <a:sym typeface="Noto Sans SC"/>
              </a:rPr>
              <a:t>实验任务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1879600" y="2971800"/>
            <a:ext cx="39624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606863"/>
                </a:solidFill>
                <a:latin typeface="Noto Sans SC"/>
                <a:ea typeface="Noto Sans SC"/>
                <a:cs typeface="Noto Sans SC"/>
                <a:sym typeface="Noto Sans SC"/>
              </a:rPr>
              <a:t>要做出什么判断、交出什么</a:t>
            </a:r>
            <a:endParaRPr lang="en-US" sz="1100"/>
          </a:p>
        </p:txBody>
      </p:sp>
      <p:sp>
        <p:nvSpPr>
          <p:cNvPr name="AutoShape 13" id="13"/>
          <p:cNvSpPr txBox="true"/>
          <p:nvPr/>
        </p:nvSpPr>
        <p:spPr>
          <a:xfrm rot="0" flipH="false" flipV="false">
            <a:off x="6223000" y="2540000"/>
            <a:ext cx="7112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000">
                <a:solidFill>
                  <a:srgbClr val="1E8E6E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7086600" y="2565400"/>
            <a:ext cx="39624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700">
                <a:solidFill>
                  <a:srgbClr val="0D2825"/>
                </a:solidFill>
                <a:latin typeface="Noto Sans SC"/>
                <a:ea typeface="Noto Sans SC"/>
                <a:cs typeface="Noto Sans SC"/>
                <a:sym typeface="Noto Sans SC"/>
              </a:rPr>
              <a:t>研究范围与起步材料</a:t>
            </a:r>
            <a:endParaRPr lang="en-US" sz="1100"/>
          </a:p>
        </p:txBody>
      </p:sp>
      <p:sp>
        <p:nvSpPr>
          <p:cNvPr name="AutoShape 15" id="15"/>
          <p:cNvSpPr txBox="true"/>
          <p:nvPr/>
        </p:nvSpPr>
        <p:spPr>
          <a:xfrm rot="0" flipH="false" flipV="false">
            <a:off x="7086600" y="2971800"/>
            <a:ext cx="39624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606863"/>
                </a:solidFill>
                <a:latin typeface="Noto Sans SC"/>
                <a:ea typeface="Noto Sans SC"/>
                <a:cs typeface="Noto Sans SC"/>
                <a:sym typeface="Noto Sans SC"/>
              </a:rPr>
              <a:t>样本、数据与任务一研究区间</a:t>
            </a:r>
            <a:endParaRPr lang="en-US" sz="1100"/>
          </a:p>
        </p:txBody>
      </p:sp>
      <p:sp>
        <p:nvSpPr>
          <p:cNvPr name="AutoShape 16" id="16"/>
          <p:cNvSpPr txBox="true"/>
          <p:nvPr/>
        </p:nvSpPr>
        <p:spPr>
          <a:xfrm rot="0" flipH="false" flipV="false">
            <a:off x="1016000" y="3810000"/>
            <a:ext cx="7112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000">
                <a:solidFill>
                  <a:srgbClr val="1E8E6E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name="AutoShape 17" id="17"/>
          <p:cNvSpPr txBox="true"/>
          <p:nvPr/>
        </p:nvSpPr>
        <p:spPr>
          <a:xfrm rot="0" flipH="false" flipV="false">
            <a:off x="1879600" y="3835400"/>
            <a:ext cx="39624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700">
                <a:solidFill>
                  <a:srgbClr val="0D2825"/>
                </a:solidFill>
                <a:latin typeface="Noto Sans SC"/>
                <a:ea typeface="Noto Sans SC"/>
                <a:cs typeface="Noto Sans SC"/>
                <a:sym typeface="Noto Sans SC"/>
              </a:rPr>
              <a:t>任务一</a:t>
            </a:r>
            <a:endParaRPr lang="en-US" sz="1100"/>
          </a:p>
        </p:txBody>
      </p:sp>
      <p:sp>
        <p:nvSpPr>
          <p:cNvPr name="AutoShape 18" id="18"/>
          <p:cNvSpPr txBox="true"/>
          <p:nvPr/>
        </p:nvSpPr>
        <p:spPr>
          <a:xfrm rot="0" flipH="false" flipV="false">
            <a:off x="1879600" y="4241800"/>
            <a:ext cx="39624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606863"/>
                </a:solidFill>
                <a:latin typeface="Noto Sans SC"/>
                <a:ea typeface="Noto Sans SC"/>
                <a:cs typeface="Noto Sans SC"/>
                <a:sym typeface="Noto Sans SC"/>
              </a:rPr>
              <a:t>自主建立可核验的基金表现评价</a:t>
            </a:r>
            <a:endParaRPr lang="en-US" sz="1100"/>
          </a:p>
        </p:txBody>
      </p:sp>
      <p:sp>
        <p:nvSpPr>
          <p:cNvPr name="AutoShape 19" id="19"/>
          <p:cNvSpPr txBox="true"/>
          <p:nvPr/>
        </p:nvSpPr>
        <p:spPr>
          <a:xfrm rot="0" flipH="false" flipV="false">
            <a:off x="6223000" y="3810000"/>
            <a:ext cx="7112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000">
                <a:solidFill>
                  <a:srgbClr val="1E8E6E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name="AutoShape 20" id="20"/>
          <p:cNvSpPr txBox="true"/>
          <p:nvPr/>
        </p:nvSpPr>
        <p:spPr>
          <a:xfrm rot="0" flipH="false" flipV="false">
            <a:off x="7086600" y="3835400"/>
            <a:ext cx="39624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700">
                <a:solidFill>
                  <a:srgbClr val="0D2825"/>
                </a:solidFill>
                <a:latin typeface="Noto Sans SC"/>
                <a:ea typeface="Noto Sans SC"/>
                <a:cs typeface="Noto Sans SC"/>
                <a:sym typeface="Noto Sans SC"/>
              </a:rPr>
              <a:t>任务二</a:t>
            </a:r>
            <a:endParaRPr lang="en-US" sz="1100"/>
          </a:p>
        </p:txBody>
      </p:sp>
      <p:sp>
        <p:nvSpPr>
          <p:cNvPr name="AutoShape 21" id="21"/>
          <p:cNvSpPr txBox="true"/>
          <p:nvPr/>
        </p:nvSpPr>
        <p:spPr>
          <a:xfrm rot="0" flipH="false" flipV="false">
            <a:off x="7086600" y="4241800"/>
            <a:ext cx="39624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606863"/>
                </a:solidFill>
                <a:latin typeface="Noto Sans SC"/>
                <a:ea typeface="Noto Sans SC"/>
                <a:cs typeface="Noto Sans SC"/>
                <a:sym typeface="Noto Sans SC"/>
              </a:rPr>
              <a:t>提出改进意见，自行设计实验</a:t>
            </a:r>
            <a:endParaRPr lang="en-US" sz="1100"/>
          </a:p>
        </p:txBody>
      </p:sp>
      <p:sp>
        <p:nvSpPr>
          <p:cNvPr name="AutoShape 22" id="22"/>
          <p:cNvSpPr txBox="true"/>
          <p:nvPr/>
        </p:nvSpPr>
        <p:spPr>
          <a:xfrm rot="0" flipH="false" flipV="false">
            <a:off x="1016000" y="5054600"/>
            <a:ext cx="7112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000">
                <a:solidFill>
                  <a:srgbClr val="1E8E6E"/>
                </a:solidFill>
                <a:latin typeface="Noto Sans SC"/>
                <a:ea typeface="Noto Sans SC"/>
                <a:cs typeface="Noto Sans SC"/>
                <a:sym typeface="Noto Sans SC"/>
              </a:rPr>
              <a:t>05</a:t>
            </a:r>
            <a:endParaRPr lang="en-US" sz="1100"/>
          </a:p>
        </p:txBody>
      </p:sp>
      <p:sp>
        <p:nvSpPr>
          <p:cNvPr name="AutoShape 23" id="23"/>
          <p:cNvSpPr txBox="true"/>
          <p:nvPr/>
        </p:nvSpPr>
        <p:spPr>
          <a:xfrm rot="0" flipH="false" flipV="false">
            <a:off x="1879600" y="5080000"/>
            <a:ext cx="39624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700">
                <a:solidFill>
                  <a:srgbClr val="0D2825"/>
                </a:solidFill>
                <a:latin typeface="Noto Sans SC"/>
                <a:ea typeface="Noto Sans SC"/>
                <a:cs typeface="Noto Sans SC"/>
                <a:sym typeface="Noto Sans SC"/>
              </a:rPr>
              <a:t>研究与工具的边界</a:t>
            </a:r>
            <a:endParaRPr lang="en-US" sz="1100"/>
          </a:p>
        </p:txBody>
      </p:sp>
      <p:sp>
        <p:nvSpPr>
          <p:cNvPr name="AutoShape 24" id="24"/>
          <p:cNvSpPr txBox="true"/>
          <p:nvPr/>
        </p:nvSpPr>
        <p:spPr>
          <a:xfrm rot="0" flipH="false" flipV="false">
            <a:off x="1879600" y="5486400"/>
            <a:ext cx="39624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606863"/>
                </a:solidFill>
                <a:latin typeface="Noto Sans SC"/>
                <a:ea typeface="Noto Sans SC"/>
                <a:cs typeface="Noto Sans SC"/>
                <a:sym typeface="Noto Sans SC"/>
              </a:rPr>
              <a:t>哪些规则不可让步</a:t>
            </a:r>
            <a:endParaRPr lang="en-US" sz="1100"/>
          </a:p>
        </p:txBody>
      </p:sp>
      <p:sp>
        <p:nvSpPr>
          <p:cNvPr name="AutoShape 25" id="25"/>
          <p:cNvSpPr txBox="true"/>
          <p:nvPr/>
        </p:nvSpPr>
        <p:spPr>
          <a:xfrm rot="0" flipH="false" flipV="false">
            <a:off x="6223000" y="5054600"/>
            <a:ext cx="7112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000">
                <a:solidFill>
                  <a:srgbClr val="1E8E6E"/>
                </a:solidFill>
                <a:latin typeface="Noto Sans SC"/>
                <a:ea typeface="Noto Sans SC"/>
                <a:cs typeface="Noto Sans SC"/>
                <a:sym typeface="Noto Sans SC"/>
              </a:rPr>
              <a:t>06</a:t>
            </a:r>
            <a:endParaRPr lang="en-US" sz="1100"/>
          </a:p>
        </p:txBody>
      </p:sp>
      <p:sp>
        <p:nvSpPr>
          <p:cNvPr name="AutoShape 26" id="26"/>
          <p:cNvSpPr txBox="true"/>
          <p:nvPr/>
        </p:nvSpPr>
        <p:spPr>
          <a:xfrm rot="0" flipH="false" flipV="false">
            <a:off x="7086600" y="5080000"/>
            <a:ext cx="39624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700">
                <a:solidFill>
                  <a:srgbClr val="0D2825"/>
                </a:solidFill>
                <a:latin typeface="Noto Sans SC"/>
                <a:ea typeface="Noto Sans SC"/>
                <a:cs typeface="Noto Sans SC"/>
                <a:sym typeface="Noto Sans SC"/>
              </a:rPr>
              <a:t>保存交流与提交成果</a:t>
            </a:r>
            <a:endParaRPr lang="en-US" sz="1100"/>
          </a:p>
        </p:txBody>
      </p:sp>
      <p:sp>
        <p:nvSpPr>
          <p:cNvPr name="AutoShape 27" id="27"/>
          <p:cNvSpPr txBox="true"/>
          <p:nvPr/>
        </p:nvSpPr>
        <p:spPr>
          <a:xfrm rot="0" flipH="false" flipV="false">
            <a:off x="7086600" y="5486400"/>
            <a:ext cx="39624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606863"/>
                </a:solidFill>
                <a:latin typeface="Noto Sans SC"/>
                <a:ea typeface="Noto Sans SC"/>
                <a:cs typeface="Noto Sans SC"/>
                <a:sym typeface="Noto Sans SC"/>
              </a:rPr>
              <a:t>交什么材料、怎么提交</a:t>
            </a:r>
            <a:endParaRPr lang="en-US" sz="1100"/>
          </a:p>
        </p:txBody>
      </p:sp>
      <p:cxnSp>
        <p:nvCxnSpPr>
          <p:cNvPr name="Connector 28" id="28"/>
          <p:cNvCxnSpPr/>
          <p:nvPr/>
        </p:nvCxnSpPr>
        <p:spPr>
          <a:xfrm rot="-4297" flipH="false" flipV="false">
            <a:off x="1016004" y="63690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ED6C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9" id="29"/>
          <p:cNvSpPr txBox="true"/>
          <p:nvPr/>
        </p:nvSpPr>
        <p:spPr>
          <a:xfrm rot="0" flipH="false" flipV="false">
            <a:off x="1016000" y="6451600"/>
            <a:ext cx="7112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7A827D"/>
                </a:solidFill>
                <a:latin typeface="Noto Sans SC"/>
                <a:ea typeface="Noto Sans SC"/>
                <a:cs typeface="Noto Sans SC"/>
                <a:sym typeface="Noto Sans SC"/>
              </a:rPr>
              <a:t>来源：实验作业 02 学生手册（课程网页）</a:t>
            </a:r>
            <a:endParaRPr lang="en-US" sz="1100"/>
          </a:p>
        </p:txBody>
      </p:sp>
      <p:sp>
        <p:nvSpPr>
          <p:cNvPr name="AutoShape 30" id="30"/>
          <p:cNvSpPr txBox="true"/>
          <p:nvPr/>
        </p:nvSpPr>
        <p:spPr>
          <a:xfrm rot="0" flipH="false" flipV="false">
            <a:off x="10414000" y="6451600"/>
            <a:ext cx="762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7A827D"/>
                </a:solidFill>
                <a:latin typeface="Noto Sans SC"/>
                <a:ea typeface="Noto Sans SC"/>
                <a:cs typeface="Noto Sans SC"/>
                <a:sym typeface="Noto Sans SC"/>
              </a:rPr>
              <a:t>02 / 12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0D2825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1016000" y="558800"/>
            <a:ext cx="3810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4FC39B"/>
                </a:solidFill>
                <a:latin typeface="Noto Sans SC"/>
                <a:ea typeface="Noto Sans SC"/>
                <a:cs typeface="Noto Sans SC"/>
                <a:sym typeface="Noto Sans SC"/>
              </a:rPr>
              <a:t>01 · 实验任务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-4297" flipH="false" flipV="false">
            <a:off x="1016004" y="10350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4FC39B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4" id="4"/>
          <p:cNvSpPr txBox="true"/>
          <p:nvPr/>
        </p:nvSpPr>
        <p:spPr>
          <a:xfrm rot="0" flipH="false" flipV="false">
            <a:off x="1016000" y="1651000"/>
            <a:ext cx="9652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800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基金收益高，就说明积极组合管理效果好？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20221" flipH="false" flipV="false">
            <a:off x="1016019" y="3397250"/>
            <a:ext cx="215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4FC39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6" id="6"/>
          <p:cNvSpPr txBox="true"/>
          <p:nvPr/>
        </p:nvSpPr>
        <p:spPr>
          <a:xfrm rot="0" flipH="false" flipV="false">
            <a:off x="1016000" y="3657600"/>
            <a:ext cx="2540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700">
                <a:solidFill>
                  <a:srgbClr val="4FC39B"/>
                </a:solidFill>
                <a:latin typeface="Noto Sans SC"/>
                <a:ea typeface="Noto Sans SC"/>
                <a:cs typeface="Noto Sans SC"/>
                <a:sym typeface="Noto Sans SC"/>
              </a:rPr>
              <a:t>你会在哪里卡住</a:t>
            </a:r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1016000" y="4267200"/>
            <a:ext cx="8890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基金的投资风格，依据什么判断？</a:t>
            </a:r>
            <a:endParaRPr lang="en-US" sz="1100"/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1016000" y="4775200"/>
            <a:ext cx="8890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与什么基准比较，才算有依据？</a:t>
            </a:r>
            <a:endParaRPr lang="en-US" sz="1100"/>
          </a:p>
        </p:txBody>
      </p:sp>
      <p:sp>
        <p:nvSpPr>
          <p:cNvPr name="AutoShape 9" id="9"/>
          <p:cNvSpPr txBox="true"/>
          <p:nvPr/>
        </p:nvSpPr>
        <p:spPr>
          <a:xfrm rot="0" flipH="false" flipV="false">
            <a:off x="1016000" y="5283200"/>
            <a:ext cx="8890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数据与计算，怎样才算可复查？</a:t>
            </a:r>
            <a:endParaRPr lang="en-US" sz="1100"/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1016000" y="5791200"/>
            <a:ext cx="8890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“收益高”能否支撑“管理能力强”的结论？</a:t>
            </a:r>
            <a:endParaRPr lang="en-US" sz="1100"/>
          </a:p>
        </p:txBody>
      </p:sp>
      <p:cxnSp>
        <p:nvCxnSpPr>
          <p:cNvPr name="Connector 11" id="11"/>
          <p:cNvCxnSpPr/>
          <p:nvPr/>
        </p:nvCxnSpPr>
        <p:spPr>
          <a:xfrm rot="-4297" flipH="false" flipV="false">
            <a:off x="1016004" y="63690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4FC39B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2" id="12"/>
          <p:cNvSpPr txBox="true"/>
          <p:nvPr/>
        </p:nvSpPr>
        <p:spPr>
          <a:xfrm rot="0" flipH="false" flipV="false">
            <a:off x="1016000" y="6477000"/>
            <a:ext cx="8890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B4C8C0"/>
                </a:solidFill>
                <a:latin typeface="Noto Sans SC"/>
                <a:ea typeface="Noto Sans SC"/>
                <a:cs typeface="Noto Sans SC"/>
                <a:sym typeface="Noto Sans SC"/>
              </a:rPr>
              <a:t>只提出问题，答案用数据建立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5E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1016000" y="431800"/>
            <a:ext cx="6350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1E8E6E"/>
                </a:solidFill>
                <a:latin typeface="Noto Sans SC"/>
                <a:ea typeface="Noto Sans SC"/>
                <a:cs typeface="Noto Sans SC"/>
                <a:sym typeface="Noto Sans SC"/>
              </a:rPr>
              <a:t>01 · 实验任务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1016000" y="762000"/>
            <a:ext cx="10160000" cy="609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000">
                <a:solidFill>
                  <a:srgbClr val="0D2825"/>
                </a:solidFill>
                <a:latin typeface="Noto Serif SC"/>
                <a:ea typeface="Noto Serif SC"/>
                <a:cs typeface="Noto Serif SC"/>
                <a:sym typeface="Noto Serif SC"/>
              </a:rPr>
              <a:t>两项任务：先自主评价，再提出新问题自行实验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4297" flipH="false" flipV="false">
            <a:off x="1016004" y="14922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1E8E6E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name="Connector 5" id="5"/>
          <p:cNvCxnSpPr/>
          <p:nvPr/>
        </p:nvCxnSpPr>
        <p:spPr>
          <a:xfrm rot="5386571" flipH="false" flipV="false">
            <a:off x="4343400" y="3397262"/>
            <a:ext cx="3251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ED6C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6" id="6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066800" y="1828800"/>
            <a:ext cx="355600" cy="355600"/>
          </a:xfrm>
          <a:prstGeom prst="rect">
            <a:avLst/>
          </a:prstGeom>
        </p:spPr>
      </p:pic>
      <p:sp>
        <p:nvSpPr>
          <p:cNvPr name="AutoShape 7" id="7"/>
          <p:cNvSpPr txBox="true"/>
          <p:nvPr/>
        </p:nvSpPr>
        <p:spPr>
          <a:xfrm rot="0" flipH="false" flipV="false">
            <a:off x="1549400" y="1803400"/>
            <a:ext cx="4064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D2825"/>
                </a:solidFill>
                <a:latin typeface="Noto Sans SC"/>
                <a:ea typeface="Noto Sans SC"/>
                <a:cs typeface="Noto Sans SC"/>
                <a:sym typeface="Noto Sans SC"/>
              </a:rPr>
              <a:t>任务一 · 自主建立评价</a:t>
            </a:r>
            <a:endParaRPr lang="en-US" sz="1100"/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1066800" y="2413000"/>
            <a:ext cx="1524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E8E6E"/>
                </a:solidFill>
                <a:latin typeface="Noto Sans SC"/>
                <a:ea typeface="Noto Sans SC"/>
                <a:cs typeface="Noto Sans SC"/>
                <a:sym typeface="Noto Sans SC"/>
              </a:rPr>
              <a:t>要完成的研究</a:t>
            </a:r>
            <a:endParaRPr lang="en-US" sz="1100"/>
          </a:p>
        </p:txBody>
      </p:sp>
      <p:sp>
        <p:nvSpPr>
          <p:cNvPr name="AutoShape 9" id="9"/>
          <p:cNvSpPr txBox="true"/>
          <p:nvPr/>
        </p:nvSpPr>
        <p:spPr>
          <a:xfrm rot="0" flipH="false" flipV="false">
            <a:off x="1066800" y="2819400"/>
            <a:ext cx="457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262A28"/>
                </a:solidFill>
                <a:latin typeface="Noto Sans SC"/>
                <a:ea typeface="Noto Sans SC"/>
                <a:cs typeface="Noto Sans SC"/>
                <a:sym typeface="Noto Sans SC"/>
              </a:rPr>
              <a:t>明确问题、形成方法、比较基金、审查初步判断。</a:t>
            </a:r>
            <a:endParaRPr lang="en-US" sz="1100"/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1066800" y="3810000"/>
            <a:ext cx="1524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E8E6E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核心交付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1066800" y="4216400"/>
            <a:ext cx="457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262A28"/>
                </a:solidFill>
                <a:latin typeface="Noto Sans SC"/>
                <a:ea typeface="Noto Sans SC"/>
                <a:cs typeface="Noto Sans SC"/>
                <a:sym typeface="Noto Sans SC"/>
              </a:rPr>
              <a:t>经你确认的研究方案、实际计算结果和初步评价</a:t>
            </a:r>
            <a:endParaRPr lang="en-US" sz="1100"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6375400" y="1828800"/>
            <a:ext cx="355600" cy="355600"/>
          </a:xfrm>
          <a:prstGeom prst="rect">
            <a:avLst/>
          </a:prstGeom>
        </p:spPr>
      </p:pic>
      <p:sp>
        <p:nvSpPr>
          <p:cNvPr name="AutoShape 13" id="13"/>
          <p:cNvSpPr txBox="true"/>
          <p:nvPr/>
        </p:nvSpPr>
        <p:spPr>
          <a:xfrm rot="0" flipH="false" flipV="false">
            <a:off x="6858000" y="1803400"/>
            <a:ext cx="4064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D2825"/>
                </a:solidFill>
                <a:latin typeface="Noto Sans SC"/>
                <a:ea typeface="Noto Sans SC"/>
                <a:cs typeface="Noto Sans SC"/>
                <a:sym typeface="Noto Sans SC"/>
              </a:rPr>
              <a:t>任务二 · 提出改进并自行实验</a:t>
            </a:r>
            <a:endParaRPr lang="en-US" sz="1100"/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6375400" y="2413000"/>
            <a:ext cx="1524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E8E6E"/>
                </a:solidFill>
                <a:latin typeface="Noto Sans SC"/>
                <a:ea typeface="Noto Sans SC"/>
                <a:cs typeface="Noto Sans SC"/>
                <a:sym typeface="Noto Sans SC"/>
              </a:rPr>
              <a:t>要完成的研究</a:t>
            </a:r>
            <a:endParaRPr lang="en-US" sz="1100"/>
          </a:p>
        </p:txBody>
      </p:sp>
      <p:sp>
        <p:nvSpPr>
          <p:cNvPr name="AutoShape 15" id="15"/>
          <p:cNvSpPr txBox="true"/>
          <p:nvPr/>
        </p:nvSpPr>
        <p:spPr>
          <a:xfrm rot="0" flipH="false" flipV="false">
            <a:off x="6375400" y="2819400"/>
            <a:ext cx="457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262A28"/>
                </a:solidFill>
                <a:latin typeface="Noto Sans SC"/>
                <a:ea typeface="Noto Sans SC"/>
                <a:cs typeface="Noto Sans SC"/>
                <a:sym typeface="Noto Sans SC"/>
              </a:rPr>
              <a:t>从任务一发现提出新问题，自主设计并执行。</a:t>
            </a:r>
            <a:endParaRPr lang="en-US" sz="1100"/>
          </a:p>
        </p:txBody>
      </p:sp>
      <p:sp>
        <p:nvSpPr>
          <p:cNvPr name="AutoShape 16" id="16"/>
          <p:cNvSpPr txBox="true"/>
          <p:nvPr/>
        </p:nvSpPr>
        <p:spPr>
          <a:xfrm rot="0" flipH="false" flipV="false">
            <a:off x="6375400" y="3810000"/>
            <a:ext cx="1524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E8E6E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核心交付</a:t>
            </a:r>
            <a:endParaRPr lang="en-US" sz="1100"/>
          </a:p>
        </p:txBody>
      </p:sp>
      <p:sp>
        <p:nvSpPr>
          <p:cNvPr name="AutoShape 17" id="17"/>
          <p:cNvSpPr txBox="true"/>
          <p:nvPr/>
        </p:nvSpPr>
        <p:spPr>
          <a:xfrm rot="0" flipH="false" flipV="false">
            <a:off x="6375400" y="4216400"/>
            <a:ext cx="457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262A28"/>
                </a:solidFill>
                <a:latin typeface="Noto Sans SC"/>
                <a:ea typeface="Noto Sans SC"/>
                <a:cs typeface="Noto Sans SC"/>
                <a:sym typeface="Noto Sans SC"/>
              </a:rPr>
              <a:t>执行前的研究计划、实际产物、新证据及更新后的认识</a:t>
            </a:r>
            <a:endParaRPr lang="en-US" sz="1100"/>
          </a:p>
        </p:txBody>
      </p:sp>
      <p:cxnSp>
        <p:nvCxnSpPr>
          <p:cNvPr name="Connector 18" id="18"/>
          <p:cNvCxnSpPr/>
          <p:nvPr/>
        </p:nvCxnSpPr>
        <p:spPr>
          <a:xfrm rot="-4297" flipH="false" flipV="false">
            <a:off x="1016004" y="5327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ED6C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9" id="19"/>
          <p:cNvSpPr txBox="true"/>
          <p:nvPr/>
        </p:nvSpPr>
        <p:spPr>
          <a:xfrm rot="0" flipH="false" flipV="false">
            <a:off x="1016000" y="5511800"/>
            <a:ext cx="1524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0D2825"/>
                </a:solidFill>
                <a:latin typeface="Noto Sans SC"/>
                <a:ea typeface="Noto Sans SC"/>
                <a:cs typeface="Noto Sans SC"/>
                <a:sym typeface="Noto Sans SC"/>
              </a:rPr>
              <a:t>推进路线</a:t>
            </a:r>
            <a:endParaRPr lang="en-US" sz="1100"/>
          </a:p>
        </p:txBody>
      </p:sp>
      <p:sp>
        <p:nvSpPr>
          <p:cNvPr name="AutoShape 20" id="20"/>
          <p:cNvSpPr txBox="true"/>
          <p:nvPr/>
        </p:nvSpPr>
        <p:spPr>
          <a:xfrm rot="0" flipH="false" flipV="false">
            <a:off x="2540000" y="5537200"/>
            <a:ext cx="86360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262A28"/>
                </a:solidFill>
                <a:latin typeface="Noto Sans SC"/>
                <a:ea typeface="Noto Sans SC"/>
                <a:cs typeface="Noto Sans SC"/>
                <a:sym typeface="Noto Sans SC"/>
              </a:rPr>
              <a:t>确认可保存 → 澄清问题 → 风格判断与选样 → 方案·计算·核验 → 新问题·计划·实验 → 整理提交</a:t>
            </a:r>
            <a:endParaRPr lang="en-US" sz="1100"/>
          </a:p>
        </p:txBody>
      </p:sp>
      <p:cxnSp>
        <p:nvCxnSpPr>
          <p:cNvPr name="Connector 21" id="21"/>
          <p:cNvCxnSpPr/>
          <p:nvPr/>
        </p:nvCxnSpPr>
        <p:spPr>
          <a:xfrm rot="-4297" flipH="false" flipV="false">
            <a:off x="1016004" y="63690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ED6C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2" id="22"/>
          <p:cNvSpPr txBox="true"/>
          <p:nvPr/>
        </p:nvSpPr>
        <p:spPr>
          <a:xfrm rot="0" flipH="false" flipV="false">
            <a:off x="1016000" y="6451600"/>
            <a:ext cx="7112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7A827D"/>
                </a:solidFill>
                <a:latin typeface="Noto Sans SC"/>
                <a:ea typeface="Noto Sans SC"/>
                <a:cs typeface="Noto Sans SC"/>
                <a:sym typeface="Noto Sans SC"/>
              </a:rPr>
              <a:t>来源：实验作业 02 学生手册（课程网页）</a:t>
            </a:r>
            <a:endParaRPr lang="en-US" sz="1100"/>
          </a:p>
        </p:txBody>
      </p:sp>
      <p:sp>
        <p:nvSpPr>
          <p:cNvPr name="AutoShape 23" id="23"/>
          <p:cNvSpPr txBox="true"/>
          <p:nvPr/>
        </p:nvSpPr>
        <p:spPr>
          <a:xfrm rot="0" flipH="false" flipV="false">
            <a:off x="10414000" y="6451600"/>
            <a:ext cx="762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7A827D"/>
                </a:solidFill>
                <a:latin typeface="Noto Sans SC"/>
                <a:ea typeface="Noto Sans SC"/>
                <a:cs typeface="Noto Sans SC"/>
                <a:sym typeface="Noto Sans SC"/>
              </a:rPr>
              <a:t>04 / 12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5E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1016000" y="431800"/>
            <a:ext cx="6350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1E8E6E"/>
                </a:solidFill>
                <a:latin typeface="Noto Sans SC"/>
                <a:ea typeface="Noto Sans SC"/>
                <a:cs typeface="Noto Sans SC"/>
                <a:sym typeface="Noto Sans SC"/>
              </a:rPr>
              <a:t>02 · 研究范围与起步材料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1016000" y="762000"/>
            <a:ext cx="10160000" cy="609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000">
                <a:solidFill>
                  <a:srgbClr val="0D2825"/>
                </a:solidFill>
                <a:latin typeface="Noto Serif SC"/>
                <a:ea typeface="Noto Serif SC"/>
                <a:cs typeface="Noto Serif SC"/>
                <a:sym typeface="Noto Serif SC"/>
              </a:rPr>
              <a:t>样本、数据、区间怎么定？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4297" flipH="false" flipV="false">
            <a:off x="1016004" y="14922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1E8E6E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pic>
        <p:nvPicPr>
          <p:cNvPr name="Picture 5" id="5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066800" y="1905000"/>
            <a:ext cx="355600" cy="355600"/>
          </a:xfrm>
          <a:prstGeom prst="rect">
            <a:avLst/>
          </a:prstGeom>
        </p:spPr>
      </p:pic>
      <p:sp>
        <p:nvSpPr>
          <p:cNvPr name="AutoShape 6" id="6"/>
          <p:cNvSpPr txBox="true"/>
          <p:nvPr/>
        </p:nvSpPr>
        <p:spPr>
          <a:xfrm rot="0" flipH="false" flipV="false">
            <a:off x="1549400" y="1879600"/>
            <a:ext cx="1524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700">
                <a:solidFill>
                  <a:srgbClr val="0D2825"/>
                </a:solidFill>
                <a:latin typeface="Noto Sans SC"/>
                <a:ea typeface="Noto Sans SC"/>
                <a:cs typeface="Noto Sans SC"/>
                <a:sym typeface="Noto Sans SC"/>
              </a:rPr>
              <a:t>样本</a:t>
            </a:r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1066800" y="2438400"/>
            <a:ext cx="4572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0833"/>
              </a:lnSpc>
              <a:defRPr/>
            </a:pPr>
            <a:r>
              <a:rPr lang="en-US" b="false" i="false" strike="noStrike" u="none" sz="1400">
                <a:solidFill>
                  <a:srgbClr val="262A28"/>
                </a:solidFill>
                <a:latin typeface="Noto Sans SC"/>
                <a:ea typeface="Noto Sans SC"/>
                <a:cs typeface="Noto Sans SC"/>
                <a:sym typeface="Noto Sans SC"/>
              </a:rPr>
              <a:t>9 只普通主动权益基金（名称与份额代码）</a:t>
            </a:r>
            <a:endParaRPr lang="en-US" sz="1100"/>
          </a:p>
          <a:p>
            <a:pPr algn="l" marL="0" indent="0">
              <a:lnSpc>
                <a:spcPct val="120833"/>
              </a:lnSpc>
            </a:pPr>
            <a:r>
              <a:rPr lang="en-US" b="false" i="false" strike="noStrike" u="none" sz="1400">
                <a:solidFill>
                  <a:srgbClr val="262A28"/>
                </a:solidFill>
                <a:latin typeface="Noto Sans SC"/>
                <a:ea typeface="Noto Sans SC"/>
                <a:cs typeface="Noto Sans SC"/>
                <a:sym typeface="Noto Sans SC"/>
              </a:rPr>
              <a:t>2022 年 6 月选样节点，成立超两年、有一定规模</a:t>
            </a:r>
          </a:p>
          <a:p>
            <a:pPr algn="l" marL="0" indent="0">
              <a:lnSpc>
                <a:spcPct val="120833"/>
              </a:lnSpc>
            </a:pPr>
            <a:r>
              <a:rPr lang="en-US" b="false" i="false" strike="noStrike" u="none" sz="1400">
                <a:solidFill>
                  <a:srgbClr val="262A28"/>
                </a:solidFill>
                <a:latin typeface="Noto Sans SC"/>
                <a:ea typeface="Noto Sans SC"/>
                <a:cs typeface="Noto Sans SC"/>
                <a:sym typeface="Noto Sans SC"/>
              </a:rPr>
              <a:t>不含分级结构；CSV 中代码保留前导零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6350000" y="1905000"/>
            <a:ext cx="355600" cy="355600"/>
          </a:xfrm>
          <a:prstGeom prst="rect">
            <a:avLst/>
          </a:prstGeom>
        </p:spPr>
      </p:pic>
      <p:sp>
        <p:nvSpPr>
          <p:cNvPr name="AutoShape 9" id="9"/>
          <p:cNvSpPr txBox="true"/>
          <p:nvPr/>
        </p:nvSpPr>
        <p:spPr>
          <a:xfrm rot="0" flipH="false" flipV="false">
            <a:off x="6832600" y="1879600"/>
            <a:ext cx="1524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700">
                <a:solidFill>
                  <a:srgbClr val="0D2825"/>
                </a:solidFill>
                <a:latin typeface="Noto Sans SC"/>
                <a:ea typeface="Noto Sans SC"/>
                <a:cs typeface="Noto Sans SC"/>
                <a:sym typeface="Noto Sans SC"/>
              </a:rPr>
              <a:t>数据</a:t>
            </a:r>
            <a:endParaRPr lang="en-US" sz="1100"/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6350000" y="2438400"/>
            <a:ext cx="47752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0833"/>
              </a:lnSpc>
              <a:defRPr/>
            </a:pPr>
            <a:r>
              <a:rPr lang="en-US" b="false" i="false" strike="noStrike" u="none" sz="1400">
                <a:solidFill>
                  <a:srgbClr val="262A28"/>
                </a:solidFill>
                <a:latin typeface="Noto Sans SC"/>
                <a:ea typeface="Noto Sans SC"/>
                <a:cs typeface="Noto Sans SC"/>
                <a:sym typeface="Noto Sans SC"/>
              </a:rPr>
              <a:t>Tushare MCP 接口，接入说明见课程 QQ 群</a:t>
            </a:r>
            <a:endParaRPr lang="en-US" sz="1100"/>
          </a:p>
          <a:p>
            <a:pPr algn="l" marL="0" indent="0">
              <a:lnSpc>
                <a:spcPct val="120833"/>
              </a:lnSpc>
            </a:pPr>
            <a:r>
              <a:rPr lang="en-US" b="false" i="false" strike="noStrike" u="none" sz="1400">
                <a:solidFill>
                  <a:srgbClr val="262A28"/>
                </a:solidFill>
                <a:latin typeface="Noto Sans SC"/>
                <a:ea typeface="Noto Sans SC"/>
                <a:cs typeface="Noto Sans SC"/>
                <a:sym typeface="Noto Sans SC"/>
              </a:rPr>
              <a:t>数据由问题决定，可另寻来源并说明理由</a:t>
            </a:r>
          </a:p>
          <a:p>
            <a:pPr algn="l" marL="0" indent="0">
              <a:lnSpc>
                <a:spcPct val="120833"/>
              </a:lnSpc>
            </a:pPr>
            <a:r>
              <a:rPr lang="en-US" b="false" i="false" strike="noStrike" u="none" sz="1400">
                <a:solidFill>
                  <a:srgbClr val="262A28"/>
                </a:solidFill>
                <a:latin typeface="Noto Sans SC"/>
                <a:ea typeface="Noto Sans SC"/>
                <a:cs typeface="Noto Sans SC"/>
                <a:sym typeface="Noto Sans SC"/>
              </a:rPr>
              <a:t>记录来源与取得方式，核查覆盖与缺失</a:t>
            </a:r>
          </a:p>
        </p:txBody>
      </p:sp>
      <p:cxnSp>
        <p:nvCxnSpPr>
          <p:cNvPr name="Connector 11" id="11"/>
          <p:cNvCxnSpPr/>
          <p:nvPr/>
        </p:nvCxnSpPr>
        <p:spPr>
          <a:xfrm rot="-4297" flipH="false" flipV="false">
            <a:off x="1016004" y="3803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ED6C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12" id="12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1066800" y="4089400"/>
            <a:ext cx="355600" cy="355600"/>
          </a:xfrm>
          <a:prstGeom prst="rect">
            <a:avLst/>
          </a:prstGeom>
        </p:spPr>
      </p:pic>
      <p:sp>
        <p:nvSpPr>
          <p:cNvPr name="AutoShape 13" id="13"/>
          <p:cNvSpPr txBox="true"/>
          <p:nvPr/>
        </p:nvSpPr>
        <p:spPr>
          <a:xfrm rot="0" flipH="false" flipV="false">
            <a:off x="1549400" y="4064000"/>
            <a:ext cx="1524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700">
                <a:solidFill>
                  <a:srgbClr val="0D2825"/>
                </a:solidFill>
                <a:latin typeface="Noto Sans SC"/>
                <a:ea typeface="Noto Sans SC"/>
                <a:cs typeface="Noto Sans SC"/>
                <a:sym typeface="Noto Sans SC"/>
              </a:rPr>
              <a:t>区间</a:t>
            </a:r>
            <a:endParaRPr lang="en-US" sz="1100"/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1066800" y="4622800"/>
            <a:ext cx="4572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0833"/>
              </a:lnSpc>
              <a:defRPr/>
            </a:pPr>
            <a:r>
              <a:rPr lang="en-US" b="false" i="false" strike="noStrike" u="none" sz="1400">
                <a:solidFill>
                  <a:srgbClr val="262A28"/>
                </a:solidFill>
                <a:latin typeface="Noto Sans SC"/>
                <a:ea typeface="Noto Sans SC"/>
                <a:cs typeface="Noto Sans SC"/>
                <a:sym typeface="Noto Sans SC"/>
              </a:rPr>
              <a:t>任务一研究区间：2022 年 6 月至 2026 年 9 月</a:t>
            </a:r>
            <a:endParaRPr lang="en-US" sz="1100"/>
          </a:p>
          <a:p>
            <a:pPr algn="l" marL="0" indent="0">
              <a:lnSpc>
                <a:spcPct val="120833"/>
              </a:lnSpc>
            </a:pPr>
            <a:r>
              <a:rPr lang="en-US" b="false" i="false" strike="noStrike" u="none" sz="1400">
                <a:solidFill>
                  <a:srgbClr val="262A28"/>
                </a:solidFill>
                <a:latin typeface="Noto Sans SC"/>
                <a:ea typeface="Noto Sans SC"/>
                <a:cs typeface="Noto Sans SC"/>
                <a:sym typeface="Noto Sans SC"/>
              </a:rPr>
              <a:t>选样节点同为 2022 年 6 月</a:t>
            </a:r>
          </a:p>
          <a:p>
            <a:pPr algn="l" marL="0" indent="0">
              <a:lnSpc>
                <a:spcPct val="120833"/>
              </a:lnSpc>
            </a:pPr>
            <a:r>
              <a:rPr lang="en-US" b="false" i="false" strike="noStrike" u="none" sz="1400">
                <a:solidFill>
                  <a:srgbClr val="262A28"/>
                </a:solidFill>
                <a:latin typeface="Noto Sans SC"/>
                <a:ea typeface="Noto Sans SC"/>
                <a:cs typeface="Noto Sans SC"/>
                <a:sym typeface="Noto Sans SC"/>
              </a:rPr>
              <a:t>列明实际净值观察日期，保证基金之间可比</a:t>
            </a:r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6350000" y="4089400"/>
            <a:ext cx="355600" cy="355600"/>
          </a:xfrm>
          <a:prstGeom prst="rect">
            <a:avLst/>
          </a:prstGeom>
        </p:spPr>
      </p:pic>
      <p:sp>
        <p:nvSpPr>
          <p:cNvPr name="AutoShape 16" id="16"/>
          <p:cNvSpPr txBox="true"/>
          <p:nvPr/>
        </p:nvSpPr>
        <p:spPr>
          <a:xfrm rot="0" flipH="false" flipV="false">
            <a:off x="6832600" y="4064000"/>
            <a:ext cx="1524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700">
                <a:solidFill>
                  <a:srgbClr val="0D2825"/>
                </a:solidFill>
                <a:latin typeface="Noto Sans SC"/>
                <a:ea typeface="Noto Sans SC"/>
                <a:cs typeface="Noto Sans SC"/>
                <a:sym typeface="Noto Sans SC"/>
              </a:rPr>
              <a:t>你的任务</a:t>
            </a:r>
            <a:endParaRPr lang="en-US" sz="1100"/>
          </a:p>
        </p:txBody>
      </p:sp>
      <p:sp>
        <p:nvSpPr>
          <p:cNvPr name="AutoShape 17" id="17"/>
          <p:cNvSpPr txBox="true"/>
          <p:nvPr/>
        </p:nvSpPr>
        <p:spPr>
          <a:xfrm rot="0" flipH="false" flipV="false">
            <a:off x="6350000" y="4622800"/>
            <a:ext cx="47752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0833"/>
              </a:lnSpc>
              <a:defRPr/>
            </a:pPr>
            <a:r>
              <a:rPr lang="en-US" b="false" i="false" strike="noStrike" u="none" sz="1400">
                <a:solidFill>
                  <a:srgbClr val="262A28"/>
                </a:solidFill>
                <a:latin typeface="Noto Sans SC"/>
                <a:ea typeface="Noto Sans SC"/>
                <a:cs typeface="Noto Sans SC"/>
                <a:sym typeface="Noto Sans SC"/>
              </a:rPr>
              <a:t>判断每只基金风格（价值/成长/均衡/其他），说明时点与证据</a:t>
            </a:r>
            <a:endParaRPr lang="en-US" sz="1100"/>
          </a:p>
          <a:p>
            <a:pPr algn="l" marL="0" indent="0">
              <a:lnSpc>
                <a:spcPct val="120833"/>
              </a:lnSpc>
            </a:pPr>
            <a:r>
              <a:rPr lang="en-US" b="false" i="false" strike="noStrike" u="none" sz="1400">
                <a:solidFill>
                  <a:srgbClr val="262A28"/>
                </a:solidFill>
                <a:latin typeface="Noto Sans SC"/>
                <a:ea typeface="Noto Sans SC"/>
                <a:cs typeface="Noto Sans SC"/>
                <a:sym typeface="Noto Sans SC"/>
              </a:rPr>
              <a:t>从 9 只中选至少 3 只比较，说明选择与可比性</a:t>
            </a:r>
          </a:p>
        </p:txBody>
      </p:sp>
      <p:cxnSp>
        <p:nvCxnSpPr>
          <p:cNvPr name="Connector 18" id="18"/>
          <p:cNvCxnSpPr/>
          <p:nvPr/>
        </p:nvCxnSpPr>
        <p:spPr>
          <a:xfrm rot="-4297" flipH="false" flipV="false">
            <a:off x="1016004" y="59372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ED6C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9" id="19"/>
          <p:cNvSpPr txBox="true"/>
          <p:nvPr/>
        </p:nvSpPr>
        <p:spPr>
          <a:xfrm rot="0" flipH="false" flipV="false">
            <a:off x="1016000" y="6070600"/>
            <a:ext cx="10160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606863"/>
                </a:solidFill>
                <a:latin typeface="Noto Sans SC"/>
                <a:ea typeface="Noto Sans SC"/>
                <a:cs typeface="Noto Sans SC"/>
                <a:sym typeface="Noto Sans SC"/>
              </a:rPr>
              <a:t>资料不足可保留疑问，不要求每组恰好 3 只；教学样本结论不可推广至全行业。</a:t>
            </a:r>
            <a:endParaRPr lang="en-US" sz="1100"/>
          </a:p>
        </p:txBody>
      </p:sp>
      <p:cxnSp>
        <p:nvCxnSpPr>
          <p:cNvPr name="Connector 20" id="20"/>
          <p:cNvCxnSpPr/>
          <p:nvPr/>
        </p:nvCxnSpPr>
        <p:spPr>
          <a:xfrm rot="-4297" flipH="false" flipV="false">
            <a:off x="1016004" y="63690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ED6C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1" id="21"/>
          <p:cNvSpPr txBox="true"/>
          <p:nvPr/>
        </p:nvSpPr>
        <p:spPr>
          <a:xfrm rot="0" flipH="false" flipV="false">
            <a:off x="1016000" y="6451600"/>
            <a:ext cx="7112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7A827D"/>
                </a:solidFill>
                <a:latin typeface="Noto Sans SC"/>
                <a:ea typeface="Noto Sans SC"/>
                <a:cs typeface="Noto Sans SC"/>
                <a:sym typeface="Noto Sans SC"/>
              </a:rPr>
              <a:t>来源：实验作业 02 学生手册（课程网页）</a:t>
            </a:r>
            <a:endParaRPr lang="en-US" sz="1100"/>
          </a:p>
        </p:txBody>
      </p:sp>
      <p:sp>
        <p:nvSpPr>
          <p:cNvPr name="AutoShape 22" id="22"/>
          <p:cNvSpPr txBox="true"/>
          <p:nvPr/>
        </p:nvSpPr>
        <p:spPr>
          <a:xfrm rot="0" flipH="false" flipV="false">
            <a:off x="10414000" y="6451600"/>
            <a:ext cx="762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7A827D"/>
                </a:solidFill>
                <a:latin typeface="Noto Sans SC"/>
                <a:ea typeface="Noto Sans SC"/>
                <a:cs typeface="Noto Sans SC"/>
                <a:sym typeface="Noto Sans SC"/>
              </a:rPr>
              <a:t>05 / 12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7F5E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1016000" y="431800"/>
            <a:ext cx="6350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1E8E6E"/>
                </a:solidFill>
                <a:latin typeface="Noto Sans SC"/>
                <a:ea typeface="Noto Sans SC"/>
                <a:cs typeface="Noto Sans SC"/>
                <a:sym typeface="Noto Sans SC"/>
              </a:rPr>
              <a:t>03 · 任务一 · 指标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1016000" y="762000"/>
            <a:ext cx="10160000" cy="609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000">
                <a:solidFill>
                  <a:srgbClr val="0D2825"/>
                </a:solidFill>
                <a:latin typeface="Noto Serif SC"/>
                <a:ea typeface="Noto Serif SC"/>
                <a:cs typeface="Noto Serif SC"/>
                <a:sym typeface="Noto Serif SC"/>
              </a:rPr>
              <a:t>任务一必算 12 项指标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4297" flipH="false" flipV="false">
            <a:off x="1016004" y="14922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1E8E6E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1016000" y="1651000"/>
          <a:ext cx="10160000" cy="43434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558800"/>
                <a:gridCol w="2489200"/>
                <a:gridCol w="7112000"/>
              </a:tblGrid>
              <a:tr h="3810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4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编号</a:t>
                      </a:r>
                      <a:endParaRPr lang="en-US" sz="1100"/>
                    </a:p>
                  </a:txBody>
                  <a:tcPr anchor="ctr" anchorCtr="false" marL="101600" marR="101600" marT="88900" marB="889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2825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4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指标</a:t>
                      </a:r>
                      <a:endParaRPr lang="en-US" sz="1100"/>
                    </a:p>
                  </a:txBody>
                  <a:tcPr anchor="ctr" anchorCtr="false" marL="101600" marR="101600" marT="88900" marB="889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2825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4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计算要点</a:t>
                      </a:r>
                      <a:endParaRPr lang="en-US" sz="1100"/>
                    </a:p>
                  </a:txBody>
                  <a:tcPr anchor="ctr" anchorCtr="false" marL="101600" marR="101600" marT="88900" marB="889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2825">
                        <a:alpha val="100000"/>
                      </a:srgbClr>
                    </a:solidFill>
                  </a:tcPr>
                </a:tc>
              </a:tr>
              <a:tr h="3302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7A827D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</a:t>
                      </a:r>
                      <a:endParaRPr lang="en-US" sz="1100"/>
                    </a:p>
                  </a:txBody>
                  <a:tcPr anchor="ctr" anchorCtr="false" marL="101600" marR="101600" marT="69850" marB="698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400">
                          <a:solidFill>
                            <a:srgbClr val="0D282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年化收益率</a:t>
                      </a:r>
                      <a:endParaRPr lang="en-US" sz="1100"/>
                    </a:p>
                  </a:txBody>
                  <a:tcPr anchor="ctr" anchorCtr="false" marL="101600" marR="1016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262A2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净值序列年化收益，说明年化方式与频率</a:t>
                      </a:r>
                      <a:endParaRPr lang="en-US" sz="1100"/>
                    </a:p>
                  </a:txBody>
                  <a:tcPr anchor="ctr" anchorCtr="false" marL="101600" marR="1016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302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7A827D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</a:t>
                      </a:r>
                      <a:endParaRPr lang="en-US" sz="1100"/>
                    </a:p>
                  </a:txBody>
                  <a:tcPr anchor="ctr" anchorCtr="false" marL="101600" marR="101600" marT="69850" marB="698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400">
                          <a:solidFill>
                            <a:srgbClr val="0D282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超额收益</a:t>
                      </a:r>
                      <a:endParaRPr lang="en-US" sz="1100"/>
                    </a:p>
                  </a:txBody>
                  <a:tcPr anchor="ctr" anchorCtr="false" marL="101600" marR="1016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262A2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相对基金合同基准收益率的超额收益</a:t>
                      </a:r>
                      <a:endParaRPr lang="en-US" sz="1100"/>
                    </a:p>
                  </a:txBody>
                  <a:tcPr anchor="ctr" anchorCtr="false" marL="101600" marR="1016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302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7A827D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3</a:t>
                      </a:r>
                      <a:endParaRPr lang="en-US" sz="1100"/>
                    </a:p>
                  </a:txBody>
                  <a:tcPr anchor="ctr" anchorCtr="false" marL="101600" marR="101600" marT="69850" marB="698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400">
                          <a:solidFill>
                            <a:srgbClr val="0D282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年化波动率</a:t>
                      </a:r>
                      <a:endParaRPr lang="en-US" sz="1100"/>
                    </a:p>
                  </a:txBody>
                  <a:tcPr anchor="ctr" anchorCtr="false" marL="101600" marR="1016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262A2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收益率年化标准差，说明年化因子</a:t>
                      </a:r>
                      <a:endParaRPr lang="en-US" sz="1100"/>
                    </a:p>
                  </a:txBody>
                  <a:tcPr anchor="ctr" anchorCtr="false" marL="101600" marR="1016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302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7A827D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4</a:t>
                      </a:r>
                      <a:endParaRPr lang="en-US" sz="1100"/>
                    </a:p>
                  </a:txBody>
                  <a:tcPr anchor="ctr" anchorCtr="false" marL="101600" marR="101600" marT="69850" marB="698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400">
                          <a:solidFill>
                            <a:srgbClr val="0D282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分年度 MDD（最大回撤）</a:t>
                      </a:r>
                      <a:endParaRPr lang="en-US" sz="1100"/>
                    </a:p>
                  </a:txBody>
                  <a:tcPr anchor="ctr" anchorCtr="false" marL="101600" marR="1016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262A2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按年计算最大回撤，说明口径</a:t>
                      </a:r>
                      <a:endParaRPr lang="en-US" sz="1100"/>
                    </a:p>
                  </a:txBody>
                  <a:tcPr anchor="ctr" anchorCtr="false" marL="101600" marR="1016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302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7A827D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5</a:t>
                      </a:r>
                      <a:endParaRPr lang="en-US" sz="1100"/>
                    </a:p>
                  </a:txBody>
                  <a:tcPr anchor="ctr" anchorCtr="false" marL="101600" marR="101600" marT="69850" marB="698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400">
                          <a:solidFill>
                            <a:srgbClr val="0D282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下行波动率</a:t>
                      </a:r>
                      <a:endParaRPr lang="en-US" sz="1100"/>
                    </a:p>
                  </a:txBody>
                  <a:tcPr anchor="ctr" anchorCtr="false" marL="101600" marR="1016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262A2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下行收益序列的风险，说明下行阈值</a:t>
                      </a:r>
                      <a:endParaRPr lang="en-US" sz="1100"/>
                    </a:p>
                  </a:txBody>
                  <a:tcPr anchor="ctr" anchorCtr="false" marL="101600" marR="1016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302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7A827D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6</a:t>
                      </a:r>
                      <a:endParaRPr lang="en-US" sz="1100"/>
                    </a:p>
                  </a:txBody>
                  <a:tcPr anchor="ctr" anchorCtr="false" marL="101600" marR="101600" marT="69850" marB="698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400">
                          <a:solidFill>
                            <a:srgbClr val="0D282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Beta（相对市场）</a:t>
                      </a:r>
                      <a:endParaRPr lang="en-US" sz="1100"/>
                    </a:p>
                  </a:txBody>
                  <a:tcPr anchor="ctr" anchorCtr="false" marL="101600" marR="1016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262A2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相对市场指数回归，明确市场基准</a:t>
                      </a:r>
                      <a:endParaRPr lang="en-US" sz="1100"/>
                    </a:p>
                  </a:txBody>
                  <a:tcPr anchor="ctr" anchorCtr="false" marL="101600" marR="1016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302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7A827D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7</a:t>
                      </a:r>
                      <a:endParaRPr lang="en-US" sz="1100"/>
                    </a:p>
                  </a:txBody>
                  <a:tcPr anchor="ctr" anchorCtr="false" marL="101600" marR="101600" marT="69850" marB="698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400">
                          <a:solidFill>
                            <a:srgbClr val="0D282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夏普比率</a:t>
                      </a:r>
                      <a:endParaRPr lang="en-US" sz="1100"/>
                    </a:p>
                  </a:txBody>
                  <a:tcPr anchor="ctr" anchorCtr="false" marL="101600" marR="1016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262A2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超额收益/总风险，说明无风险利率</a:t>
                      </a:r>
                      <a:endParaRPr lang="en-US" sz="1100"/>
                    </a:p>
                  </a:txBody>
                  <a:tcPr anchor="ctr" anchorCtr="false" marL="101600" marR="1016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302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7A827D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8</a:t>
                      </a:r>
                      <a:endParaRPr lang="en-US" sz="1100"/>
                    </a:p>
                  </a:txBody>
                  <a:tcPr anchor="ctr" anchorCtr="false" marL="101600" marR="101600" marT="69850" marB="698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400">
                          <a:solidFill>
                            <a:srgbClr val="0D282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索提诺比率</a:t>
                      </a:r>
                      <a:endParaRPr lang="en-US" sz="1100"/>
                    </a:p>
                  </a:txBody>
                  <a:tcPr anchor="ctr" anchorCtr="false" marL="101600" marR="1016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262A2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超额收益/下行风险</a:t>
                      </a:r>
                      <a:endParaRPr lang="en-US" sz="1100"/>
                    </a:p>
                  </a:txBody>
                  <a:tcPr anchor="ctr" anchorCtr="false" marL="101600" marR="1016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302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7A827D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9</a:t>
                      </a:r>
                      <a:endParaRPr lang="en-US" sz="1100"/>
                    </a:p>
                  </a:txBody>
                  <a:tcPr anchor="ctr" anchorCtr="false" marL="101600" marR="101600" marT="69850" marB="698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400">
                          <a:solidFill>
                            <a:srgbClr val="0D282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卡玛比率</a:t>
                      </a:r>
                      <a:endParaRPr lang="en-US" sz="1100"/>
                    </a:p>
                  </a:txBody>
                  <a:tcPr anchor="ctr" anchorCtr="false" marL="101600" marR="1016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262A2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年化收益/最大回撤</a:t>
                      </a:r>
                      <a:endParaRPr lang="en-US" sz="1100"/>
                    </a:p>
                  </a:txBody>
                  <a:tcPr anchor="ctr" anchorCtr="false" marL="101600" marR="1016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302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7A827D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10</a:t>
                      </a:r>
                      <a:endParaRPr lang="en-US" sz="1100"/>
                    </a:p>
                  </a:txBody>
                  <a:tcPr anchor="ctr" anchorCtr="false" marL="101600" marR="101600" marT="69850" marB="698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400">
                          <a:solidFill>
                            <a:srgbClr val="0D282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特雷诺比率</a:t>
                      </a:r>
                      <a:endParaRPr lang="en-US" sz="1100"/>
                    </a:p>
                  </a:txBody>
                  <a:tcPr anchor="ctr" anchorCtr="false" marL="101600" marR="1016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262A2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超额收益/Beta</a:t>
                      </a:r>
                      <a:endParaRPr lang="en-US" sz="1100"/>
                    </a:p>
                  </a:txBody>
                  <a:tcPr anchor="ctr" anchorCtr="false" marL="101600" marR="1016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302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7A827D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11</a:t>
                      </a:r>
                      <a:endParaRPr lang="en-US" sz="1100"/>
                    </a:p>
                  </a:txBody>
                  <a:tcPr anchor="ctr" anchorCtr="false" marL="101600" marR="101600" marT="69850" marB="698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400">
                          <a:solidFill>
                            <a:srgbClr val="0D282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信息比率 IR</a:t>
                      </a:r>
                      <a:endParaRPr lang="en-US" sz="1100"/>
                    </a:p>
                  </a:txBody>
                  <a:tcPr anchor="ctr" anchorCtr="false" marL="101600" marR="1016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262A2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相对合同基准的超额收益/跟踪误差</a:t>
                      </a:r>
                      <a:endParaRPr lang="en-US" sz="1100"/>
                    </a:p>
                  </a:txBody>
                  <a:tcPr anchor="ctr" anchorCtr="false" marL="101600" marR="1016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302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7A827D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12</a:t>
                      </a:r>
                      <a:endParaRPr lang="en-US" sz="1100"/>
                    </a:p>
                  </a:txBody>
                  <a:tcPr anchor="ctr" anchorCtr="false" marL="101600" marR="101600" marT="69850" marB="698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400">
                          <a:solidFill>
                            <a:srgbClr val="0D282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跟踪误差 TE</a:t>
                      </a:r>
                      <a:endParaRPr lang="en-US" sz="1100"/>
                    </a:p>
                  </a:txBody>
                  <a:tcPr anchor="ctr" anchorCtr="false" marL="101600" marR="1016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262A2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相对合同基准的跟踪偏离波动率</a:t>
                      </a:r>
                      <a:endParaRPr lang="en-US" sz="1100"/>
                    </a:p>
                  </a:txBody>
                  <a:tcPr anchor="ctr" anchorCtr="false" marL="101600" marR="1016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name="AutoShape 6" id="6"/>
          <p:cNvSpPr txBox="true"/>
          <p:nvPr/>
        </p:nvSpPr>
        <p:spPr>
          <a:xfrm rot="0" flipH="false" flipV="false">
            <a:off x="1016000" y="6070600"/>
            <a:ext cx="1016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606863"/>
                </a:solidFill>
                <a:latin typeface="Noto Sans SC"/>
                <a:ea typeface="Noto Sans SC"/>
                <a:cs typeface="Noto Sans SC"/>
                <a:sym typeface="Noto Sans SC"/>
              </a:rPr>
              <a:t>口径、数据来源与基准选择写入方案，并纳入初步评价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-4297" flipH="false" flipV="false">
            <a:off x="1016004" y="63690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ED6C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8" id="8"/>
          <p:cNvSpPr txBox="true"/>
          <p:nvPr/>
        </p:nvSpPr>
        <p:spPr>
          <a:xfrm rot="0" flipH="false" flipV="false">
            <a:off x="1016000" y="6451600"/>
            <a:ext cx="7112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7A827D"/>
                </a:solidFill>
                <a:latin typeface="Noto Sans SC"/>
                <a:ea typeface="Noto Sans SC"/>
                <a:cs typeface="Noto Sans SC"/>
                <a:sym typeface="Noto Sans SC"/>
              </a:rPr>
              <a:t>来源：实验作业 02 学生手册（课程网页）</a:t>
            </a:r>
            <a:endParaRPr lang="en-US" sz="1100"/>
          </a:p>
        </p:txBody>
      </p:sp>
      <p:sp>
        <p:nvSpPr>
          <p:cNvPr name="AutoShape 9" id="9"/>
          <p:cNvSpPr txBox="true"/>
          <p:nvPr/>
        </p:nvSpPr>
        <p:spPr>
          <a:xfrm rot="0" flipH="false" flipV="false">
            <a:off x="10414000" y="6451600"/>
            <a:ext cx="762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7A827D"/>
                </a:solidFill>
                <a:latin typeface="Noto Sans SC"/>
                <a:ea typeface="Noto Sans SC"/>
                <a:cs typeface="Noto Sans SC"/>
                <a:sym typeface="Noto Sans SC"/>
              </a:rPr>
              <a:t>06 / 12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5E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1016000" y="431800"/>
            <a:ext cx="6350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1E8E6E"/>
                </a:solidFill>
                <a:latin typeface="Noto Sans SC"/>
                <a:ea typeface="Noto Sans SC"/>
                <a:cs typeface="Noto Sans SC"/>
                <a:sym typeface="Noto Sans SC"/>
              </a:rPr>
              <a:t>03 · 任务一 · 参与与核查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1016000" y="762000"/>
            <a:ext cx="10160000" cy="609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000">
                <a:solidFill>
                  <a:srgbClr val="0D2825"/>
                </a:solidFill>
                <a:latin typeface="Noto Serif SC"/>
                <a:ea typeface="Noto Serif SC"/>
                <a:cs typeface="Noto Serif SC"/>
                <a:sym typeface="Noto Serif SC"/>
              </a:rPr>
              <a:t>五个环节往返推进，每个环节都留痕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4297" flipH="false" flipV="false">
            <a:off x="1016004" y="14922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1E8E6E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1016000" y="1625600"/>
          <a:ext cx="10160000" cy="2921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651000"/>
                <a:gridCol w="4191000"/>
                <a:gridCol w="4318000"/>
              </a:tblGrid>
              <a:tr h="3810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4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环节</a:t>
                      </a:r>
                      <a:endParaRPr lang="en-US" sz="1100"/>
                    </a:p>
                  </a:txBody>
                  <a:tcPr anchor="ctr" anchorCtr="false" marL="101600" marR="101600" marT="88900" marB="889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2825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4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你的参与</a:t>
                      </a:r>
                      <a:endParaRPr lang="en-US" sz="1100"/>
                    </a:p>
                  </a:txBody>
                  <a:tcPr anchor="ctr" anchorCtr="false" marL="101600" marR="101600" marT="88900" marB="889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2825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4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要保留的证据</a:t>
                      </a:r>
                      <a:endParaRPr lang="en-US" sz="1100"/>
                    </a:p>
                  </a:txBody>
                  <a:tcPr anchor="ctr" anchorCtr="false" marL="101600" marR="101600" marT="88900" marB="889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2825">
                        <a:alpha val="100000"/>
                      </a:srgbClr>
                    </a:solidFill>
                  </a:tcPr>
                </a:tc>
              </a:tr>
              <a:tr h="5080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400">
                          <a:solidFill>
                            <a:srgbClr val="0D282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澄清问题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262A2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提出理解与疑问，确定评价对象和范围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262A2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原始提问、澄清后的问题、你的决定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080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400">
                          <a:solidFill>
                            <a:srgbClr val="0D282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探查材料与工具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262A2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检查实际资料或试取数据，提出风格分组并说明依据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262A2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原始提问、分组依据、判断、缺口处理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080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400">
                          <a:solidFill>
                            <a:srgbClr val="0D282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形成方案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262A2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比较方法建议，说明采用或修改的理由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262A2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方案版本及你的确认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080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400">
                          <a:solidFill>
                            <a:srgbClr val="0D282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执行与核验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262A2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查看中间结果，核查至少一项关键计算或假设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262A2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计算文件、结果、核查及处理依据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080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400">
                          <a:solidFill>
                            <a:srgbClr val="0D282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评价与追问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262A2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先自审，判断结论是否超出证据，提出下一问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262A2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初步判断、分歧或不足清单、你的裁决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name="Connector 6" id="6"/>
          <p:cNvCxnSpPr/>
          <p:nvPr/>
        </p:nvCxnSpPr>
        <p:spPr>
          <a:xfrm rot="5368748" flipH="false" flipV="false">
            <a:off x="5270500" y="5467379"/>
            <a:ext cx="139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ED6C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7" id="7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016000" y="4775200"/>
            <a:ext cx="304800" cy="304800"/>
          </a:xfrm>
          <a:prstGeom prst="rect">
            <a:avLst/>
          </a:prstGeom>
        </p:spPr>
      </p:pic>
      <p:sp>
        <p:nvSpPr>
          <p:cNvPr name="AutoShape 8" id="8"/>
          <p:cNvSpPr txBox="true"/>
          <p:nvPr/>
        </p:nvSpPr>
        <p:spPr>
          <a:xfrm rot="0" flipH="false" flipV="false">
            <a:off x="1422400" y="4749800"/>
            <a:ext cx="2540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D2825"/>
                </a:solidFill>
                <a:latin typeface="Noto Sans SC"/>
                <a:ea typeface="Noto Sans SC"/>
                <a:cs typeface="Noto Sans SC"/>
                <a:sym typeface="Noto Sans SC"/>
              </a:rPr>
              <a:t>怎样核查</a:t>
            </a:r>
            <a:endParaRPr lang="en-US" sz="1100"/>
          </a:p>
        </p:txBody>
      </p:sp>
      <p:sp>
        <p:nvSpPr>
          <p:cNvPr name="AutoShape 9" id="9"/>
          <p:cNvSpPr txBox="true"/>
          <p:nvPr/>
        </p:nvSpPr>
        <p:spPr>
          <a:xfrm rot="0" flipH="false" flipV="false">
            <a:off x="1016000" y="5181600"/>
            <a:ext cx="4775200" cy="965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0833"/>
              </a:lnSpc>
              <a:defRPr/>
            </a:pPr>
            <a:r>
              <a:rPr lang="en-US" b="false" i="false" strike="noStrike" u="none" sz="1300">
                <a:solidFill>
                  <a:srgbClr val="262A28"/>
                </a:solidFill>
                <a:latin typeface="Noto Sans SC"/>
                <a:ea typeface="Noto Sans SC"/>
                <a:cs typeface="Noto Sans SC"/>
                <a:sym typeface="Noto Sans SC"/>
              </a:rPr>
              <a:t>至少核查一项关键计算或假设：抽查数据来源、核对公式输入、换方式复算；记录查了什么、结果如何。</a:t>
            </a:r>
            <a:endParaRPr lang="en-US" sz="1100"/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6223000" y="4749800"/>
            <a:ext cx="2540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D2825"/>
                </a:solidFill>
                <a:latin typeface="Noto Sans SC"/>
                <a:ea typeface="Noto Sans SC"/>
                <a:cs typeface="Noto Sans SC"/>
                <a:sym typeface="Noto Sans SC"/>
              </a:rPr>
              <a:t>任务一完成标准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6223000" y="5181600"/>
            <a:ext cx="4775200" cy="965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0833"/>
              </a:lnSpc>
              <a:defRPr/>
            </a:pPr>
            <a:r>
              <a:rPr lang="en-US" b="false" i="false" strike="noStrike" u="none" sz="1300">
                <a:solidFill>
                  <a:srgbClr val="262A28"/>
                </a:solidFill>
                <a:latin typeface="Noto Sans SC"/>
                <a:ea typeface="Noto Sans SC"/>
                <a:cs typeface="Noto Sans SC"/>
                <a:sym typeface="Noto Sans SC"/>
              </a:rPr>
              <a:t>风格判断（时点+证据）＋至少 3 只实际比较</a:t>
            </a:r>
            <a:br>
              <a:rPr lang="en-US" b="false" i="false" strike="noStrike" u="none" sz="1300">
                <a:solidFill>
                  <a:srgbClr val="262A28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262A28"/>
                </a:solidFill>
                <a:latin typeface="Noto Sans SC"/>
                <a:ea typeface="Noto Sans SC"/>
                <a:cs typeface="Noto Sans SC"/>
                <a:sym typeface="Noto Sans SC"/>
              </a:rPr>
              <a:t>方案与选择理由、一项核查</a:t>
            </a:r>
            <a:br>
              <a:rPr lang="en-US" b="false" i="false" strike="noStrike" u="none" sz="1300">
                <a:solidFill>
                  <a:srgbClr val="262A28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262A28"/>
                </a:solidFill>
                <a:latin typeface="Noto Sans SC"/>
                <a:ea typeface="Noto Sans SC"/>
                <a:cs typeface="Noto Sans SC"/>
                <a:sym typeface="Noto Sans SC"/>
              </a:rPr>
              <a:t>初步评价＋原始交流与产物</a:t>
            </a:r>
            <a:endParaRPr lang="en-US" sz="1100"/>
          </a:p>
        </p:txBody>
      </p:sp>
      <p:cxnSp>
        <p:nvCxnSpPr>
          <p:cNvPr name="Connector 12" id="12"/>
          <p:cNvCxnSpPr/>
          <p:nvPr/>
        </p:nvCxnSpPr>
        <p:spPr>
          <a:xfrm rot="-4297" flipH="false" flipV="false">
            <a:off x="1016004" y="63690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ED6C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3" id="13"/>
          <p:cNvSpPr txBox="true"/>
          <p:nvPr/>
        </p:nvSpPr>
        <p:spPr>
          <a:xfrm rot="0" flipH="false" flipV="false">
            <a:off x="1016000" y="6451600"/>
            <a:ext cx="7112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7A827D"/>
                </a:solidFill>
                <a:latin typeface="Noto Sans SC"/>
                <a:ea typeface="Noto Sans SC"/>
                <a:cs typeface="Noto Sans SC"/>
                <a:sym typeface="Noto Sans SC"/>
              </a:rPr>
              <a:t>来源：实验作业 02 学生手册（课程网页）</a:t>
            </a:r>
            <a:endParaRPr lang="en-US" sz="1100"/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10414000" y="6451600"/>
            <a:ext cx="762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7A827D"/>
                </a:solidFill>
                <a:latin typeface="Noto Sans SC"/>
                <a:ea typeface="Noto Sans SC"/>
                <a:cs typeface="Noto Sans SC"/>
                <a:sym typeface="Noto Sans SC"/>
              </a:rPr>
              <a:t>07 / 12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F7F5E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1016000" y="431800"/>
            <a:ext cx="6350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1E8E6E"/>
                </a:solidFill>
                <a:latin typeface="Noto Sans SC"/>
                <a:ea typeface="Noto Sans SC"/>
                <a:cs typeface="Noto Sans SC"/>
                <a:sym typeface="Noto Sans SC"/>
              </a:rPr>
              <a:t>04 · 任务二 · 启发问题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1016000" y="762000"/>
            <a:ext cx="10160000" cy="609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000">
                <a:solidFill>
                  <a:srgbClr val="0D2825"/>
                </a:solidFill>
                <a:latin typeface="Noto Serif SC"/>
                <a:ea typeface="Noto Serif SC"/>
                <a:cs typeface="Noto Serif SC"/>
                <a:sym typeface="Noto Serif SC"/>
              </a:rPr>
              <a:t>任务一中出现这些现象，可以继续追问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4297" flipH="false" flipV="false">
            <a:off x="1016004" y="14922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1E8E6E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1016000" y="1651000"/>
          <a:ext cx="10160000" cy="3048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4191000"/>
                <a:gridCol w="5969000"/>
              </a:tblGrid>
              <a:tr h="3810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4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任务一中可能出现的现象</a:t>
                      </a:r>
                      <a:endParaRPr lang="en-US" sz="1100"/>
                    </a:p>
                  </a:txBody>
                  <a:tcPr anchor="ctr" anchorCtr="false" marL="101600" marR="101600" marT="88900" marB="889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2825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4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可以继续追问什么</a:t>
                      </a:r>
                      <a:endParaRPr lang="en-US" sz="1100"/>
                    </a:p>
                  </a:txBody>
                  <a:tcPr anchor="ctr" anchorCtr="false" marL="101600" marR="101600" marT="88900" marB="889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2825">
                        <a:alpha val="100000"/>
                      </a:srgbClr>
                    </a:solidFill>
                  </a:tcPr>
                </a:tc>
              </a:tr>
              <a:tr h="3810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262A2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一只基金收益最高</a:t>
                      </a:r>
                      <a:endParaRPr lang="en-US" sz="1100"/>
                    </a:p>
                  </a:txBody>
                  <a:tcPr anchor="ctr" anchorCtr="false" marL="101600" marR="101600" marT="88900" marB="889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262A2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是否承担更大风险？考虑风险后，原评价是否成立？</a:t>
                      </a:r>
                      <a:endParaRPr lang="en-US" sz="1100"/>
                    </a:p>
                  </a:txBody>
                  <a:tcPr anchor="ctr" anchorCtr="false" marL="101600" marR="101600" marT="88900" marB="889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810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262A2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一只基金在整个区间明显领先</a:t>
                      </a:r>
                      <a:endParaRPr lang="en-US" sz="1100"/>
                    </a:p>
                  </a:txBody>
                  <a:tcPr anchor="ctr" anchorCtr="false" marL="101600" marR="101600" marT="88900" marB="889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262A2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优势是否集中在一段时间？不同阶段是否都能观察到？</a:t>
                      </a:r>
                      <a:endParaRPr lang="en-US" sz="1100"/>
                    </a:p>
                  </a:txBody>
                  <a:tcPr anchor="ctr" anchorCtr="false" marL="101600" marR="101600" marT="88900" marB="889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810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262A2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基金超过了某个市场指数</a:t>
                      </a:r>
                      <a:endParaRPr lang="en-US" sz="1100"/>
                    </a:p>
                  </a:txBody>
                  <a:tcPr anchor="ctr" anchorCtr="false" marL="101600" marR="101600" marT="88900" marB="889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262A2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基准是否适合这只基金？换一个有依据的基准，判断是否变化？</a:t>
                      </a:r>
                      <a:endParaRPr lang="en-US" sz="1100"/>
                    </a:p>
                  </a:txBody>
                  <a:tcPr anchor="ctr" anchorCtr="false" marL="101600" marR="101600" marT="88900" marB="889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810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262A2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你和 Agent 对基金风格归类有分歧</a:t>
                      </a:r>
                      <a:endParaRPr lang="en-US" sz="1100"/>
                    </a:p>
                  </a:txBody>
                  <a:tcPr anchor="ctr" anchorCtr="false" marL="101600" marR="101600" marT="88900" marB="889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262A2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名称、策略说明与实际持仓是否一致？补充证据后是否调整归类？</a:t>
                      </a:r>
                      <a:endParaRPr lang="en-US" sz="1100"/>
                    </a:p>
                  </a:txBody>
                  <a:tcPr anchor="ctr" anchorCtr="false" marL="101600" marR="101600" marT="88900" marB="889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810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262A2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两种评价指标给出不同排名</a:t>
                      </a:r>
                      <a:endParaRPr lang="en-US" sz="1100"/>
                    </a:p>
                  </a:txBody>
                  <a:tcPr anchor="ctr" anchorCtr="false" marL="101600" marR="101600" marT="88900" marB="889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262A2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它们各自反映什么？哪一种更适合你要回答的问题？</a:t>
                      </a:r>
                      <a:endParaRPr lang="en-US" sz="1100"/>
                    </a:p>
                  </a:txBody>
                  <a:tcPr anchor="ctr" anchorCtr="false" marL="101600" marR="101600" marT="88900" marB="889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810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262A2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Agent 算出的收益与报告或其他来源不一致</a:t>
                      </a:r>
                      <a:endParaRPr lang="en-US" sz="1100"/>
                    </a:p>
                  </a:txBody>
                  <a:tcPr anchor="ctr" anchorCtr="false" marL="101600" marR="101600" marT="88900" marB="889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262A2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差异来自分红、日期或净值口径？核查后是否修正？</a:t>
                      </a:r>
                      <a:endParaRPr lang="en-US" sz="1100"/>
                    </a:p>
                  </a:txBody>
                  <a:tcPr anchor="ctr" anchorCtr="false" marL="101600" marR="101600" marT="88900" marB="889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810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262A2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报告中的策略表述与持仓印象不一致</a:t>
                      </a:r>
                      <a:endParaRPr lang="en-US" sz="1100"/>
                    </a:p>
                  </a:txBody>
                  <a:tcPr anchor="ctr" anchorCtr="false" marL="101600" marR="101600" marT="88900" marB="889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262A2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主要持仓能否支持该表述？现有资料还留下哪些疑问？</a:t>
                      </a:r>
                      <a:endParaRPr lang="en-US" sz="1100"/>
                    </a:p>
                  </a:txBody>
                  <a:tcPr anchor="ctr" anchorCtr="false" marL="101600" marR="101600" marT="88900" marB="889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name="Connector 6" id="6"/>
          <p:cNvCxnSpPr/>
          <p:nvPr/>
        </p:nvCxnSpPr>
        <p:spPr>
          <a:xfrm rot="-4297" flipH="false" flipV="false">
            <a:off x="1016004" y="48704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ED6C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7" id="7"/>
          <p:cNvSpPr txBox="true"/>
          <p:nvPr/>
        </p:nvSpPr>
        <p:spPr>
          <a:xfrm rot="0" flipH="false" flipV="false">
            <a:off x="1016000" y="5003800"/>
            <a:ext cx="10160000" cy="1244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0833"/>
              </a:lnSpc>
              <a:defRPr/>
            </a:pPr>
            <a:r>
              <a:rPr lang="en-US" b="false" i="false" strike="noStrike" u="none" sz="1300">
                <a:solidFill>
                  <a:srgbClr val="606863"/>
                </a:solidFill>
                <a:latin typeface="Noto Sans SC"/>
                <a:ea typeface="Noto Sans SC"/>
                <a:cs typeface="Noto Sans SC"/>
                <a:sym typeface="Noto Sans SC"/>
              </a:rPr>
              <a:t>仅作启发，不限定选题。先看结果出现什么，再决定研究什么。</a:t>
            </a:r>
            <a:endParaRPr lang="en-US" sz="1100"/>
          </a:p>
          <a:p>
            <a:pPr algn="l" marL="0" indent="0">
              <a:lnSpc>
                <a:spcPct val="120833"/>
              </a:lnSpc>
            </a:pPr>
            <a:r>
              <a:rPr lang="en-US" b="false" i="false" strike="noStrike" u="none" sz="1300">
                <a:solidFill>
                  <a:srgbClr val="606863"/>
                </a:solidFill>
                <a:latin typeface="Noto Sans SC"/>
                <a:ea typeface="Noto Sans SC"/>
                <a:cs typeface="Noto Sans SC"/>
                <a:sym typeface="Noto Sans SC"/>
              </a:rPr>
              <a:t>方向、对象、方法、深度与规模自主决定：可改进原评价，也可发展新问题，</a:t>
            </a:r>
            <a:br>
              <a:rPr lang="en-US" b="false" i="false" strike="noStrike" u="none" sz="1300">
                <a:solidFill>
                  <a:srgbClr val="606863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606863"/>
                </a:solidFill>
                <a:latin typeface="Noto Sans SC"/>
                <a:ea typeface="Noto Sans SC"/>
                <a:cs typeface="Noto Sans SC"/>
                <a:sym typeface="Noto Sans SC"/>
              </a:rPr>
              <a:t>扩展样本、区间、数据或方法。</a:t>
            </a:r>
          </a:p>
        </p:txBody>
      </p:sp>
      <p:cxnSp>
        <p:nvCxnSpPr>
          <p:cNvPr name="Connector 8" id="8"/>
          <p:cNvCxnSpPr/>
          <p:nvPr/>
        </p:nvCxnSpPr>
        <p:spPr>
          <a:xfrm rot="-4297" flipH="false" flipV="false">
            <a:off x="1016004" y="63690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ED6C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9" id="9"/>
          <p:cNvSpPr txBox="true"/>
          <p:nvPr/>
        </p:nvSpPr>
        <p:spPr>
          <a:xfrm rot="0" flipH="false" flipV="false">
            <a:off x="1016000" y="6451600"/>
            <a:ext cx="7112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7A827D"/>
                </a:solidFill>
                <a:latin typeface="Noto Sans SC"/>
                <a:ea typeface="Noto Sans SC"/>
                <a:cs typeface="Noto Sans SC"/>
                <a:sym typeface="Noto Sans SC"/>
              </a:rPr>
              <a:t>来源：实验作业 02 学生手册（课程网页）</a:t>
            </a:r>
            <a:endParaRPr lang="en-US" sz="1100"/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10414000" y="6451600"/>
            <a:ext cx="762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7A827D"/>
                </a:solidFill>
                <a:latin typeface="Noto Sans SC"/>
                <a:ea typeface="Noto Sans SC"/>
                <a:cs typeface="Noto Sans SC"/>
                <a:sym typeface="Noto Sans SC"/>
              </a:rPr>
              <a:t>08 / 12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7F5E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1016000" y="431800"/>
            <a:ext cx="6350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1E8E6E"/>
                </a:solidFill>
                <a:latin typeface="Noto Sans SC"/>
                <a:ea typeface="Noto Sans SC"/>
                <a:cs typeface="Noto Sans SC"/>
                <a:sym typeface="Noto Sans SC"/>
              </a:rPr>
              <a:t>04 · 任务二 · 计划与标准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1016000" y="762000"/>
            <a:ext cx="10160000" cy="609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000">
                <a:solidFill>
                  <a:srgbClr val="0D2825"/>
                </a:solidFill>
                <a:latin typeface="Noto Serif SC"/>
                <a:ea typeface="Noto Serif SC"/>
                <a:cs typeface="Noto Serif SC"/>
                <a:sym typeface="Noto Serif SC"/>
              </a:rPr>
              <a:t>先写计划，再用证据更新认识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4297" flipH="false" flipV="false">
            <a:off x="1016004" y="14922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1E8E6E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name="Connector 5" id="5"/>
          <p:cNvCxnSpPr/>
          <p:nvPr/>
        </p:nvCxnSpPr>
        <p:spPr>
          <a:xfrm rot="5388145" flipH="false" flipV="false">
            <a:off x="4127500" y="3613161"/>
            <a:ext cx="3683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ED6C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6" id="6"/>
          <p:cNvSpPr txBox="true"/>
          <p:nvPr/>
        </p:nvSpPr>
        <p:spPr>
          <a:xfrm rot="0" flipH="false" flipV="false">
            <a:off x="1016000" y="1778000"/>
            <a:ext cx="4572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D2825"/>
                </a:solidFill>
                <a:latin typeface="Noto Sans SC"/>
                <a:ea typeface="Noto Sans SC"/>
                <a:cs typeface="Noto Sans SC"/>
                <a:sym typeface="Noto Sans SC"/>
              </a:rPr>
              <a:t>执行前的研究计划（四问）</a:t>
            </a:r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1016000" y="2286000"/>
            <a:ext cx="5588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E8E6E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1701800" y="2286000"/>
            <a:ext cx="40640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262A28"/>
                </a:solidFill>
                <a:latin typeface="Noto Sans SC"/>
                <a:ea typeface="Noto Sans SC"/>
                <a:cs typeface="Noto Sans SC"/>
                <a:sym typeface="Noto Sans SC"/>
              </a:rPr>
              <a:t>问题来自哪个具体结果或疑点？我现在有什么解释？</a:t>
            </a:r>
            <a:endParaRPr lang="en-US" sz="1100"/>
          </a:p>
        </p:txBody>
      </p:sp>
      <p:sp>
        <p:nvSpPr>
          <p:cNvPr name="AutoShape 9" id="9"/>
          <p:cNvSpPr txBox="true"/>
          <p:nvPr/>
        </p:nvSpPr>
        <p:spPr>
          <a:xfrm rot="0" flipH="false" flipV="false">
            <a:off x="1016000" y="3098800"/>
            <a:ext cx="5588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E8E6E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1701800" y="3098800"/>
            <a:ext cx="40640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262A28"/>
                </a:solidFill>
                <a:latin typeface="Noto Sans SC"/>
                <a:ea typeface="Noto Sans SC"/>
                <a:cs typeface="Noto Sans SC"/>
                <a:sym typeface="Noto Sans SC"/>
              </a:rPr>
              <a:t>准备研究或改进什么？如何开展分析或实验？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1016000" y="3911600"/>
            <a:ext cx="5588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E8E6E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1701800" y="3911600"/>
            <a:ext cx="4064000" cy="838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262A28"/>
                </a:solidFill>
                <a:latin typeface="Noto Sans SC"/>
                <a:ea typeface="Noto Sans SC"/>
                <a:cs typeface="Noto Sans SC"/>
                <a:sym typeface="Noto Sans SC"/>
              </a:rPr>
              <a:t>需要什么数据？如何获取、分析、核验？比较时说明条件与不可比处理。</a:t>
            </a:r>
            <a:endParaRPr lang="en-US" sz="1100"/>
          </a:p>
        </p:txBody>
      </p:sp>
      <p:sp>
        <p:nvSpPr>
          <p:cNvPr name="AutoShape 13" id="13"/>
          <p:cNvSpPr txBox="true"/>
          <p:nvPr/>
        </p:nvSpPr>
        <p:spPr>
          <a:xfrm rot="0" flipH="false" flipV="false">
            <a:off x="1016000" y="4902200"/>
            <a:ext cx="5588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E8E6E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1701800" y="4902200"/>
            <a:ext cx="40640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262A28"/>
                </a:solidFill>
                <a:latin typeface="Noto Sans SC"/>
                <a:ea typeface="Noto Sans SC"/>
                <a:cs typeface="Noto Sans SC"/>
                <a:sym typeface="Noto Sans SC"/>
              </a:rPr>
              <a:t>不同结果将支持或削弱什么判断？什么情况仍不足以下结论？</a:t>
            </a:r>
            <a:endParaRPr lang="en-US" sz="1100"/>
          </a:p>
        </p:txBody>
      </p:sp>
      <p:sp>
        <p:nvSpPr>
          <p:cNvPr name="AutoShape 15" id="15"/>
          <p:cNvSpPr txBox="true"/>
          <p:nvPr/>
        </p:nvSpPr>
        <p:spPr>
          <a:xfrm rot="0" flipH="false" flipV="false">
            <a:off x="6223000" y="1778000"/>
            <a:ext cx="2540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D2825"/>
                </a:solidFill>
                <a:latin typeface="Noto Sans SC"/>
                <a:ea typeface="Noto Sans SC"/>
                <a:cs typeface="Noto Sans SC"/>
                <a:sym typeface="Noto Sans SC"/>
              </a:rPr>
              <a:t>任务二完成标准</a:t>
            </a:r>
            <a:endParaRPr lang="en-US" sz="1100"/>
          </a:p>
        </p:txBody>
      </p:sp>
      <p:sp>
        <p:nvSpPr>
          <p:cNvPr name="AutoShape 16" id="16"/>
          <p:cNvSpPr txBox="true"/>
          <p:nvPr/>
        </p:nvSpPr>
        <p:spPr>
          <a:xfrm rot="0" flipH="false" flipV="false">
            <a:off x="6223000" y="2286000"/>
            <a:ext cx="4775200" cy="215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262A28"/>
                </a:solidFill>
                <a:latin typeface="Noto Sans SC"/>
                <a:ea typeface="Noto Sans SC"/>
                <a:cs typeface="Noto Sans SC"/>
                <a:sym typeface="Noto Sans SC"/>
              </a:rPr>
              <a:t>有来自任务一发现的研究问题</a:t>
            </a:r>
            <a:br>
              <a:rPr lang="en-US" b="false" i="false" strike="noStrike" u="none" sz="1400">
                <a:solidFill>
                  <a:srgbClr val="262A28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262A28"/>
                </a:solidFill>
                <a:latin typeface="Noto Sans SC"/>
                <a:ea typeface="Noto Sans SC"/>
                <a:cs typeface="Noto Sans SC"/>
                <a:sym typeface="Noto Sans SC"/>
              </a:rPr>
              <a:t>一份执行前确认的计划</a:t>
            </a:r>
            <a:br>
              <a:rPr lang="en-US" b="false" i="false" strike="noStrike" u="none" sz="1400">
                <a:solidFill>
                  <a:srgbClr val="262A28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262A28"/>
                </a:solidFill>
                <a:latin typeface="Noto Sans SC"/>
                <a:ea typeface="Noto Sans SC"/>
                <a:cs typeface="Noto Sans SC"/>
                <a:sym typeface="Noto Sans SC"/>
              </a:rPr>
              <a:t>实际完成的分析或实验，关键结果经核验</a:t>
            </a:r>
            <a:br>
              <a:rPr lang="en-US" b="false" i="false" strike="noStrike" u="none" sz="1400">
                <a:solidFill>
                  <a:srgbClr val="262A28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262A28"/>
                </a:solidFill>
                <a:latin typeface="Noto Sans SC"/>
                <a:ea typeface="Noto Sans SC"/>
                <a:cs typeface="Noto Sans SC"/>
                <a:sym typeface="Noto Sans SC"/>
              </a:rPr>
              <a:t>说明新证据怎样影响原来的认识</a:t>
            </a:r>
            <a:br>
              <a:rPr lang="en-US" b="false" i="false" strike="noStrike" u="none" sz="1400">
                <a:solidFill>
                  <a:srgbClr val="262A28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262A28"/>
                </a:solidFill>
                <a:latin typeface="Noto Sans SC"/>
                <a:ea typeface="Noto Sans SC"/>
                <a:cs typeface="Noto Sans SC"/>
                <a:sym typeface="Noto Sans SC"/>
              </a:rPr>
              <a:t>保留计划、原始交流和实际产物</a:t>
            </a:r>
            <a:endParaRPr lang="en-US" sz="1100"/>
          </a:p>
        </p:txBody>
      </p:sp>
      <p:cxnSp>
        <p:nvCxnSpPr>
          <p:cNvPr name="Connector 17" id="17"/>
          <p:cNvCxnSpPr/>
          <p:nvPr/>
        </p:nvCxnSpPr>
        <p:spPr>
          <a:xfrm rot="-8814" flipH="false" flipV="false">
            <a:off x="6223008" y="4641850"/>
            <a:ext cx="4953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ED6C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8" id="18"/>
          <p:cNvSpPr txBox="true"/>
          <p:nvPr/>
        </p:nvSpPr>
        <p:spPr>
          <a:xfrm rot="0" flipH="false" flipV="false">
            <a:off x="6223000" y="4775200"/>
            <a:ext cx="47752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0833"/>
              </a:lnSpc>
              <a:defRPr/>
            </a:pPr>
            <a:r>
              <a:rPr lang="en-US" b="false" i="false" strike="noStrike" u="none" sz="1300">
                <a:solidFill>
                  <a:srgbClr val="606863"/>
                </a:solidFill>
                <a:latin typeface="Noto Sans SC"/>
                <a:ea typeface="Noto Sans SC"/>
                <a:cs typeface="Noto Sans SC"/>
                <a:sym typeface="Noto Sans SC"/>
              </a:rPr>
              <a:t>同样遵守参与留痕：重新确认数据、工具与范围，对 Agent 建议作自己的决定。</a:t>
            </a:r>
            <a:endParaRPr lang="en-US" sz="1100"/>
          </a:p>
        </p:txBody>
      </p:sp>
      <p:cxnSp>
        <p:nvCxnSpPr>
          <p:cNvPr name="Connector 19" id="19"/>
          <p:cNvCxnSpPr/>
          <p:nvPr/>
        </p:nvCxnSpPr>
        <p:spPr>
          <a:xfrm rot="-4297" flipH="false" flipV="false">
            <a:off x="1016004" y="56832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ED6C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0" id="20"/>
          <p:cNvSpPr txBox="true"/>
          <p:nvPr/>
        </p:nvSpPr>
        <p:spPr>
          <a:xfrm rot="0" flipH="false" flipV="false">
            <a:off x="1016000" y="58166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606863"/>
                </a:solidFill>
                <a:latin typeface="Noto Sans SC"/>
                <a:ea typeface="Noto Sans SC"/>
                <a:cs typeface="Noto Sans SC"/>
                <a:sym typeface="Noto Sans SC"/>
              </a:rPr>
              <a:t>计划存为 plans/task2_plan.md（Word/PDF 亦可），在交流中确认；改规则时另存版本并说明原因。</a:t>
            </a:r>
            <a:br>
              <a:rPr lang="en-US" b="false" i="false" strike="noStrike" u="none" sz="1300">
                <a:solidFill>
                  <a:srgbClr val="606863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606863"/>
                </a:solidFill>
                <a:latin typeface="Noto Sans SC"/>
                <a:ea typeface="Noto Sans SC"/>
                <a:cs typeface="Noto Sans SC"/>
                <a:sym typeface="Noto Sans SC"/>
              </a:rPr>
              <a:t>记录实际尝试，不只留最有利结果。</a:t>
            </a:r>
            <a:endParaRPr lang="en-US" sz="1100"/>
          </a:p>
        </p:txBody>
      </p:sp>
      <p:cxnSp>
        <p:nvCxnSpPr>
          <p:cNvPr name="Connector 21" id="21"/>
          <p:cNvCxnSpPr/>
          <p:nvPr/>
        </p:nvCxnSpPr>
        <p:spPr>
          <a:xfrm rot="-4297" flipH="false" flipV="false">
            <a:off x="1016004" y="63690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ED6C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2" id="22"/>
          <p:cNvSpPr txBox="true"/>
          <p:nvPr/>
        </p:nvSpPr>
        <p:spPr>
          <a:xfrm rot="0" flipH="false" flipV="false">
            <a:off x="1016000" y="6451600"/>
            <a:ext cx="7112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7A827D"/>
                </a:solidFill>
                <a:latin typeface="Noto Sans SC"/>
                <a:ea typeface="Noto Sans SC"/>
                <a:cs typeface="Noto Sans SC"/>
                <a:sym typeface="Noto Sans SC"/>
              </a:rPr>
              <a:t>来源：实验作业 02 学生手册（课程网页）</a:t>
            </a:r>
            <a:endParaRPr lang="en-US" sz="1100"/>
          </a:p>
        </p:txBody>
      </p:sp>
      <p:sp>
        <p:nvSpPr>
          <p:cNvPr name="AutoShape 23" id="23"/>
          <p:cNvSpPr txBox="true"/>
          <p:nvPr/>
        </p:nvSpPr>
        <p:spPr>
          <a:xfrm rot="0" flipH="false" flipV="false">
            <a:off x="10414000" y="6451600"/>
            <a:ext cx="762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7A827D"/>
                </a:solidFill>
                <a:latin typeface="Noto Sans SC"/>
                <a:ea typeface="Noto Sans SC"/>
                <a:cs typeface="Noto Sans SC"/>
                <a:sym typeface="Noto Sans SC"/>
              </a:rPr>
              <a:t>09 / 12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F7F5E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1016000" y="431800"/>
            <a:ext cx="6350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1E8E6E"/>
                </a:solidFill>
                <a:latin typeface="Noto Sans SC"/>
                <a:ea typeface="Noto Sans SC"/>
                <a:cs typeface="Noto Sans SC"/>
                <a:sym typeface="Noto Sans SC"/>
              </a:rPr>
              <a:t>05 · 研究与工具的边界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1016000" y="762000"/>
            <a:ext cx="10160000" cy="609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000">
                <a:solidFill>
                  <a:srgbClr val="0D2825"/>
                </a:solidFill>
                <a:latin typeface="Noto Serif SC"/>
                <a:ea typeface="Noto Serif SC"/>
                <a:cs typeface="Noto Serif SC"/>
                <a:sym typeface="Noto Serif SC"/>
              </a:rPr>
              <a:t>五条边界守住，结论才立得住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4297" flipH="false" flipV="false">
            <a:off x="1016004" y="14922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1E8E6E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5" id="5"/>
          <p:cNvSpPr txBox="true"/>
          <p:nvPr/>
        </p:nvSpPr>
        <p:spPr>
          <a:xfrm rot="0" flipH="false" flipV="false">
            <a:off x="1016000" y="1778000"/>
            <a:ext cx="6604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E8E6E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1803400" y="1778000"/>
            <a:ext cx="3048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0D2825"/>
                </a:solidFill>
                <a:latin typeface="Noto Sans SC"/>
                <a:ea typeface="Noto Sans SC"/>
                <a:cs typeface="Noto Sans SC"/>
                <a:sym typeface="Noto Sans SC"/>
              </a:rPr>
              <a:t>数据与计算规则要可比</a:t>
            </a:r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1803400" y="2184400"/>
            <a:ext cx="9271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606863"/>
                </a:solidFill>
                <a:latin typeface="Noto Sans SC"/>
                <a:ea typeface="Noto Sans SC"/>
                <a:cs typeface="Noto Sans SC"/>
                <a:sym typeface="Noto Sans SC"/>
              </a:rPr>
              <a:t>核查分红处理、日期、频率与有效样本；不混用场内价格；不删样本、不补造数据。</a:t>
            </a:r>
            <a:endParaRPr lang="en-US" sz="1100"/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1016000" y="2692400"/>
            <a:ext cx="6604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E8E6E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name="AutoShape 9" id="9"/>
          <p:cNvSpPr txBox="true"/>
          <p:nvPr/>
        </p:nvSpPr>
        <p:spPr>
          <a:xfrm rot="0" flipH="false" flipV="false">
            <a:off x="1803400" y="2692400"/>
            <a:ext cx="3048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0D2825"/>
                </a:solidFill>
                <a:latin typeface="Noto Sans SC"/>
                <a:ea typeface="Noto Sans SC"/>
                <a:cs typeface="Noto Sans SC"/>
                <a:sym typeface="Noto Sans SC"/>
              </a:rPr>
              <a:t>基准要有依据</a:t>
            </a:r>
            <a:endParaRPr lang="en-US" sz="1100"/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1803400" y="3098800"/>
            <a:ext cx="9271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606863"/>
                </a:solidFill>
                <a:latin typeface="Noto Sans SC"/>
                <a:ea typeface="Noto Sans SC"/>
                <a:cs typeface="Noto Sans SC"/>
                <a:sym typeface="Noto Sans SC"/>
              </a:rPr>
              <a:t>说明基准选择与适用性；更换时保留原因和两套结果，不只让结论更好看。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1016000" y="3606800"/>
            <a:ext cx="6604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E8E6E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1803400" y="3606800"/>
            <a:ext cx="3048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0D2825"/>
                </a:solidFill>
                <a:latin typeface="Noto Sans SC"/>
                <a:ea typeface="Noto Sans SC"/>
                <a:cs typeface="Noto Sans SC"/>
                <a:sym typeface="Noto Sans SC"/>
              </a:rPr>
              <a:t>结论要与证据相称</a:t>
            </a:r>
            <a:endParaRPr lang="en-US" sz="1100"/>
          </a:p>
        </p:txBody>
      </p:sp>
      <p:sp>
        <p:nvSpPr>
          <p:cNvPr name="AutoShape 13" id="13"/>
          <p:cNvSpPr txBox="true"/>
          <p:nvPr/>
        </p:nvSpPr>
        <p:spPr>
          <a:xfrm rot="0" flipH="false" flipV="false">
            <a:off x="1803400" y="4013200"/>
            <a:ext cx="9271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606863"/>
                </a:solidFill>
                <a:latin typeface="Noto Sans SC"/>
                <a:ea typeface="Noto Sans SC"/>
                <a:cs typeface="Noto Sans SC"/>
                <a:sym typeface="Noto Sans SC"/>
              </a:rPr>
              <a:t>收益高不等于管理能力强；风险、比较对象、区间影响解释，判断须有依据。</a:t>
            </a:r>
            <a:endParaRPr lang="en-US" sz="1100"/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1016000" y="4521200"/>
            <a:ext cx="6604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E8E6E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name="AutoShape 15" id="15"/>
          <p:cNvSpPr txBox="true"/>
          <p:nvPr/>
        </p:nvSpPr>
        <p:spPr>
          <a:xfrm rot="0" flipH="false" flipV="false">
            <a:off x="1803400" y="4521200"/>
            <a:ext cx="3048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0D2825"/>
                </a:solidFill>
                <a:latin typeface="Noto Sans SC"/>
                <a:ea typeface="Noto Sans SC"/>
                <a:cs typeface="Noto Sans SC"/>
                <a:sym typeface="Noto Sans SC"/>
              </a:rPr>
              <a:t>资料要支持判断</a:t>
            </a:r>
            <a:endParaRPr lang="en-US" sz="1100"/>
          </a:p>
        </p:txBody>
      </p:sp>
      <p:sp>
        <p:nvSpPr>
          <p:cNvPr name="AutoShape 16" id="16"/>
          <p:cNvSpPr txBox="true"/>
          <p:nvPr/>
        </p:nvSpPr>
        <p:spPr>
          <a:xfrm rot="0" flipH="false" flipV="false">
            <a:off x="1803400" y="4927600"/>
            <a:ext cx="9271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606863"/>
                </a:solidFill>
                <a:latin typeface="Noto Sans SC"/>
                <a:ea typeface="Noto Sans SC"/>
                <a:cs typeface="Noto Sans SC"/>
                <a:sym typeface="Noto Sans SC"/>
              </a:rPr>
              <a:t>接口成功不等于数据完整；持仓只是风格线索，不等于全部组合。</a:t>
            </a:r>
            <a:endParaRPr lang="en-US" sz="1100"/>
          </a:p>
        </p:txBody>
      </p:sp>
      <p:sp>
        <p:nvSpPr>
          <p:cNvPr name="AutoShape 17" id="17"/>
          <p:cNvSpPr txBox="true"/>
          <p:nvPr/>
        </p:nvSpPr>
        <p:spPr>
          <a:xfrm rot="0" flipH="false" flipV="false">
            <a:off x="1016000" y="5435600"/>
            <a:ext cx="6604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E8E6E"/>
                </a:solidFill>
                <a:latin typeface="Noto Sans SC"/>
                <a:ea typeface="Noto Sans SC"/>
                <a:cs typeface="Noto Sans SC"/>
                <a:sym typeface="Noto Sans SC"/>
              </a:rPr>
              <a:t>05</a:t>
            </a:r>
            <a:endParaRPr lang="en-US" sz="1100"/>
          </a:p>
        </p:txBody>
      </p:sp>
      <p:sp>
        <p:nvSpPr>
          <p:cNvPr name="AutoShape 18" id="18"/>
          <p:cNvSpPr txBox="true"/>
          <p:nvPr/>
        </p:nvSpPr>
        <p:spPr>
          <a:xfrm rot="0" flipH="false" flipV="false">
            <a:off x="1803400" y="5435600"/>
            <a:ext cx="3556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0D2825"/>
                </a:solidFill>
                <a:latin typeface="Noto Sans SC"/>
                <a:ea typeface="Noto Sans SC"/>
                <a:cs typeface="Noto Sans SC"/>
                <a:sym typeface="Noto Sans SC"/>
              </a:rPr>
              <a:t>工具能力和执行范围要确认</a:t>
            </a:r>
            <a:endParaRPr lang="en-US" sz="1100"/>
          </a:p>
        </p:txBody>
      </p:sp>
      <p:sp>
        <p:nvSpPr>
          <p:cNvPr name="AutoShape 19" id="19"/>
          <p:cNvSpPr txBox="true"/>
          <p:nvPr/>
        </p:nvSpPr>
        <p:spPr>
          <a:xfrm rot="0" flipH="false" flipV="false">
            <a:off x="1803400" y="5842000"/>
            <a:ext cx="9271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606863"/>
                </a:solidFill>
                <a:latin typeface="Noto Sans SC"/>
                <a:ea typeface="Noto Sans SC"/>
                <a:cs typeface="Noto Sans SC"/>
                <a:sym typeface="Noto Sans SC"/>
              </a:rPr>
              <a:t>先试取数据确认能力；关键变化由你判断；不涉及真实交易。</a:t>
            </a:r>
            <a:endParaRPr lang="en-US" sz="1100"/>
          </a:p>
        </p:txBody>
      </p:sp>
      <p:cxnSp>
        <p:nvCxnSpPr>
          <p:cNvPr name="Connector 20" id="20"/>
          <p:cNvCxnSpPr/>
          <p:nvPr/>
        </p:nvCxnSpPr>
        <p:spPr>
          <a:xfrm rot="-4297" flipH="false" flipV="false">
            <a:off x="1016004" y="63690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ED6C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1" id="21"/>
          <p:cNvSpPr txBox="true"/>
          <p:nvPr/>
        </p:nvSpPr>
        <p:spPr>
          <a:xfrm rot="0" flipH="false" flipV="false">
            <a:off x="1016000" y="6451600"/>
            <a:ext cx="7112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7A827D"/>
                </a:solidFill>
                <a:latin typeface="Noto Sans SC"/>
                <a:ea typeface="Noto Sans SC"/>
                <a:cs typeface="Noto Sans SC"/>
                <a:sym typeface="Noto Sans SC"/>
              </a:rPr>
              <a:t>来源：实验作业 02 学生手册（课程网页）</a:t>
            </a:r>
            <a:endParaRPr lang="en-US" sz="1100"/>
          </a:p>
        </p:txBody>
      </p:sp>
      <p:sp>
        <p:nvSpPr>
          <p:cNvPr name="AutoShape 22" id="22"/>
          <p:cNvSpPr txBox="true"/>
          <p:nvPr/>
        </p:nvSpPr>
        <p:spPr>
          <a:xfrm rot="0" flipH="false" flipV="false">
            <a:off x="10414000" y="6451600"/>
            <a:ext cx="762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7A827D"/>
                </a:solidFill>
                <a:latin typeface="Noto Sans SC"/>
                <a:ea typeface="Noto Sans SC"/>
                <a:cs typeface="Noto Sans SC"/>
                <a:sym typeface="Noto Sans SC"/>
              </a:rPr>
              <a:t>10 / 12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5E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1016000" y="431800"/>
            <a:ext cx="6350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1E8E6E"/>
                </a:solidFill>
                <a:latin typeface="Noto Sans SC"/>
                <a:ea typeface="Noto Sans SC"/>
                <a:cs typeface="Noto Sans SC"/>
                <a:sym typeface="Noto Sans SC"/>
              </a:rPr>
              <a:t>06 · 提交成果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1016000" y="762000"/>
            <a:ext cx="10160000" cy="609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000">
                <a:solidFill>
                  <a:srgbClr val="0D2825"/>
                </a:solidFill>
                <a:latin typeface="Noto Serif SC"/>
                <a:ea typeface="Noto Serif SC"/>
                <a:cs typeface="Noto Serif SC"/>
                <a:sym typeface="Noto Serif SC"/>
              </a:rPr>
              <a:t>一个压缩包、七类材料，统一入口提交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4297" flipH="false" flipV="false">
            <a:off x="1016004" y="14922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1E8E6E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1016000" y="1625600"/>
          <a:ext cx="10160000" cy="28448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413000"/>
                <a:gridCol w="7747000"/>
              </a:tblGrid>
              <a:tr h="3556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3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提交材料</a:t>
                      </a:r>
                      <a:endParaRPr lang="en-US" sz="1100"/>
                    </a:p>
                  </a:txBody>
                  <a:tcPr anchor="ctr" anchorCtr="false" marL="101600" marR="101600" marT="82550" marB="825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2825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3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用途及内容</a:t>
                      </a:r>
                      <a:endParaRPr lang="en-US" sz="1100"/>
                    </a:p>
                  </a:txBody>
                  <a:tcPr anchor="ctr" anchorCtr="false" marL="101600" marR="101600" marT="82550" marB="825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2825">
                        <a:alpha val="100000"/>
                      </a:srgbClr>
                    </a:solidFill>
                  </a:tcPr>
                </a:tc>
              </a:tr>
              <a:tr h="3556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300">
                          <a:solidFill>
                            <a:srgbClr val="0D282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实验报告</a:t>
                      </a:r>
                      <a:endParaRPr lang="en-US" sz="1100"/>
                    </a:p>
                  </a:txBody>
                  <a:tcPr anchor="ctr" anchorCtr="false" marL="101600" marR="101600" marT="82550" marB="825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262A2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风格判断证据、任务一初评、任务二认识变化</a:t>
                      </a:r>
                      <a:endParaRPr lang="en-US" sz="1100"/>
                    </a:p>
                  </a:txBody>
                  <a:tcPr anchor="ctr" anchorCtr="false" marL="101600" marR="101600" marT="82550" marB="825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556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300">
                          <a:solidFill>
                            <a:srgbClr val="0D282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两份方案</a:t>
                      </a:r>
                      <a:endParaRPr lang="en-US" sz="1100"/>
                    </a:p>
                  </a:txBody>
                  <a:tcPr anchor="ctr" anchorCtr="false" marL="101600" marR="101600" marT="82550" marB="825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262A2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任务一方案、任务二计划，及修改时的旧版和理由</a:t>
                      </a:r>
                      <a:endParaRPr lang="en-US" sz="1100"/>
                    </a:p>
                  </a:txBody>
                  <a:tcPr anchor="ctr" anchorCtr="false" marL="101600" marR="101600" marT="82550" marB="825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556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300">
                          <a:solidFill>
                            <a:srgbClr val="0D282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原始交流</a:t>
                      </a:r>
                      <a:endParaRPr lang="en-US" sz="1100"/>
                    </a:p>
                  </a:txBody>
                  <a:tcPr anchor="ctr" anchorCtr="false" marL="101600" marR="101600" marT="82550" marB="825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262A2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提问、建议、决定、执行记录（含失败尝试）</a:t>
                      </a:r>
                      <a:endParaRPr lang="en-US" sz="1100"/>
                    </a:p>
                  </a:txBody>
                  <a:tcPr anchor="ctr" anchorCtr="false" marL="101600" marR="101600" marT="82550" marB="825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556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300">
                          <a:solidFill>
                            <a:srgbClr val="0D282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过程记录</a:t>
                      </a:r>
                      <a:endParaRPr lang="en-US" sz="1100"/>
                    </a:p>
                  </a:txBody>
                  <a:tcPr anchor="ctr" anchorCtr="false" marL="101600" marR="101600" marT="82550" marB="825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262A2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指向各环节关键交流与产物</a:t>
                      </a:r>
                      <a:endParaRPr lang="en-US" sz="1100"/>
                    </a:p>
                  </a:txBody>
                  <a:tcPr anchor="ctr" anchorCtr="false" marL="101600" marR="101600" marT="82550" marB="825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556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300">
                          <a:solidFill>
                            <a:srgbClr val="0D282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数据与来源清单</a:t>
                      </a:r>
                      <a:endParaRPr lang="en-US" sz="1100"/>
                    </a:p>
                  </a:txBody>
                  <a:tcPr anchor="ctr" anchorCtr="false" marL="101600" marR="101600" marT="82550" marB="825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262A2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文件、来源、取得时间、筛选条件、日期覆盖</a:t>
                      </a:r>
                      <a:endParaRPr lang="en-US" sz="1100"/>
                    </a:p>
                  </a:txBody>
                  <a:tcPr anchor="ctr" anchorCtr="false" marL="101600" marR="101600" marT="82550" marB="825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556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300">
                          <a:solidFill>
                            <a:srgbClr val="0D282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分析、计算文件与结果</a:t>
                      </a:r>
                      <a:endParaRPr lang="en-US" sz="1100"/>
                    </a:p>
                  </a:txBody>
                  <a:tcPr anchor="ctr" anchorCtr="false" marL="101600" marR="101600" marT="82550" marB="825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262A2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程序/输出或含公式工作簿，可复现</a:t>
                      </a:r>
                      <a:endParaRPr lang="en-US" sz="1100"/>
                    </a:p>
                  </a:txBody>
                  <a:tcPr anchor="ctr" anchorCtr="false" marL="101600" marR="101600" marT="82550" marB="825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556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300">
                          <a:solidFill>
                            <a:srgbClr val="0D282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说明文件（README）</a:t>
                      </a:r>
                      <a:endParaRPr lang="en-US" sz="1100"/>
                    </a:p>
                  </a:txBody>
                  <a:tcPr anchor="ctr" anchorCtr="false" marL="101600" marR="101600" marT="82550" marB="825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262A2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材料位置、Agent 版本、运行方法、未完成部分</a:t>
                      </a:r>
                      <a:endParaRPr lang="en-US" sz="1100"/>
                    </a:p>
                  </a:txBody>
                  <a:tcPr anchor="ctr" anchorCtr="false" marL="101600" marR="101600" marT="82550" marB="825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name="Connector 6" id="6"/>
          <p:cNvCxnSpPr/>
          <p:nvPr/>
        </p:nvCxnSpPr>
        <p:spPr>
          <a:xfrm rot="5370867" flipH="false" flipV="false">
            <a:off x="6362700" y="5416577"/>
            <a:ext cx="1498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ED6C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7" id="7"/>
          <p:cNvSpPr txBox="true"/>
          <p:nvPr/>
        </p:nvSpPr>
        <p:spPr>
          <a:xfrm rot="0" flipH="false" flipV="false">
            <a:off x="1016000" y="4673600"/>
            <a:ext cx="3810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D2825"/>
                </a:solidFill>
                <a:latin typeface="Noto Sans SC"/>
                <a:ea typeface="Noto Sans SC"/>
                <a:cs typeface="Noto Sans SC"/>
                <a:sym typeface="Noto Sans SC"/>
              </a:rPr>
              <a:t>命名与提交</a:t>
            </a:r>
            <a:endParaRPr lang="en-US" sz="1100"/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1016000" y="5080000"/>
            <a:ext cx="5791200" cy="812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0833"/>
              </a:lnSpc>
              <a:defRPr/>
            </a:pPr>
            <a:r>
              <a:rPr lang="en-US" b="false" i="false" strike="noStrike" u="none" sz="1300">
                <a:solidFill>
                  <a:srgbClr val="262A28"/>
                </a:solidFill>
                <a:latin typeface="Noto Sans SC"/>
                <a:ea typeface="Noto Sans SC"/>
                <a:cs typeface="Noto Sans SC"/>
                <a:sym typeface="Noto Sans SC"/>
              </a:rPr>
              <a:t>文件夹 学号_姓名，压缩为 学号_姓名_基金实验.zip</a:t>
            </a:r>
            <a:br>
              <a:rPr lang="en-US" b="false" i="false" strike="noStrike" u="none" sz="1300">
                <a:solidFill>
                  <a:srgbClr val="262A28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262A28"/>
                </a:solidFill>
                <a:latin typeface="Noto Sans SC"/>
                <a:ea typeface="Noto Sans SC"/>
                <a:cs typeface="Noto Sans SC"/>
                <a:sym typeface="Noto Sans SC"/>
              </a:rPr>
              <a:t>入口提交，建议一周内完成</a:t>
            </a:r>
            <a:br>
              <a:rPr lang="en-US" b="false" i="false" strike="noStrike" u="none" sz="1300">
                <a:solidFill>
                  <a:srgbClr val="262A28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262A28"/>
                </a:solidFill>
                <a:latin typeface="Noto Sans SC"/>
                <a:ea typeface="Noto Sans SC"/>
                <a:cs typeface="Noto Sans SC"/>
                <a:sym typeface="Noto Sans SC"/>
              </a:rPr>
              <a:t>截止日期以提交页面为准</a:t>
            </a:r>
            <a:endParaRPr lang="en-US" sz="1100"/>
          </a:p>
        </p:txBody>
      </p:sp>
      <p:sp>
        <p:nvSpPr>
          <p:cNvPr name="AutoShape 9" id="9"/>
          <p:cNvSpPr txBox="true"/>
          <p:nvPr/>
        </p:nvSpPr>
        <p:spPr>
          <a:xfrm rot="0" flipH="false" flipV="false">
            <a:off x="1016000" y="5943600"/>
            <a:ext cx="57912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1E8E6E"/>
                </a:solidFill>
                <a:latin typeface="Noto Sans SC"/>
                <a:ea typeface="Noto Sans SC"/>
                <a:cs typeface="Noto Sans SC"/>
                <a:sym typeface="Noto Sans SC"/>
              </a:rPr>
              <a:t>提交入口：</a:t>
            </a:r>
            <a:r>
              <a:rPr lang="en-US" b="true" i="false" strike="noStrike" u="none" sz="1300">
                <a:solidFill>
                  <a:srgbClr val="1E8E6E"/>
                </a:solidFill>
                <a:latin typeface="Noto Sans SC"/>
                <a:ea typeface="Noto Sans SC"/>
                <a:cs typeface="Noto Sans SC"/>
                <a:sym typeface="Noto Sans SC"/>
                <a:hlinkClick r:id="rId2" tooltip="https://send2me.cn/s6scThjh/S7uneaqptLkaHg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https://send2me.cn/s6scThjh/S7uneaqptLkaHg</a:t>
            </a:r>
            <a:endParaRPr lang="en-US" sz="1100"/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7442200" y="4673600"/>
            <a:ext cx="37338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D2825"/>
                </a:solidFill>
                <a:latin typeface="Noto Sans SC"/>
                <a:ea typeface="Noto Sans SC"/>
                <a:cs typeface="Noto Sans SC"/>
                <a:sym typeface="Noto Sans SC"/>
              </a:rPr>
              <a:t>提交前核对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7442200" y="5080000"/>
            <a:ext cx="3733800" cy="1092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0833"/>
              </a:lnSpc>
              <a:defRPr/>
            </a:pPr>
            <a:r>
              <a:rPr lang="en-US" b="false" i="false" strike="noStrike" u="none" sz="1300">
                <a:solidFill>
                  <a:srgbClr val="262A28"/>
                </a:solidFill>
                <a:latin typeface="Noto Sans SC"/>
                <a:ea typeface="Noto Sans SC"/>
                <a:cs typeface="Noto Sans SC"/>
                <a:sym typeface="Noto Sans SC"/>
              </a:rPr>
              <a:t>两项任务一并整理，保留原始交流、数据与分析结果</a:t>
            </a:r>
            <a:br>
              <a:rPr lang="en-US" b="false" i="false" strike="noStrike" u="none" sz="1300">
                <a:solidFill>
                  <a:srgbClr val="262A28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262A28"/>
                </a:solidFill>
                <a:latin typeface="Noto Sans SC"/>
                <a:ea typeface="Noto Sans SC"/>
                <a:cs typeface="Noto Sans SC"/>
                <a:sym typeface="Noto Sans SC"/>
              </a:rPr>
              <a:t>过程记录指向证据</a:t>
            </a:r>
            <a:br>
              <a:rPr lang="en-US" b="false" i="false" strike="noStrike" u="none" sz="1300">
                <a:solidFill>
                  <a:srgbClr val="262A28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262A28"/>
                </a:solidFill>
                <a:latin typeface="Noto Sans SC"/>
                <a:ea typeface="Noto Sans SC"/>
                <a:cs typeface="Noto Sans SC"/>
                <a:sym typeface="Noto Sans SC"/>
              </a:rPr>
              <a:t>评分规则以教师公布为准</a:t>
            </a:r>
            <a:endParaRPr lang="en-US" sz="1100"/>
          </a:p>
        </p:txBody>
      </p:sp>
      <p:cxnSp>
        <p:nvCxnSpPr>
          <p:cNvPr name="Connector 12" id="12"/>
          <p:cNvCxnSpPr/>
          <p:nvPr/>
        </p:nvCxnSpPr>
        <p:spPr>
          <a:xfrm rot="-4297" flipH="false" flipV="false">
            <a:off x="1016004" y="63690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ED6C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3" id="13"/>
          <p:cNvSpPr txBox="true"/>
          <p:nvPr/>
        </p:nvSpPr>
        <p:spPr>
          <a:xfrm rot="0" flipH="false" flipV="false">
            <a:off x="1016000" y="6451600"/>
            <a:ext cx="7112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7A827D"/>
                </a:solidFill>
                <a:latin typeface="Noto Sans SC"/>
                <a:ea typeface="Noto Sans SC"/>
                <a:cs typeface="Noto Sans SC"/>
                <a:sym typeface="Noto Sans SC"/>
              </a:rPr>
              <a:t>来源：实验作业 02 学生手册（课程网页）</a:t>
            </a:r>
            <a:endParaRPr lang="en-US" sz="1100"/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10414000" y="6451600"/>
            <a:ext cx="762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7A827D"/>
                </a:solidFill>
                <a:latin typeface="Noto Sans SC"/>
                <a:ea typeface="Noto Sans SC"/>
                <a:cs typeface="Noto Sans SC"/>
                <a:sym typeface="Noto Sans SC"/>
              </a:rPr>
              <a:t>11 / 12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2825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1016000" y="558800"/>
            <a:ext cx="6350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4FC39B"/>
                </a:solidFill>
                <a:latin typeface="Noto Sans SC"/>
                <a:ea typeface="Noto Sans SC"/>
                <a:cs typeface="Noto Sans SC"/>
                <a:sym typeface="Noto Sans SC"/>
              </a:rPr>
              <a:t>06 · 提交成果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-4297" flipH="false" flipV="false">
            <a:off x="1016004" y="10350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4FC39B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4" id="4"/>
          <p:cNvSpPr txBox="true"/>
          <p:nvPr/>
        </p:nvSpPr>
        <p:spPr>
          <a:xfrm rot="0" flipH="false" flipV="false">
            <a:off x="1016000" y="1397000"/>
            <a:ext cx="10160000" cy="838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400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先接入数据，再写下第一个问题</a:t>
            </a:r>
            <a:endParaRPr lang="en-US" sz="1100"/>
          </a:p>
        </p:txBody>
      </p:sp>
      <p:sp>
        <p:nvSpPr>
          <p:cNvPr name="AutoShape 5" id="5"/>
          <p:cNvSpPr txBox="true"/>
          <p:nvPr/>
        </p:nvSpPr>
        <p:spPr>
          <a:xfrm rot="0" flipH="false" flipV="false">
            <a:off x="1016000" y="2540000"/>
            <a:ext cx="7112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4FC39B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1879600" y="2514600"/>
            <a:ext cx="889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7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接入 Tushare MCP，试取 9 只基金净值</a:t>
            </a:r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1879600" y="2946400"/>
            <a:ext cx="8890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D2E2DC"/>
                </a:solidFill>
                <a:latin typeface="Noto Sans SC"/>
                <a:ea typeface="Noto Sans SC"/>
                <a:cs typeface="Noto Sans SC"/>
                <a:sym typeface="Noto Sans SC"/>
              </a:rPr>
              <a:t>确认交流可保存，记录 Agent 产品与版本</a:t>
            </a:r>
            <a:endParaRPr lang="en-US" sz="1100"/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1016000" y="3327400"/>
            <a:ext cx="7112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4FC39B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name="AutoShape 9" id="9"/>
          <p:cNvSpPr txBox="true"/>
          <p:nvPr/>
        </p:nvSpPr>
        <p:spPr>
          <a:xfrm rot="0" flipH="false" flipV="false">
            <a:off x="1879600" y="3302000"/>
            <a:ext cx="889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7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写下对任务的理解和一个不确定之处</a:t>
            </a:r>
            <a:endParaRPr lang="en-US" sz="1100"/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1879600" y="3733800"/>
            <a:ext cx="8890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D2E2DC"/>
                </a:solidFill>
                <a:latin typeface="Noto Sans SC"/>
                <a:ea typeface="Noto Sans SC"/>
                <a:cs typeface="Noto Sans SC"/>
                <a:sym typeface="Noto Sans SC"/>
              </a:rPr>
              <a:t>与 Agent 澄清问题，转为可执行任务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1016000" y="4114800"/>
            <a:ext cx="7112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4FC39B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1879600" y="4089400"/>
            <a:ext cx="889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7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判断 9 只基金风格，选出比较样本</a:t>
            </a:r>
            <a:endParaRPr lang="en-US" sz="1100"/>
          </a:p>
        </p:txBody>
      </p:sp>
      <p:sp>
        <p:nvSpPr>
          <p:cNvPr name="AutoShape 13" id="13"/>
          <p:cNvSpPr txBox="true"/>
          <p:nvPr/>
        </p:nvSpPr>
        <p:spPr>
          <a:xfrm rot="0" flipH="false" flipV="false">
            <a:off x="1879600" y="4521200"/>
            <a:ext cx="8890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D2E2DC"/>
                </a:solidFill>
                <a:latin typeface="Noto Sans SC"/>
                <a:ea typeface="Noto Sans SC"/>
                <a:cs typeface="Noto Sans SC"/>
                <a:sym typeface="Noto Sans SC"/>
              </a:rPr>
              <a:t>说明时点与证据，形成任务一方案后再计算</a:t>
            </a:r>
            <a:endParaRPr lang="en-US" sz="1100"/>
          </a:p>
        </p:txBody>
      </p:sp>
      <p:cxnSp>
        <p:nvCxnSpPr>
          <p:cNvPr name="Connector 14" id="14"/>
          <p:cNvCxnSpPr/>
          <p:nvPr/>
        </p:nvCxnSpPr>
        <p:spPr>
          <a:xfrm rot="-4297" flipH="false" flipV="false">
            <a:off x="1016004" y="51752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4FC39B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5" id="15"/>
          <p:cNvSpPr txBox="true"/>
          <p:nvPr/>
        </p:nvSpPr>
        <p:spPr>
          <a:xfrm rot="0" flipH="false" flipV="false">
            <a:off x="1016000" y="5384800"/>
            <a:ext cx="8890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5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材料包压缩为 </a:t>
            </a:r>
            <a:r>
              <a:rPr lang="en-US" b="true" i="false" strike="noStrike" u="none" sz="15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学号_姓名_基金实验.zip</a:t>
            </a:r>
            <a:r>
              <a:rPr lang="en-US" b="false" i="false" strike="noStrike" u="none" sz="15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，在课程作业提交入口提交</a:t>
            </a:r>
            <a:endParaRPr lang="en-US" sz="1100"/>
          </a:p>
        </p:txBody>
      </p:sp>
      <p:sp>
        <p:nvSpPr>
          <p:cNvPr name="AutoShape 16" id="16"/>
          <p:cNvSpPr txBox="true"/>
          <p:nvPr/>
        </p:nvSpPr>
        <p:spPr>
          <a:xfrm rot="0" flipH="false" flipV="false">
            <a:off x="1016000" y="5816600"/>
            <a:ext cx="8890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4FC39B"/>
                </a:solidFill>
                <a:latin typeface="Noto Sans SC"/>
                <a:ea typeface="Noto Sans SC"/>
                <a:cs typeface="Noto Sans SC"/>
                <a:sym typeface="Noto Sans SC"/>
              </a:rPr>
              <a:t>提交入口：</a:t>
            </a:r>
            <a:r>
              <a:rPr lang="en-US" b="true" i="false" strike="noStrike" u="none" sz="1500">
                <a:solidFill>
                  <a:srgbClr val="4FC39B"/>
                </a:solidFill>
                <a:latin typeface="Noto Sans SC"/>
                <a:ea typeface="Noto Sans SC"/>
                <a:cs typeface="Noto Sans SC"/>
                <a:sym typeface="Noto Sans SC"/>
                <a:hlinkClick r:id="rId2" tooltip="https://send2me.cn/s6scThjh/S7uneaqptLkaHg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https://send2me.cn/s6scThjh/S7uneaqptLkaHg</a:t>
            </a:r>
            <a:endParaRPr lang="en-US" sz="1100"/>
          </a:p>
        </p:txBody>
      </p:sp>
      <p:sp>
        <p:nvSpPr>
          <p:cNvPr name="AutoShape 17" id="17"/>
          <p:cNvSpPr txBox="true"/>
          <p:nvPr/>
        </p:nvSpPr>
        <p:spPr>
          <a:xfrm rot="0" flipH="false" flipV="false">
            <a:off x="1016000" y="6350000"/>
            <a:ext cx="889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B4C8C0"/>
                </a:solidFill>
                <a:latin typeface="Noto Sans SC"/>
                <a:ea typeface="Noto Sans SC"/>
                <a:cs typeface="Noto Sans SC"/>
                <a:sym typeface="Noto Sans SC"/>
              </a:rPr>
              <a:t>建议一周内完成 · 截止日期以提交页面为准 · 来源：实验作业 02 学生手册（课程网页）</a:t>
            </a:r>
            <a:endParaRPr lang="en-US" sz="1100"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0" y="6318250"/>
            <a:ext cx="1524000" cy="5397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