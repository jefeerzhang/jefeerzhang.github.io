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h7_l1_portfoli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h7_l1_portfolio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7a59e9a8ebf1bfa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18418b8a6bfe9bc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5d29eade5256472.png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0f7f896b16f291b.png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d5bd52ddc2ec843.png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171450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19050">
            <a:solidFill>
              <a:srgbClr val="00A884">
                <a:alpha val="60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9525000" y="-571500"/>
            <a:ext cx="3429000" cy="3429000"/>
          </a:xfrm>
          <a:prstGeom prst="ellipse">
            <a:avLst/>
          </a:prstGeom>
          <a:noFill/>
          <a:ln w="9525">
            <a:solidFill>
              <a:srgbClr val="1E3A5F"/>
            </a:solidFill>
          </a:ln>
        </p:spPr>
      </p:sp>
      <p:sp>
        <p:nvSpPr>
          <p:cNvPr id="5" name="Ellipse 5"/>
          <p:cNvSpPr/>
          <p:nvPr/>
        </p:nvSpPr>
        <p:spPr>
          <a:xfrm>
            <a:off x="10096500" y="0"/>
            <a:ext cx="2286000" cy="2286000"/>
          </a:xfrm>
          <a:prstGeom prst="ellipse">
            <a:avLst/>
          </a:prstGeom>
          <a:noFill/>
          <a:ln w="9525">
            <a:solidFill>
              <a:srgbClr val="1E3A5F"/>
            </a:solidFill>
          </a:ln>
        </p:spPr>
      </p:sp>
      <p:sp>
        <p:nvSpPr>
          <p:cNvPr id="6" name="Ellipse 6"/>
          <p:cNvSpPr/>
          <p:nvPr/>
        </p:nvSpPr>
        <p:spPr>
          <a:xfrm>
            <a:off x="10668000" y="571500"/>
            <a:ext cx="1143000" cy="1143000"/>
          </a:xfrm>
          <a:prstGeom prst="ellipse">
            <a:avLst/>
          </a:prstGeom>
          <a:noFill/>
          <a:ln w="14288">
            <a:solidFill>
              <a:srgbClr val="00A884">
                <a:alpha val="40000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755904" y="1203960"/>
            <a:ext cx="2792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spc="300" dirty="0">
                <a:solidFill>
                  <a:srgbClr val="00A884"/>
                </a:solidFill>
                <a:latin typeface="Inter"/>
                <a:ea typeface="Inter"/>
                <a:cs typeface="Inter"/>
              </a:rPr>
              <a:t>CHAPTER 07 · LESSON 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2950" y="2148840"/>
            <a:ext cx="5853684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1A1A2E"/>
                </a:solidFill>
                <a:latin typeface="Inter"/>
                <a:ea typeface="Microsoft YaHei"/>
                <a:cs typeface="Inter"/>
              </a:rPr>
              <a:t>资产组合理论的应用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3618" y="3060382"/>
            <a:ext cx="305984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495057"/>
                </a:solidFill>
                <a:latin typeface="Inter"/>
                <a:ea typeface="Microsoft YaHei"/>
                <a:cs typeface="Inter"/>
              </a:rPr>
              <a:t>投资组合理论的应用 · 第1课时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4380" y="3419475"/>
            <a:ext cx="237782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C757D"/>
                </a:solidFill>
                <a:latin typeface="Inter"/>
                <a:ea typeface="Microsoft YaHei"/>
                <a:cs typeface="Inter"/>
              </a:rPr>
              <a:t>3个真实案例 · 数据可复现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62000" y="5334000"/>
            <a:ext cx="8991600" cy="419100"/>
            <a:chOff x="762000" y="5334000"/>
            <a:chExt cx="8991600" cy="419100"/>
          </a:xfrm>
        </p:grpSpPr>
        <p:sp>
          <p:nvSpPr>
            <p:cNvPr id="11" name="Rectangle 11"/>
            <p:cNvSpPr/>
            <p:nvPr/>
          </p:nvSpPr>
          <p:spPr>
            <a:xfrm>
              <a:off x="762000" y="5334000"/>
              <a:ext cx="1905000" cy="419100"/>
            </a:xfrm>
            <a:prstGeom prst="roundRect">
              <a:avLst>
                <a:gd name="adj" fmla="val 13636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9447" y="549544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数据窗 2024-09 ~ 2026-08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819400" y="5334000"/>
              <a:ext cx="1524000" cy="419100"/>
            </a:xfrm>
            <a:prstGeom prst="roundRect">
              <a:avLst>
                <a:gd name="adj" fmla="val 13636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966847" y="5495449"/>
              <a:ext cx="9531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回测自 2023-01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495800" y="5334000"/>
              <a:ext cx="1524000" cy="419100"/>
            </a:xfrm>
            <a:prstGeom prst="roundRect">
              <a:avLst>
                <a:gd name="adj" fmla="val 13636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43247" y="5495449"/>
              <a:ext cx="10389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实测 2026-09-07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172200" y="5334000"/>
              <a:ext cx="1333500" cy="419100"/>
            </a:xfrm>
            <a:prstGeom prst="roundRect">
              <a:avLst>
                <a:gd name="adj" fmla="val 13636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19647" y="5495449"/>
              <a:ext cx="10389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rf 1.8%（声明）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58100" y="5334000"/>
              <a:ext cx="2095500" cy="419100"/>
            </a:xfrm>
            <a:prstGeom prst="roundRect">
              <a:avLst>
                <a:gd name="adj" fmla="val 13636"/>
              </a:avLst>
            </a:prstGeom>
            <a:solidFill>
              <a:srgbClr val="00A884">
                <a:alpha val="12000"/>
              </a:srgbClr>
            </a:solidFill>
            <a:ln w="9525">
              <a:solidFill>
                <a:srgbClr val="00A884">
                  <a:alpha val="40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05547" y="5495449"/>
              <a:ext cx="13908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A884"/>
                  </a:solidFill>
                  <a:latin typeface="Inter"/>
                  <a:ea typeface="Microsoft YaHei"/>
                  <a:cs typeface="Inter"/>
                </a:rPr>
                <a:t>课堂由 Agent 现场验证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757238" y="6379845"/>
            <a:ext cx="25250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ED4DA"/>
                </a:solidFill>
                <a:latin typeface="Inter"/>
                <a:ea typeface="Microsoft YaHei"/>
                <a:cs typeface="Inter"/>
              </a:rPr>
              <a:t>第7章 投资组合理论的应用 · 三课时授课PPT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547" y="466249"/>
            <a:ext cx="23471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spc="150" dirty="0">
                <a:solidFill>
                  <a:srgbClr val="00A884"/>
                </a:solidFill>
                <a:latin typeface="Inter"/>
                <a:ea typeface="Microsoft YaHei"/>
                <a:cs typeface="Inter"/>
              </a:rPr>
              <a:t>COURSE OVERVIEW · 第1课时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7784" y="737235"/>
            <a:ext cx="257175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Inter"/>
                <a:ea typeface="Microsoft YaHei"/>
                <a:cs typeface="Inter"/>
              </a:rPr>
              <a:t>本次课程学什么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3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00A884"/>
            </a:solidFill>
          </a:ln>
        </p:spPr>
      </p:sp>
      <p:grpSp>
        <p:nvGrpSpPr>
          <p:cNvPr id="41" name="Group 41"/>
          <p:cNvGrpSpPr/>
          <p:nvPr/>
        </p:nvGrpSpPr>
        <p:grpSpPr>
          <a:xfrm>
            <a:off x="571500" y="1619250"/>
            <a:ext cx="11049000" cy="4572000"/>
            <a:chOff x="571500" y="1619250"/>
            <a:chExt cx="11049000" cy="4572000"/>
          </a:xfrm>
        </p:grpSpPr>
        <p:sp>
          <p:nvSpPr>
            <p:cNvPr id="6" name="Rectangle 6"/>
            <p:cNvSpPr/>
            <p:nvPr/>
          </p:nvSpPr>
          <p:spPr>
            <a:xfrm>
              <a:off x="571500" y="1619250"/>
              <a:ext cx="5381625" cy="2095500"/>
            </a:xfrm>
            <a:prstGeom prst="roundRect">
              <a:avLst>
                <a:gd name="adj" fmla="val 3636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619250"/>
              <a:ext cx="5381625" cy="57150"/>
            </a:xfrm>
            <a:prstGeom prst="roundRect">
              <a:avLst>
                <a:gd name="adj" fmla="val 50000"/>
              </a:avLst>
            </a:prstGeom>
            <a:solidFill>
              <a:srgbClr val="00A884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3242" y="1873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课程内容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4766" y="226790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从三个真实案例（双减、量化踩踏、代际断层）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4766" y="2496502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切入分散化的局限，演示分散化曲线和协方差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4766" y="272510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矩阵，构建最小方差组合与有效前沿，最后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4766" y="2953702"/>
              <a:ext cx="20673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小组动手设计一个6股主题组合。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5147" y="3323749"/>
              <a:ext cx="1896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A884"/>
                  </a:solidFill>
                  <a:latin typeface="Inter"/>
                  <a:ea typeface="Microsoft YaHei"/>
                  <a:cs typeface="Inter"/>
                </a:rPr>
                <a:t>案例驱动 · 现场验证 · 动手实践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38875" y="1619250"/>
              <a:ext cx="5381625" cy="2095500"/>
            </a:xfrm>
            <a:prstGeom prst="roundRect">
              <a:avLst>
                <a:gd name="adj" fmla="val 3636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38875" y="1619250"/>
              <a:ext cx="5381625" cy="57150"/>
            </a:xfrm>
            <a:prstGeom prst="roundRect">
              <a:avLst>
                <a:gd name="adj" fmla="val 50000"/>
              </a:avLst>
            </a:prstGeom>
            <a:solidFill>
              <a:srgbClr val="1C7ED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60617" y="1873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教学目标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2141" y="2267902"/>
              <a:ext cx="26317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理解分散化为什么有边际递减，以及A股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2141" y="24965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大致在多少只股票后趋平。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2141" y="280130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能读懂协方差矩阵和有效前沿图，判断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2141" y="30299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一个组合权重是否合理。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2141" y="3334702"/>
              <a:ext cx="25480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能用自然语言向Agent提出可执行的组合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2141" y="35633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优化需求，并核查其输出。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71500" y="4000500"/>
              <a:ext cx="5381625" cy="2190750"/>
            </a:xfrm>
            <a:prstGeom prst="roundRect">
              <a:avLst>
                <a:gd name="adj" fmla="val 3478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71500" y="4000500"/>
              <a:ext cx="5381625" cy="57150"/>
            </a:xfrm>
            <a:prstGeom prst="roundRect">
              <a:avLst>
                <a:gd name="adj" fmla="val 50000"/>
              </a:avLst>
            </a:prstGeom>
            <a:solidFill>
              <a:srgbClr val="2F9E4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3242" y="4254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教学重点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4766" y="4649152"/>
              <a:ext cx="12676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9E44"/>
                  </a:solidFill>
                  <a:latin typeface="Inter"/>
                  <a:ea typeface="Microsoft YaHei"/>
                  <a:cs typeface="Inter"/>
                </a:rPr>
                <a:t>① 分散化的边际递减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5147" y="4885849"/>
              <a:ext cx="35719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分散化的核心在于降低资产间相关性，而非单纯增加持股数量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4766" y="5182552"/>
              <a:ext cx="12676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9E44"/>
                  </a:solidFill>
                  <a:latin typeface="Inter"/>
                  <a:ea typeface="Microsoft YaHei"/>
                  <a:cs typeface="Inter"/>
                </a:rPr>
                <a:t>② 协方差矩阵的意义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5147" y="541924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组合风险由协方差结构主导，而非持股数量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4766" y="5715952"/>
              <a:ext cx="14089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9E44"/>
                  </a:solidFill>
                  <a:latin typeface="Inter"/>
                  <a:ea typeface="Microsoft YaHei"/>
                  <a:cs typeface="Inter"/>
                </a:rPr>
                <a:t>③ 有效前沿与切点组合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5147" y="5952649"/>
              <a:ext cx="44217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有效前沿上的组合均为有效组合，CAL与前沿的切点实现夏普比率最大化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38875" y="4000500"/>
              <a:ext cx="5381625" cy="2190750"/>
            </a:xfrm>
            <a:prstGeom prst="roundRect">
              <a:avLst>
                <a:gd name="adj" fmla="val 3478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38875" y="4000500"/>
              <a:ext cx="5381625" cy="57150"/>
            </a:xfrm>
            <a:prstGeom prst="roundRect">
              <a:avLst>
                <a:gd name="adj" fmla="val 50000"/>
              </a:avLst>
            </a:prstGeom>
            <a:solidFill>
              <a:srgbClr val="E0313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60617" y="4254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教学难点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2141" y="4649152"/>
              <a:ext cx="10068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03131"/>
                  </a:solidFill>
                  <a:latin typeface="Inter"/>
                  <a:ea typeface="Microsoft YaHei"/>
                  <a:cs typeface="Inter"/>
                </a:rPr>
                <a:t>① "分散"的幻觉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62522" y="4885849"/>
              <a:ext cx="39677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集中持有同一行业股票无法实现有效分散，行业内资产涨跌高度同步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62141" y="5182552"/>
              <a:ext cx="14089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03131"/>
                  </a:solidFill>
                  <a:latin typeface="Inter"/>
                  <a:ea typeface="Microsoft YaHei"/>
                  <a:cs typeface="Inter"/>
                </a:rPr>
                <a:t>② 切点组合敢不敢全仓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62522" y="5419249"/>
              <a:ext cx="42315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理论最优组合的权重配置通常高度集中，与投资者实际持有能力存在差距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62141" y="5715952"/>
              <a:ext cx="11228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03131"/>
                  </a:solidFill>
                  <a:latin typeface="Inter"/>
                  <a:ea typeface="Microsoft YaHei"/>
                  <a:cs typeface="Inter"/>
                </a:rPr>
                <a:t>③ 向Agent提需求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62522" y="5952649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将投资目标转化为可执行的组合优化需求并验证输出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566738" y="6379845"/>
            <a:ext cx="204497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ED4DA"/>
                </a:solidFill>
                <a:latin typeface="Inter"/>
                <a:ea typeface="Microsoft YaHei"/>
                <a:cs typeface="Inter"/>
              </a:rPr>
              <a:t>第7章·第1课时 · 资产组合理论的应用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33450" y="1400175"/>
            <a:ext cx="2137162" cy="259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0" b="1" dirty="0">
                <a:solidFill>
                  <a:srgbClr val="F1F3F5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47166" y="3506152"/>
            <a:ext cx="12637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225" dirty="0">
                <a:solidFill>
                  <a:srgbClr val="00A884"/>
                </a:solidFill>
                <a:latin typeface="Inter"/>
                <a:ea typeface="Inter"/>
                <a:cs typeface="Inter"/>
              </a:rPr>
              <a:t>SECTION ONE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5736" y="3930015"/>
            <a:ext cx="625297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A1A2E"/>
                </a:solidFill>
                <a:latin typeface="Inter"/>
                <a:ea typeface="Microsoft YaHei"/>
                <a:cs typeface="Inter"/>
              </a:rPr>
              <a:t>案例块：分散化的三个真实教训</a:t>
            </a:r>
          </a:p>
        </p:txBody>
      </p:sp>
      <p:sp>
        <p:nvSpPr>
          <p:cNvPr id="6" name="Line 6"/>
          <p:cNvSpPr/>
          <p:nvPr/>
        </p:nvSpPr>
        <p:spPr>
          <a:xfrm>
            <a:off x="952500" y="46672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00A884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44880" y="4981575"/>
            <a:ext cx="26403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95057"/>
                </a:solidFill>
                <a:latin typeface="Inter"/>
                <a:ea typeface="Microsoft YaHei"/>
                <a:cs typeface="Inter"/>
              </a:rPr>
              <a:t>三个案例，三个待验证的问题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7738" y="6379845"/>
            <a:ext cx="201469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ED4DA"/>
                </a:solidFill>
                <a:latin typeface="Inter"/>
                <a:ea typeface="Microsoft YaHei"/>
                <a:cs typeface="Inter"/>
              </a:rPr>
              <a:t>第7章 · 第1课时 资产组合理论的应用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547" y="466249"/>
            <a:ext cx="15893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spc="150" dirty="0">
                <a:solidFill>
                  <a:srgbClr val="00A884"/>
                </a:solidFill>
                <a:latin typeface="Inter"/>
                <a:ea typeface="Microsoft YaHei"/>
                <a:cs typeface="Inter"/>
              </a:rPr>
              <a:t>CASE 1 · 2021 双减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7784" y="737235"/>
            <a:ext cx="62628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Inter"/>
                <a:ea typeface="Microsoft YaHei"/>
                <a:cs typeface="Inter"/>
              </a:rPr>
              <a:t>集中持有10只教育股无法实现有效分散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3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00A884"/>
            </a:solidFill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428750"/>
            <a:ext cx="10582275" cy="4572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66738" y="6379845"/>
            <a:ext cx="22893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ED4DA"/>
                </a:solidFill>
                <a:latin typeface="Inter"/>
                <a:ea typeface="Microsoft YaHei"/>
                <a:cs typeface="Inter"/>
              </a:rPr>
              <a:t>Plan B实测 2026-09-07 · 第7章·第1课时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547" y="466249"/>
            <a:ext cx="15893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spc="150" dirty="0">
                <a:solidFill>
                  <a:srgbClr val="00A884"/>
                </a:solidFill>
                <a:latin typeface="Inter"/>
                <a:ea typeface="Microsoft YaHei"/>
                <a:cs typeface="Inter"/>
              </a:rPr>
              <a:t>CASE 1 · 2021 双减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7784" y="737235"/>
            <a:ext cx="62628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Inter"/>
                <a:ea typeface="Microsoft YaHei"/>
                <a:cs typeface="Inter"/>
              </a:rPr>
              <a:t>集中持有10只教育股无法实现有效分散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3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00A884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571500" y="1524000"/>
            <a:ext cx="11049000" cy="952500"/>
            <a:chOff x="571500" y="1524000"/>
            <a:chExt cx="11049000" cy="952500"/>
          </a:xfrm>
        </p:grpSpPr>
        <p:sp>
          <p:nvSpPr>
            <p:cNvPr id="6" name="Rectangle 6"/>
            <p:cNvSpPr/>
            <p:nvPr/>
          </p:nvSpPr>
          <p:spPr>
            <a:xfrm>
              <a:off x="571500" y="1524000"/>
              <a:ext cx="11049000" cy="952500"/>
            </a:xfrm>
            <a:prstGeom prst="roundRect">
              <a:avLst>
                <a:gd name="adj" fmla="val 8000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86384" y="1632585"/>
              <a:ext cx="9433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E03131"/>
                  </a:solidFill>
                  <a:latin typeface="Inter"/>
                  <a:ea typeface="Inter"/>
                  <a:cs typeface="Inter"/>
                </a:rPr>
                <a:t>-47%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5147" y="2123599"/>
              <a:ext cx="23318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723当晚新东方跌幅；峰值-谷底约-90%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238500" y="1714500"/>
              <a:ext cx="2476500" cy="571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382518" y="1803082"/>
              <a:ext cx="14394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A1A2E"/>
                  </a:solidFill>
                  <a:latin typeface="Inter"/>
                  <a:ea typeface="Inter"/>
                  <a:cs typeface="Inter"/>
                </a:rPr>
                <a:t>0.38 vs 0.08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86138" y="2101691"/>
              <a:ext cx="15439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政策后60日 vs 政策前60日相关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2667000"/>
            <a:ext cx="11049000" cy="762000"/>
            <a:chOff x="571500" y="2667000"/>
            <a:chExt cx="11049000" cy="762000"/>
          </a:xfrm>
        </p:grpSpPr>
        <p:sp>
          <p:nvSpPr>
            <p:cNvPr id="13" name="Rectangle 13"/>
            <p:cNvSpPr/>
            <p:nvPr/>
          </p:nvSpPr>
          <p:spPr>
            <a:xfrm>
              <a:off x="571500" y="2667000"/>
              <a:ext cx="11049000" cy="762000"/>
            </a:xfrm>
            <a:prstGeom prst="roundRect">
              <a:avLst>
                <a:gd name="adj" fmla="val 10000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0956" y="2834640"/>
              <a:ext cx="2091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E03131"/>
                  </a:solidFill>
                  <a:latin typeface="Inter"/>
                  <a:ea typeface="Inter"/>
                  <a:cs typeface="Inter"/>
                </a:rPr>
                <a:t>-20.8% ~ -53.5%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5147" y="3171349"/>
              <a:ext cx="36121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政策后累计跌幅（Plan B·港股口径）；全期回撤-59%~-96%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500" y="3619500"/>
            <a:ext cx="11049000" cy="981456"/>
            <a:chOff x="571500" y="3619500"/>
            <a:chExt cx="11049000" cy="981456"/>
          </a:xfrm>
        </p:grpSpPr>
        <p:sp>
          <p:nvSpPr>
            <p:cNvPr id="17" name="Rectangle 17"/>
            <p:cNvSpPr/>
            <p:nvPr/>
          </p:nvSpPr>
          <p:spPr>
            <a:xfrm>
              <a:off x="571500" y="3619500"/>
              <a:ext cx="11049000" cy="952500"/>
            </a:xfrm>
            <a:prstGeom prst="roundRect">
              <a:avLst>
                <a:gd name="adj" fmla="val 8000"/>
              </a:avLst>
            </a:prstGeom>
            <a:solidFill>
              <a:srgbClr val="00A884">
                <a:alpha val="8000"/>
              </a:srgbClr>
            </a:solidFill>
            <a:ln w="9525">
              <a:solidFill>
                <a:srgbClr val="00A884">
                  <a:alpha val="30000"/>
                </a:srgb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4766" y="38871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884"/>
                  </a:solidFill>
                  <a:latin typeface="Inter"/>
                  <a:ea typeface="Microsoft YaHei"/>
                  <a:cs typeface="Inter"/>
                </a:rPr>
                <a:t>核心结论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4004" y="4156710"/>
              <a:ext cx="23626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同一政策风险下行业内相关趋1：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4004" y="436626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分散化买的是协方差结构，不是股票只数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66738" y="6379845"/>
            <a:ext cx="22893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ED4DA"/>
                </a:solidFill>
                <a:latin typeface="Inter"/>
                <a:ea typeface="Microsoft YaHei"/>
                <a:cs typeface="Inter"/>
              </a:rPr>
              <a:t>Plan B实测 2026-09-07 · 第7章·第1课时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547" y="466249"/>
            <a:ext cx="22163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spc="150" dirty="0">
                <a:solidFill>
                  <a:srgbClr val="00A884"/>
                </a:solidFill>
                <a:latin typeface="Inter"/>
                <a:ea typeface="Microsoft YaHei"/>
                <a:cs typeface="Inter"/>
              </a:rPr>
              <a:t>CASE 2 · 2024-02 量化踩踏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7784" y="737235"/>
            <a:ext cx="620649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Inter"/>
                <a:ea typeface="Microsoft YaHei"/>
                <a:cs typeface="Inter"/>
              </a:rPr>
              <a:t>即使持有千只股票，危机中仍同步下跌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3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00A884"/>
            </a:solidFill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1428750"/>
            <a:ext cx="10382250" cy="4572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66738" y="6379845"/>
            <a:ext cx="22893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ED4DA"/>
                </a:solidFill>
                <a:latin typeface="Inter"/>
                <a:ea typeface="Microsoft YaHei"/>
                <a:cs typeface="Inter"/>
              </a:rPr>
              <a:t>Plan B实测 2026-09-07 · 第7章·第1课时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547" y="466249"/>
            <a:ext cx="22163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spc="150" dirty="0">
                <a:solidFill>
                  <a:srgbClr val="00A884"/>
                </a:solidFill>
                <a:latin typeface="Inter"/>
                <a:ea typeface="Microsoft YaHei"/>
                <a:cs typeface="Inter"/>
              </a:rPr>
              <a:t>CASE 2 · 2024-02 量化踩踏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7784" y="737235"/>
            <a:ext cx="620649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Inter"/>
                <a:ea typeface="Microsoft YaHei"/>
                <a:cs typeface="Inter"/>
              </a:rPr>
              <a:t>即使持有千只股票，危机中仍同步下跌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3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00A884"/>
            </a:solidFill>
          </a:ln>
        </p:spPr>
      </p:sp>
      <p:grpSp>
        <p:nvGrpSpPr>
          <p:cNvPr id="15" name="Group 15"/>
          <p:cNvGrpSpPr/>
          <p:nvPr/>
        </p:nvGrpSpPr>
        <p:grpSpPr>
          <a:xfrm>
            <a:off x="571500" y="1524000"/>
            <a:ext cx="5334000" cy="1047750"/>
            <a:chOff x="571500" y="1524000"/>
            <a:chExt cx="5334000" cy="1047750"/>
          </a:xfrm>
        </p:grpSpPr>
        <p:sp>
          <p:nvSpPr>
            <p:cNvPr id="6" name="Rectangle 6"/>
            <p:cNvSpPr/>
            <p:nvPr/>
          </p:nvSpPr>
          <p:spPr>
            <a:xfrm>
              <a:off x="571500" y="1524000"/>
              <a:ext cx="1666875" cy="1047750"/>
            </a:xfrm>
            <a:prstGeom prst="roundRect">
              <a:avLst>
                <a:gd name="adj" fmla="val 7273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12470" y="1738312"/>
              <a:ext cx="113599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E03131"/>
                  </a:solidFill>
                  <a:latin typeface="Inter"/>
                  <a:ea typeface="Inter"/>
                  <a:cs typeface="Inter"/>
                </a:rPr>
                <a:t>-27.6%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19138" y="2169795"/>
              <a:ext cx="8818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中证2000危机窗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381250" y="1524000"/>
              <a:ext cx="1666875" cy="1047750"/>
            </a:xfrm>
            <a:prstGeom prst="roundRect">
              <a:avLst>
                <a:gd name="adj" fmla="val 7273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522220" y="1738312"/>
              <a:ext cx="96107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E03131"/>
                  </a:solidFill>
                  <a:latin typeface="Inter"/>
                  <a:ea typeface="Inter"/>
                  <a:cs typeface="Inter"/>
                </a:rPr>
                <a:t>-0.6%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28888" y="2169795"/>
              <a:ext cx="6940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沪深300同窗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191000" y="1524000"/>
              <a:ext cx="1714500" cy="1047750"/>
            </a:xfrm>
            <a:prstGeom prst="roundRect">
              <a:avLst>
                <a:gd name="adj" fmla="val 7273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33494" y="1770698"/>
              <a:ext cx="138420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A1A2E"/>
                  </a:solidFill>
                  <a:latin typeface="Inter"/>
                  <a:ea typeface="Inter"/>
                  <a:cs typeface="Inter"/>
                </a:rPr>
                <a:t>0.23→0.56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8638" y="2169795"/>
              <a:ext cx="13543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30只微盘股平均两两相关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2762250"/>
            <a:ext cx="11049000" cy="1143000"/>
            <a:chOff x="571500" y="2762250"/>
            <a:chExt cx="11049000" cy="1143000"/>
          </a:xfrm>
        </p:grpSpPr>
        <p:sp>
          <p:nvSpPr>
            <p:cNvPr id="16" name="Rectangle 16"/>
            <p:cNvSpPr/>
            <p:nvPr/>
          </p:nvSpPr>
          <p:spPr>
            <a:xfrm>
              <a:off x="571500" y="2762250"/>
              <a:ext cx="11049000" cy="1143000"/>
            </a:xfrm>
            <a:prstGeom prst="roundRect">
              <a:avLst>
                <a:gd name="adj" fmla="val 6667"/>
              </a:avLst>
            </a:prstGeom>
            <a:solidFill>
              <a:srgbClr val="00A884">
                <a:alpha val="8000"/>
              </a:srgbClr>
            </a:solidFill>
            <a:ln w="9525">
              <a:solidFill>
                <a:srgbClr val="00A884">
                  <a:alpha val="3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94766" y="30299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884"/>
                  </a:solidFill>
                  <a:latin typeface="Inter"/>
                  <a:ea typeface="Microsoft YaHei"/>
                  <a:cs typeface="Inter"/>
                </a:rPr>
                <a:t>核心结论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4004" y="331851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持股数量分散无法抵御因子层面的集中度风险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4766" y="3582352"/>
              <a:ext cx="4979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2026年7月幻方旗下产品再次出现单月-20%以上回撤，表明拥挤交易具有复发性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566738" y="6379845"/>
            <a:ext cx="22893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ED4DA"/>
                </a:solidFill>
                <a:latin typeface="Inter"/>
                <a:ea typeface="Microsoft YaHei"/>
                <a:cs typeface="Inter"/>
              </a:rPr>
              <a:t>Plan B实测 2026-09-07 · 第7章·第1课时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547" y="466249"/>
            <a:ext cx="191084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spc="150" dirty="0">
                <a:solidFill>
                  <a:srgbClr val="00A884"/>
                </a:solidFill>
                <a:latin typeface="Inter"/>
                <a:ea typeface="Microsoft YaHei"/>
                <a:cs typeface="Inter"/>
              </a:rPr>
              <a:t>CASE 3 · 2025 代际断层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7784" y="737235"/>
            <a:ext cx="434822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Inter"/>
                <a:ea typeface="Microsoft YaHei"/>
                <a:cs typeface="Inter"/>
              </a:rPr>
              <a:t>50/50配置能否降低波动率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3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00A884"/>
            </a:solidFill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81" y="1428750"/>
            <a:ext cx="10312239" cy="4562475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66738" y="6379845"/>
            <a:ext cx="22893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ED4DA"/>
                </a:solidFill>
                <a:latin typeface="Inter"/>
                <a:ea typeface="Microsoft YaHei"/>
                <a:cs typeface="Inter"/>
              </a:rPr>
              <a:t>Plan B实测 2026-09-07 · 第7章·第1课时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547" y="466249"/>
            <a:ext cx="191084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spc="150" dirty="0">
                <a:solidFill>
                  <a:srgbClr val="00A884"/>
                </a:solidFill>
                <a:latin typeface="Inter"/>
                <a:ea typeface="Microsoft YaHei"/>
                <a:cs typeface="Inter"/>
              </a:rPr>
              <a:t>CASE 3 · 2025 代际断层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7784" y="737235"/>
            <a:ext cx="434822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Inter"/>
                <a:ea typeface="Microsoft YaHei"/>
                <a:cs typeface="Inter"/>
              </a:rPr>
              <a:t>50/50配置能否降低波动率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3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00A884"/>
            </a:solidFill>
          </a:ln>
        </p:spPr>
      </p:sp>
      <p:grpSp>
        <p:nvGrpSpPr>
          <p:cNvPr id="11" name="Group 11"/>
          <p:cNvGrpSpPr/>
          <p:nvPr/>
        </p:nvGrpSpPr>
        <p:grpSpPr>
          <a:xfrm>
            <a:off x="571500" y="1524000"/>
            <a:ext cx="11049000" cy="952500"/>
            <a:chOff x="571500" y="1524000"/>
            <a:chExt cx="11049000" cy="952500"/>
          </a:xfrm>
        </p:grpSpPr>
        <p:sp>
          <p:nvSpPr>
            <p:cNvPr id="6" name="Rectangle 6"/>
            <p:cNvSpPr/>
            <p:nvPr/>
          </p:nvSpPr>
          <p:spPr>
            <a:xfrm>
              <a:off x="571500" y="1524000"/>
              <a:ext cx="11049000" cy="952500"/>
            </a:xfrm>
            <a:prstGeom prst="roundRect">
              <a:avLst>
                <a:gd name="adj" fmla="val 8000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90194" y="1732598"/>
              <a:ext cx="11361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F9E44"/>
                  </a:solidFill>
                  <a:latin typeface="Inter"/>
                  <a:ea typeface="Inter"/>
                  <a:cs typeface="Inter"/>
                </a:rPr>
                <a:t>+110.2%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5147" y="2123599"/>
              <a:ext cx="9597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寒武纪（2025）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19094" y="1732598"/>
              <a:ext cx="83293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E03131"/>
                  </a:solidFill>
                  <a:latin typeface="Inter"/>
                  <a:ea typeface="Inter"/>
                  <a:cs typeface="Inter"/>
                </a:rPr>
                <a:t>-3.9%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424047" y="2123599"/>
              <a:ext cx="10917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长江电力（2025）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2667000"/>
            <a:ext cx="5334000" cy="952500"/>
            <a:chOff x="571500" y="2667000"/>
            <a:chExt cx="5334000" cy="952500"/>
          </a:xfrm>
        </p:grpSpPr>
        <p:sp>
          <p:nvSpPr>
            <p:cNvPr id="12" name="Rectangle 12"/>
            <p:cNvSpPr/>
            <p:nvPr/>
          </p:nvSpPr>
          <p:spPr>
            <a:xfrm>
              <a:off x="571500" y="2667000"/>
              <a:ext cx="2571750" cy="952500"/>
            </a:xfrm>
            <a:prstGeom prst="roundRect">
              <a:avLst>
                <a:gd name="adj" fmla="val 8000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0570" y="2843212"/>
              <a:ext cx="96107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A884"/>
                  </a:solidFill>
                  <a:latin typeface="Inter"/>
                  <a:ea typeface="Inter"/>
                  <a:cs typeface="Inter"/>
                </a:rPr>
                <a:t>35.9%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238" y="3274695"/>
              <a:ext cx="18511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50/50波动（单持71.7%/12.6%）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333750" y="2667000"/>
              <a:ext cx="2571750" cy="952500"/>
            </a:xfrm>
            <a:prstGeom prst="roundRect">
              <a:avLst>
                <a:gd name="adj" fmla="val 8000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512820" y="2843212"/>
              <a:ext cx="113599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E03131"/>
                  </a:solidFill>
                  <a:latin typeface="Inter"/>
                  <a:ea typeface="Inter"/>
                  <a:cs typeface="Inter"/>
                </a:rPr>
                <a:t>-14.4%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19488" y="3274695"/>
              <a:ext cx="16996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50/50回撤 vs 全寒武纪-34.3%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3810000"/>
            <a:ext cx="11049000" cy="952500"/>
            <a:chOff x="571500" y="3810000"/>
            <a:chExt cx="11049000" cy="952500"/>
          </a:xfrm>
        </p:grpSpPr>
        <p:sp>
          <p:nvSpPr>
            <p:cNvPr id="19" name="Rectangle 19"/>
            <p:cNvSpPr/>
            <p:nvPr/>
          </p:nvSpPr>
          <p:spPr>
            <a:xfrm>
              <a:off x="571500" y="3810000"/>
              <a:ext cx="11049000" cy="952500"/>
            </a:xfrm>
            <a:prstGeom prst="roundRect">
              <a:avLst>
                <a:gd name="adj" fmla="val 8000"/>
              </a:avLst>
            </a:prstGeom>
            <a:solidFill>
              <a:srgbClr val="00A884">
                <a:alpha val="8000"/>
              </a:srgbClr>
            </a:solidFill>
            <a:ln w="9525">
              <a:solidFill>
                <a:srgbClr val="00A884">
                  <a:alpha val="30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4766" y="40776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884"/>
                  </a:solidFill>
                  <a:latin typeface="Inter"/>
                  <a:ea typeface="Microsoft YaHei"/>
                  <a:cs typeface="Inter"/>
                </a:rPr>
                <a:t>核心结论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4004" y="4347210"/>
              <a:ext cx="582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跨低相关资产配置可有效降低组合波动率，但组合收益仅为各资产收益的加权平均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566738" y="6379845"/>
            <a:ext cx="22893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ED4DA"/>
                </a:solidFill>
                <a:latin typeface="Inter"/>
                <a:ea typeface="Microsoft YaHei"/>
                <a:cs typeface="Inter"/>
              </a:rPr>
              <a:t>Plan B实测 2026-09-07 · 第7章·第1课时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33450" y="1400175"/>
            <a:ext cx="2137162" cy="259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0" b="1" dirty="0">
                <a:solidFill>
                  <a:srgbClr val="F1F3F5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47166" y="3506152"/>
            <a:ext cx="129514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225" dirty="0">
                <a:solidFill>
                  <a:srgbClr val="00A884"/>
                </a:solidFill>
                <a:latin typeface="Inter"/>
                <a:ea typeface="Inter"/>
                <a:cs typeface="Inter"/>
              </a:rPr>
              <a:t>SECTION TWO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5736" y="3930015"/>
            <a:ext cx="625297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A1A2E"/>
                </a:solidFill>
                <a:latin typeface="Inter"/>
                <a:ea typeface="Microsoft YaHei"/>
                <a:cs typeface="Inter"/>
              </a:rPr>
              <a:t>演示与概念：从曲线到有效前沿</a:t>
            </a:r>
          </a:p>
        </p:txBody>
      </p:sp>
      <p:sp>
        <p:nvSpPr>
          <p:cNvPr id="6" name="Line 6"/>
          <p:cNvSpPr/>
          <p:nvPr/>
        </p:nvSpPr>
        <p:spPr>
          <a:xfrm>
            <a:off x="952500" y="46672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00A884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44880" y="4981575"/>
            <a:ext cx="58864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95057"/>
                </a:solidFill>
                <a:latin typeface="Inter"/>
                <a:ea typeface="Microsoft YaHei"/>
                <a:cs typeface="Inter"/>
              </a:rPr>
              <a:t>Agent负责高效计算，投资者需确保问题定义准确与结果核查严格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7738" y="6379845"/>
            <a:ext cx="201469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ED4DA"/>
                </a:solidFill>
                <a:latin typeface="Inter"/>
                <a:ea typeface="Microsoft YaHei"/>
                <a:cs typeface="Inter"/>
              </a:rPr>
              <a:t>第7章 · 第1课时 资产组合理论的应用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547" y="466249"/>
            <a:ext cx="142892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150" dirty="0">
                <a:solidFill>
                  <a:srgbClr val="00A884"/>
                </a:solidFill>
                <a:latin typeface="Inter"/>
                <a:ea typeface="Inter"/>
                <a:cs typeface="Inter"/>
              </a:rPr>
              <a:t>METHOD · MPT-1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7784" y="737235"/>
            <a:ext cx="475259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Inter"/>
                <a:ea typeface="Microsoft YaHei"/>
                <a:cs typeface="Inter"/>
              </a:rPr>
              <a:t>分散化曲线：多少只股票才够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3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00A884"/>
            </a:solidFill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1428750"/>
            <a:ext cx="10296525" cy="4572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66738" y="6379845"/>
            <a:ext cx="22893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ED4DA"/>
                </a:solidFill>
                <a:latin typeface="Inter"/>
                <a:ea typeface="Microsoft YaHei"/>
                <a:cs typeface="Inter"/>
              </a:rPr>
              <a:t>Plan B实测 2026-09-07 · 第7章·第1课时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547" y="466249"/>
            <a:ext cx="142892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150" dirty="0">
                <a:solidFill>
                  <a:srgbClr val="00A884"/>
                </a:solidFill>
                <a:latin typeface="Inter"/>
                <a:ea typeface="Inter"/>
                <a:cs typeface="Inter"/>
              </a:rPr>
              <a:t>METHOD · MPT-1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7784" y="737235"/>
            <a:ext cx="475259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Inter"/>
                <a:ea typeface="Microsoft YaHei"/>
                <a:cs typeface="Inter"/>
              </a:rPr>
              <a:t>分散化曲线：多少只股票才够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3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00A884"/>
            </a:solidFill>
          </a:ln>
        </p:spPr>
      </p:sp>
      <p:grpSp>
        <p:nvGrpSpPr>
          <p:cNvPr id="15" name="Group 15"/>
          <p:cNvGrpSpPr/>
          <p:nvPr/>
        </p:nvGrpSpPr>
        <p:grpSpPr>
          <a:xfrm>
            <a:off x="571500" y="1524000"/>
            <a:ext cx="5334000" cy="1047750"/>
            <a:chOff x="571500" y="1524000"/>
            <a:chExt cx="5334000" cy="1047750"/>
          </a:xfrm>
        </p:grpSpPr>
        <p:sp>
          <p:nvSpPr>
            <p:cNvPr id="6" name="Rectangle 6"/>
            <p:cNvSpPr/>
            <p:nvPr/>
          </p:nvSpPr>
          <p:spPr>
            <a:xfrm>
              <a:off x="571500" y="1524000"/>
              <a:ext cx="1666875" cy="1047750"/>
            </a:xfrm>
            <a:prstGeom prst="roundRect">
              <a:avLst>
                <a:gd name="adj" fmla="val 7273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12470" y="1738312"/>
              <a:ext cx="96107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1A1A2E"/>
                  </a:solidFill>
                  <a:latin typeface="Inter"/>
                  <a:ea typeface="Inter"/>
                  <a:cs typeface="Inter"/>
                </a:rPr>
                <a:t>37.8%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19138" y="216979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单股平均年化波动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381250" y="1524000"/>
              <a:ext cx="1666875" cy="1047750"/>
            </a:xfrm>
            <a:prstGeom prst="roundRect">
              <a:avLst>
                <a:gd name="adj" fmla="val 7273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522220" y="1738312"/>
              <a:ext cx="96107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A884"/>
                  </a:solidFill>
                  <a:latin typeface="Inter"/>
                  <a:ea typeface="Inter"/>
                  <a:cs typeface="Inter"/>
                </a:rPr>
                <a:t>18.1%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28888" y="2169795"/>
              <a:ext cx="8032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N=30等权平台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191000" y="1524000"/>
              <a:ext cx="1714500" cy="1047750"/>
            </a:xfrm>
            <a:prstGeom prst="roundRect">
              <a:avLst>
                <a:gd name="adj" fmla="val 7273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33494" y="1770698"/>
              <a:ext cx="11410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A1A2E"/>
                  </a:solidFill>
                  <a:latin typeface="Inter"/>
                  <a:ea typeface="Inter"/>
                  <a:cs typeface="Inter"/>
                </a:rPr>
                <a:t>N≈15-20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8638" y="21697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趋平拐点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2762250"/>
            <a:ext cx="11049000" cy="1143000"/>
            <a:chOff x="571500" y="2762250"/>
            <a:chExt cx="11049000" cy="1143000"/>
          </a:xfrm>
        </p:grpSpPr>
        <p:sp>
          <p:nvSpPr>
            <p:cNvPr id="16" name="Rectangle 16"/>
            <p:cNvSpPr/>
            <p:nvPr/>
          </p:nvSpPr>
          <p:spPr>
            <a:xfrm>
              <a:off x="571500" y="2762250"/>
              <a:ext cx="11049000" cy="1143000"/>
            </a:xfrm>
            <a:prstGeom prst="roundRect">
              <a:avLst>
                <a:gd name="adj" fmla="val 6667"/>
              </a:avLst>
            </a:prstGeom>
            <a:solidFill>
              <a:srgbClr val="00A884">
                <a:alpha val="8000"/>
              </a:srgbClr>
            </a:solidFill>
            <a:ln w="9525">
              <a:solidFill>
                <a:srgbClr val="00A884">
                  <a:alpha val="3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94766" y="30299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884"/>
                  </a:solidFill>
                  <a:latin typeface="Inter"/>
                  <a:ea typeface="Microsoft YaHei"/>
                  <a:cs typeface="Inter"/>
                </a:rPr>
                <a:t>核心结论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4004" y="33185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分散化的边际递减效应得到实证支持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4766" y="3582352"/>
              <a:ext cx="57308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A股市场中，持股数量达到15–20只后，进一步增加股票对分散化效果的边际贡献趋于零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566738" y="6379845"/>
            <a:ext cx="22893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ED4DA"/>
                </a:solidFill>
                <a:latin typeface="Inter"/>
                <a:ea typeface="Microsoft YaHei"/>
                <a:cs typeface="Inter"/>
              </a:rPr>
              <a:t>Plan B实测 2026-09-07 · 第7章·第1课时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547" y="466249"/>
            <a:ext cx="15307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150" dirty="0">
                <a:solidFill>
                  <a:srgbClr val="00A884"/>
                </a:solidFill>
                <a:latin typeface="Inter"/>
                <a:ea typeface="Inter"/>
                <a:cs typeface="Inter"/>
              </a:rPr>
              <a:t>METHOD · MPT-1B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7784" y="737235"/>
            <a:ext cx="511606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Inter"/>
                <a:ea typeface="Microsoft YaHei"/>
                <a:cs typeface="Inter"/>
              </a:rPr>
              <a:t>协方差矩阵：分散化的真正来源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3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00A884"/>
            </a:solidFill>
          </a:ln>
        </p:spPr>
      </p:sp>
      <p:grpSp>
        <p:nvGrpSpPr>
          <p:cNvPr id="62" name="Group 62"/>
          <p:cNvGrpSpPr/>
          <p:nvPr/>
        </p:nvGrpSpPr>
        <p:grpSpPr>
          <a:xfrm>
            <a:off x="565404" y="1489710"/>
            <a:ext cx="1950720" cy="4405979"/>
            <a:chOff x="565404" y="1489710"/>
            <a:chExt cx="1950720" cy="4405979"/>
          </a:xfrm>
        </p:grpSpPr>
        <p:sp>
          <p:nvSpPr>
            <p:cNvPr id="6" name="TextBox 6"/>
            <p:cNvSpPr txBox="1"/>
            <p:nvPr/>
          </p:nvSpPr>
          <p:spPr>
            <a:xfrm>
              <a:off x="565404" y="14897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两两相关系数矩阵（示意）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6738" y="1750695"/>
              <a:ext cx="15482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新能源链内部 vs 跨行业配置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6738" y="2093595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同行业（新能源链）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566738" y="2368391"/>
              <a:ext cx="1909762" cy="1155859"/>
              <a:chOff x="566738" y="2368391"/>
              <a:chExt cx="1909762" cy="1155859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932599" y="2368391"/>
                <a:ext cx="23030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宁德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448905" y="2368391"/>
                <a:ext cx="340690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比亚迪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075599" y="2368391"/>
                <a:ext cx="23030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阳光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66738" y="2616041"/>
                <a:ext cx="23030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宁德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857250" y="2571750"/>
                <a:ext cx="476250" cy="266700"/>
              </a:xfrm>
              <a:prstGeom prst="roundRect">
                <a:avLst>
                  <a:gd name="adj" fmla="val 7143"/>
                </a:avLst>
              </a:prstGeom>
              <a:solidFill>
                <a:srgbClr val="E03131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990657" y="2655570"/>
                <a:ext cx="20943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1.0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1428750" y="2571750"/>
                <a:ext cx="476250" cy="266700"/>
              </a:xfrm>
              <a:prstGeom prst="roundRect">
                <a:avLst>
                  <a:gd name="adj" fmla="val 7143"/>
                </a:avLst>
              </a:prstGeom>
              <a:solidFill>
                <a:srgbClr val="E03131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528839" y="2655570"/>
                <a:ext cx="2760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0.58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2000250" y="2571750"/>
                <a:ext cx="476250" cy="266700"/>
              </a:xfrm>
              <a:prstGeom prst="roundRect">
                <a:avLst>
                  <a:gd name="adj" fmla="val 7143"/>
                </a:avLst>
              </a:prstGeom>
              <a:solidFill>
                <a:srgbClr val="E03131">
                  <a:alpha val="45000"/>
                </a:srgbClr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2100339" y="2655570"/>
                <a:ext cx="2760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0.51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66738" y="2958941"/>
                <a:ext cx="340690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比亚迪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857250" y="2914650"/>
                <a:ext cx="476250" cy="266700"/>
              </a:xfrm>
              <a:prstGeom prst="roundRect">
                <a:avLst>
                  <a:gd name="adj" fmla="val 7143"/>
                </a:avLst>
              </a:prstGeom>
              <a:solidFill>
                <a:srgbClr val="E03131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57339" y="2998470"/>
                <a:ext cx="2760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0.58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1428750" y="2914650"/>
                <a:ext cx="476250" cy="266700"/>
              </a:xfrm>
              <a:prstGeom prst="roundRect">
                <a:avLst>
                  <a:gd name="adj" fmla="val 7143"/>
                </a:avLst>
              </a:prstGeom>
              <a:solidFill>
                <a:srgbClr val="E03131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562157" y="2998470"/>
                <a:ext cx="20943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1.0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2000250" y="2914650"/>
                <a:ext cx="476250" cy="266700"/>
              </a:xfrm>
              <a:prstGeom prst="roundRect">
                <a:avLst>
                  <a:gd name="adj" fmla="val 7143"/>
                </a:avLst>
              </a:prstGeom>
              <a:solidFill>
                <a:srgbClr val="E03131">
                  <a:alpha val="55000"/>
                </a:srgbClr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100339" y="2998470"/>
                <a:ext cx="2760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0.49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66738" y="3301841"/>
                <a:ext cx="23030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阳光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857250" y="3257550"/>
                <a:ext cx="476250" cy="266700"/>
              </a:xfrm>
              <a:prstGeom prst="roundRect">
                <a:avLst>
                  <a:gd name="adj" fmla="val 7143"/>
                </a:avLst>
              </a:prstGeom>
              <a:solidFill>
                <a:srgbClr val="E03131">
                  <a:alpha val="45000"/>
                </a:srgbClr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957339" y="3341370"/>
                <a:ext cx="2760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0.51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1428750" y="3257550"/>
                <a:ext cx="476250" cy="266700"/>
              </a:xfrm>
              <a:prstGeom prst="roundRect">
                <a:avLst>
                  <a:gd name="adj" fmla="val 7143"/>
                </a:avLst>
              </a:prstGeom>
              <a:solidFill>
                <a:srgbClr val="E03131">
                  <a:alpha val="55000"/>
                </a:srgbClr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528839" y="3341370"/>
                <a:ext cx="2760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0.49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2000250" y="3257550"/>
                <a:ext cx="476250" cy="266700"/>
              </a:xfrm>
              <a:prstGeom prst="roundRect">
                <a:avLst>
                  <a:gd name="adj" fmla="val 7143"/>
                </a:avLst>
              </a:prstGeom>
              <a:solidFill>
                <a:srgbClr val="E03131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2133657" y="3341370"/>
                <a:ext cx="20943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1.0</a:t>
                </a:r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566547" y="3704749"/>
              <a:ext cx="17028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E03131"/>
                  </a:solidFill>
                  <a:latin typeface="Inter"/>
                  <a:ea typeface="Microsoft YaHei"/>
                  <a:cs typeface="Inter"/>
                </a:rPr>
                <a:t>平均相关 0.51 → 分散效果差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66738" y="4093845"/>
              <a:ext cx="16033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跨行业（新能源+消费+公用）</a:t>
              </a:r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566738" y="4368641"/>
              <a:ext cx="1909762" cy="1155859"/>
              <a:chOff x="566738" y="4368641"/>
              <a:chExt cx="1909762" cy="1155859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932599" y="4368641"/>
                <a:ext cx="23030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宁德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504099" y="4368641"/>
                <a:ext cx="23030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茅台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2075599" y="4368641"/>
                <a:ext cx="23030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长电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66738" y="4616291"/>
                <a:ext cx="23030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宁德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857250" y="4572000"/>
                <a:ext cx="476250" cy="266700"/>
              </a:xfrm>
              <a:prstGeom prst="roundRect">
                <a:avLst>
                  <a:gd name="adj" fmla="val 7143"/>
                </a:avLst>
              </a:prstGeom>
              <a:solidFill>
                <a:srgbClr val="00A884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990657" y="4655820"/>
                <a:ext cx="20943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1.0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1428750" y="4572000"/>
                <a:ext cx="476250" cy="266700"/>
              </a:xfrm>
              <a:prstGeom prst="roundRect">
                <a:avLst>
                  <a:gd name="adj" fmla="val 7143"/>
                </a:avLst>
              </a:prstGeom>
              <a:solidFill>
                <a:srgbClr val="00A88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528839" y="4655820"/>
                <a:ext cx="2760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1A1A2E"/>
                    </a:solidFill>
                    <a:latin typeface="Inter"/>
                    <a:ea typeface="Inter"/>
                    <a:cs typeface="Inter"/>
                  </a:rPr>
                  <a:t>0.18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2000250" y="4572000"/>
                <a:ext cx="476250" cy="266700"/>
              </a:xfrm>
              <a:prstGeom prst="roundRect">
                <a:avLst>
                  <a:gd name="adj" fmla="val 7143"/>
                </a:avLst>
              </a:prstGeom>
              <a:solidFill>
                <a:srgbClr val="00A884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2100339" y="4655820"/>
                <a:ext cx="2760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1A1A2E"/>
                    </a:solidFill>
                    <a:latin typeface="Inter"/>
                    <a:ea typeface="Inter"/>
                    <a:cs typeface="Inter"/>
                  </a:rPr>
                  <a:t>0.12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566738" y="4959191"/>
                <a:ext cx="23030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茅台</a:t>
                </a: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857250" y="4914900"/>
                <a:ext cx="476250" cy="266700"/>
              </a:xfrm>
              <a:prstGeom prst="roundRect">
                <a:avLst>
                  <a:gd name="adj" fmla="val 7143"/>
                </a:avLst>
              </a:prstGeom>
              <a:solidFill>
                <a:srgbClr val="00A88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957339" y="4998720"/>
                <a:ext cx="2760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1A1A2E"/>
                    </a:solidFill>
                    <a:latin typeface="Inter"/>
                    <a:ea typeface="Inter"/>
                    <a:cs typeface="Inter"/>
                  </a:rPr>
                  <a:t>0.18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1428750" y="4914900"/>
                <a:ext cx="476250" cy="266700"/>
              </a:xfrm>
              <a:prstGeom prst="roundRect">
                <a:avLst>
                  <a:gd name="adj" fmla="val 7143"/>
                </a:avLst>
              </a:prstGeom>
              <a:solidFill>
                <a:srgbClr val="00A884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562157" y="4998720"/>
                <a:ext cx="20943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1.0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2000250" y="4914900"/>
                <a:ext cx="476250" cy="266700"/>
              </a:xfrm>
              <a:prstGeom prst="roundRect">
                <a:avLst>
                  <a:gd name="adj" fmla="val 7143"/>
                </a:avLst>
              </a:prstGeom>
              <a:solidFill>
                <a:srgbClr val="00A884">
                  <a:alpha val="25000"/>
                </a:srgbClr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2100339" y="4998720"/>
                <a:ext cx="2760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1A1A2E"/>
                    </a:solidFill>
                    <a:latin typeface="Inter"/>
                    <a:ea typeface="Inter"/>
                    <a:cs typeface="Inter"/>
                  </a:rPr>
                  <a:t>0.25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566738" y="5302091"/>
                <a:ext cx="23030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长电</a:t>
                </a:r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857250" y="5257800"/>
                <a:ext cx="476250" cy="266700"/>
              </a:xfrm>
              <a:prstGeom prst="roundRect">
                <a:avLst>
                  <a:gd name="adj" fmla="val 7143"/>
                </a:avLst>
              </a:prstGeom>
              <a:solidFill>
                <a:srgbClr val="00A884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957339" y="5341620"/>
                <a:ext cx="2760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1A1A2E"/>
                    </a:solidFill>
                    <a:latin typeface="Inter"/>
                    <a:ea typeface="Inter"/>
                    <a:cs typeface="Inter"/>
                  </a:rPr>
                  <a:t>0.12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1428750" y="5257800"/>
                <a:ext cx="476250" cy="266700"/>
              </a:xfrm>
              <a:prstGeom prst="roundRect">
                <a:avLst>
                  <a:gd name="adj" fmla="val 7143"/>
                </a:avLst>
              </a:prstGeom>
              <a:solidFill>
                <a:srgbClr val="00A884">
                  <a:alpha val="25000"/>
                </a:srgbClr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1528839" y="5341620"/>
                <a:ext cx="2760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1A1A2E"/>
                    </a:solidFill>
                    <a:latin typeface="Inter"/>
                    <a:ea typeface="Inter"/>
                    <a:cs typeface="Inter"/>
                  </a:rPr>
                  <a:t>0.25</a:t>
                </a: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2000250" y="5257800"/>
                <a:ext cx="476250" cy="266700"/>
              </a:xfrm>
              <a:prstGeom prst="roundRect">
                <a:avLst>
                  <a:gd name="adj" fmla="val 7143"/>
                </a:avLst>
              </a:prstGeom>
              <a:solidFill>
                <a:srgbClr val="00A884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2133657" y="5341620"/>
                <a:ext cx="20943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1.0</a:t>
                </a:r>
              </a:p>
            </p:txBody>
          </p:sp>
        </p:grpSp>
        <p:sp>
          <p:nvSpPr>
            <p:cNvPr id="61" name="TextBox 61"/>
            <p:cNvSpPr txBox="1"/>
            <p:nvPr/>
          </p:nvSpPr>
          <p:spPr>
            <a:xfrm>
              <a:off x="566547" y="5704999"/>
              <a:ext cx="17028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0A884"/>
                  </a:solidFill>
                  <a:latin typeface="Inter"/>
                  <a:ea typeface="Microsoft YaHei"/>
                  <a:cs typeface="Inter"/>
                </a:rPr>
                <a:t>平均相关 0.21 → 分散效果好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096000" y="1619250"/>
            <a:ext cx="5524500" cy="4000500"/>
            <a:chOff x="6096000" y="1619250"/>
            <a:chExt cx="5524500" cy="4000500"/>
          </a:xfrm>
        </p:grpSpPr>
        <p:sp>
          <p:nvSpPr>
            <p:cNvPr id="63" name="Rectangle 63"/>
            <p:cNvSpPr/>
            <p:nvPr/>
          </p:nvSpPr>
          <p:spPr>
            <a:xfrm>
              <a:off x="6096000" y="1619250"/>
              <a:ext cx="5524500" cy="1143000"/>
            </a:xfrm>
            <a:prstGeom prst="roundRect">
              <a:avLst>
                <a:gd name="adj" fmla="val 6667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19266" y="18488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组合方差公式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317742" y="2121218"/>
              <a:ext cx="2763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dirty="0">
                  <a:solidFill>
                    <a:srgbClr val="1A1A2E"/>
                  </a:solidFill>
                  <a:latin typeface="Consolas"/>
                  <a:ea typeface="Consolas"/>
                  <a:cs typeface="Consolas"/>
                </a:rPr>
                <a:t>σ²p = Σwᵢ²σᵢ² + ΣΣwᵢwⱼCovᵢⱼ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319838" y="2436495"/>
              <a:ext cx="2208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对角线 = 个股自身波动（只占一小部分）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319838" y="2607945"/>
              <a:ext cx="3273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非对角线 = 协方差项（N只股票时有 N²−N 项，才是大头）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096000" y="2952750"/>
              <a:ext cx="5524500" cy="1238250"/>
            </a:xfrm>
            <a:prstGeom prst="roundRect">
              <a:avLst>
                <a:gd name="adj" fmla="val 6154"/>
              </a:avLst>
            </a:prstGeom>
            <a:solidFill>
              <a:srgbClr val="00A884">
                <a:alpha val="8000"/>
              </a:srgbClr>
            </a:solidFill>
            <a:ln w="9525">
              <a:solidFill>
                <a:srgbClr val="00A884">
                  <a:alpha val="30000"/>
                </a:srgbClr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319266" y="3144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884"/>
                  </a:solidFill>
                  <a:latin typeface="Inter"/>
                  <a:ea typeface="Microsoft YaHei"/>
                  <a:cs typeface="Inter"/>
                </a:rPr>
                <a:t>直观解释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318885" y="3402806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集中持有10只新能源链股票近似于单一资产暴露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319266" y="365855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由于此类资产间协方差项显著为正且数值较大，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319266" y="3868102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资产价格涨跌高度同步，分散化效果被协方差结构所抵消。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096000" y="4381500"/>
              <a:ext cx="5524500" cy="1238250"/>
            </a:xfrm>
            <a:prstGeom prst="roundRect">
              <a:avLst>
                <a:gd name="adj" fmla="val 6154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319266" y="45729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关键数字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319266" y="4877752"/>
              <a:ext cx="2166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N=10 新能源链组合波动：</a:t>
              </a:r>
              <a:r>
                <a:rPr lang="en-US" sz="1050" b="1" dirty="0">
                  <a:solidFill>
                    <a:srgbClr val="E03131"/>
                  </a:solidFill>
                  <a:latin typeface="Inter"/>
                  <a:ea typeface="Inter"/>
                  <a:cs typeface="Inter"/>
                </a:rPr>
                <a:t>37.0%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319266" y="5125402"/>
              <a:ext cx="20166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N=10 跨行业组合波动：</a:t>
              </a:r>
              <a:r>
                <a:rPr lang="en-US" sz="1050" b="1" dirty="0">
                  <a:solidFill>
                    <a:srgbClr val="00A884"/>
                  </a:solidFill>
                  <a:latin typeface="Inter"/>
                  <a:ea typeface="Inter"/>
                  <a:cs typeface="Inter"/>
                </a:rPr>
                <a:t>19.3%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319838" y="5427345"/>
              <a:ext cx="41288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在持股数量相同的条件下，跨行业配置的组合波动率较同行业配置降低约一半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566738" y="6379845"/>
            <a:ext cx="22893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ED4DA"/>
                </a:solidFill>
                <a:latin typeface="Inter"/>
                <a:ea typeface="Microsoft YaHei"/>
                <a:cs typeface="Inter"/>
              </a:rPr>
              <a:t>Plan B实测 2026-09-07 · 第7章·第1课时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547" y="466249"/>
            <a:ext cx="142892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150" dirty="0">
                <a:solidFill>
                  <a:srgbClr val="00A884"/>
                </a:solidFill>
                <a:latin typeface="Inter"/>
                <a:ea typeface="Inter"/>
                <a:cs typeface="Inter"/>
              </a:rPr>
              <a:t>METHOD · MPT-2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7784" y="737235"/>
            <a:ext cx="402564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Inter"/>
                <a:ea typeface="Microsoft YaHei"/>
                <a:cs typeface="Inter"/>
              </a:rPr>
              <a:t>同行业配置属于假性分散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3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00A884"/>
            </a:solidFill>
          </a:ln>
        </p:spPr>
      </p:sp>
      <p:grpSp>
        <p:nvGrpSpPr>
          <p:cNvPr id="18" name="Group 18"/>
          <p:cNvGrpSpPr/>
          <p:nvPr/>
        </p:nvGrpSpPr>
        <p:grpSpPr>
          <a:xfrm>
            <a:off x="571500" y="1619250"/>
            <a:ext cx="11144250" cy="1333500"/>
            <a:chOff x="571500" y="1619250"/>
            <a:chExt cx="11144250" cy="1333500"/>
          </a:xfrm>
        </p:grpSpPr>
        <p:sp>
          <p:nvSpPr>
            <p:cNvPr id="6" name="Rectangle 6"/>
            <p:cNvSpPr/>
            <p:nvPr/>
          </p:nvSpPr>
          <p:spPr>
            <a:xfrm>
              <a:off x="571500" y="1619250"/>
              <a:ext cx="3524250" cy="1333500"/>
            </a:xfrm>
            <a:prstGeom prst="roundRect">
              <a:avLst>
                <a:gd name="adj" fmla="val 5714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87908" y="1893570"/>
              <a:ext cx="20937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E03131"/>
                  </a:solidFill>
                  <a:latin typeface="Inter"/>
                  <a:ea typeface="Inter"/>
                  <a:cs typeface="Inter"/>
                </a:rPr>
                <a:t>0.51 vs 0.21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5147" y="2371249"/>
              <a:ext cx="23582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新能源链10只平均两两相关 vs 跨行业组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5147" y="261889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C757D"/>
                  </a:solidFill>
                  <a:latin typeface="Inter"/>
                  <a:ea typeface="Microsoft YaHei"/>
                  <a:cs typeface="Inter"/>
                </a:rPr>
                <a:t>同链股票同涨同跌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381500" y="1619250"/>
              <a:ext cx="3524250" cy="1333500"/>
            </a:xfrm>
            <a:prstGeom prst="roundRect">
              <a:avLst>
                <a:gd name="adj" fmla="val 5714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597908" y="1893570"/>
              <a:ext cx="2602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E03131"/>
                  </a:solidFill>
                  <a:latin typeface="Inter"/>
                  <a:ea typeface="Inter"/>
                  <a:cs typeface="Inter"/>
                </a:rPr>
                <a:t>37.0% vs 19.3%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05147" y="2371249"/>
              <a:ext cx="2546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N=10时同行业组合与跨行业组合年化波动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05147" y="261889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C757D"/>
                  </a:solidFill>
                  <a:latin typeface="Inter"/>
                  <a:ea typeface="Microsoft YaHei"/>
                  <a:cs typeface="Inter"/>
                </a:rPr>
                <a:t>相差约一倍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191500" y="1619250"/>
              <a:ext cx="3524250" cy="1333500"/>
            </a:xfrm>
            <a:prstGeom prst="roundRect">
              <a:avLst>
                <a:gd name="adj" fmla="val 5714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07908" y="1893570"/>
              <a:ext cx="14043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00A884"/>
                  </a:solidFill>
                  <a:latin typeface="Inter"/>
                  <a:ea typeface="Inter"/>
                  <a:cs typeface="Inter"/>
                </a:rPr>
                <a:t>N≈15-20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15147" y="2371249"/>
              <a:ext cx="12017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A股分散化平台拐点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15147" y="26188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C757D"/>
                  </a:solidFill>
                  <a:latin typeface="Inter"/>
                  <a:ea typeface="Microsoft YaHei"/>
                  <a:cs typeface="Inter"/>
                </a:rPr>
                <a:t>此后增加只数边际收益趋近于零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3333750"/>
            <a:ext cx="11049000" cy="1143000"/>
            <a:chOff x="571500" y="3333750"/>
            <a:chExt cx="11049000" cy="1143000"/>
          </a:xfrm>
        </p:grpSpPr>
        <p:sp>
          <p:nvSpPr>
            <p:cNvPr id="19" name="Rectangle 19"/>
            <p:cNvSpPr/>
            <p:nvPr/>
          </p:nvSpPr>
          <p:spPr>
            <a:xfrm>
              <a:off x="571500" y="3333750"/>
              <a:ext cx="11049000" cy="1143000"/>
            </a:xfrm>
            <a:prstGeom prst="roundRect">
              <a:avLst>
                <a:gd name="adj" fmla="val 6667"/>
              </a:avLst>
            </a:prstGeom>
            <a:solidFill>
              <a:srgbClr val="00A884">
                <a:alpha val="8000"/>
              </a:srgbClr>
            </a:solidFill>
            <a:ln w="9525">
              <a:solidFill>
                <a:srgbClr val="00A884">
                  <a:alpha val="30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0966" y="36966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884"/>
                  </a:solidFill>
                  <a:latin typeface="Inter"/>
                  <a:ea typeface="Microsoft YaHei"/>
                  <a:cs typeface="Inter"/>
                </a:rPr>
                <a:t>核心结论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7918" y="3974782"/>
              <a:ext cx="82353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资产配置应优先确定行业类别，再选择个股数量；相关性结构决定分散化的效果上限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65404" y="4632960"/>
            <a:ext cx="5071796" cy="526351"/>
            <a:chOff x="565404" y="4632960"/>
            <a:chExt cx="5071796" cy="526351"/>
          </a:xfrm>
        </p:grpSpPr>
        <p:sp>
          <p:nvSpPr>
            <p:cNvPr id="23" name="TextBox 23"/>
            <p:cNvSpPr txBox="1"/>
            <p:nvPr/>
          </p:nvSpPr>
          <p:spPr>
            <a:xfrm>
              <a:off x="565404" y="4632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数据说明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6166" y="4953952"/>
              <a:ext cx="50710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C757D"/>
                  </a:solidFill>
                  <a:latin typeface="Inter"/>
                  <a:ea typeface="Microsoft YaHei"/>
                  <a:cs typeface="Inter"/>
                </a:rPr>
                <a:t>同行业组：新能源链10只；跨行业组：8只跨行业股。周频 2024-09 ~ 2026-08。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66738" y="6379845"/>
            <a:ext cx="225833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ED4DA"/>
                </a:solidFill>
                <a:latin typeface="Inter"/>
                <a:ea typeface="Microsoft YaHei"/>
                <a:cs typeface="Inter"/>
              </a:rPr>
              <a:t>Plan B实测 2026-09-07 · 第7章 第1课时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547" y="466249"/>
            <a:ext cx="142892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150" dirty="0">
                <a:solidFill>
                  <a:srgbClr val="00A884"/>
                </a:solidFill>
                <a:latin typeface="Inter"/>
                <a:ea typeface="Inter"/>
                <a:cs typeface="Inter"/>
              </a:rPr>
              <a:t>METHOD · MPT-3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7784" y="737235"/>
            <a:ext cx="576486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Inter"/>
                <a:ea typeface="Microsoft YaHei"/>
                <a:cs typeface="Inter"/>
              </a:rPr>
              <a:t>等权 vs 最小方差：优化买到了什么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5404" y="1203960"/>
            <a:ext cx="28957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95057"/>
                </a:solidFill>
                <a:latin typeface="Inter"/>
                <a:ea typeface="Microsoft YaHei"/>
                <a:cs typeface="Inter"/>
              </a:rPr>
              <a:t>8只跨行业股 · 周频 2024-09 ~ 2026-08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571625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00A884"/>
            </a:solidFill>
          </a:ln>
        </p:spPr>
      </p:sp>
      <p:grpSp>
        <p:nvGrpSpPr>
          <p:cNvPr id="21" name="Group 21"/>
          <p:cNvGrpSpPr/>
          <p:nvPr/>
        </p:nvGrpSpPr>
        <p:grpSpPr>
          <a:xfrm>
            <a:off x="571500" y="1905000"/>
            <a:ext cx="5334000" cy="3238500"/>
            <a:chOff x="571500" y="1905000"/>
            <a:chExt cx="5334000" cy="3238500"/>
          </a:xfrm>
        </p:grpSpPr>
        <p:sp>
          <p:nvSpPr>
            <p:cNvPr id="7" name="Rectangle 7"/>
            <p:cNvSpPr/>
            <p:nvPr/>
          </p:nvSpPr>
          <p:spPr>
            <a:xfrm>
              <a:off x="571500" y="1905000"/>
              <a:ext cx="5334000" cy="3238500"/>
            </a:xfrm>
            <a:prstGeom prst="roundRect">
              <a:avLst>
                <a:gd name="adj" fmla="val 2941"/>
              </a:avLst>
            </a:prstGeom>
            <a:solidFill>
              <a:srgbClr val="F1F3F5"/>
            </a:solidFill>
            <a:ln w="14288">
              <a:solidFill>
                <a:srgbClr val="00A884">
                  <a:alpha val="50000"/>
                </a:srgbClr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905000"/>
              <a:ext cx="5334000" cy="533400"/>
            </a:xfrm>
            <a:prstGeom prst="roundRect">
              <a:avLst>
                <a:gd name="adj" fmla="val 17857"/>
              </a:avLst>
            </a:prstGeom>
            <a:solidFill>
              <a:srgbClr val="00A884">
                <a:alpha val="12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625090" y="21050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A884"/>
                  </a:solidFill>
                  <a:latin typeface="Inter"/>
                  <a:ea typeface="Microsoft YaHei"/>
                  <a:cs typeface="Inter"/>
                </a:rPr>
                <a:t>最小方差组合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865632" y="2553652"/>
              <a:ext cx="4326005" cy="640271"/>
              <a:chOff x="865632" y="2553652"/>
              <a:chExt cx="4326005" cy="640271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870966" y="25536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年化波动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65632" y="2783205"/>
                <a:ext cx="89700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1A1A2E"/>
                    </a:solidFill>
                    <a:latin typeface="Inter"/>
                    <a:ea typeface="Inter"/>
                    <a:cs typeface="Inter"/>
                  </a:rPr>
                  <a:t>18.2%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585466" y="25536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夏普比率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580132" y="2783205"/>
                <a:ext cx="67437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1A1A2E"/>
                    </a:solidFill>
                    <a:latin typeface="Inter"/>
                    <a:ea typeface="Inter"/>
                    <a:cs typeface="Inter"/>
                  </a:rPr>
                  <a:t>0.74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299966" y="25536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年化收益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294632" y="2783205"/>
                <a:ext cx="89700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E03131"/>
                    </a:solidFill>
                    <a:latin typeface="Inter"/>
                    <a:ea typeface="Inter"/>
                    <a:cs typeface="Inter"/>
                  </a:rPr>
                  <a:t>15.4%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867918" y="3315652"/>
              <a:ext cx="3688842" cy="872109"/>
              <a:chOff x="867918" y="3315652"/>
              <a:chExt cx="3688842" cy="872109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870966" y="33156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最大权重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67918" y="3555682"/>
                <a:ext cx="166325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A1A2E"/>
                    </a:solidFill>
                    <a:latin typeface="Inter"/>
                    <a:ea typeface="Microsoft YaHei"/>
                    <a:cs typeface="Inter"/>
                  </a:rPr>
                  <a:t>招商银行 47.4%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70966" y="3982402"/>
                <a:ext cx="368579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C757D"/>
                    </a:solidFill>
                    <a:latin typeface="Inter"/>
                    <a:ea typeface="Microsoft YaHei"/>
                    <a:cs typeface="Inter"/>
                  </a:rPr>
                  <a:t>权重集中度风险：模型优化结果不等同于可执行的投资决策</a:t>
                </a:r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6286500" y="1905000"/>
            <a:ext cx="5334000" cy="3238500"/>
            <a:chOff x="6286500" y="1905000"/>
            <a:chExt cx="5334000" cy="3238500"/>
          </a:xfrm>
        </p:grpSpPr>
        <p:sp>
          <p:nvSpPr>
            <p:cNvPr id="22" name="Rectangle 22"/>
            <p:cNvSpPr/>
            <p:nvPr/>
          </p:nvSpPr>
          <p:spPr>
            <a:xfrm>
              <a:off x="6286500" y="1905000"/>
              <a:ext cx="5334000" cy="3238500"/>
            </a:xfrm>
            <a:prstGeom prst="roundRect">
              <a:avLst>
                <a:gd name="adj" fmla="val 2941"/>
              </a:avLst>
            </a:prstGeom>
            <a:solidFill>
              <a:srgbClr val="F1F3F5"/>
            </a:solidFill>
            <a:ln w="14288">
              <a:solidFill>
                <a:srgbClr val="1C7ED6">
                  <a:alpha val="50000"/>
                </a:srgbClr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0" y="1905000"/>
              <a:ext cx="5334000" cy="533400"/>
            </a:xfrm>
            <a:prstGeom prst="roundRect">
              <a:avLst>
                <a:gd name="adj" fmla="val 17857"/>
              </a:avLst>
            </a:prstGeom>
            <a:solidFill>
              <a:srgbClr val="1C7ED6">
                <a:alpha val="12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42020" y="21050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C7ED6"/>
                  </a:solidFill>
                  <a:latin typeface="Inter"/>
                  <a:ea typeface="Microsoft YaHei"/>
                  <a:cs typeface="Inter"/>
                </a:rPr>
                <a:t>等权组合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6580632" y="2553652"/>
              <a:ext cx="4326005" cy="640271"/>
              <a:chOff x="6580632" y="2553652"/>
              <a:chExt cx="4326005" cy="640271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6585966" y="25536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年化波动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580632" y="2783205"/>
                <a:ext cx="89700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1A1A2E"/>
                    </a:solidFill>
                    <a:latin typeface="Inter"/>
                    <a:ea typeface="Inter"/>
                    <a:cs typeface="Inter"/>
                  </a:rPr>
                  <a:t>22.0%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300466" y="25536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夏普比率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295132" y="2783205"/>
                <a:ext cx="67437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1A1A2E"/>
                    </a:solidFill>
                    <a:latin typeface="Inter"/>
                    <a:ea typeface="Inter"/>
                    <a:cs typeface="Inter"/>
                  </a:rPr>
                  <a:t>0.74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014966" y="25536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年化收益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0009632" y="2783205"/>
                <a:ext cx="89700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2F9E44"/>
                    </a:solidFill>
                    <a:latin typeface="Inter"/>
                    <a:ea typeface="Inter"/>
                    <a:cs typeface="Inter"/>
                  </a:rPr>
                  <a:t>18.3%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6582918" y="3315652"/>
              <a:ext cx="3264789" cy="872109"/>
              <a:chOff x="6582918" y="3315652"/>
              <a:chExt cx="3264789" cy="872109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6585966" y="33156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权重分布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582918" y="35556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A1A2E"/>
                    </a:solidFill>
                    <a:latin typeface="Inter"/>
                    <a:ea typeface="Microsoft YaHei"/>
                    <a:cs typeface="Inter"/>
                  </a:rPr>
                  <a:t>天然分散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585966" y="3982402"/>
                <a:ext cx="326174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C757D"/>
                    </a:solidFill>
                    <a:latin typeface="Inter"/>
                    <a:ea typeface="Microsoft YaHei"/>
                    <a:cs typeface="Inter"/>
                  </a:rPr>
                  <a:t>等权配置方法简单稳健，在多数情况下已能满足需求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571500" y="5429250"/>
            <a:ext cx="11049000" cy="666750"/>
            <a:chOff x="571500" y="5429250"/>
            <a:chExt cx="11049000" cy="666750"/>
          </a:xfrm>
        </p:grpSpPr>
        <p:sp>
          <p:nvSpPr>
            <p:cNvPr id="37" name="Rectangle 37"/>
            <p:cNvSpPr/>
            <p:nvPr/>
          </p:nvSpPr>
          <p:spPr>
            <a:xfrm>
              <a:off x="571500" y="5429250"/>
              <a:ext cx="11049000" cy="666750"/>
            </a:xfrm>
            <a:prstGeom prst="roundRect">
              <a:avLst>
                <a:gd name="adj" fmla="val 11429"/>
              </a:avLst>
            </a:prstGeom>
            <a:solidFill>
              <a:srgbClr val="00A884">
                <a:alpha val="8000"/>
              </a:srgbClr>
            </a:solidFill>
            <a:ln w="9525">
              <a:solidFill>
                <a:srgbClr val="00A884">
                  <a:alpha val="30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94766" y="56207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884"/>
                  </a:solidFill>
                  <a:latin typeface="Inter"/>
                  <a:ea typeface="Microsoft YaHei"/>
                  <a:cs typeface="Inter"/>
                </a:rPr>
                <a:t>核心结论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4004" y="5833110"/>
              <a:ext cx="48585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最小方差组合不必然实现高收益：优化过程可能放大估计误差的影响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566738" y="6379845"/>
            <a:ext cx="225833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ED4DA"/>
                </a:solidFill>
                <a:latin typeface="Inter"/>
                <a:ea typeface="Microsoft YaHei"/>
                <a:cs typeface="Inter"/>
              </a:rPr>
              <a:t>Plan B实测 2026-09-07 · 第7章 第1课时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547" y="466249"/>
            <a:ext cx="142892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150" dirty="0">
                <a:solidFill>
                  <a:srgbClr val="00A884"/>
                </a:solidFill>
                <a:latin typeface="Inter"/>
                <a:ea typeface="Inter"/>
                <a:cs typeface="Inter"/>
              </a:rPr>
              <a:t>METHOD · MPT-3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7784" y="737235"/>
            <a:ext cx="656996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Inter"/>
                <a:ea typeface="Microsoft YaHei"/>
                <a:cs typeface="Inter"/>
              </a:rPr>
              <a:t>有效前沿与切点组合：全仓配置的可行性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3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00A884"/>
            </a:solidFill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428750"/>
            <a:ext cx="5943600" cy="4572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66738" y="6379845"/>
            <a:ext cx="22893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ED4DA"/>
                </a:solidFill>
                <a:latin typeface="Inter"/>
                <a:ea typeface="Microsoft YaHei"/>
                <a:cs typeface="Inter"/>
              </a:rPr>
              <a:t>Plan B实测 2026-09-07 · 第7章·第1课时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547" y="466249"/>
            <a:ext cx="142892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150" dirty="0">
                <a:solidFill>
                  <a:srgbClr val="00A884"/>
                </a:solidFill>
                <a:latin typeface="Inter"/>
                <a:ea typeface="Inter"/>
                <a:cs typeface="Inter"/>
              </a:rPr>
              <a:t>METHOD · MPT-3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7784" y="737235"/>
            <a:ext cx="656996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Inter"/>
                <a:ea typeface="Microsoft YaHei"/>
                <a:cs typeface="Inter"/>
              </a:rPr>
              <a:t>有效前沿与切点组合：全仓配置的可行性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3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00A884"/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571500" y="1524000"/>
            <a:ext cx="11049000" cy="952500"/>
            <a:chOff x="571500" y="1524000"/>
            <a:chExt cx="11049000" cy="952500"/>
          </a:xfrm>
        </p:grpSpPr>
        <p:sp>
          <p:nvSpPr>
            <p:cNvPr id="6" name="Rectangle 6"/>
            <p:cNvSpPr/>
            <p:nvPr/>
          </p:nvSpPr>
          <p:spPr>
            <a:xfrm>
              <a:off x="571500" y="1524000"/>
              <a:ext cx="11049000" cy="952500"/>
            </a:xfrm>
            <a:prstGeom prst="roundRect">
              <a:avLst>
                <a:gd name="adj" fmla="val 8000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86384" y="1651635"/>
              <a:ext cx="86705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00A884"/>
                  </a:solidFill>
                  <a:latin typeface="Inter"/>
                  <a:ea typeface="Inter"/>
                  <a:cs typeface="Inter"/>
                </a:rPr>
                <a:t>1.28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5147" y="2142649"/>
              <a:ext cx="30385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切点组合夏普（σ24.7%、E(r)33.6%；rf=2.0%）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71500" y="2667000"/>
            <a:ext cx="11049000" cy="762000"/>
            <a:chOff x="571500" y="2667000"/>
            <a:chExt cx="11049000" cy="762000"/>
          </a:xfrm>
        </p:grpSpPr>
        <p:sp>
          <p:nvSpPr>
            <p:cNvPr id="10" name="Rectangle 10"/>
            <p:cNvSpPr/>
            <p:nvPr/>
          </p:nvSpPr>
          <p:spPr>
            <a:xfrm>
              <a:off x="571500" y="2667000"/>
              <a:ext cx="11049000" cy="762000"/>
            </a:xfrm>
            <a:prstGeom prst="roundRect">
              <a:avLst>
                <a:gd name="adj" fmla="val 10000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0956" y="2834640"/>
              <a:ext cx="18120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A1A2E"/>
                  </a:solidFill>
                  <a:latin typeface="Inter"/>
                  <a:ea typeface="Inter"/>
                  <a:cs typeface="Inter"/>
                </a:rPr>
                <a:t>49.2% + 40.6%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5147" y="3171349"/>
              <a:ext cx="2008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宁德 + 招行权重：最优解高度集中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3619500"/>
            <a:ext cx="11049000" cy="762000"/>
            <a:chOff x="571500" y="3619500"/>
            <a:chExt cx="11049000" cy="762000"/>
          </a:xfrm>
        </p:grpSpPr>
        <p:sp>
          <p:nvSpPr>
            <p:cNvPr id="14" name="Rectangle 14"/>
            <p:cNvSpPr/>
            <p:nvPr/>
          </p:nvSpPr>
          <p:spPr>
            <a:xfrm>
              <a:off x="571500" y="3619500"/>
              <a:ext cx="11049000" cy="762000"/>
            </a:xfrm>
            <a:prstGeom prst="roundRect">
              <a:avLst>
                <a:gd name="adj" fmla="val 10000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0956" y="3787140"/>
              <a:ext cx="19519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A1A2E"/>
                  </a:solidFill>
                  <a:latin typeface="Inter"/>
                  <a:ea typeface="Inter"/>
                  <a:cs typeface="Inter"/>
                </a:rPr>
                <a:t>18.2% vs 22.0%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5147" y="4123849"/>
              <a:ext cx="15534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最小方差 vs 等权的波动率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500" y="4572000"/>
            <a:ext cx="11049000" cy="762000"/>
            <a:chOff x="571500" y="4572000"/>
            <a:chExt cx="11049000" cy="762000"/>
          </a:xfrm>
        </p:grpSpPr>
        <p:sp>
          <p:nvSpPr>
            <p:cNvPr id="18" name="Rectangle 18"/>
            <p:cNvSpPr/>
            <p:nvPr/>
          </p:nvSpPr>
          <p:spPr>
            <a:xfrm>
              <a:off x="571500" y="4572000"/>
              <a:ext cx="11049000" cy="762000"/>
            </a:xfrm>
            <a:prstGeom prst="roundRect">
              <a:avLst>
                <a:gd name="adj" fmla="val 10000"/>
              </a:avLst>
            </a:prstGeom>
            <a:solidFill>
              <a:srgbClr val="E03131">
                <a:alpha val="8000"/>
              </a:srgbClr>
            </a:solidFill>
            <a:ln w="9525">
              <a:solidFill>
                <a:srgbClr val="E03131">
                  <a:alpha val="30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4766" y="4801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03131"/>
                  </a:solidFill>
                  <a:latin typeface="Inter"/>
                  <a:ea typeface="Microsoft YaHei"/>
                  <a:cs typeface="Inter"/>
                </a:rPr>
                <a:t>警示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4385" y="5022056"/>
              <a:ext cx="5439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夏普比率最高的组合是否应全仓配置？样本内最优组合在样本外往往面临更高风险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66738" y="6379845"/>
            <a:ext cx="22893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ED4DA"/>
                </a:solidFill>
                <a:latin typeface="Inter"/>
                <a:ea typeface="Microsoft YaHei"/>
                <a:cs typeface="Inter"/>
              </a:rPr>
              <a:t>Plan B实测 2026-09-07 · 第7章·第1课时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547" y="466249"/>
            <a:ext cx="15307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spc="150" dirty="0">
                <a:solidFill>
                  <a:srgbClr val="00A884"/>
                </a:solidFill>
                <a:latin typeface="Inter"/>
                <a:ea typeface="Inter"/>
                <a:cs typeface="Inter"/>
              </a:rPr>
              <a:t>METHOD · MPT-2B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7784" y="737235"/>
            <a:ext cx="530137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Inter"/>
                <a:ea typeface="Microsoft YaHei"/>
                <a:cs typeface="Inter"/>
              </a:rPr>
              <a:t>CAL与切点：为什么这一点最优</a:t>
            </a:r>
          </a:p>
        </p:txBody>
      </p:sp>
      <p:sp>
        <p:nvSpPr>
          <p:cNvPr id="5" name="Line 5"/>
          <p:cNvSpPr/>
          <p:nvPr/>
        </p:nvSpPr>
        <p:spPr>
          <a:xfrm>
            <a:off x="571500" y="123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00A884"/>
            </a:solidFill>
          </a:ln>
        </p:spPr>
      </p:sp>
      <p:grpSp>
        <p:nvGrpSpPr>
          <p:cNvPr id="28" name="Group 28"/>
          <p:cNvGrpSpPr/>
          <p:nvPr/>
        </p:nvGrpSpPr>
        <p:grpSpPr>
          <a:xfrm>
            <a:off x="438531" y="2000250"/>
            <a:ext cx="4895469" cy="3603307"/>
            <a:chOff x="438531" y="2000250"/>
            <a:chExt cx="4895469" cy="3603307"/>
          </a:xfrm>
        </p:grpSpPr>
        <p:sp>
          <p:nvSpPr>
            <p:cNvPr id="6" name="Line 6"/>
            <p:cNvSpPr/>
            <p:nvPr/>
          </p:nvSpPr>
          <p:spPr>
            <a:xfrm>
              <a:off x="1143000" y="52387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4288">
              <a:solidFill>
                <a:srgbClr val="CED4DA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143000" y="200025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32385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CED4D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000508" y="5427345"/>
              <a:ext cx="4759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波动率 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 rot="-5400000">
              <a:off x="438531" y="3531394"/>
              <a:ext cx="8193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期望收益 E(r)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524000" y="2508250"/>
              <a:ext cx="3619500" cy="2540000"/>
            </a:xfrm>
            <a:custGeom>
              <a:avLst/>
              <a:gdLst/>
              <a:ahLst/>
              <a:cxnLst/>
              <a:rect l="l" t="t" r="r" b="b"/>
              <a:pathLst>
                <a:path w="3619500" h="2540000">
                  <a:moveTo>
                    <a:pt x="0" y="2540000"/>
                  </a:moveTo>
                  <a:cubicBezTo>
                    <a:pt x="508000" y="1524000"/>
                    <a:pt x="1206500" y="762000"/>
                    <a:pt x="2095500" y="254000"/>
                  </a:cubicBezTo>
                  <a:cubicBezTo>
                    <a:pt x="2603500" y="63500"/>
                    <a:pt x="3111500" y="0"/>
                    <a:pt x="3619500" y="63500"/>
                  </a:cubicBezTo>
                </a:path>
              </a:pathLst>
            </a:custGeom>
            <a:noFill/>
            <a:ln w="23812">
              <a:solidFill>
                <a:srgbClr val="1A1A2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567238" y="23317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有效前沿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1095375" y="4524375"/>
              <a:ext cx="95250" cy="95250"/>
            </a:xfrm>
            <a:prstGeom prst="ellipse">
              <a:avLst/>
            </a:prstGeom>
            <a:solidFill>
              <a:srgbClr val="49505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52538" y="4521041"/>
              <a:ext cx="4565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95057"/>
                  </a:solidFill>
                  <a:latin typeface="Inter"/>
                  <a:ea typeface="Inter"/>
                  <a:cs typeface="Inter"/>
                </a:rPr>
                <a:t>rf=1.8%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143000" y="2190750"/>
              <a:ext cx="4000500" cy="2381250"/>
            </a:xfrm>
            <a:custGeom>
              <a:avLst/>
              <a:gdLst/>
              <a:ahLst/>
              <a:cxnLst/>
              <a:rect l="l" t="t" r="r" b="b"/>
              <a:pathLst>
                <a:path w="4000500" h="2381250">
                  <a:moveTo>
                    <a:pt x="0" y="2381250"/>
                  </a:moveTo>
                  <a:lnTo>
                    <a:pt x="4000500" y="0"/>
                  </a:lnTo>
                </a:path>
              </a:pathLst>
            </a:custGeom>
            <a:noFill/>
            <a:ln w="23812">
              <a:solidFill>
                <a:srgbClr val="00A884"/>
              </a:solidFill>
              <a:prstDash val="dash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62488" y="2045970"/>
              <a:ext cx="2313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0A884"/>
                  </a:solidFill>
                  <a:latin typeface="Inter"/>
                  <a:ea typeface="Inter"/>
                  <a:cs typeface="Inter"/>
                </a:rPr>
                <a:t>CAL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3352800" y="3019425"/>
              <a:ext cx="152400" cy="152400"/>
            </a:xfrm>
            <a:prstGeom prst="ellipse">
              <a:avLst/>
            </a:prstGeom>
            <a:solidFill>
              <a:srgbClr val="00A884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3295650" y="2962275"/>
              <a:ext cx="266700" cy="266700"/>
            </a:xfrm>
            <a:prstGeom prst="ellipse">
              <a:avLst/>
            </a:prstGeom>
            <a:noFill/>
            <a:ln w="14288">
              <a:solidFill>
                <a:srgbClr val="00A884">
                  <a:alpha val="40000"/>
                </a:srgb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614547" y="29427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0A884"/>
                  </a:solidFill>
                  <a:latin typeface="Inter"/>
                  <a:ea typeface="Microsoft YaHei"/>
                  <a:cs typeface="Inter"/>
                </a:rPr>
                <a:t>切点组合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14738" y="3130391"/>
              <a:ext cx="5338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夏普=1.28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714500" y="4286250"/>
              <a:ext cx="1143000" cy="228600"/>
            </a:xfrm>
            <a:prstGeom prst="roundRect">
              <a:avLst>
                <a:gd name="adj" fmla="val 16667"/>
              </a:avLst>
            </a:prstGeom>
            <a:solidFill>
              <a:srgbClr val="E03131">
                <a:alpha val="10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883425" y="4359116"/>
              <a:ext cx="8051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E03131"/>
                  </a:solidFill>
                  <a:latin typeface="Inter"/>
                  <a:ea typeface="Microsoft YaHei"/>
                  <a:cs typeface="Inter"/>
                </a:rPr>
                <a:t>前沿下方 = 无效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048000" y="3524250"/>
              <a:ext cx="1333500" cy="228600"/>
            </a:xfrm>
            <a:prstGeom prst="roundRect">
              <a:avLst>
                <a:gd name="adj" fmla="val 16667"/>
              </a:avLst>
            </a:prstGeom>
            <a:solidFill>
              <a:srgbClr val="E1B98F">
                <a:alpha val="2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146593" y="3597116"/>
              <a:ext cx="11363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B08968"/>
                  </a:solidFill>
                  <a:latin typeface="Inter"/>
                  <a:ea typeface="Microsoft YaHei"/>
                  <a:cs typeface="Inter"/>
                </a:rPr>
                <a:t>前沿上 = 有效但非最优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905250" y="2571750"/>
              <a:ext cx="1047750" cy="228600"/>
            </a:xfrm>
            <a:prstGeom prst="roundRect">
              <a:avLst>
                <a:gd name="adj" fmla="val 16667"/>
              </a:avLst>
            </a:prstGeom>
            <a:solidFill>
              <a:srgbClr val="00A884">
                <a:alpha val="15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077951" y="2644616"/>
              <a:ext cx="7023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00A884"/>
                  </a:solidFill>
                  <a:latin typeface="Inter"/>
                  <a:ea typeface="Microsoft YaHei"/>
                  <a:cs typeface="Inter"/>
                </a:rPr>
                <a:t>CAL上 = 最优</a:t>
              </a:r>
            </a:p>
          </p:txBody>
        </p:sp>
        <p:sp>
          <p:nvSpPr>
            <p:cNvPr id="26" name="Line 26"/>
            <p:cNvSpPr/>
            <p:nvPr/>
          </p:nvSpPr>
          <p:spPr>
            <a:xfrm flipV="1">
              <a:off x="4381500" y="2333625"/>
              <a:ext cx="666750" cy="381000"/>
            </a:xfrm>
            <a:prstGeom prst="line">
              <a:avLst/>
            </a:prstGeom>
            <a:noFill/>
            <a:ln w="14288">
              <a:solidFill>
                <a:srgbClr val="00A884"/>
              </a:solidFill>
              <a:tailEnd type="triangle" w="lg" len="lg"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86238" y="2157412"/>
              <a:ext cx="57997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00A884"/>
                  </a:solidFill>
                  <a:latin typeface="Inter"/>
                  <a:ea typeface="Microsoft YaHei"/>
                  <a:cs typeface="Inter"/>
                </a:rPr>
                <a:t>借入rf→杠杆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96000" y="1619250"/>
            <a:ext cx="5524500" cy="4028789"/>
            <a:chOff x="6096000" y="1619250"/>
            <a:chExt cx="5524500" cy="4028789"/>
          </a:xfrm>
        </p:grpSpPr>
        <p:sp>
          <p:nvSpPr>
            <p:cNvPr id="29" name="Rectangle 29"/>
            <p:cNvSpPr/>
            <p:nvPr/>
          </p:nvSpPr>
          <p:spPr>
            <a:xfrm>
              <a:off x="6096000" y="1619250"/>
              <a:ext cx="5524500" cy="1143000"/>
            </a:xfrm>
            <a:prstGeom prst="roundRect">
              <a:avLst>
                <a:gd name="adj" fmla="val 6667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19266" y="1848802"/>
              <a:ext cx="14791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884"/>
                  </a:solidFill>
                  <a:latin typeface="Inter"/>
                  <a:ea typeface="Microsoft YaHei"/>
                  <a:cs typeface="Inter"/>
                </a:rPr>
                <a:t>① CAL斜率 = 夏普比率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19266" y="2115502"/>
              <a:ext cx="33934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CAL越陡，每承担一单位波动获得的超额收益越多。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19647" y="2371249"/>
              <a:ext cx="31672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切点组合是所有风险资产组合中CAL最陡的那个点。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19647" y="2561749"/>
              <a:ext cx="21125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公式：Sharpe = (E(rp) − rf) / σp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096000" y="2952750"/>
              <a:ext cx="5524500" cy="1143000"/>
            </a:xfrm>
            <a:prstGeom prst="roundRect">
              <a:avLst>
                <a:gd name="adj" fmla="val 6667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19266" y="3182302"/>
              <a:ext cx="1126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884"/>
                  </a:solidFill>
                  <a:latin typeface="Inter"/>
                  <a:ea typeface="Microsoft YaHei"/>
                  <a:cs typeface="Inter"/>
                </a:rPr>
                <a:t>② 为什么切点最优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19266" y="3449002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前沿上的点只考虑了风险资产，没考虑无风险资产。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19266" y="3696652"/>
              <a:ext cx="30433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加入rf后，投资者可以在CAL上任意位置配置：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19647" y="3914299"/>
              <a:ext cx="3294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贷出rf（保守）→ 切点左侧；借入rf（激进）→ 切点右侧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96000" y="4286250"/>
              <a:ext cx="5524500" cy="1333500"/>
            </a:xfrm>
            <a:prstGeom prst="roundRect">
              <a:avLst>
                <a:gd name="adj" fmla="val 5714"/>
              </a:avLst>
            </a:prstGeom>
            <a:solidFill>
              <a:srgbClr val="00A884">
                <a:alpha val="8000"/>
              </a:srgbClr>
            </a:solidFill>
            <a:ln w="9525">
              <a:solidFill>
                <a:srgbClr val="00A884">
                  <a:alpha val="30000"/>
                </a:srgbClr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19266" y="4477702"/>
              <a:ext cx="70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884"/>
                  </a:solidFill>
                  <a:latin typeface="Inter"/>
                  <a:ea typeface="Microsoft YaHei"/>
                  <a:cs typeface="Inter"/>
                </a:rPr>
                <a:t>③ 课堂追问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18885" y="4736306"/>
              <a:ext cx="33736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切点组合 = 宁德49.2% + 招行40.6% + 海康10.2%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18885" y="498395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E03131"/>
                  </a:solidFill>
                  <a:latin typeface="Inter"/>
                  <a:ea typeface="Microsoft YaHei"/>
                  <a:cs typeface="Inter"/>
                </a:rPr>
                <a:t>投资者是否应全仓配置该组合？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19647" y="5266849"/>
              <a:ext cx="35719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理论最优不等同于实际可持有。集中度风险、回撤承受能力、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19647" y="5457349"/>
              <a:ext cx="51682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流动性需求等因素均可能导致实际配置偏离切点组合——这些构成了投资决策的现实约束。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566738" y="6379845"/>
            <a:ext cx="22893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ED4DA"/>
                </a:solidFill>
                <a:latin typeface="Inter"/>
                <a:ea typeface="Microsoft YaHei"/>
                <a:cs typeface="Inter"/>
              </a:rPr>
              <a:t>Plan B实测 2026-09-07 · 第7章·第1课时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33450" y="1400175"/>
            <a:ext cx="2137162" cy="259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0" b="1" dirty="0">
                <a:solidFill>
                  <a:srgbClr val="F1F3F5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47166" y="3506152"/>
            <a:ext cx="14689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225" dirty="0">
                <a:solidFill>
                  <a:srgbClr val="00A884"/>
                </a:solidFill>
                <a:latin typeface="Inter"/>
                <a:ea typeface="Inter"/>
                <a:cs typeface="Inter"/>
              </a:rPr>
              <a:t>SECTION THREE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5736" y="3930015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A1A2E"/>
                </a:solidFill>
                <a:latin typeface="Inter"/>
                <a:ea typeface="Microsoft YaHei"/>
                <a:cs typeface="Inter"/>
              </a:rPr>
              <a:t>实践操作与课程交付</a:t>
            </a:r>
          </a:p>
        </p:txBody>
      </p:sp>
      <p:sp>
        <p:nvSpPr>
          <p:cNvPr id="6" name="Line 6"/>
          <p:cNvSpPr/>
          <p:nvPr/>
        </p:nvSpPr>
        <p:spPr>
          <a:xfrm>
            <a:off x="952500" y="46672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00A884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44880" y="4981575"/>
            <a:ext cx="20345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95057"/>
                </a:solidFill>
                <a:latin typeface="Inter"/>
                <a:ea typeface="Microsoft YaHei"/>
                <a:cs typeface="Inter"/>
              </a:rPr>
              <a:t>实践构建首个投资组合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7738" y="6379845"/>
            <a:ext cx="201469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ED4DA"/>
                </a:solidFill>
                <a:latin typeface="Inter"/>
                <a:ea typeface="Microsoft YaHei"/>
                <a:cs typeface="Inter"/>
              </a:rPr>
              <a:t>第7章 · 第1课时 资产组合理论的应用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547" y="466249"/>
            <a:ext cx="12186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spc="150" dirty="0">
                <a:solidFill>
                  <a:srgbClr val="00A884"/>
                </a:solidFill>
                <a:latin typeface="Inter"/>
                <a:ea typeface="Microsoft YaHei"/>
                <a:cs typeface="Inter"/>
              </a:rPr>
              <a:t>实践操作 · 8分钟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7784" y="737235"/>
            <a:ext cx="568944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Inter"/>
                <a:ea typeface="Microsoft YaHei"/>
                <a:cs typeface="Inter"/>
              </a:rPr>
              <a:t>小组实践：基于6只股票的主题组合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5404" y="1203960"/>
            <a:ext cx="239743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95057"/>
                </a:solidFill>
                <a:latin typeface="Inter"/>
                <a:ea typeface="Microsoft YaHei"/>
                <a:cs typeface="Inter"/>
              </a:rPr>
              <a:t>自备电脑 · 使用Agent · 模板卡1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571625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00A884"/>
            </a:solidFill>
          </a:ln>
        </p:spPr>
      </p:sp>
      <p:grpSp>
        <p:nvGrpSpPr>
          <p:cNvPr id="31" name="Group 31"/>
          <p:cNvGrpSpPr/>
          <p:nvPr/>
        </p:nvGrpSpPr>
        <p:grpSpPr>
          <a:xfrm>
            <a:off x="571500" y="2400300"/>
            <a:ext cx="10477500" cy="2266950"/>
            <a:chOff x="571500" y="2400300"/>
            <a:chExt cx="10477500" cy="2266950"/>
          </a:xfrm>
        </p:grpSpPr>
        <p:sp>
          <p:nvSpPr>
            <p:cNvPr id="7" name="Line 7"/>
            <p:cNvSpPr/>
            <p:nvPr/>
          </p:nvSpPr>
          <p:spPr>
            <a:xfrm>
              <a:off x="1333500" y="26670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19050">
              <a:solidFill>
                <a:srgbClr val="E9ECEF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571500" y="2400300"/>
              <a:ext cx="3048000" cy="2266950"/>
              <a:chOff x="571500" y="2400300"/>
              <a:chExt cx="3048000" cy="2266950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1066800" y="2400300"/>
                <a:ext cx="533400" cy="533400"/>
              </a:xfrm>
              <a:prstGeom prst="ellipse">
                <a:avLst/>
              </a:prstGeom>
              <a:solidFill>
                <a:srgbClr val="00A884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221689" y="2597468"/>
                <a:ext cx="2236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01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571500" y="3143250"/>
                <a:ext cx="3048000" cy="1524000"/>
              </a:xfrm>
              <a:prstGeom prst="roundRect">
                <a:avLst>
                  <a:gd name="adj" fmla="val 5000"/>
                </a:avLst>
              </a:prstGeom>
              <a:solidFill>
                <a:srgbClr val="F1F3F5"/>
              </a:solidFill>
              <a:ln w="9525">
                <a:solidFill>
                  <a:srgbClr val="E9ECEF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92480" y="334327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A2E"/>
                    </a:solidFill>
                    <a:latin typeface="Inter"/>
                    <a:ea typeface="Microsoft YaHei"/>
                    <a:cs typeface="Inter"/>
                  </a:rPr>
                  <a:t>确定投资主题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94766" y="3734752"/>
                <a:ext cx="254218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每组确定一个主题（AI产业链/高股息/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94766" y="3963352"/>
                <a:ext cx="214506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消费/医药），筛选6只股票并说明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94766" y="41919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筛选逻辑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4191000" y="2400300"/>
              <a:ext cx="3048000" cy="2266950"/>
              <a:chOff x="4191000" y="2400300"/>
              <a:chExt cx="3048000" cy="226695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4686300" y="2400300"/>
                <a:ext cx="533400" cy="533400"/>
              </a:xfrm>
              <a:prstGeom prst="ellipse">
                <a:avLst/>
              </a:prstGeom>
              <a:solidFill>
                <a:srgbClr val="00A884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841189" y="2597468"/>
                <a:ext cx="2236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02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4191000" y="3143250"/>
                <a:ext cx="3048000" cy="1524000"/>
              </a:xfrm>
              <a:prstGeom prst="roundRect">
                <a:avLst>
                  <a:gd name="adj" fmla="val 5000"/>
                </a:avLst>
              </a:prstGeom>
              <a:solidFill>
                <a:srgbClr val="F1F3F5"/>
              </a:solidFill>
              <a:ln w="9525">
                <a:solidFill>
                  <a:srgbClr val="E9ECEF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411980" y="334327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A2E"/>
                    </a:solidFill>
                    <a:latin typeface="Inter"/>
                    <a:ea typeface="Microsoft YaHei"/>
                    <a:cs typeface="Inter"/>
                  </a:rPr>
                  <a:t>执行模板分析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414266" y="3734752"/>
                <a:ext cx="231194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由Agent完成计算：最小方差组合 vs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414266" y="3963352"/>
                <a:ext cx="227228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等权组合；审查者对照三个必查问题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414266" y="41919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验证输出结果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810500" y="2400300"/>
              <a:ext cx="3048000" cy="2266950"/>
              <a:chOff x="7810500" y="2400300"/>
              <a:chExt cx="3048000" cy="2266950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8305800" y="2400300"/>
                <a:ext cx="533400" cy="533400"/>
              </a:xfrm>
              <a:prstGeom prst="ellipse">
                <a:avLst/>
              </a:prstGeom>
              <a:solidFill>
                <a:srgbClr val="00A884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460689" y="2597468"/>
                <a:ext cx="2236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</a:rPr>
                  <a:t>03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7810500" y="3143250"/>
                <a:ext cx="3048000" cy="1524000"/>
              </a:xfrm>
              <a:prstGeom prst="roundRect">
                <a:avLst>
                  <a:gd name="adj" fmla="val 5000"/>
                </a:avLst>
              </a:prstGeom>
              <a:solidFill>
                <a:srgbClr val="F1F3F5"/>
              </a:solidFill>
              <a:ln w="9525">
                <a:solidFill>
                  <a:srgbClr val="E9ECEF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031480" y="334327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A2E"/>
                    </a:solidFill>
                    <a:latin typeface="Inter"/>
                    <a:ea typeface="Microsoft YaHei"/>
                    <a:cs typeface="Inter"/>
                  </a:rPr>
                  <a:t>三点结论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033766" y="3734752"/>
                <a:ext cx="21309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风险集中于何处？哪种组合更优？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033766" y="3963352"/>
                <a:ext cx="22864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95057"/>
                    </a:solidFill>
                    <a:latin typeface="Inter"/>
                    <a:ea typeface="Microsoft YaHei"/>
                    <a:cs typeface="Inter"/>
                  </a:rPr>
                  <a:t>原因何在？——此即投资备忘录的雏形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571500" y="5334000"/>
            <a:ext cx="11049000" cy="666750"/>
            <a:chOff x="571500" y="5334000"/>
            <a:chExt cx="11049000" cy="666750"/>
          </a:xfrm>
        </p:grpSpPr>
        <p:sp>
          <p:nvSpPr>
            <p:cNvPr id="32" name="Rectangle 32"/>
            <p:cNvSpPr/>
            <p:nvPr/>
          </p:nvSpPr>
          <p:spPr>
            <a:xfrm>
              <a:off x="571500" y="5334000"/>
              <a:ext cx="11049000" cy="666750"/>
            </a:xfrm>
            <a:prstGeom prst="roundRect">
              <a:avLst>
                <a:gd name="adj" fmla="val 11429"/>
              </a:avLst>
            </a:prstGeom>
            <a:solidFill>
              <a:srgbClr val="00A884">
                <a:alpha val="8000"/>
              </a:srgbClr>
            </a:solidFill>
            <a:ln w="9525">
              <a:solidFill>
                <a:srgbClr val="00A884">
                  <a:alpha val="30000"/>
                </a:srgbClr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94766" y="55254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884"/>
                  </a:solidFill>
                  <a:latin typeface="Inter"/>
                  <a:ea typeface="Microsoft YaHei"/>
                  <a:cs typeface="Inter"/>
                </a:rPr>
                <a:t>课后交付：第一部分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4385" y="5745956"/>
              <a:ext cx="50623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20只候选股票、保守/平衡/激进三种方案 + 有效前沿图 + 半页配置逻辑说明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566738" y="6379845"/>
            <a:ext cx="199045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ED4DA"/>
                </a:solidFill>
                <a:latin typeface="Inter"/>
                <a:ea typeface="Microsoft YaHei"/>
                <a:cs typeface="Inter"/>
              </a:rPr>
              <a:t>任务书详见教学包05 · 第7章第1课时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547" y="466249"/>
            <a:ext cx="157633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spc="150" dirty="0">
                <a:solidFill>
                  <a:srgbClr val="00A884"/>
                </a:solidFill>
                <a:latin typeface="Inter"/>
                <a:ea typeface="Microsoft YaHei"/>
                <a:cs typeface="Inter"/>
              </a:rPr>
              <a:t>SUMMARY · 第1课时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7784" y="737235"/>
            <a:ext cx="148132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Inter"/>
                <a:ea typeface="Microsoft YaHei"/>
                <a:cs typeface="Inter"/>
              </a:rPr>
              <a:t>课程小结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5404" y="118491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95057"/>
                </a:solidFill>
                <a:latin typeface="Inter"/>
                <a:ea typeface="Microsoft YaHei"/>
                <a:cs typeface="Inter"/>
              </a:rPr>
              <a:t>资产组合理论的核心结论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52400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00A884"/>
            </a:solidFill>
          </a:ln>
        </p:spPr>
      </p:sp>
      <p:grpSp>
        <p:nvGrpSpPr>
          <p:cNvPr id="39" name="Group 39"/>
          <p:cNvGrpSpPr/>
          <p:nvPr/>
        </p:nvGrpSpPr>
        <p:grpSpPr>
          <a:xfrm>
            <a:off x="571500" y="1809750"/>
            <a:ext cx="11049000" cy="4095750"/>
            <a:chOff x="571500" y="1809750"/>
            <a:chExt cx="11049000" cy="4095750"/>
          </a:xfrm>
        </p:grpSpPr>
        <p:sp>
          <p:nvSpPr>
            <p:cNvPr id="7" name="Rectangle 7"/>
            <p:cNvSpPr/>
            <p:nvPr/>
          </p:nvSpPr>
          <p:spPr>
            <a:xfrm>
              <a:off x="571500" y="1809750"/>
              <a:ext cx="5381625" cy="1905000"/>
            </a:xfrm>
            <a:prstGeom prst="roundRect">
              <a:avLst>
                <a:gd name="adj" fmla="val 4000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84860" y="19621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00A884">
                      <a:alphaMod val="30000"/>
                    </a:srgbClr>
                  </a:solidFill>
                  <a:latin typeface="Inter"/>
                  <a:ea typeface="Inter"/>
                  <a:cs typeface="Inter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22273" y="21293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分散化的边际递减效应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23797" y="2447449"/>
              <a:ext cx="25956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实证表明，A股组合波动率随持股数量增加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23797" y="2656999"/>
              <a:ext cx="24835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呈边际递减态势，约15–20只后趋于平稳；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23797" y="2866549"/>
              <a:ext cx="25231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单股年化波动率37.8%，30只等权组合降至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23797" y="3076099"/>
              <a:ext cx="25099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18.1%。分散化的核心在于降低资产间相关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3797" y="328564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性，而非单纯增加持股数量。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38875" y="1809750"/>
              <a:ext cx="5381625" cy="1905000"/>
            </a:xfrm>
            <a:prstGeom prst="roundRect">
              <a:avLst>
                <a:gd name="adj" fmla="val 4000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52235" y="19621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00A884">
                      <a:alphaMod val="30000"/>
                    </a:srgbClr>
                  </a:solidFill>
                  <a:latin typeface="Inter"/>
                  <a:ea typeface="Inter"/>
                  <a:cs typeface="Inter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89648" y="21293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协方差结构主导组合风险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91172" y="244744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组合风险由协方差矩阵主导，对角线元素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91172" y="265699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（个体方差）的贡献随持股数增加趋于零，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91172" y="286654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非对角线元素（协方差）构成系统性风险的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91172" y="3076099"/>
              <a:ext cx="258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主要来源。行业内资产相关性趋近于1，集中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91172" y="328564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持有同一行业股票无法实现有效分散。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71500" y="4000500"/>
              <a:ext cx="5381625" cy="1905000"/>
            </a:xfrm>
            <a:prstGeom prst="roundRect">
              <a:avLst>
                <a:gd name="adj" fmla="val 4000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4860" y="415290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00A884">
                      <a:alphaMod val="30000"/>
                    </a:srgbClr>
                  </a:solidFill>
                  <a:latin typeface="Inter"/>
                  <a:ea typeface="Inter"/>
                  <a:cs typeface="Inter"/>
                </a:rPr>
                <a:t>03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22273" y="43200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有效前沿与切点组合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23797" y="4638199"/>
              <a:ext cx="24571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均值-方差框架下，有效前沿上的组合在给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23797" y="4847749"/>
              <a:ext cx="2749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定收益水平下方差最小；资本配置线（CAL）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23797" y="5057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与有效前沿的切点组合实现单位风险收益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23797" y="526684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最大化（夏普比率最高）。最小方差组合并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23797" y="54763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非收益最优，其权重配置通常高度集中。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38875" y="4000500"/>
              <a:ext cx="5381625" cy="1905000"/>
            </a:xfrm>
            <a:prstGeom prst="roundRect">
              <a:avLst>
                <a:gd name="adj" fmla="val 4000"/>
              </a:avLst>
            </a:prstGeom>
            <a:solidFill>
              <a:srgbClr val="F1F3F5"/>
            </a:solidFill>
            <a:ln w="9525">
              <a:solidFill>
                <a:srgbClr val="E9ECE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52235" y="415290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00A884">
                      <a:alphaMod val="30000"/>
                    </a:srgbClr>
                  </a:solidFill>
                  <a:latin typeface="Inter"/>
                  <a:ea typeface="Inter"/>
                  <a:cs typeface="Inter"/>
                </a:rPr>
                <a:t>04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89648" y="432006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A1A2E"/>
                  </a:solidFill>
                  <a:latin typeface="Inter"/>
                  <a:ea typeface="Microsoft YaHei"/>
                  <a:cs typeface="Inter"/>
                </a:rPr>
                <a:t>理论最优与可执行性的张力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91172" y="46381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理论最优组合的权重配置可能高度集中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91172" y="4847749"/>
              <a:ext cx="24769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（如宁德时代49%、招商银行41%），由此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91172" y="5057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产生的集中度风险与投资者实际回撤承受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91172" y="526684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能力之间存在张力。投资决策需在理论最优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91172" y="54763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95057"/>
                  </a:solidFill>
                  <a:latin typeface="Inter"/>
                  <a:ea typeface="Microsoft YaHei"/>
                  <a:cs typeface="Inter"/>
                </a:rPr>
                <a:t>与可执行性之间寻求平衡。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566738" y="6379845"/>
            <a:ext cx="204497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ED4DA"/>
                </a:solidFill>
                <a:latin typeface="Inter"/>
                <a:ea typeface="Microsoft YaHei"/>
                <a:cs typeface="Inter"/>
              </a:rPr>
              <a:t>第7章·第1课时 · 资产组合理论的应用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0A884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47166" y="1410652"/>
            <a:ext cx="9560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225" dirty="0">
                <a:solidFill>
                  <a:srgbClr val="00A884"/>
                </a:solidFill>
                <a:latin typeface="Inter"/>
                <a:ea typeface="Inter"/>
                <a:cs typeface="Inter"/>
              </a:rPr>
              <a:t>TAKEAWAY</a:t>
            </a:r>
          </a:p>
        </p:txBody>
      </p:sp>
      <p:sp>
        <p:nvSpPr>
          <p:cNvPr id="4" name="Line 4"/>
          <p:cNvSpPr/>
          <p:nvPr/>
        </p:nvSpPr>
        <p:spPr>
          <a:xfrm>
            <a:off x="952500" y="18097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19050">
            <a:solidFill>
              <a:srgbClr val="00A884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938784" y="2375535"/>
            <a:ext cx="584301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Inter"/>
                <a:ea typeface="Microsoft YaHei"/>
                <a:cs typeface="Inter"/>
              </a:rPr>
              <a:t>分散化的核心在于优化协方差结构，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8784" y="2851785"/>
            <a:ext cx="402564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Inter"/>
                <a:ea typeface="Microsoft YaHei"/>
                <a:cs typeface="Inter"/>
              </a:rPr>
              <a:t>而非单纯增加持股数量。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4118" y="3727132"/>
            <a:ext cx="603629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495057"/>
                </a:solidFill>
                <a:latin typeface="Inter"/>
                <a:ea typeface="Microsoft YaHei"/>
                <a:cs typeface="Inter"/>
              </a:rPr>
              <a:t>三个案例分别呈现了分散化失效、假性失效与有效三种情形——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4118" y="4203382"/>
            <a:ext cx="468134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A884"/>
                </a:solidFill>
                <a:latin typeface="Inter"/>
                <a:ea typeface="Microsoft YaHei"/>
                <a:cs typeface="Inter"/>
              </a:rPr>
              <a:t>在分散化平台之上，投资决策才具有实质意义。</a:t>
            </a:r>
          </a:p>
        </p:txBody>
      </p:sp>
      <p:sp>
        <p:nvSpPr>
          <p:cNvPr id="9" name="Line 9"/>
          <p:cNvSpPr/>
          <p:nvPr/>
        </p:nvSpPr>
        <p:spPr>
          <a:xfrm>
            <a:off x="952500" y="514350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9525">
            <a:solidFill>
              <a:srgbClr val="E9ECE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46404" y="5490210"/>
            <a:ext cx="36679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C757D"/>
                </a:solidFill>
                <a:latin typeface="Inter"/>
                <a:ea typeface="Microsoft YaHei"/>
                <a:cs typeface="Inter"/>
              </a:rPr>
              <a:t>第1课时完 · 下节：β的三副面孔（CAPM的应用）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7738" y="6379845"/>
            <a:ext cx="25250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ED4DA"/>
                </a:solidFill>
                <a:latin typeface="Inter"/>
                <a:ea typeface="Microsoft YaHei"/>
                <a:cs typeface="Inter"/>
              </a:rPr>
              <a:t>第7章 投资组合理论的应用 · 三课时授课PPT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ch7_l1_portfolio">
  <a:themeElements>
    <a:clrScheme name="ch7_l1_portfol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h7_l1_portfol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7_l1_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2026-09-08T02:14:09Z</dcterms:created>
  <dcterms:modified xsi:type="dcterms:W3CDTF">2026-09-08T02:14:09Z</dcterms:modified>
  <cp:category/>
  <cp:contentStatus/>
</cp:coreProperties>
</file>