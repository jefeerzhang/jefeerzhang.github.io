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5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slide+xml" PartName="/ppt/slides/slide53.xml"/>
  <Override ContentType="application/vnd.openxmlformats-officedocument.presentationml.slide+xml" PartName="/ppt/slides/slide54.xml"/>
  <Override ContentType="application/vnd.openxmlformats-officedocument.presentationml.slide+xml" PartName="/ppt/slides/slide55.xml"/>
  <Override ContentType="application/vnd.openxmlformats-officedocument.presentationml.slide+xml" PartName="/ppt/slides/slide56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00" Target="notesSlides/notesSlide36.xml" Type="http://schemas.openxmlformats.org/officeDocument/2006/relationships/notesSlide"/><Relationship Id="rId101" Target="notesSlides/notesSlide37.xml" Type="http://schemas.openxmlformats.org/officeDocument/2006/relationships/notesSlide"/><Relationship Id="rId102" Target="notesSlides/notesSlide38.xml" Type="http://schemas.openxmlformats.org/officeDocument/2006/relationships/notesSlide"/><Relationship Id="rId103" Target="notesSlides/notesSlide39.xml" Type="http://schemas.openxmlformats.org/officeDocument/2006/relationships/notesSlide"/><Relationship Id="rId104" Target="notesSlides/notesSlide40.xml" Type="http://schemas.openxmlformats.org/officeDocument/2006/relationships/notesSlide"/><Relationship Id="rId105" Target="notesSlides/notesSlide41.xml" Type="http://schemas.openxmlformats.org/officeDocument/2006/relationships/notesSlide"/><Relationship Id="rId106" Target="notesSlides/notesSlide42.xml" Type="http://schemas.openxmlformats.org/officeDocument/2006/relationships/notesSlide"/><Relationship Id="rId107" Target="notesSlides/notesSlide43.xml" Type="http://schemas.openxmlformats.org/officeDocument/2006/relationships/notesSlide"/><Relationship Id="rId108" Target="notesSlides/notesSlide44.xml" Type="http://schemas.openxmlformats.org/officeDocument/2006/relationships/notesSlide"/><Relationship Id="rId109" Target="notesSlides/notesSlide45.xml" Type="http://schemas.openxmlformats.org/officeDocument/2006/relationships/notesSlide"/><Relationship Id="rId11" Target="slides/slide3.xml" Type="http://schemas.openxmlformats.org/officeDocument/2006/relationships/slide"/><Relationship Id="rId110" Target="notesSlides/notesSlide46.xml" Type="http://schemas.openxmlformats.org/officeDocument/2006/relationships/notesSlide"/><Relationship Id="rId111" Target="notesSlides/notesSlide47.xml" Type="http://schemas.openxmlformats.org/officeDocument/2006/relationships/notesSlide"/><Relationship Id="rId112" Target="notesSlides/notesSlide48.xml" Type="http://schemas.openxmlformats.org/officeDocument/2006/relationships/notesSlide"/><Relationship Id="rId113" Target="notesSlides/notesSlide49.xml" Type="http://schemas.openxmlformats.org/officeDocument/2006/relationships/notesSlide"/><Relationship Id="rId114" Target="notesSlides/notesSlide50.xml" Type="http://schemas.openxmlformats.org/officeDocument/2006/relationships/notesSlide"/><Relationship Id="rId115" Target="notesSlides/notesSlide51.xml" Type="http://schemas.openxmlformats.org/officeDocument/2006/relationships/notesSlide"/><Relationship Id="rId116" Target="notesSlides/notesSlide52.xml" Type="http://schemas.openxmlformats.org/officeDocument/2006/relationships/notesSlide"/><Relationship Id="rId117" Target="notesSlides/notesSlide53.xml" Type="http://schemas.openxmlformats.org/officeDocument/2006/relationships/notesSlide"/><Relationship Id="rId118" Target="notesSlides/notesSlide54.xml" Type="http://schemas.openxmlformats.org/officeDocument/2006/relationships/notesSlide"/><Relationship Id="rId119" Target="notesSlides/notesSlide55.xml" Type="http://schemas.openxmlformats.org/officeDocument/2006/relationships/notesSlide"/><Relationship Id="rId12" Target="slides/slide4.xml" Type="http://schemas.openxmlformats.org/officeDocument/2006/relationships/slide"/><Relationship Id="rId120" Target="notesSlides/notesSlide56.xml" Type="http://schemas.openxmlformats.org/officeDocument/2006/relationships/notes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slides/slide21.xml" Type="http://schemas.openxmlformats.org/officeDocument/2006/relationships/slide"/><Relationship Id="rId3" Target="presProps.xml" Type="http://schemas.openxmlformats.org/officeDocument/2006/relationships/presProps"/><Relationship Id="rId30" Target="slides/slide22.xml" Type="http://schemas.openxmlformats.org/officeDocument/2006/relationships/slide"/><Relationship Id="rId31" Target="slides/slide23.xml" Type="http://schemas.openxmlformats.org/officeDocument/2006/relationships/slide"/><Relationship Id="rId32" Target="slides/slide24.xml" Type="http://schemas.openxmlformats.org/officeDocument/2006/relationships/slide"/><Relationship Id="rId33" Target="slides/slide25.xml" Type="http://schemas.openxmlformats.org/officeDocument/2006/relationships/slide"/><Relationship Id="rId34" Target="slides/slide26.xml" Type="http://schemas.openxmlformats.org/officeDocument/2006/relationships/slide"/><Relationship Id="rId35" Target="slides/slide27.xml" Type="http://schemas.openxmlformats.org/officeDocument/2006/relationships/slide"/><Relationship Id="rId36" Target="slides/slide28.xml" Type="http://schemas.openxmlformats.org/officeDocument/2006/relationships/slide"/><Relationship Id="rId37" Target="slides/slide29.xml" Type="http://schemas.openxmlformats.org/officeDocument/2006/relationships/slide"/><Relationship Id="rId38" Target="slides/slide30.xml" Type="http://schemas.openxmlformats.org/officeDocument/2006/relationships/slide"/><Relationship Id="rId39" Target="slides/slide31.xml" Type="http://schemas.openxmlformats.org/officeDocument/2006/relationships/slide"/><Relationship Id="rId4" Target="slideMasters/slideMaster1.xml" Type="http://schemas.openxmlformats.org/officeDocument/2006/relationships/slideMaster"/><Relationship Id="rId40" Target="slides/slide32.xml" Type="http://schemas.openxmlformats.org/officeDocument/2006/relationships/slide"/><Relationship Id="rId41" Target="slides/slide33.xml" Type="http://schemas.openxmlformats.org/officeDocument/2006/relationships/slide"/><Relationship Id="rId42" Target="slides/slide34.xml" Type="http://schemas.openxmlformats.org/officeDocument/2006/relationships/slide"/><Relationship Id="rId43" Target="slides/slide35.xml" Type="http://schemas.openxmlformats.org/officeDocument/2006/relationships/slide"/><Relationship Id="rId44" Target="slides/slide36.xml" Type="http://schemas.openxmlformats.org/officeDocument/2006/relationships/slide"/><Relationship Id="rId45" Target="slides/slide37.xml" Type="http://schemas.openxmlformats.org/officeDocument/2006/relationships/slide"/><Relationship Id="rId46" Target="slides/slide38.xml" Type="http://schemas.openxmlformats.org/officeDocument/2006/relationships/slide"/><Relationship Id="rId47" Target="slides/slide39.xml" Type="http://schemas.openxmlformats.org/officeDocument/2006/relationships/slide"/><Relationship Id="rId48" Target="slides/slide40.xml" Type="http://schemas.openxmlformats.org/officeDocument/2006/relationships/slide"/><Relationship Id="rId49" Target="slides/slide41.xml" Type="http://schemas.openxmlformats.org/officeDocument/2006/relationships/slide"/><Relationship Id="rId50" Target="slides/slide42.xml" Type="http://schemas.openxmlformats.org/officeDocument/2006/relationships/slide"/><Relationship Id="rId51" Target="slides/slide43.xml" Type="http://schemas.openxmlformats.org/officeDocument/2006/relationships/slide"/><Relationship Id="rId52" Target="slides/slide44.xml" Type="http://schemas.openxmlformats.org/officeDocument/2006/relationships/slide"/><Relationship Id="rId53" Target="slides/slide45.xml" Type="http://schemas.openxmlformats.org/officeDocument/2006/relationships/slide"/><Relationship Id="rId54" Target="slides/slide46.xml" Type="http://schemas.openxmlformats.org/officeDocument/2006/relationships/slide"/><Relationship Id="rId55" Target="slides/slide47.xml" Type="http://schemas.openxmlformats.org/officeDocument/2006/relationships/slide"/><Relationship Id="rId56" Target="slides/slide48.xml" Type="http://schemas.openxmlformats.org/officeDocument/2006/relationships/slide"/><Relationship Id="rId57" Target="slides/slide49.xml" Type="http://schemas.openxmlformats.org/officeDocument/2006/relationships/slide"/><Relationship Id="rId58" Target="slides/slide50.xml" Type="http://schemas.openxmlformats.org/officeDocument/2006/relationships/slide"/><Relationship Id="rId59" Target="slides/slide51.xml" Type="http://schemas.openxmlformats.org/officeDocument/2006/relationships/slide"/><Relationship Id="rId6" Target="notesMasters/notesMaster1.xml" Type="http://schemas.openxmlformats.org/officeDocument/2006/relationships/notesMaster"/><Relationship Id="rId60" Target="slides/slide52.xml" Type="http://schemas.openxmlformats.org/officeDocument/2006/relationships/slide"/><Relationship Id="rId61" Target="slides/slide53.xml" Type="http://schemas.openxmlformats.org/officeDocument/2006/relationships/slide"/><Relationship Id="rId62" Target="slides/slide54.xml" Type="http://schemas.openxmlformats.org/officeDocument/2006/relationships/slide"/><Relationship Id="rId63" Target="slides/slide55.xml" Type="http://schemas.openxmlformats.org/officeDocument/2006/relationships/slide"/><Relationship Id="rId64" Target="slides/slide56.xml" Type="http://schemas.openxmlformats.org/officeDocument/2006/relationships/slide"/><Relationship Id="rId65" Target="notesSlides/notesSlide1.xml" Type="http://schemas.openxmlformats.org/officeDocument/2006/relationships/notesSlide"/><Relationship Id="rId66" Target="notesSlides/notesSlide2.xml" Type="http://schemas.openxmlformats.org/officeDocument/2006/relationships/notesSlide"/><Relationship Id="rId67" Target="notesSlides/notesSlide3.xml" Type="http://schemas.openxmlformats.org/officeDocument/2006/relationships/notesSlide"/><Relationship Id="rId68" Target="notesSlides/notesSlide4.xml" Type="http://schemas.openxmlformats.org/officeDocument/2006/relationships/notesSlide"/><Relationship Id="rId69" Target="notesSlides/notesSlide5.xml" Type="http://schemas.openxmlformats.org/officeDocument/2006/relationships/notesSlide"/><Relationship Id="rId7" Target="theme/theme2.xml" Type="http://schemas.openxmlformats.org/officeDocument/2006/relationships/theme"/><Relationship Id="rId70" Target="notesSlides/notesSlide6.xml" Type="http://schemas.openxmlformats.org/officeDocument/2006/relationships/notesSlide"/><Relationship Id="rId71" Target="notesSlides/notesSlide7.xml" Type="http://schemas.openxmlformats.org/officeDocument/2006/relationships/notesSlide"/><Relationship Id="rId72" Target="notesSlides/notesSlide8.xml" Type="http://schemas.openxmlformats.org/officeDocument/2006/relationships/notesSlide"/><Relationship Id="rId73" Target="notesSlides/notesSlide9.xml" Type="http://schemas.openxmlformats.org/officeDocument/2006/relationships/notesSlide"/><Relationship Id="rId74" Target="notesSlides/notesSlide10.xml" Type="http://schemas.openxmlformats.org/officeDocument/2006/relationships/notesSlide"/><Relationship Id="rId75" Target="notesSlides/notesSlide11.xml" Type="http://schemas.openxmlformats.org/officeDocument/2006/relationships/notesSlide"/><Relationship Id="rId76" Target="notesSlides/notesSlide12.xml" Type="http://schemas.openxmlformats.org/officeDocument/2006/relationships/notesSlide"/><Relationship Id="rId77" Target="notesSlides/notesSlide13.xml" Type="http://schemas.openxmlformats.org/officeDocument/2006/relationships/notesSlide"/><Relationship Id="rId78" Target="notesSlides/notesSlide14.xml" Type="http://schemas.openxmlformats.org/officeDocument/2006/relationships/notesSlide"/><Relationship Id="rId79" Target="notesSlides/notesSlide15.xml" Type="http://schemas.openxmlformats.org/officeDocument/2006/relationships/notesSlide"/><Relationship Id="rId8" Target="slideMasters/slideMaster2.xml" Type="http://schemas.openxmlformats.org/officeDocument/2006/relationships/slideMaster"/><Relationship Id="rId80" Target="notesSlides/notesSlide16.xml" Type="http://schemas.openxmlformats.org/officeDocument/2006/relationships/notesSlide"/><Relationship Id="rId81" Target="notesSlides/notesSlide17.xml" Type="http://schemas.openxmlformats.org/officeDocument/2006/relationships/notesSlide"/><Relationship Id="rId82" Target="notesSlides/notesSlide18.xml" Type="http://schemas.openxmlformats.org/officeDocument/2006/relationships/notesSlide"/><Relationship Id="rId83" Target="notesSlides/notesSlide19.xml" Type="http://schemas.openxmlformats.org/officeDocument/2006/relationships/notesSlide"/><Relationship Id="rId84" Target="notesSlides/notesSlide20.xml" Type="http://schemas.openxmlformats.org/officeDocument/2006/relationships/notesSlide"/><Relationship Id="rId85" Target="notesSlides/notesSlide21.xml" Type="http://schemas.openxmlformats.org/officeDocument/2006/relationships/notesSlide"/><Relationship Id="rId86" Target="notesSlides/notesSlide22.xml" Type="http://schemas.openxmlformats.org/officeDocument/2006/relationships/notesSlide"/><Relationship Id="rId87" Target="notesSlides/notesSlide23.xml" Type="http://schemas.openxmlformats.org/officeDocument/2006/relationships/notesSlide"/><Relationship Id="rId88" Target="notesSlides/notesSlide24.xml" Type="http://schemas.openxmlformats.org/officeDocument/2006/relationships/notesSlide"/><Relationship Id="rId89" Target="notesSlides/notesSlide25.xml" Type="http://schemas.openxmlformats.org/officeDocument/2006/relationships/notesSlide"/><Relationship Id="rId9" Target="slides/slide1.xml" Type="http://schemas.openxmlformats.org/officeDocument/2006/relationships/slide"/><Relationship Id="rId90" Target="notesSlides/notesSlide26.xml" Type="http://schemas.openxmlformats.org/officeDocument/2006/relationships/notesSlide"/><Relationship Id="rId91" Target="notesSlides/notesSlide27.xml" Type="http://schemas.openxmlformats.org/officeDocument/2006/relationships/notesSlide"/><Relationship Id="rId92" Target="notesSlides/notesSlide28.xml" Type="http://schemas.openxmlformats.org/officeDocument/2006/relationships/notesSlide"/><Relationship Id="rId93" Target="notesSlides/notesSlide29.xml" Type="http://schemas.openxmlformats.org/officeDocument/2006/relationships/notesSlide"/><Relationship Id="rId94" Target="notesSlides/notesSlide30.xml" Type="http://schemas.openxmlformats.org/officeDocument/2006/relationships/notesSlide"/><Relationship Id="rId95" Target="notesSlides/notesSlide31.xml" Type="http://schemas.openxmlformats.org/officeDocument/2006/relationships/notesSlide"/><Relationship Id="rId96" Target="notesSlides/notesSlide32.xml" Type="http://schemas.openxmlformats.org/officeDocument/2006/relationships/notesSlide"/><Relationship Id="rId97" Target="notesSlides/notesSlide33.xml" Type="http://schemas.openxmlformats.org/officeDocument/2006/relationships/notesSlide"/><Relationship Id="rId98" Target="notesSlides/notesSlide34.xml" Type="http://schemas.openxmlformats.org/officeDocument/2006/relationships/notesSlide"/><Relationship Id="rId99" Target="notesSlides/notesSlide35.xml" Type="http://schemas.openxmlformats.org/officeDocument/2006/relationships/notes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_rels/notesSlide2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_rels/notesSlide2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9.xml" Type="http://schemas.openxmlformats.org/officeDocument/2006/relationships/slide"/></Relationships>
</file>

<file path=ppt/notesSlides/_rels/notesSlide3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0.xml" Type="http://schemas.openxmlformats.org/officeDocument/2006/relationships/slide"/></Relationships>
</file>

<file path=ppt/notesSlides/_rels/notesSlide3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1.xml" Type="http://schemas.openxmlformats.org/officeDocument/2006/relationships/slide"/></Relationships>
</file>

<file path=ppt/notesSlides/_rels/notesSlide3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2.xml" Type="http://schemas.openxmlformats.org/officeDocument/2006/relationships/slide"/></Relationships>
</file>

<file path=ppt/notesSlides/_rels/notesSlide3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3.xml" Type="http://schemas.openxmlformats.org/officeDocument/2006/relationships/slide"/></Relationships>
</file>

<file path=ppt/notesSlides/_rels/notesSlide3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4.xml" Type="http://schemas.openxmlformats.org/officeDocument/2006/relationships/slide"/></Relationships>
</file>

<file path=ppt/notesSlides/_rels/notesSlide3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5.xml" Type="http://schemas.openxmlformats.org/officeDocument/2006/relationships/slide"/></Relationships>
</file>

<file path=ppt/notesSlides/_rels/notesSlide3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6.xml" Type="http://schemas.openxmlformats.org/officeDocument/2006/relationships/slide"/></Relationships>
</file>

<file path=ppt/notesSlides/_rels/notesSlide3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7.xml" Type="http://schemas.openxmlformats.org/officeDocument/2006/relationships/slide"/></Relationships>
</file>

<file path=ppt/notesSlides/_rels/notesSlide3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8.xml" Type="http://schemas.openxmlformats.org/officeDocument/2006/relationships/slide"/></Relationships>
</file>

<file path=ppt/notesSlides/_rels/notesSlide3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9.xml" Type="http://schemas.openxmlformats.org/officeDocument/2006/relationships/slide"/></Relationships>
</file>

<file path=ppt/notesSlides/_rels/notesSlide4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0.xml" Type="http://schemas.openxmlformats.org/officeDocument/2006/relationships/slide"/></Relationships>
</file>

<file path=ppt/notesSlides/_rels/notesSlide4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1.xml" Type="http://schemas.openxmlformats.org/officeDocument/2006/relationships/slide"/></Relationships>
</file>

<file path=ppt/notesSlides/_rels/notesSlide4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2.xml" Type="http://schemas.openxmlformats.org/officeDocument/2006/relationships/slide"/></Relationships>
</file>

<file path=ppt/notesSlides/_rels/notesSlide4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3.xml" Type="http://schemas.openxmlformats.org/officeDocument/2006/relationships/slide"/></Relationships>
</file>

<file path=ppt/notesSlides/_rels/notesSlide4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4.xml" Type="http://schemas.openxmlformats.org/officeDocument/2006/relationships/slide"/></Relationships>
</file>

<file path=ppt/notesSlides/_rels/notesSlide4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5.xml" Type="http://schemas.openxmlformats.org/officeDocument/2006/relationships/slide"/></Relationships>
</file>

<file path=ppt/notesSlides/_rels/notesSlide4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6.xml" Type="http://schemas.openxmlformats.org/officeDocument/2006/relationships/slide"/></Relationships>
</file>

<file path=ppt/notesSlides/_rels/notesSlide4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7.xml" Type="http://schemas.openxmlformats.org/officeDocument/2006/relationships/slide"/></Relationships>
</file>

<file path=ppt/notesSlides/_rels/notesSlide4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8.xml" Type="http://schemas.openxmlformats.org/officeDocument/2006/relationships/slide"/></Relationships>
</file>

<file path=ppt/notesSlides/_rels/notesSlide4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9.xml" Type="http://schemas.openxmlformats.org/officeDocument/2006/relationships/slide"/></Relationships>
</file>

<file path=ppt/notesSlides/_rels/notesSlide5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0.xml" Type="http://schemas.openxmlformats.org/officeDocument/2006/relationships/slide"/></Relationships>
</file>

<file path=ppt/notesSlides/_rels/notesSlide5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1.xml" Type="http://schemas.openxmlformats.org/officeDocument/2006/relationships/slide"/></Relationships>
</file>

<file path=ppt/notesSlides/_rels/notesSlide5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2.xml" Type="http://schemas.openxmlformats.org/officeDocument/2006/relationships/slide"/></Relationships>
</file>

<file path=ppt/notesSlides/_rels/notesSlide5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3.xml" Type="http://schemas.openxmlformats.org/officeDocument/2006/relationships/slide"/></Relationships>
</file>

<file path=ppt/notesSlides/_rels/notesSlide5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4.xml" Type="http://schemas.openxmlformats.org/officeDocument/2006/relationships/slide"/></Relationships>
</file>

<file path=ppt/notesSlides/_rels/notesSlide5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5.xml" Type="http://schemas.openxmlformats.org/officeDocument/2006/relationships/slide"/></Relationships>
</file>

<file path=ppt/notesSlides/_rels/notesSlide5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本讲不围绕单只基金展开算例，而是系统回答三个问题：主动基金评价应遵循什么原则、沿什么思路展开、用哪些指标度量。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方法论上同时覆盖学术指标体系与晨星等实务评价框架，帮助学生建立证据链意识。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本讲分六部分：先讲原则与基本问题，再讲方法论框架，然后分别展开收益风险指标、风险调整指标、归因模型，最后讨论实务评级与常见误区。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每一部分都对应一个需要回答的评价问题，而不是孤立的指标清单。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进入第一部分。这一部分先把评价对象和评价立场讲清楚，再谈指标。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核心立场是：基金表现、相对表现与管理能力是三个不同层次的判断，需要不同强度的证据。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评价主动基金同时服务三类需求：投资者选择、销售机构适当性匹配、学术上对市场有效性的检验。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晨星方法在开篇即引用《管理办法》《实施指引》《适当性管理细则》，说明实务评价首先是一项合规与适当性工作，其次才是收益排序。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主动管理不是"交易频繁"或"持仓集中"的同义词。评价时必须先区分：我们评价的是产品在某区间的表现，还是某位经理的任职表现。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这一区分决定了样本区间、份额口径与归因方式。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这一页是整个课程的逻辑起点：收益率是结果，不是原因。评价的任务是把结果按来源拆解。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从左到右依次是：收益可能来自哪里、需要剥离什么、剥离后剩下什么。即使剩下的是正 α，也仍需检验它是能力还是运气。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这张表是整门课的导航。三层判断分别对应不同的指标族：表现看净值与风险，相对表现看基准与信息比率，管理能力看 α、归因与持续性。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教学中要反复强调：每一层都不能跳层下结论。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六项原则可以分为两组：前三项是"怎么比"——风险与收益并表、同类比较、基准先行；后三项是"怎么稳"——长期视角、定量与定性结合、披露不确定性。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晨星方法中的 65/35 权重、三年期、2% 缓冲，都是这些原则的制度化体现。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学术评价回答"超额收益从哪里来、是否真实"；实务评级回答"这只产品风险有多大、在同类中处于什么位置"。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两者目标不同、指标不同、输出形式不同，但都遵循风险与收益并表、同类比较、长期视角的基本原则。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第二部分讲方法论：先讲数据口径与基准选择，再分别介绍晨星实务框架与学术指标体系。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这张流程图是整个指标体系的骨架。后面第三、四、五部分分别对应图中的收益风险、风险调整、归因三段。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要让学生记住：任何指标都在回答链条上的某一步问题，不能跳步使用。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净值口径是最容易被忽视、却最容易导致指标错误的环节。评价前必须先确认：用的是哪一种净值、是否分红再投、是否同一份额。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基准选择是评价中最容易"动手脚"的地方。教学中要强调：先定基准再算指标，不能反过来。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同样一只基金，三年期与五年期、牛市起点与熊市起点，得到的指标可能完全不同。评价结论必须绑定时间窗口。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晨星框架的核心是：持仓风险占 70%，是决定等级的主体；三项业绩风险各 10%，用于微调；附加项用于处理成立时间短、规模小、高权益仓位等特殊情形。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R1–R5 是监管适当性框架下的风险等级，不是业绩星级。它回答"这只产品风险有多大"，而不是"它好不好"。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这张表是学术指标体系的地图。晨星框架关注风险等级，学术框架关注超额收益的来源与可靠性，两者互补。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三个收益指标层层递进：单期是基本单元，累计是全路径财富增长，CAGR 是便于跨期比较的等效年率。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这一页解决一个高频混淆：为什么同一基金报告会有两个年化收益数字。它们服务于不同目的，不能互换。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波动率是最基础的风险度量，但它对称处理涨跌，与投资者真实的亏损感受并不完全一致——这是引入下行风险与最大回撤的原因。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下行风险是 Sortino 比率的分母，也是晨星三项业绩风险之一。它把"赚多了"从风险中剔除，只保留"亏到目标之下"。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波动率描述收益来回变化，最大回撤描述曾经跌过多深。两者不可互相替代，晨星把后者作为成立不满三年基金的附加风险项。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晨星分类的核心是"按实际持仓分"，不是按基金名字分。这避免了名字叫"稳健"实际重仓股票的产品被错配风险等级。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补充标签体现了晨星"分类不能机械化"的立场：注册类型只是起点，实际持仓与特殊结构会被识别出来调整。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晨星业绩风险采用"同类百分位"而非绝对数值打分，这与学术评价直接报告数值不同——前者服务于排序与适当性，后者服务于解释与检验。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附加项体现了晨星对"特殊产品情形"的处理：新基金用回撤补业绩数据不足，小基金加清盘风险，高仓位基金微调权益暴露。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风险调整指标的本质是"收益/风险"比。不同指标的差异在于：分子是哪种超额收益，分母是哪种风险。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Sharpe 是最基础的风险调整指标，但它用总波动作分母，既不区分上行下行，也不区分市场风险与个股风险。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Sortino 把"涨得多"从风险中剔除，只看"跌穿目标"的部分，对偏股混合与绝对收益类产品更直观。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Treynor 与 Sharpe 的对比，本质上是"已经分散后该看什么风险"——如果组合分散充分，非系统性风险不应再要求补偿。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Calmar 用最大回撤做分母，弥补 Sharpe 对极端下跌不敏感的缺陷，但也继承了 MDD 的后视镜性质。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跟踪误差把"主动管理"量化：偏离基准越远，TE 越大。配套视频演示 TE 的计算与解读，见在线讲义。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IR 是主动管理评价的核心指标，但高度依赖基准——选错基准，IR 结论可能完全反转。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Active Share 是"持仓层面"的主动度，TE 是"收益层面"的主动度。评价主动基金时二者应同时报告。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这张表是第四部分的核心总结。让学生记住：选指标前先问"我要评价什么风险"，再选对应的分母。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MRAR 是学术风险调整收益在实务中的产品化：它把风险厌恶系数 γ 显式写进公式，并把多窗口加权合并为单一星级。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这是归因部分的"问题陈述"页。先让学生接受一个立场：跑赢基准 ≠ 有能力，必须经过因子剥离。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这一页把"跑赢不等于能力"从立场落到操作流程。六步环环相扣：从看到的业绩→持仓→因子剥离→α→人→模拟。重点强调第 4 步——只有扣除因子后的残差才能叫能力。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Jensen α 是最早被广泛接受的"能力度量"，但它只剥离了市场风险，留给后来 FF 多因子进一步剥离规模、价值等。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这一页把"能力"进一步拆成选股与择时两块。告诉学生：不要笼统说"基金经理有能力"，要区分他赚的是选股的钱还是择时的钱；A 股证据是前者为正、后者基本不显著。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FF 模型把"风格押注"从 α 里剥出来。一只跑赢基金如果 SMB、HML 暴露很高，其 α 可能并不显著——它只是"恰好站在风口上"。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Carhart 四因子是评价主动基金的"工业标准"模型。它揭示了一个反直觉事实：看似持续的优秀业绩，很大一部分是动量风险暴露的回报。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Brinson 是持仓归因的起点。教学重点：一是三块效应的拆解；二是它的数据局限（窗口粉饰）；三是归因结果要与经理自述的投资风格对照，不能只看数字。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Barra 与 FF 的区别：FF 用收益时间序列回归估计暴露，Barra 用持仓截面直接计算暴露。前者看历史，后者看当前。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持续性检验的结论对实务有强烈含义：不要根据过去一年的冠军基金去做未来的配置决策。教学重点是三个可操作的度量：滚动胜率、排名稳定性、超额收益曲线形态。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这一页把晨星整份方法压缩成一张表。让学生理解：R1–R5 不是主观判断，而是持仓风险 70% + 业绩风险 30% 加权后的连续得分映射。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风格箱的核心贡献：它强制把可比基金放在同一格里比较。跨格比较收益是误导性的。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幸存者偏差是基金业绩研究中最经典的偏差。教学中让学生记住：你看到的"平均收益"不是真实平均。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基准错配是学生和实务界最容易犯的错误。晨星 2026 年的实证数据是最有力的论据：换一个公允基准，近六成主动基金的"超额收益"就消失了。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这一页把机构视角的费用/规模/风格/经理四个维度，与个人投资者可操作的三步法结合起来。重点是让学生知道：评价主动基金不是只有专业机构能做，个人也有可操作的简化方法。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这是整门课的总结清单。四个象限：立基准、报指标、看约束、防偏差。让学生带走一张可直接用于研究报告的 checklist。红旗信号放在第四象限。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结尾页直接回答开头提出的问题"收益高=能力强？"，用四问四答回扣整门课的四层框架，最后一句金句收束。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9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0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1.xml" Type="http://schemas.openxmlformats.org/officeDocument/2006/relationships/notesSlide"/></Relationships>
</file>

<file path=ppt/slides/_rels/slide2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2.xml" Type="http://schemas.openxmlformats.org/officeDocument/2006/relationships/notesSlide"/></Relationships>
</file>

<file path=ppt/slides/_rels/slide2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3.xml" Type="http://schemas.openxmlformats.org/officeDocument/2006/relationships/notesSlide"/></Relationships>
</file>

<file path=ppt/slides/_rels/slide2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4.xml" Type="http://schemas.openxmlformats.org/officeDocument/2006/relationships/notesSlide"/></Relationships>
</file>

<file path=ppt/slides/_rels/slide2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5.xml" Type="http://schemas.openxmlformats.org/officeDocument/2006/relationships/notesSlide"/></Relationships>
</file>

<file path=ppt/slides/_rels/slide2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6.xml" Type="http://schemas.openxmlformats.org/officeDocument/2006/relationships/notesSlide"/></Relationships>
</file>

<file path=ppt/slides/_rels/slide2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7.xml" Type="http://schemas.openxmlformats.org/officeDocument/2006/relationships/notesSlide"/></Relationships>
</file>

<file path=ppt/slides/_rels/slide2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8.xml" Type="http://schemas.openxmlformats.org/officeDocument/2006/relationships/notesSlide"/></Relationships>
</file>

<file path=ppt/slides/_rels/slide2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9.xml" Type="http://schemas.openxmlformats.org/officeDocument/2006/relationships/notesSlide"/></Relationships>
</file>

<file path=ppt/slides/_rels/slide3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0.xml" Type="http://schemas.openxmlformats.org/officeDocument/2006/relationships/notesSlide"/></Relationships>
</file>

<file path=ppt/slides/_rels/slide3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1.xml" Type="http://schemas.openxmlformats.org/officeDocument/2006/relationships/notesSlide"/></Relationships>
</file>

<file path=ppt/slides/_rels/slide3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2.xml" Type="http://schemas.openxmlformats.org/officeDocument/2006/relationships/notesSlide"/></Relationships>
</file>

<file path=ppt/slides/_rels/slide3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3.xml" Type="http://schemas.openxmlformats.org/officeDocument/2006/relationships/notesSlide"/></Relationships>
</file>

<file path=ppt/slides/_rels/slide3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4.xml" Type="http://schemas.openxmlformats.org/officeDocument/2006/relationships/notesSlide"/></Relationships>
</file>

<file path=ppt/slides/_rels/slide3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5.xml" Type="http://schemas.openxmlformats.org/officeDocument/2006/relationships/notesSlide"/></Relationships>
</file>

<file path=ppt/slides/_rels/slide3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6.xml" Type="http://schemas.openxmlformats.org/officeDocument/2006/relationships/notesSlide"/></Relationships>
</file>

<file path=ppt/slides/_rels/slide3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7.xml" Type="http://schemas.openxmlformats.org/officeDocument/2006/relationships/notesSlide"/></Relationships>
</file>

<file path=ppt/slides/_rels/slide3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8.xml" Type="http://schemas.openxmlformats.org/officeDocument/2006/relationships/notesSlide"/></Relationships>
</file>

<file path=ppt/slides/_rels/slide3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9.xml" Type="http://schemas.openxmlformats.org/officeDocument/2006/relationships/notesSlide"/></Relationships>
</file>

<file path=ppt/slides/_rels/slide4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0.xml" Type="http://schemas.openxmlformats.org/officeDocument/2006/relationships/notesSlide"/></Relationships>
</file>

<file path=ppt/slides/_rels/slide4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1.xml" Type="http://schemas.openxmlformats.org/officeDocument/2006/relationships/notesSlide"/></Relationships>
</file>

<file path=ppt/slides/_rels/slide4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2.xml" Type="http://schemas.openxmlformats.org/officeDocument/2006/relationships/notesSlide"/></Relationships>
</file>

<file path=ppt/slides/_rels/slide4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3.xml" Type="http://schemas.openxmlformats.org/officeDocument/2006/relationships/notesSlide"/></Relationships>
</file>

<file path=ppt/slides/_rels/slide4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4.xml" Type="http://schemas.openxmlformats.org/officeDocument/2006/relationships/notesSlide"/></Relationships>
</file>

<file path=ppt/slides/_rels/slide4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5.xml" Type="http://schemas.openxmlformats.org/officeDocument/2006/relationships/notesSlide"/></Relationships>
</file>

<file path=ppt/slides/_rels/slide4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6.xml" Type="http://schemas.openxmlformats.org/officeDocument/2006/relationships/notesSlide"/></Relationships>
</file>

<file path=ppt/slides/_rels/slide4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7.xml" Type="http://schemas.openxmlformats.org/officeDocument/2006/relationships/notesSlide"/></Relationships>
</file>

<file path=ppt/slides/_rels/slide4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8.xml" Type="http://schemas.openxmlformats.org/officeDocument/2006/relationships/notesSlide"/></Relationships>
</file>

<file path=ppt/slides/_rels/slide4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9.xml" Type="http://schemas.openxmlformats.org/officeDocument/2006/relationships/notesSlide"/></Relationships>
</file>

<file path=ppt/slides/_rels/slide5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0.xml" Type="http://schemas.openxmlformats.org/officeDocument/2006/relationships/notesSlide"/></Relationships>
</file>

<file path=ppt/slides/_rels/slide5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1.xml" Type="http://schemas.openxmlformats.org/officeDocument/2006/relationships/notesSlide"/></Relationships>
</file>

<file path=ppt/slides/_rels/slide5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2.xml" Type="http://schemas.openxmlformats.org/officeDocument/2006/relationships/notesSlide"/></Relationships>
</file>

<file path=ppt/slides/_rels/slide5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3.xml" Type="http://schemas.openxmlformats.org/officeDocument/2006/relationships/notesSlide"/></Relationships>
</file>

<file path=ppt/slides/_rels/slide5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4.xml" Type="http://schemas.openxmlformats.org/officeDocument/2006/relationships/notesSlide"/></Relationships>
</file>

<file path=ppt/slides/_rels/slide5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5.xml" Type="http://schemas.openxmlformats.org/officeDocument/2006/relationships/notesSlide"/></Relationships>
</file>

<file path=ppt/slides/_rels/slide5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6.xml" Type="http://schemas.openxmlformats.org/officeDocument/2006/relationships/notesSlide"/><Relationship Id="rId3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-28647" flipH="false" flipV="false">
            <a:off x="1016026" y="1136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3" id="3"/>
          <p:cNvSpPr txBox="true"/>
          <p:nvPr/>
        </p:nvSpPr>
        <p:spPr>
          <a:xfrm rot="0" flipH="false" flipV="false">
            <a:off x="1016000" y="2286000"/>
            <a:ext cx="10160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52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主动基金评价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016000" y="3556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原则、思路与指标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297" flipH="false" flipV="false">
            <a:off x="1016004" y="4692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 txBox="true"/>
          <p:nvPr/>
        </p:nvSpPr>
        <p:spPr>
          <a:xfrm rot="0" flipH="false" flipV="false">
            <a:off x="7620000" y="5207000"/>
            <a:ext cx="355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金融市场学 · 课堂讲义</a:t>
            </a:r>
            <a:endParaRPr lang="en-US" sz="1100"/>
          </a:p>
          <a:p>
            <a:pPr algn="r" marL="0" indent="0">
              <a:lnSpc>
                <a:spcPct val="125000"/>
              </a:lnSpc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2026 年秋季学期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762000"/>
            <a:ext cx="508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目录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28647" flipH="false" flipV="false">
            <a:off x="1016026" y="1517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 txBox="true"/>
          <p:nvPr/>
        </p:nvSpPr>
        <p:spPr>
          <a:xfrm rot="0" flipH="false" flipV="false">
            <a:off x="1016000" y="2032000"/>
            <a:ext cx="101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01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2032000" y="20320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评价原则与基本问题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2032000" y="2476500"/>
            <a:ext cx="406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5A5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主动管理的含义、评价对象、评价的基本原则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16000" y="3302000"/>
            <a:ext cx="101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02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2032000" y="33020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评价思路与方法论框架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2032000" y="3746500"/>
            <a:ext cx="406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5A5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数据口径、基准选择、晨星与学术两套框架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016000" y="4572000"/>
            <a:ext cx="101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03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2032000" y="45720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收益与风险指标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2032000" y="5016500"/>
            <a:ext cx="406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5A5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收益度量、波动率、下行风险、最大回撤、持仓风险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6350000" y="2032000"/>
            <a:ext cx="101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04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7366000" y="20320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风险调整收益指标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7366000" y="2476500"/>
            <a:ext cx="406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5A5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Sharpe、Sortino、Treynor、Calmar、IR、Active Share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6350000" y="3302000"/>
            <a:ext cx="101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05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7366000" y="33020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归因模型与管理能力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7366000" y="3746500"/>
            <a:ext cx="406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5A5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CAPM α、多因子、Brinson、Barra、业绩持续性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6350000" y="4572000"/>
            <a:ext cx="101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06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7366000" y="45720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实务评级与评价误区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7366000" y="5016500"/>
            <a:ext cx="406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5A5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国内评价机构、晨星星级、偏差与边界</a:t>
            </a:r>
            <a:endParaRPr lang="en-US" sz="1100"/>
          </a:p>
        </p:txBody>
      </p:sp>
      <p:cxnSp>
        <p:nvCxnSpPr>
          <p:cNvPr name="Connector 22" id="22"/>
          <p:cNvCxnSpPr/>
          <p:nvPr/>
        </p:nvCxnSpPr>
        <p:spPr>
          <a:xfrm rot="-4297" flipH="false" flipV="false">
            <a:off x="1016004" y="621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3" id="23"/>
          <p:cNvSpPr txBox="true"/>
          <p:nvPr/>
        </p:nvSpPr>
        <p:spPr>
          <a:xfrm rot="0" flipH="false" flipV="false">
            <a:off x="1016000" y="63500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787878"/>
                </a:solidFill>
                <a:latin typeface="Noto Serif SC"/>
                <a:ea typeface="Noto Serif SC"/>
                <a:cs typeface="Noto Serif SC"/>
                <a:sym typeface="Noto Serif SC"/>
              </a:rPr>
              <a:t>本讲约 56 页 · 学术讲义 · 不构成投资建议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02FA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2286000"/>
            <a:ext cx="254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9600">
                <a:solidFill>
                  <a:srgbClr val="FFFFFF">
                    <a:alpha val="25098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01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2969" flipH="false" flipV="false">
            <a:off x="1016040" y="4057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FF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 txBox="true"/>
          <p:nvPr/>
        </p:nvSpPr>
        <p:spPr>
          <a:xfrm rot="0" flipH="false" flipV="false">
            <a:off x="1016000" y="4318000"/>
            <a:ext cx="889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评价原则与基本问题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016000" y="5334000"/>
            <a:ext cx="889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74902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主动管理在评价什么？为什么不能用收益率直接下结论？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01 · 评价原则与基本问题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为什么要对主动基金进行系统评价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57290" flipH="false" flipV="false">
            <a:off x="1016053" y="1771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2159000"/>
            <a:ext cx="4826000" cy="355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主动管理的核心主张是：基金经理凭借研究、判断与交易，能够在承担相应风险的前提下，为投资者赚取超过被动持有的回报。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这一主张同时伴随更高的管理费、托管费与交易成本。因此，评价不是"看好或不看好某只基金"，而是回答一个更基本的问题：</a:t>
            </a:r>
            <a:r>
              <a:rPr lang="en-US" b="tru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投资者支付的主动费用，是否换来了可识别、可解释、可持续的增量价值？</a:t>
            </a:r>
          </a:p>
        </p:txBody>
      </p:sp>
      <p:cxnSp>
        <p:nvCxnSpPr>
          <p:cNvPr name="Connector 6" id="6"/>
          <p:cNvCxnSpPr/>
          <p:nvPr/>
        </p:nvCxnSpPr>
        <p:spPr>
          <a:xfrm rot="5386777" flipH="false" flipV="false">
            <a:off x="4699000" y="3930662"/>
            <a:ext cx="330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 txBox="true"/>
          <p:nvPr/>
        </p:nvSpPr>
        <p:spPr>
          <a:xfrm rot="0" flipH="false" flipV="false">
            <a:off x="6731000" y="2159000"/>
            <a:ext cx="444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8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投资者视角</a:t>
            </a:r>
            <a:r>
              <a:rPr lang="en-US" b="false" i="false" strike="noStrike" u="none" sz="18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8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在同类产品中选择风险收益特征与自身目标匹配的基金，而不是只看历史排名。</a:t>
            </a:r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6731000" y="3302000"/>
            <a:ext cx="444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8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销售与监管视角</a:t>
            </a:r>
            <a:r>
              <a:rPr lang="en-US" b="false" i="false" strike="noStrike" u="none" sz="18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8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依据《证券期货投资者适当性管理办法》，把合适风险等级的产品卖给合适风险承受能力的投资者。</a:t>
            </a:r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6731000" y="4445000"/>
            <a:ext cx="444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8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学术视角</a:t>
            </a:r>
            <a:r>
              <a:rPr lang="en-US" b="false" i="false" strike="noStrike" u="none" sz="18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8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用风险调整后收益、归因与持续性检验，考察市场是否存在可被持续获取的超额收益。</a:t>
            </a:r>
          </a:p>
        </p:txBody>
      </p:sp>
      <p:cxnSp>
        <p:nvCxnSpPr>
          <p:cNvPr name="Connector 10" id="10"/>
          <p:cNvCxnSpPr/>
          <p:nvPr/>
        </p:nvCxnSpPr>
        <p:spPr>
          <a:xfrm rot="-4297" flipH="false" flipV="false">
            <a:off x="1016004" y="621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 txBox="true"/>
          <p:nvPr/>
        </p:nvSpPr>
        <p:spPr>
          <a:xfrm rot="0" flipH="false" flipV="false">
            <a:off x="1016000" y="63500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787878"/>
                </a:solidFill>
                <a:latin typeface="Noto Serif SC"/>
                <a:ea typeface="Noto Serif SC"/>
                <a:cs typeface="Noto Serif SC"/>
                <a:sym typeface="Noto Serif SC"/>
              </a:rPr>
              <a:t>来源：Morningstar 晨星《基金产品风险评价方法》（2026 年 7 月版）引言；Jensen (1968)；Fama &amp; French (2010)。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01 · 评价原则与基本问题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主动管理：在评价什么，不在评价什么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57290" flipH="false" flipV="false">
            <a:off x="1016053" y="1771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21590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主动管理的定义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16000" y="2603500"/>
            <a:ext cx="4826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基金经理在合同约定的投资目标与约束下，通过证券选择、资产与行业配置、风险暴露调整和交易决策，追求与被动持有基准不同的结果。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16000" y="43180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偏离基准 ≠ 创造价值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1016000" y="4762500"/>
            <a:ext cx="4826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高换手、持仓集中、与指数差异大，只是"主动"的形式特征；是否产生风险调整后的正收益，是另一个需要独立检验的问题。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5388540" flipH="false" flipV="false">
            <a:off x="4445000" y="4057661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 txBox="true"/>
          <p:nvPr/>
        </p:nvSpPr>
        <p:spPr>
          <a:xfrm rot="0" flipH="false" flipV="false">
            <a:off x="6731000" y="2159000"/>
            <a:ext cx="444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评价对象的边界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6731000" y="2667000"/>
            <a:ext cx="4445000" cy="330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28600" marL="228600">
              <a:lnSpc>
                <a:spcPct val="150000"/>
              </a:lnSpc>
              <a:buClr>
                <a:srgbClr val="383838"/>
              </a:buClr>
              <a:buChar char="•"/>
              <a:defRPr/>
            </a:pPr>
            <a:r>
              <a:rPr lang="en-US" b="tru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评价产品表现</a:t>
            </a: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：该份额在指定区间的净值与风险特征。</a:t>
            </a:r>
            <a:endParaRPr lang="en-US" sz="1100"/>
          </a:p>
          <a:p>
            <a:pPr algn="l" indent="-228600" marL="228600">
              <a:lnSpc>
                <a:spcPct val="150000"/>
              </a:lnSpc>
              <a:buClr>
                <a:srgbClr val="383838"/>
              </a:buClr>
              <a:buChar char="•"/>
            </a:pPr>
            <a:r>
              <a:rPr lang="en-US" b="tru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评价经理能力</a:t>
            </a: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：需以经理任职区间为单位，并扣除合同约束、风格暴露与市场行情。</a:t>
            </a:r>
          </a:p>
          <a:p>
            <a:pPr algn="l" indent="-228600" marL="228600">
              <a:lnSpc>
                <a:spcPct val="150000"/>
              </a:lnSpc>
              <a:buClr>
                <a:srgbClr val="383838"/>
              </a:buClr>
              <a:buChar char="•"/>
            </a:pPr>
            <a:r>
              <a:rPr lang="en-US" b="tru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二者不可混同</a:t>
            </a: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：区间内若经理变更，不能把全段结果归给现任经理。</a:t>
            </a:r>
          </a:p>
          <a:p>
            <a:pPr algn="l" indent="-228600" marL="228600">
              <a:lnSpc>
                <a:spcPct val="150000"/>
              </a:lnSpc>
              <a:buClr>
                <a:srgbClr val="383838"/>
              </a:buClr>
              <a:buChar char="•"/>
            </a:pPr>
            <a:r>
              <a:rPr lang="en-US" b="tru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评价不是预测</a:t>
            </a: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：历史业绩是对过去的描述，不构成对未来收益或损失的承诺。</a:t>
            </a:r>
          </a:p>
        </p:txBody>
      </p:sp>
      <p:cxnSp>
        <p:nvCxnSpPr>
          <p:cNvPr name="Connector 12" id="12"/>
          <p:cNvCxnSpPr/>
          <p:nvPr/>
        </p:nvCxnSpPr>
        <p:spPr>
          <a:xfrm rot="-4297" flipH="false" flipV="false">
            <a:off x="1016004" y="621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 txBox="true"/>
          <p:nvPr/>
        </p:nvSpPr>
        <p:spPr>
          <a:xfrm rot="0" flipH="false" flipV="false">
            <a:off x="1016000" y="63500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787878"/>
                </a:solidFill>
                <a:latin typeface="Noto Serif SC"/>
                <a:ea typeface="Noto Serif SC"/>
                <a:cs typeface="Noto Serif SC"/>
                <a:sym typeface="Noto Serif SC"/>
              </a:rPr>
              <a:t>来源：Cremers &amp; Petajisto (2009)；Morningstar 晨星基金分类方法。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01 · 评价原则与基本问题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核心问题：收益高，是否等于管理能力强？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57290" flipH="false" flipV="false">
            <a:off x="1016053" y="1771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2286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答案是否定的。一段较高的历史收益可能来自：承担了更高的市场风险、暴露了规模或价值等风格因子、恰好处于有利行情区间，或者仅仅是运气。</a:t>
            </a:r>
            <a:r>
              <a:rPr lang="en-US" b="tru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收益率本身并不区分这些来源。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4297" flipH="false" flipV="false">
            <a:off x="1016004" y="3549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 txBox="true"/>
          <p:nvPr/>
        </p:nvSpPr>
        <p:spPr>
          <a:xfrm rot="0" flipH="false" flipV="false">
            <a:off x="1016000" y="3810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收益可能来自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1016000" y="4318000"/>
            <a:ext cx="3048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28600" marL="228600">
              <a:lnSpc>
                <a:spcPct val="150000"/>
              </a:lnSpc>
              <a:buClr>
                <a:srgbClr val="383838"/>
              </a:buClr>
              <a:buChar char="•"/>
              <a:defRPr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市场整体上涨（β）</a:t>
            </a:r>
            <a:endParaRPr lang="en-US" sz="1100"/>
          </a:p>
          <a:p>
            <a:pPr algn="l" indent="-228600" marL="228600">
              <a:lnSpc>
                <a:spcPct val="150000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规模 / 价值 / 动量暴露</a:t>
            </a:r>
          </a:p>
          <a:p>
            <a:pPr algn="l" indent="-228600" marL="228600">
              <a:lnSpc>
                <a:spcPct val="150000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行业集中或风格押注</a:t>
            </a:r>
          </a:p>
          <a:p>
            <a:pPr algn="l" indent="-228600" marL="228600">
              <a:lnSpc>
                <a:spcPct val="150000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样本区间的行情运气</a:t>
            </a:r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4572000" y="3810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需要剥离后观察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4572000" y="4318000"/>
            <a:ext cx="3048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28600" marL="228600">
              <a:lnSpc>
                <a:spcPct val="150000"/>
              </a:lnSpc>
              <a:buClr>
                <a:srgbClr val="383838"/>
              </a:buClr>
              <a:buChar char="•"/>
              <a:defRPr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无风险利率与市场暴露</a:t>
            </a:r>
            <a:endParaRPr lang="en-US" sz="1100"/>
          </a:p>
          <a:p>
            <a:pPr algn="l" indent="-228600" marL="228600">
              <a:lnSpc>
                <a:spcPct val="150000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已知风险因子收益</a:t>
            </a:r>
          </a:p>
          <a:p>
            <a:pPr algn="l" indent="-228600" marL="228600">
              <a:lnSpc>
                <a:spcPct val="150000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合同基准的约定</a:t>
            </a:r>
          </a:p>
          <a:p>
            <a:pPr algn="l" indent="-228600" marL="228600">
              <a:lnSpc>
                <a:spcPct val="150000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费用与交易成本</a:t>
            </a:r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8128000" y="3810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剩余的才是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8128000" y="4318000"/>
            <a:ext cx="3048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28600" marL="228600">
              <a:lnSpc>
                <a:spcPct val="150000"/>
              </a:lnSpc>
              <a:buClr>
                <a:srgbClr val="383838"/>
              </a:buClr>
              <a:buChar char="•"/>
              <a:defRPr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风险调整后收益</a:t>
            </a:r>
            <a:endParaRPr lang="en-US" sz="1100"/>
          </a:p>
          <a:p>
            <a:pPr algn="l" indent="-228600" marL="228600">
              <a:lnSpc>
                <a:spcPct val="150000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因子调整后 α</a:t>
            </a:r>
          </a:p>
          <a:p>
            <a:pPr algn="l" indent="-228600" marL="228600">
              <a:lnSpc>
                <a:spcPct val="150000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持仓选择与配置能力</a:t>
            </a:r>
          </a:p>
          <a:p>
            <a:pPr algn="l" indent="-228600" marL="228600">
              <a:lnSpc>
                <a:spcPct val="150000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仍可能含运气，需检验</a:t>
            </a:r>
          </a:p>
        </p:txBody>
      </p:sp>
      <p:cxnSp>
        <p:nvCxnSpPr>
          <p:cNvPr name="Connector 13" id="13"/>
          <p:cNvCxnSpPr/>
          <p:nvPr/>
        </p:nvCxnSpPr>
        <p:spPr>
          <a:xfrm rot="-4297" flipH="false" flipV="false">
            <a:off x="1016004" y="621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 txBox="true"/>
          <p:nvPr/>
        </p:nvSpPr>
        <p:spPr>
          <a:xfrm rot="0" flipH="false" flipV="false">
            <a:off x="1016000" y="63500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787878"/>
                </a:solidFill>
                <a:latin typeface="Noto Serif SC"/>
                <a:ea typeface="Noto Serif SC"/>
                <a:cs typeface="Noto Serif SC"/>
                <a:sym typeface="Noto Serif SC"/>
              </a:rPr>
              <a:t>来源：Jensen (1968)；Fama &amp; French (1993, 2010)；Carhart (1997)。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01 · 评价原则与基本问题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三层判断：表现 → 相对表现 → 管理能力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57290" flipH="false" flipV="false">
            <a:off x="1016053" y="1771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016000" y="2286000"/>
          <a:ext cx="10160000" cy="355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32000"/>
                <a:gridCol w="3556000"/>
                <a:gridCol w="2540000"/>
                <a:gridCol w="2032000"/>
              </a:tblGrid>
              <a:tr h="5969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判断层次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需要回答的问题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需要的证据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不能混同的结论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</a:tr>
              <a:tr h="990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历史表现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这段时间赚了多少？承受了多大波动与回撤？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复权净值序列、波动率、最大回撤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赚钱 ≠ 跑赢基准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990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相对表现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相对于合理基准，是否取得更好的结果？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合同基准、超额收益、跟踪误差、信息比率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跑赢 ≠ 经过风险与风格调整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9779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管理能力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扣除市场与风格暴露后，还剩多少？是否可持续？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α、多因子回归、Brinson 归因、持续性检验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正 α ≠ 持续的管理能力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name="Connector 6" id="6"/>
          <p:cNvCxnSpPr/>
          <p:nvPr/>
        </p:nvCxnSpPr>
        <p:spPr>
          <a:xfrm rot="-4297" flipH="false" flipV="false">
            <a:off x="1016004" y="621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 txBox="true"/>
          <p:nvPr/>
        </p:nvSpPr>
        <p:spPr>
          <a:xfrm rot="0" flipH="false" flipV="false">
            <a:off x="1016000" y="63500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787878"/>
                </a:solidFill>
                <a:latin typeface="Noto Serif SC"/>
                <a:ea typeface="Noto Serif SC"/>
                <a:cs typeface="Noto Serif SC"/>
                <a:sym typeface="Noto Serif SC"/>
              </a:rPr>
              <a:t>表格逻辑：每向下一层，所需要的证据强度递增，结论的可解释范围递减。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01 · 评价原则与基本问题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主动基金评价的六项基本原则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57290" flipH="false" flipV="false">
            <a:off x="1016053" y="1771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21590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一、风险与收益并表，不可只看收益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16000" y="2667000"/>
            <a:ext cx="482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同等收益下波动更小、回撤更浅者更优；脱离风险谈收益没有意义。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16000" y="34290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二、同类比较，避免跨类错配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1016000" y="3937000"/>
            <a:ext cx="482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晨星先做基金分类，再在同类内做风险调整后收益排名；股债混排没有评价意义。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1016000" y="46990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三、基准先行，再谈超额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016000" y="5207000"/>
            <a:ext cx="482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基准应来自合同约定与实际持仓风格，不能挑选"让自己看起来更好"的指数。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5388540" flipH="false" flipV="false">
            <a:off x="4445000" y="4057661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 txBox="true"/>
          <p:nvPr/>
        </p:nvSpPr>
        <p:spPr>
          <a:xfrm rot="0" flipH="false" flipV="false">
            <a:off x="6731000" y="2159000"/>
            <a:ext cx="444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四、长期视角与稳定性缓冲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6731000" y="2667000"/>
            <a:ext cx="444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晨星以三年业绩为主，并设 2% 排名阈值缓冲，避免单期波动导致评级频繁变动。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6731000" y="3429000"/>
            <a:ext cx="444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五、定量与定性相结合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6731000" y="3937000"/>
            <a:ext cx="444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晨星定量占 65%、定性占 35%；管理人治理、合规、产品结构均影响最终等级。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6731000" y="4699000"/>
            <a:ext cx="444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六、证据边界与不确定性披露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6731000" y="5207000"/>
            <a:ext cx="444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所有指标都有口径与样本区间；统计显著不等于经济意义，历史结果不承诺未来。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4297" flipH="false" flipV="false">
            <a:off x="1016004" y="621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 txBox="true"/>
          <p:nvPr/>
        </p:nvSpPr>
        <p:spPr>
          <a:xfrm rot="0" flipH="false" flipV="false">
            <a:off x="1016000" y="63500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787878"/>
                </a:solidFill>
                <a:latin typeface="Noto Serif SC"/>
                <a:ea typeface="Noto Serif SC"/>
                <a:cs typeface="Noto Serif SC"/>
                <a:sym typeface="Noto Serif SC"/>
              </a:rPr>
              <a:t>来源：Morningstar 晨星《基金产品风险评价方法》（2026 年 7 月版）第二部分；适当性管理相关规定。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01 · 评价原则与基本问题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评价与实务评级：互补而非替代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57290" flipH="false" flipV="false">
            <a:off x="1016053" y="1771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016000" y="2286000"/>
          <a:ext cx="10160000" cy="355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32000"/>
                <a:gridCol w="4064000"/>
                <a:gridCol w="4064000"/>
              </a:tblGrid>
              <a:tr h="5461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维度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学术评价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实务评级（以晨星为代表）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</a:tr>
              <a:tr h="7493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核心目标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识别风险调整后超额收益及其来源，检验市场有效性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对产品做风险等级与同类评级，服务适当性管理与投资者选择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493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主要指标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Sharpe、Jensen α、多因子 α、IR、Brinson 归因、持续性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持仓风险、MRAR、业绩波动/下跌、回撤、规模与权益仓位附加项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493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时间窗口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研究者设定，常覆盖多周期、穿越牛熊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以最近三年为主；成立不满三年者调整权重并附加回撤项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输出形式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点估计、置信区间、因子暴露与分解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R1–R5 风险等级、1–5 星评级、风格箱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name="Connector 6" id="6"/>
          <p:cNvCxnSpPr/>
          <p:nvPr/>
        </p:nvCxnSpPr>
        <p:spPr>
          <a:xfrm rot="-4297" flipH="false" flipV="false">
            <a:off x="1016004" y="621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 txBox="true"/>
          <p:nvPr/>
        </p:nvSpPr>
        <p:spPr>
          <a:xfrm rot="0" flipH="false" flipV="false">
            <a:off x="1016000" y="63500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787878"/>
                </a:solidFill>
                <a:latin typeface="Noto Serif SC"/>
                <a:ea typeface="Noto Serif SC"/>
                <a:cs typeface="Noto Serif SC"/>
                <a:sym typeface="Noto Serif SC"/>
              </a:rPr>
              <a:t>本讲后续将同时展开两套指标体系，并在最后一部分讨论其在中国实务评价中的位置。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02FA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2286000"/>
            <a:ext cx="254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9600">
                <a:solidFill>
                  <a:srgbClr val="FFFFFF">
                    <a:alpha val="25098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02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2969" flipH="false" flipV="false">
            <a:off x="1016040" y="4057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FF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 txBox="true"/>
          <p:nvPr/>
        </p:nvSpPr>
        <p:spPr>
          <a:xfrm rot="0" flipH="false" flipV="false">
            <a:off x="1016000" y="4318000"/>
            <a:ext cx="889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评价思路与方法论框架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016000" y="5334000"/>
            <a:ext cx="889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74902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从净值序列到风险等级：数据口径、基准选择与两套评价框架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02 · 评价思路与方法论框架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评价的基本思路：一条从净值到能力的证据链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57290" flipH="false" flipV="false">
            <a:off x="1016053" y="1771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2540000"/>
            <a:ext cx="1905000" cy="1270000"/>
          </a:xfrm>
          <a:prstGeom prst="roundRect">
            <a:avLst>
              <a:gd name="adj" fmla="val 0"/>
            </a:avLst>
          </a:prstGeom>
          <a:solidFill>
            <a:srgbClr val="002FA7">
              <a:alpha val="8000"/>
            </a:srgbClr>
          </a:solidFill>
          <a:ln w="12700" cmpd="sng" cap="flat">
            <a:solidFill>
              <a:srgbClr val="002FA7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143000" y="2730500"/>
            <a:ext cx="1651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① 原始数据</a:t>
            </a:r>
            <a:r>
              <a:rPr lang="en-US" b="false" i="false" strike="noStrike" u="none" sz="18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8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单位净值、分红、份额类别</a:t>
            </a:r>
          </a:p>
        </p:txBody>
      </p:sp>
      <p:cxnSp>
        <p:nvCxnSpPr>
          <p:cNvPr name="Connector 7" id="7"/>
          <p:cNvCxnSpPr/>
          <p:nvPr/>
        </p:nvCxnSpPr>
        <p:spPr>
          <a:xfrm rot="-114549" flipH="false" flipV="false">
            <a:off x="2984606" y="31686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3429000" y="2540000"/>
            <a:ext cx="1905000" cy="1270000"/>
          </a:xfrm>
          <a:prstGeom prst="roundRect">
            <a:avLst>
              <a:gd name="adj" fmla="val 0"/>
            </a:avLst>
          </a:prstGeom>
          <a:solidFill>
            <a:srgbClr val="002FA7">
              <a:alpha val="8000"/>
            </a:srgbClr>
          </a:solidFill>
          <a:ln w="12700" cmpd="sng" cap="flat">
            <a:solidFill>
              <a:srgbClr val="002FA7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3556000" y="2730500"/>
            <a:ext cx="1651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② 收益与风险</a:t>
            </a:r>
            <a:r>
              <a:rPr lang="en-US" b="false" i="false" strike="noStrike" u="none" sz="18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8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复权净值、累计收益、波动、回撤</a:t>
            </a:r>
          </a:p>
        </p:txBody>
      </p:sp>
      <p:cxnSp>
        <p:nvCxnSpPr>
          <p:cNvPr name="Connector 10" id="10"/>
          <p:cNvCxnSpPr/>
          <p:nvPr/>
        </p:nvCxnSpPr>
        <p:spPr>
          <a:xfrm rot="-114549" flipH="false" flipV="false">
            <a:off x="5397606" y="31686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5842000" y="2540000"/>
            <a:ext cx="1905000" cy="1270000"/>
          </a:xfrm>
          <a:prstGeom prst="roundRect">
            <a:avLst>
              <a:gd name="adj" fmla="val 0"/>
            </a:avLst>
          </a:prstGeom>
          <a:solidFill>
            <a:srgbClr val="002FA7">
              <a:alpha val="8000"/>
            </a:srgbClr>
          </a:solidFill>
          <a:ln w="12700" cmpd="sng" cap="flat">
            <a:solidFill>
              <a:srgbClr val="002FA7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5969000" y="2730500"/>
            <a:ext cx="1651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③ 相对基准</a:t>
            </a:r>
            <a:r>
              <a:rPr lang="en-US" b="false" i="false" strike="noStrike" u="none" sz="18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8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超额收益、跟踪误差、信息比率</a:t>
            </a:r>
          </a:p>
        </p:txBody>
      </p:sp>
      <p:cxnSp>
        <p:nvCxnSpPr>
          <p:cNvPr name="Connector 13" id="13"/>
          <p:cNvCxnSpPr/>
          <p:nvPr/>
        </p:nvCxnSpPr>
        <p:spPr>
          <a:xfrm rot="-114549" flipH="false" flipV="false">
            <a:off x="7810606" y="31686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8255000" y="2540000"/>
            <a:ext cx="1905000" cy="1270000"/>
          </a:xfrm>
          <a:prstGeom prst="roundRect">
            <a:avLst>
              <a:gd name="adj" fmla="val 0"/>
            </a:avLst>
          </a:prstGeom>
          <a:solidFill>
            <a:srgbClr val="002FA7">
              <a:alpha val="8000"/>
            </a:srgbClr>
          </a:solidFill>
          <a:ln w="12700" cmpd="sng" cap="flat">
            <a:solidFill>
              <a:srgbClr val="002FA7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8382000" y="2730500"/>
            <a:ext cx="1651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④ 风险调整</a:t>
            </a:r>
            <a:r>
              <a:rPr lang="en-US" b="false" i="false" strike="noStrike" u="none" sz="18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8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Sharpe、Sortino、Treynor、Calmar</a:t>
            </a:r>
          </a:p>
        </p:txBody>
      </p:sp>
      <p:cxnSp>
        <p:nvCxnSpPr>
          <p:cNvPr name="Connector 16" id="16"/>
          <p:cNvCxnSpPr/>
          <p:nvPr/>
        </p:nvCxnSpPr>
        <p:spPr>
          <a:xfrm rot="5314074" flipH="false" flipV="false">
            <a:off x="8953500" y="4121229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6350000" y="4445000"/>
            <a:ext cx="3810000" cy="1143000"/>
          </a:xfrm>
          <a:prstGeom prst="roundRect">
            <a:avLst>
              <a:gd name="adj" fmla="val 0"/>
            </a:avLst>
          </a:prstGeom>
          <a:solidFill>
            <a:srgbClr val="002FA7">
              <a:alpha val="18000"/>
            </a:srgbClr>
          </a:solidFill>
          <a:ln w="12700" cmpd="sng" cap="flat">
            <a:solidFill>
              <a:srgbClr val="002FA7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6540500" y="4635500"/>
            <a:ext cx="342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⑤ 归因与能力判断</a:t>
            </a:r>
            <a:r>
              <a:rPr lang="en-US" b="false" i="false" strike="noStrike" u="none" sz="18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8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CAPM α、多因子 α、Brinson 归因、持续性检验</a:t>
            </a:r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1016000" y="4445000"/>
            <a:ext cx="4826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思路要点</a:t>
            </a: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每一步都回答前一步遗留的问题：收益是多少 → 风险多大 → 相对基准怎样 → 风险调整后性价比如何 → 剩余收益能否归于管理能力。</a:t>
            </a:r>
          </a:p>
        </p:txBody>
      </p:sp>
      <p:cxnSp>
        <p:nvCxnSpPr>
          <p:cNvPr name="Connector 20" id="20"/>
          <p:cNvCxnSpPr/>
          <p:nvPr/>
        </p:nvCxnSpPr>
        <p:spPr>
          <a:xfrm rot="-4297" flipH="false" flipV="false">
            <a:off x="1016004" y="621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 txBox="true"/>
          <p:nvPr/>
        </p:nvSpPr>
        <p:spPr>
          <a:xfrm rot="0" flipH="false" flipV="false">
            <a:off x="1016000" y="63500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787878"/>
                </a:solidFill>
                <a:latin typeface="Noto Serif SC"/>
                <a:ea typeface="Noto Serif SC"/>
                <a:cs typeface="Noto Serif SC"/>
                <a:sym typeface="Noto Serif SC"/>
              </a:rPr>
              <a:t>晨星实务评价在第②③步加入持仓风险与定性因素，输出 R1–R5 等级；学术评价在第④⑤步深入，输出 α 与归因。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02 · 评价思路与方法论框架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数据基础：四种净值口径不能混用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57290" flipH="false" flipV="false">
            <a:off x="1016053" y="1771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016000" y="2286000"/>
          <a:ext cx="10160000" cy="3048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32000"/>
                <a:gridCol w="4318000"/>
                <a:gridCol w="3810000"/>
              </a:tblGrid>
              <a:tr h="4699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口径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含义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评价中的用法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单位净值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每份基金资产的当前净值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理解分红对净值的机械影响，不直接用于收益计算</a:t>
                      </a:r>
                      <a:endParaRPr lang="en-US" sz="1100"/>
                    </a:p>
                  </a:txBody>
                  <a:tcPr anchor="ctr" anchorCtr="false" marL="101600" marR="101600" marT="82550" marB="825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累计净值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单位净值加回历史累计分红的展示口径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不能简单用相邻累计净值之比替代分红再投收益</a:t>
                      </a:r>
                      <a:endParaRPr lang="en-US" sz="1100"/>
                    </a:p>
                  </a:txBody>
                  <a:tcPr anchor="ctr" anchorCtr="false" marL="101600" marR="101600" marT="82550" marB="825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复权净值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按分红再投规则调整后的总收益序列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收益与风险指标的主要输入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场内市价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上市份额在交易所的成交价格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可能相对净值折溢价，不替代基金净值评价</a:t>
                      </a:r>
                      <a:endParaRPr lang="en-US" sz="1100"/>
                    </a:p>
                  </a:txBody>
                  <a:tcPr anchor="ctr" anchorCtr="false" marL="101600" marR="1016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6" id="6"/>
          <p:cNvSpPr txBox="true"/>
          <p:nvPr/>
        </p:nvSpPr>
        <p:spPr>
          <a:xfrm rot="0" flipH="false" flipV="false">
            <a:off x="1016000" y="5588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关键提醒：</a:t>
            </a: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现金分红在累计净值中是"加回"，在复权净值中是"按除息价再投资"，两条路径收益率不同；同时注意 A/C 类份额、申赎费与管理费的口径。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4297" flipH="false" flipV="false">
            <a:off x="1016004" y="621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 txBox="true"/>
          <p:nvPr/>
        </p:nvSpPr>
        <p:spPr>
          <a:xfrm rot="0" flipH="false" flipV="false">
            <a:off x="1016000" y="63500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787878"/>
                </a:solidFill>
                <a:latin typeface="Noto Serif SC"/>
                <a:ea typeface="Noto Serif SC"/>
                <a:cs typeface="Noto Serif SC"/>
                <a:sym typeface="Noto Serif SC"/>
              </a:rPr>
              <a:t>来源：基金信息披露惯例；晨星在分类与持仓风险识别中以"实际持仓与实际运作特征"为准。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02 · 评价思路与方法论框架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基准选择：和谁比，决定在问什么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57290" flipH="false" flipV="false">
            <a:off x="1016053" y="1771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016000" y="2286000"/>
          <a:ext cx="10160000" cy="2794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540000"/>
                <a:gridCol w="4064000"/>
                <a:gridCol w="3556000"/>
              </a:tblGrid>
              <a:tr h="4953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比较对象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回答的问题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注意事项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合同业绩比较基准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产品是否兑现了招募说明书约定的相对目标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核查区间内基准是否变更；混合基准需按合同权重与频率重建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市场指数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相对于所选市场暴露取得了怎样的结果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区分价格指数与全收益指数；分红口径差异会高估基金相对表现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747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同类基金中位数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在晨星同类或银河同类中处于什么分位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分类必须一致；晨星以实际持仓而非名称分类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6" id="6"/>
          <p:cNvSpPr txBox="true"/>
          <p:nvPr/>
        </p:nvSpPr>
        <p:spPr>
          <a:xfrm rot="0" flipH="false" flipV="false">
            <a:off x="1016000" y="5334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800">
                <a:solidFill>
                  <a:srgbClr val="383838"/>
                </a:solidFill>
                <a:latin typeface="Serif"/>
                <a:ea typeface="Serif"/>
                <a:cs typeface="Serif"/>
                <a:sym typeface="Serif"/>
              </a:rPr>
              <a:t>三条纪律：</a:t>
            </a:r>
            <a:r>
              <a:rPr lang="en-US" b="false" i="false" strike="noStrike" u="none" sz="1800">
                <a:solidFill>
                  <a:srgbClr val="383838"/>
                </a:solidFill>
                <a:latin typeface="Serif"/>
                <a:ea typeface="Serif"/>
                <a:cs typeface="Serif"/>
                <a:sym typeface="Serif"/>
              </a:rPr>
              <a:t>基准应先说明理由再计算，不能事后挑选；合同基准与 CAPM 市场代理不是同一个对象；混合基准不能用两端累计收益简单加权代替按期再平衡。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4297" flipH="false" flipV="false">
            <a:off x="1016004" y="621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 txBox="true"/>
          <p:nvPr/>
        </p:nvSpPr>
        <p:spPr>
          <a:xfrm rot="0" flipH="false" flipV="false">
            <a:off x="1016000" y="63500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787878"/>
                </a:solidFill>
                <a:latin typeface="Noto Serif SC"/>
                <a:ea typeface="Noto Serif SC"/>
                <a:cs typeface="Noto Serif SC"/>
                <a:sym typeface="Noto Serif SC"/>
              </a:rPr>
              <a:t>来源：晨星《基金产品风险评价方法》关于晨星分类与业绩比较基准要素权重的说明。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02 · 评价思路与方法论框架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时间区间与样本期：评价窗口决定结论边界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57290" flipH="false" flipV="false">
            <a:off x="1016053" y="1771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22225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实务评价的时间约定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16000" y="2730500"/>
            <a:ext cx="4826000" cy="304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28600" marL="228600">
              <a:lnSpc>
                <a:spcPct val="150000"/>
              </a:lnSpc>
              <a:buClr>
                <a:srgbClr val="383838"/>
              </a:buClr>
              <a:buChar char="•"/>
              <a:defRPr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晨星业绩风险三指标以</a:t>
            </a:r>
            <a:r>
              <a:rPr lang="en-US" b="tru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最近三年</a:t>
            </a: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在全市场同类中的百分位排名打分。</a:t>
            </a:r>
            <a:endParaRPr lang="en-US" sz="1100"/>
          </a:p>
          <a:p>
            <a:pPr algn="l" indent="-228600" marL="228600">
              <a:lnSpc>
                <a:spcPct val="150000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成立不满三年者，业绩风险权重并入持仓风险（持仓风险权重升至 100%），并以成立以来最大回撤做附加调整。</a:t>
            </a:r>
          </a:p>
          <a:p>
            <a:pPr algn="l" indent="-228600" marL="228600">
              <a:lnSpc>
                <a:spcPct val="150000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晨星设 </a:t>
            </a:r>
            <a:r>
              <a:rPr lang="en-US" b="tru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2% 排名阈值缓冲</a:t>
            </a: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：单项指标排名跨阈值不足 2% 时沿用前期分值，避免评级频繁跳变。</a:t>
            </a:r>
          </a:p>
        </p:txBody>
      </p:sp>
      <p:cxnSp>
        <p:nvCxnSpPr>
          <p:cNvPr name="Connector 7" id="7"/>
          <p:cNvCxnSpPr/>
          <p:nvPr/>
        </p:nvCxnSpPr>
        <p:spPr>
          <a:xfrm rot="5387722" flipH="false" flipV="false">
            <a:off x="4572000" y="3994161"/>
            <a:ext cx="355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 txBox="true"/>
          <p:nvPr/>
        </p:nvSpPr>
        <p:spPr>
          <a:xfrm rot="0" flipH="false" flipV="false">
            <a:off x="6731000" y="2222500"/>
            <a:ext cx="444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学术评价的时间意识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6731000" y="2730500"/>
            <a:ext cx="4445000" cy="304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28600" marL="228600">
              <a:lnSpc>
                <a:spcPct val="150000"/>
              </a:lnSpc>
              <a:buClr>
                <a:srgbClr val="383838"/>
              </a:buClr>
              <a:buChar char="•"/>
              <a:defRPr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收益指标：日频或月频样本；日频年化约定 </a:t>
            </a:r>
            <a14:m xmlns:a14="http://schemas.microsoft.com/office/drawing/2010/main">
              <m:oMath xmlns:m="http://schemas.openxmlformats.org/officeDocument/2006/math" xmlns:mml="http://www.w3.org/1998/Math/MathML">
                <m:rad>
                  <m:radPr>
                    <m:degHide m:val="on"/>
                  </m:radPr>
                  <m:deg/>
                  <m:e>
                    <m:r>
                      <a:rPr sz="1800">
                        <a:solidFill>
                          <a:srgbClr val="383838"/>
                        </a:solidFill>
                        <a:latin typeface="Noto Serif SC"/>
                        <a:ea typeface="Noto Serif SC"/>
                        <a:cs typeface="Noto Serif SC"/>
                        <a:sym typeface="Noto Serif SC"/>
                      </a:rPr>
                      <m:t>252</m:t>
                    </m:r>
                  </m:e>
                </m:rad>
              </m:oMath>
            </a14:m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，月频 </a:t>
            </a:r>
            <a14:m xmlns:a14="http://schemas.microsoft.com/office/drawing/2010/main">
              <m:oMath xmlns:m="http://schemas.openxmlformats.org/officeDocument/2006/math" xmlns:mml="http://www.w3.org/1998/Math/MathML">
                <m:rad>
                  <m:radPr>
                    <m:degHide m:val="on"/>
                  </m:radPr>
                  <m:deg/>
                  <m:e>
                    <m:r>
                      <a:rPr sz="1800">
                        <a:solidFill>
                          <a:srgbClr val="383838"/>
                        </a:solidFill>
                        <a:latin typeface="Noto Serif SC"/>
                        <a:ea typeface="Noto Serif SC"/>
                        <a:cs typeface="Noto Serif SC"/>
                        <a:sym typeface="Noto Serif SC"/>
                      </a:rPr>
                      <m:t>12</m:t>
                    </m:r>
                  </m:e>
                </m:rad>
              </m:oMath>
            </a14:m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。</a:t>
            </a:r>
            <a:endParaRPr lang="en-US" sz="1100"/>
          </a:p>
          <a:p>
            <a:pPr algn="l" indent="-228600" marL="228600">
              <a:lnSpc>
                <a:spcPct val="150000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回归模型：常用月频数据以避免日频噪声；样本数需报告。</a:t>
            </a:r>
          </a:p>
          <a:p>
            <a:pPr algn="l" indent="-228600" marL="228600">
              <a:lnSpc>
                <a:spcPct val="150000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样本区间应覆盖完整牛熊；不能只挑"好看"的区间。</a:t>
            </a:r>
          </a:p>
          <a:p>
            <a:pPr algn="l" indent="-228600" marL="228600">
              <a:lnSpc>
                <a:spcPct val="150000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合同变更、经理变更、基准变更应分段处理。</a:t>
            </a:r>
          </a:p>
        </p:txBody>
      </p:sp>
      <p:cxnSp>
        <p:nvCxnSpPr>
          <p:cNvPr name="Connector 10" id="10"/>
          <p:cNvCxnSpPr/>
          <p:nvPr/>
        </p:nvCxnSpPr>
        <p:spPr>
          <a:xfrm rot="-4297" flipH="false" flipV="false">
            <a:off x="1016004" y="621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 txBox="true"/>
          <p:nvPr/>
        </p:nvSpPr>
        <p:spPr>
          <a:xfrm rot="0" flipH="false" flipV="false">
            <a:off x="1016000" y="63500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787878"/>
                </a:solidFill>
                <a:latin typeface="Noto Serif SC"/>
                <a:ea typeface="Noto Serif SC"/>
                <a:cs typeface="Noto Serif SC"/>
                <a:sym typeface="Noto Serif SC"/>
              </a:rPr>
              <a:t>来源：Morningstar 晨星《基金产品风险评价方法》第二部分；Sharpe (1994) 关于时间聚合的讨论。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02 · 评价思路与方法论框架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晨星基金产品风险评价框架概览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57290" flipH="false" flipV="false">
            <a:off x="1016053" y="1771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2159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定量与定性相结合：</a:t>
            </a:r>
            <a:r>
              <a:rPr lang="en-US" b="tru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定量占 65%，定性占 35%</a:t>
            </a: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；持仓风险内部再分定量 50%、定性 50%。</a:t>
            </a:r>
            <a:endParaRPr lang="en-US" sz="1100"/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016000" y="2857500"/>
          <a:ext cx="10160000" cy="31242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86000"/>
                <a:gridCol w="1270000"/>
                <a:gridCol w="6604000"/>
              </a:tblGrid>
              <a:tr h="4572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指标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权重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说明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基金持仓风险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70%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以注册类型与晨星分类为基础，结合补充标签识别，分 1–5 档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晨星评级调整风险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Morningstar Return 与 MRAR 之差，反映下行波动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业绩波动风险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近三年收益率标准差，按同类百分位 0–5 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业绩下跌风险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近三年下行波动率，按同类百分位 0–5 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附加风险项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加项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业绩回撤、基金规模、高权益仓位，按规则加分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name="Connector 7" id="7"/>
          <p:cNvCxnSpPr/>
          <p:nvPr/>
        </p:nvCxnSpPr>
        <p:spPr>
          <a:xfrm rot="-4297" flipH="false" flipV="false">
            <a:off x="1016004" y="621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 txBox="true"/>
          <p:nvPr/>
        </p:nvSpPr>
        <p:spPr>
          <a:xfrm rot="0" flipH="false" flipV="false">
            <a:off x="1016000" y="63500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787878"/>
                </a:solidFill>
                <a:latin typeface="Noto Serif SC"/>
                <a:ea typeface="Noto Serif SC"/>
                <a:cs typeface="Noto Serif SC"/>
                <a:sym typeface="Noto Serif SC"/>
              </a:rPr>
              <a:t>来源：Morningstar 晨星《基金产品风险评价方法》（2026 年 7 月 31 日生效）第二部分。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02 · 评价思路与方法论框架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综合风险得分如何映射到 R1–R5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57290" flipH="false" flipV="false">
            <a:off x="1016053" y="1771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2159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加权得分加上附加项后，按以下区间映射为五档风险等级：</a:t>
            </a:r>
            <a:endParaRPr lang="en-US" sz="1100"/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016000" y="2857500"/>
          <a:ext cx="10160000" cy="27432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32000"/>
                <a:gridCol w="2540000"/>
                <a:gridCol w="5588000"/>
              </a:tblGrid>
              <a:tr h="4572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风险等级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综合得分区间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典型对应产品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低风险 R1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[0, 1.4)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货币市场基金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中低风险 R2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[1.4, 2.2)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纯债、利率债、信用债、短债、市场中性策略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中风险 R3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[2.2, 3.2)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普通债券、积极债券、可转债、宽基混合与股票基金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中高风险 R4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[3.2, 4.7)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行业主题股票、科创板/创业板/北交所重仓基金、QDII 行业基金</a:t>
                      </a:r>
                      <a:endParaRPr lang="en-US" sz="1100"/>
                    </a:p>
                  </a:txBody>
                  <a:tcPr anchor="ctr" anchorCtr="false" marL="101600" marR="1016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高风险 R5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[4.7, ∞)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大宗商品、衍生品及其他高风险结构产品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7" id="7"/>
          <p:cNvSpPr txBox="true"/>
          <p:nvPr/>
        </p:nvSpPr>
        <p:spPr>
          <a:xfrm rot="0" flipH="false" flipV="false">
            <a:off x="1016000" y="5651500"/>
            <a:ext cx="10160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规则提示：</a:t>
            </a: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合同约定权益仓位上限 ≥ 80% 或长期实际权益仓位 &gt; 30% 的基金，持仓风险不得低于 3 分，对应综合等级不低于 R3。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4297" flipH="false" flipV="false">
            <a:off x="1016004" y="621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 txBox="true"/>
          <p:nvPr/>
        </p:nvSpPr>
        <p:spPr>
          <a:xfrm rot="0" flipH="false" flipV="false">
            <a:off x="1016000" y="63500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787878"/>
                </a:solidFill>
                <a:latin typeface="Noto Serif SC"/>
                <a:ea typeface="Noto Serif SC"/>
                <a:cs typeface="Noto Serif SC"/>
                <a:sym typeface="Noto Serif SC"/>
              </a:rPr>
              <a:t>来源：Morningstar 晨星《基金产品风险评价方法》综合风险评价部分。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02 · 评价思路与方法论框架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评价指标体系总览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57290" flipH="false" flipV="false">
            <a:off x="1016053" y="1771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016000" y="2286000"/>
          <a:ext cx="10160000" cy="3683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32000"/>
                <a:gridCol w="4064000"/>
                <a:gridCol w="4064000"/>
              </a:tblGrid>
              <a:tr h="482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层次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核心指标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回答的问题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收益度量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单期收益、累计收益、CAGR、算术平均年化</a:t>
                      </a:r>
                      <a:endParaRPr lang="en-US" sz="1100"/>
                    </a:p>
                  </a:txBody>
                  <a:tcPr anchor="ctr" anchorCtr="false" marL="101600" marR="1016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这段时间赚了多少？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风险度量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波动率 σ、下行标准差、最大回撤 MDD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收益不稳定与亏损路径有多深？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风险调整收益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Sharpe、Sortino、Treynor、Calmar、IR</a:t>
                      </a:r>
                      <a:endParaRPr lang="en-US" sz="1100"/>
                    </a:p>
                  </a:txBody>
                  <a:tcPr anchor="ctr" anchorCtr="false" marL="101600" marR="1016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每承担一单位风险换来多少超额？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主动程度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跟踪误差 TE、Active Share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与基准偏离多大？是真主动还是伪主动？</a:t>
                      </a:r>
                      <a:endParaRPr lang="en-US" sz="1100"/>
                    </a:p>
                  </a:txBody>
                  <a:tcPr anchor="ctr" anchorCtr="false" marL="101600" marR="1016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604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归因与能力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Jensen α、多因子 α、Brinson、Barra、持续性检验</a:t>
                      </a:r>
                      <a:endParaRPr lang="en-US" sz="1100"/>
                    </a:p>
                  </a:txBody>
                  <a:tcPr anchor="ctr" anchorCtr="false" marL="101600" marR="1016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扣除已知暴露后还剩什么？是否可持续？</a:t>
                      </a:r>
                      <a:endParaRPr lang="en-US" sz="1100"/>
                    </a:p>
                  </a:txBody>
                  <a:tcPr anchor="ctr" anchorCtr="false" marL="101600" marR="1016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name="Connector 6" id="6"/>
          <p:cNvCxnSpPr/>
          <p:nvPr/>
        </p:nvCxnSpPr>
        <p:spPr>
          <a:xfrm rot="-4297" flipH="false" flipV="false">
            <a:off x="1016004" y="621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 txBox="true"/>
          <p:nvPr/>
        </p:nvSpPr>
        <p:spPr>
          <a:xfrm rot="0" flipH="false" flipV="false">
            <a:off x="1016000" y="63500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787878"/>
                </a:solidFill>
                <a:latin typeface="Noto Serif SC"/>
                <a:ea typeface="Noto Serif SC"/>
                <a:cs typeface="Noto Serif SC"/>
                <a:sym typeface="Noto Serif SC"/>
              </a:rPr>
              <a:t>后续第三、四、五部分依次展开收益风险、风险调整、归因与能力三组指标。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002FA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2286000"/>
            <a:ext cx="254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9600">
                <a:solidFill>
                  <a:srgbClr val="FFFFFF">
                    <a:alpha val="25098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03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2969" flipH="false" flipV="false">
            <a:off x="1016040" y="4057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FF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 txBox="true"/>
          <p:nvPr/>
        </p:nvSpPr>
        <p:spPr>
          <a:xfrm rot="0" flipH="false" flipV="false">
            <a:off x="1016000" y="4318000"/>
            <a:ext cx="889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收益与风险指标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016000" y="5334000"/>
            <a:ext cx="889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74902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从净值序列到收益、波动、回撤与持仓风险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03 · 收益与风险指标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收益类指标：单期、累计与年化复合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57290" flipH="false" flipV="false">
            <a:off x="1016053" y="1771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22225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单期收益率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16000" y="2667000"/>
            <a:ext cx="482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14:m xmlns:a14="http://schemas.microsoft.com/office/drawing/2010/main">
              <m:oMathPara xmlns:m="http://schemas.openxmlformats.org/officeDocument/2006/math">
                <m:oMathParaPr>
                  <m:jc m:val="left"/>
                </m:oMathParaPr>
                <m:oMath>
                  <m:sSub>
                    <m:e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r</m:t>
                      </m:r>
                    </m:e>
                    <m:sub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p,t</m:t>
                      </m:r>
                    </m:sub>
                  </m:sSub>
                  <m: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=</m:t>
                  </m:r>
                  <m:f>
                    <m:fPr>
                      <m:type m:val="bar"/>
                    </m:fPr>
                    <m:num>
                      <m:sSub>
                        <m:e>
                          <m:r>
                            <a:rPr sz="1800">
                              <a:solidFill>
                                <a:srgbClr val="383838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V</m:t>
                          </m:r>
                        </m:e>
                        <m:sub>
                          <m:r>
                            <a:rPr sz="1800">
                              <a:solidFill>
                                <a:srgbClr val="383838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t</m:t>
                          </m:r>
                        </m:sub>
                      </m:sSub>
                    </m:num>
                    <m:den>
                      <m:sSub>
                        <m:e>
                          <m:r>
                            <a:rPr sz="1800">
                              <a:solidFill>
                                <a:srgbClr val="383838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V</m:t>
                          </m:r>
                        </m:e>
                        <m:sub>
                          <m:r>
                            <a:rPr sz="1800">
                              <a:solidFill>
                                <a:srgbClr val="383838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t-1</m:t>
                          </m:r>
                        </m:sub>
                      </m:sSub>
                    </m:den>
                  </m:f>
                  <m: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-1</m:t>
                  </m:r>
                </m:oMath>
              </m:oMathPara>
            </a14:m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16000" y="3492500"/>
            <a:ext cx="482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800">
                <a:solidFill>
                  <a:srgbClr val="5A5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分子分母须为同一份额、同一净值口径；净值绝对水平高低不决定本期收益。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1016000" y="43180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累计收益率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1016000" y="4762500"/>
            <a:ext cx="482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14:m xmlns:a14="http://schemas.microsoft.com/office/drawing/2010/main">
              <m:oMathPara xmlns:m="http://schemas.openxmlformats.org/officeDocument/2006/math">
                <m:oMathParaPr>
                  <m:jc m:val="left"/>
                </m:oMathParaPr>
                <m:oMath>
                  <m:sSub>
                    <m:e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R</m:t>
                      </m:r>
                    </m:e>
                    <m:sub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cum</m:t>
                      </m:r>
                    </m:sub>
                  </m:sSub>
                  <m: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=</m:t>
                  </m:r>
                  <m:nary>
                    <m:naryPr>
                      <m:chr m:val="∏"/>
                      <m:limLoc m:val="undOvr"/>
                      <m:grow m:val="1"/>
                      <m:subHide m:val="off"/>
                      <m:supHide m:val="off"/>
                    </m:naryPr>
                    <m:sub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t=1</m:t>
                      </m:r>
                    </m:sub>
                    <m:sup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n</m:t>
                      </m:r>
                    </m:sup>
                    <m:e>
                      <m:d>
                        <m:dPr>
                          <m:sepChr m:val=","/>
                        </m:dPr>
                        <m:e>
                          <m:r>
                            <a:rPr sz="1800">
                              <a:solidFill>
                                <a:srgbClr val="383838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1+</m:t>
                          </m:r>
                          <m:sSub>
                            <m:e>
                              <m:r>
                                <a:rPr sz="1800">
                                  <a:solidFill>
                                    <a:srgbClr val="383838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r</m:t>
                              </m:r>
                            </m:e>
                            <m:sub>
                              <m:r>
                                <a:rPr sz="1800">
                                  <a:solidFill>
                                    <a:srgbClr val="383838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p,t</m:t>
                              </m:r>
                            </m:sub>
                          </m:sSub>
                        </m:e>
                      </m:d>
                    </m:e>
                  </m:nary>
                  <m: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-1=</m:t>
                  </m:r>
                  <m:f>
                    <m:fPr>
                      <m:type m:val="bar"/>
                    </m:fPr>
                    <m:num>
                      <m:sSub>
                        <m:e>
                          <m:r>
                            <a:rPr sz="1800">
                              <a:solidFill>
                                <a:srgbClr val="383838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V</m:t>
                          </m:r>
                        </m:e>
                        <m:sub>
                          <m:r>
                            <a:rPr sz="1800">
                              <a:solidFill>
                                <a:srgbClr val="383838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T</m:t>
                          </m:r>
                        </m:sub>
                      </m:sSub>
                    </m:num>
                    <m:den>
                      <m:sSub>
                        <m:e>
                          <m:r>
                            <a:rPr sz="1800">
                              <a:solidFill>
                                <a:srgbClr val="383838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V</m:t>
                          </m:r>
                        </m:e>
                        <m:sub>
                          <m:r>
                            <a:rPr sz="1800">
                              <a:solidFill>
                                <a:srgbClr val="383838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0</m:t>
                          </m:r>
                        </m:sub>
                      </m:sSub>
                    </m:den>
                  </m:f>
                  <m: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-1</m:t>
                  </m:r>
                </m:oMath>
              </m:oMathPara>
            </a14:m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016000" y="55880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800">
                <a:solidFill>
                  <a:srgbClr val="5A5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不能用算术加总代替复利；先涨 10% 再跌 10% 不是回到原点。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5388346" flipH="false" flipV="false">
            <a:off x="4476750" y="4089411"/>
            <a:ext cx="3746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 txBox="true"/>
          <p:nvPr/>
        </p:nvSpPr>
        <p:spPr>
          <a:xfrm rot="0" flipH="false" flipV="false">
            <a:off x="6731000" y="2222500"/>
            <a:ext cx="444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年化复合收益率 CAGR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6731000" y="2667000"/>
            <a:ext cx="444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14:m xmlns:a14="http://schemas.microsoft.com/office/drawing/2010/main">
              <m:oMathPara xmlns:m="http://schemas.openxmlformats.org/officeDocument/2006/math">
                <m:oMathParaPr>
                  <m:jc m:val="left"/>
                </m:oMathParaPr>
                <m:oMath>
                  <m:r>
                    <m:rPr>
                      <m:sty m:val="p"/>
                    </m:rP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C</m:t>
                  </m:r>
                  <m:r>
                    <m:rPr>
                      <m:sty m:val="p"/>
                    </m:rP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A</m:t>
                  </m:r>
                  <m:r>
                    <m:rPr>
                      <m:sty m:val="p"/>
                    </m:rP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G</m:t>
                  </m:r>
                  <m:r>
                    <m:rPr>
                      <m:sty m:val="p"/>
                    </m:rP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R</m:t>
                  </m:r>
                  <m:r>
                    <m:rPr>
                      <m:sty m:val="p"/>
                    </m:rP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=</m:t>
                  </m:r>
                  <m:sSup>
                    <m:e>
                      <m:d>
                        <m:dPr>
                          <m:sepChr m:val=","/>
                        </m:dPr>
                        <m:e>
                          <m:f>
                            <m:fPr>
                              <m:type m:val="bar"/>
                            </m:fPr>
                            <m:num>
                              <m:sSub>
                                <m:e>
                                  <m:r>
                                    <m:rPr>
                                      <m:sty m:val="p"/>
                                    </m:rPr>
                                    <a:rPr sz="1800">
                                      <a:solidFill>
                                        <a:srgbClr val="383838"/>
                                      </a:solidFill>
                                      <a:latin typeface="Noto Serif SC"/>
                                      <a:ea typeface="Noto Serif SC"/>
                                      <a:cs typeface="Noto Serif SC"/>
                                      <a:sym typeface="Noto Serif SC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sz="1800">
                                      <a:solidFill>
                                        <a:srgbClr val="383838"/>
                                      </a:solidFill>
                                      <a:latin typeface="Noto Serif SC"/>
                                      <a:ea typeface="Noto Serif SC"/>
                                      <a:cs typeface="Noto Serif SC"/>
                                      <a:sym typeface="Noto Serif SC"/>
                                    </a:rPr>
                                    <m:t>T</m:t>
                                  </m:r>
                                </m:sub>
                              </m:sSub>
                            </m:num>
                            <m:den>
                              <m:sSub>
                                <m:e>
                                  <m:r>
                                    <m:rPr>
                                      <m:sty m:val="p"/>
                                    </m:rPr>
                                    <a:rPr sz="1800">
                                      <a:solidFill>
                                        <a:srgbClr val="383838"/>
                                      </a:solidFill>
                                      <a:latin typeface="Noto Serif SC"/>
                                      <a:ea typeface="Noto Serif SC"/>
                                      <a:cs typeface="Noto Serif SC"/>
                                      <a:sym typeface="Noto Serif SC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sz="1800">
                                      <a:solidFill>
                                        <a:srgbClr val="383838"/>
                                      </a:solidFill>
                                      <a:latin typeface="Noto Serif SC"/>
                                      <a:ea typeface="Noto Serif SC"/>
                                      <a:cs typeface="Noto Serif SC"/>
                                      <a:sym typeface="Noto Serif SC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e>
                    <m:sup>
                      <m:f>
                        <m:fPr>
                          <m:type m:val="lin"/>
                        </m:fPr>
                        <m:num>
                          <m:r>
                            <m:rPr>
                              <m:sty m:val="p"/>
                            </m:rPr>
                            <a:rPr sz="1800">
                              <a:solidFill>
                                <a:srgbClr val="383838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sz="1800">
                              <a:solidFill>
                                <a:srgbClr val="383838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Y</m:t>
                          </m:r>
                        </m:den>
                      </m:f>
                    </m:sup>
                  </m:sSup>
                  <m:r>
                    <m:rPr>
                      <m:sty m:val="p"/>
                    </m:rP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-</m:t>
                  </m:r>
                  <m:r>
                    <m:rPr>
                      <m:sty m:val="p"/>
                    </m:rP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1</m:t>
                  </m:r>
                </m:oMath>
              </m:oMathPara>
            </a14:m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6731000" y="3492500"/>
            <a:ext cx="4445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800">
                <a:solidFill>
                  <a:srgbClr val="5A5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其中 Y 为起止区间年数（通常按实际自然日 / 365.25 折算）。CAGR 回答"若每年按固定复合率增长，要达到终值需要多大的年率"。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6731000" y="4889500"/>
            <a:ext cx="4445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边界：</a:t>
            </a: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CAGR 不是每一年的实际收益，也不代表未来每年能取得这一收益。跨期限比较时必须使用同一口径。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4297" flipH="false" flipV="false">
            <a:off x="1016004" y="621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 txBox="true"/>
          <p:nvPr/>
        </p:nvSpPr>
        <p:spPr>
          <a:xfrm rot="0" flipH="false" flipV="false">
            <a:off x="1016000" y="63500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787878"/>
                </a:solidFill>
                <a:latin typeface="Noto Serif SC"/>
                <a:ea typeface="Noto Serif SC"/>
                <a:cs typeface="Noto Serif SC"/>
                <a:sym typeface="Noto Serif SC"/>
              </a:rPr>
              <a:t>来源：Sharpe (1994)；基金信息披露惯例。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03 · 收益与风险指标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两个"年化"不是一回事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57290" flipH="false" flipV="false">
            <a:off x="1016053" y="1771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016000" y="2286000"/>
          <a:ext cx="10160000" cy="2794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32000"/>
                <a:gridCol w="4064000"/>
                <a:gridCol w="4064000"/>
              </a:tblGrid>
              <a:tr h="5461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口径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算术平均年化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CAGR（几何年化）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</a:tr>
              <a:tr h="7493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公式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14:m xmlns:a14="http://schemas.microsoft.com/office/drawing/2010/main"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>
                            <m:sSub>
                              <m:e>
                                <m:acc>
                                  <m:accPr>
                                    <m:chr m:val="̄"/>
                                  </m:accPr>
                                  <m:e>
                                    <m:r>
                                      <a:rPr sz="1800">
                                        <a:solidFill>
                                          <a:srgbClr val="383838"/>
                                        </a:solidFill>
                                        <a:latin typeface="Noto Sans SC"/>
                                        <a:ea typeface="Noto Sans SC"/>
                                        <a:cs typeface="Noto Sans SC"/>
                                        <a:sym typeface="Noto Sans SC"/>
                                      </a:rPr>
                                      <m:t>r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sz="1800">
                                    <a:solidFill>
                                      <a:srgbClr val="383838"/>
                                    </a:solidFill>
                                    <a:latin typeface="Noto Sans SC"/>
                                    <a:ea typeface="Noto Sans SC"/>
                                    <a:cs typeface="Noto Sans SC"/>
                                    <a:sym typeface="Noto Sans SC"/>
                                  </a:rPr>
                                  <m:t>ann</m:t>
                                </m:r>
                              </m:sub>
                            </m:sSub>
                            <m:r>
                              <a:rPr sz="1800">
                                <a:solidFill>
                                  <a:srgbClr val="383838"/>
                                </a:solidFill>
                                <a:latin typeface="Noto Sans SC"/>
                                <a:ea typeface="Noto Sans SC"/>
                                <a:cs typeface="Noto Sans SC"/>
                                <a:sym typeface="Noto Sans SC"/>
                              </a:rPr>
                              <m:t>=k⋅</m:t>
                            </m:r>
                            <m:sSub>
                              <m:e>
                                <m:acc>
                                  <m:accPr>
                                    <m:chr m:val="̄"/>
                                  </m:accPr>
                                  <m:e>
                                    <m:r>
                                      <a:rPr sz="1800">
                                        <a:solidFill>
                                          <a:srgbClr val="383838"/>
                                        </a:solidFill>
                                        <a:latin typeface="Noto Sans SC"/>
                                        <a:ea typeface="Noto Sans SC"/>
                                        <a:cs typeface="Noto Sans SC"/>
                                        <a:sym typeface="Noto Sans SC"/>
                                      </a:rPr>
                                      <m:t>r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sz="1800">
                                    <a:solidFill>
                                      <a:srgbClr val="383838"/>
                                    </a:solidFill>
                                    <a:latin typeface="Noto Sans SC"/>
                                    <a:ea typeface="Noto Sans SC"/>
                                    <a:cs typeface="Noto Sans SC"/>
                                    <a:sym typeface="Noto Sans SC"/>
                                  </a:rPr>
                                  <m:t>p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14:m xmlns:a14="http://schemas.microsoft.com/office/drawing/2010/main"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>
                            <m:sSup>
                              <m:e>
                                <m:d>
                                  <m:dPr>
                                    <m:sepChr m:val=","/>
                                  </m:dPr>
                                  <m:e>
                                    <m:f>
                                      <m:fPr>
                                        <m:type m:val="lin"/>
                                      </m:fPr>
                                      <m:num>
                                        <m:sSub>
                                          <m:e>
                                            <m:r>
                                              <a:rPr sz="1800">
                                                <a:solidFill>
                                                  <a:srgbClr val="383838"/>
                                                </a:solidFill>
                                                <a:latin typeface="Noto Sans SC"/>
                                                <a:ea typeface="Noto Sans SC"/>
                                                <a:cs typeface="Noto Sans SC"/>
                                                <a:sym typeface="Noto Sans SC"/>
                                              </a:rPr>
                                              <m:t>V</m:t>
                                            </m:r>
                                          </m:e>
                                          <m:sub>
                                            <m:r>
                                              <a:rPr sz="1800">
                                                <a:solidFill>
                                                  <a:srgbClr val="383838"/>
                                                </a:solidFill>
                                                <a:latin typeface="Noto Sans SC"/>
                                                <a:ea typeface="Noto Sans SC"/>
                                                <a:cs typeface="Noto Sans SC"/>
                                                <a:sym typeface="Noto Sans SC"/>
                                              </a:rPr>
                                              <m:t>T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sSub>
                                          <m:e>
                                            <m:r>
                                              <a:rPr sz="1800">
                                                <a:solidFill>
                                                  <a:srgbClr val="383838"/>
                                                </a:solidFill>
                                                <a:latin typeface="Noto Sans SC"/>
                                                <a:ea typeface="Noto Sans SC"/>
                                                <a:cs typeface="Noto Sans SC"/>
                                                <a:sym typeface="Noto Sans SC"/>
                                              </a:rPr>
                                              <m:t>V</m:t>
                                            </m:r>
                                          </m:e>
                                          <m:sub>
                                            <m:r>
                                              <a:rPr sz="1800">
                                                <a:solidFill>
                                                  <a:srgbClr val="383838"/>
                                                </a:solidFill>
                                                <a:latin typeface="Noto Sans SC"/>
                                                <a:ea typeface="Noto Sans SC"/>
                                                <a:cs typeface="Noto Sans SC"/>
                                                <a:sym typeface="Noto Sans SC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f>
                                  <m:fPr>
                                    <m:type m:val="lin"/>
                                  </m:fPr>
                                  <m:num>
                                    <m:r>
                                      <a:rPr sz="1800">
                                        <a:solidFill>
                                          <a:srgbClr val="383838"/>
                                        </a:solidFill>
                                        <a:latin typeface="Noto Sans SC"/>
                                        <a:ea typeface="Noto Sans SC"/>
                                        <a:cs typeface="Noto Sans SC"/>
                                        <a:sym typeface="Noto Sans SC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sz="1800">
                                        <a:solidFill>
                                          <a:srgbClr val="383838"/>
                                        </a:solidFill>
                                        <a:latin typeface="Noto Sans SC"/>
                                        <a:ea typeface="Noto Sans SC"/>
                                        <a:cs typeface="Noto Sans SC"/>
                                        <a:sym typeface="Noto Sans SC"/>
                                      </a:rPr>
                                      <m:t>Y</m:t>
                                    </m:r>
                                  </m:den>
                                </m:f>
                              </m:sup>
                            </m:sSup>
                            <m:r>
                              <a:rPr sz="1800">
                                <a:solidFill>
                                  <a:srgbClr val="383838"/>
                                </a:solidFill>
                                <a:latin typeface="Noto Sans SC"/>
                                <a:ea typeface="Noto Sans SC"/>
                                <a:cs typeface="Noto Sans SC"/>
                                <a:sym typeface="Noto Sans SC"/>
                              </a:rPr>
                              <m:t>-1</m:t>
                            </m:r>
                          </m:oMath>
                        </m:oMathPara>
                      </a14:m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493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含义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单期平均收益乘以年化系数（日频 252、月频 12）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由起止净值反推的等效固定复合年率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493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主要用途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Sharpe、IR、回归 α 的分子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跨期限比较、宣传材料中的"年化收益"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6" id="6"/>
          <p:cNvSpPr txBox="true"/>
          <p:nvPr/>
        </p:nvSpPr>
        <p:spPr>
          <a:xfrm rot="0" flipH="false" flipV="false">
            <a:off x="1016000" y="53975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课堂提醒：</a:t>
            </a: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两者数值通常不等，差异来自波动。报告中出现两个"年化收益"时，必须分别标注口径，不能默认它们相等，也不能把 CAGR 直接放进 Sharpe 或 IR 的分子。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4297" flipH="false" flipV="false">
            <a:off x="1016004" y="621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 txBox="true"/>
          <p:nvPr/>
        </p:nvSpPr>
        <p:spPr>
          <a:xfrm rot="0" flipH="false" flipV="false">
            <a:off x="1016000" y="63500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787878"/>
                </a:solidFill>
                <a:latin typeface="Noto Serif SC"/>
                <a:ea typeface="Noto Serif SC"/>
                <a:cs typeface="Noto Serif SC"/>
                <a:sym typeface="Noto Serif SC"/>
              </a:rPr>
              <a:t>来源：Sharpe (1994) 关于时间聚合与算术/几何平均的讨论。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03 · 收益与风险指标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波动率：总风险的基本度量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57290" flipH="false" flipV="false">
            <a:off x="1016053" y="1771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2286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14:m xmlns:a14="http://schemas.microsoft.com/office/drawing/2010/main">
              <m:oMathPara xmlns:m="http://schemas.openxmlformats.org/officeDocument/2006/math">
                <m:oMathParaPr>
                  <m:jc m:val="left"/>
                </m:oMathParaPr>
                <m:oMath>
                  <m:sSub>
                    <m:e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s</m:t>
                      </m:r>
                    </m:e>
                    <m:sub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p</m:t>
                      </m:r>
                    </m:sub>
                  </m:sSub>
                  <m: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=</m:t>
                  </m:r>
                  <m:rad>
                    <m:radPr>
                      <m:degHide m:val="on"/>
                    </m:radPr>
                    <m:deg/>
                    <m:e>
                      <m:f>
                        <m:fPr>
                          <m:type m:val="bar"/>
                        </m:fPr>
                        <m:num>
                          <m:r>
                            <a:rPr sz="1800">
                              <a:solidFill>
                                <a:srgbClr val="383838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1</m:t>
                          </m:r>
                        </m:num>
                        <m:den>
                          <m:r>
                            <a:rPr sz="1800">
                              <a:solidFill>
                                <a:srgbClr val="383838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n-1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1"/>
                          <m:subHide m:val="off"/>
                          <m:supHide m:val="off"/>
                        </m:naryPr>
                        <m:sub>
                          <m:r>
                            <a:rPr sz="1800">
                              <a:solidFill>
                                <a:srgbClr val="383838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t=1</m:t>
                          </m:r>
                        </m:sub>
                        <m:sup>
                          <m:r>
                            <a:rPr sz="1800">
                              <a:solidFill>
                                <a:srgbClr val="383838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n</m:t>
                          </m:r>
                        </m:sup>
                        <m:e>
                          <m:sSup>
                            <m:e>
                              <m:d>
                                <m:dPr>
                                  <m:sepChr m:val=","/>
                                </m:dPr>
                                <m:e>
                                  <m:sSub>
                                    <m:e>
                                      <m:r>
                                        <a:rPr sz="1800">
                                          <a:solidFill>
                                            <a:srgbClr val="383838"/>
                                          </a:solidFill>
                                          <a:latin typeface="Noto Serif SC"/>
                                          <a:ea typeface="Noto Serif SC"/>
                                          <a:cs typeface="Noto Serif SC"/>
                                          <a:sym typeface="Noto Serif SC"/>
                                        </a:rPr>
                                        <m:t>r</m:t>
                                      </m:r>
                                    </m:e>
                                    <m:sub>
                                      <m:r>
                                        <a:rPr sz="1800">
                                          <a:solidFill>
                                            <a:srgbClr val="383838"/>
                                          </a:solidFill>
                                          <a:latin typeface="Noto Serif SC"/>
                                          <a:ea typeface="Noto Serif SC"/>
                                          <a:cs typeface="Noto Serif SC"/>
                                          <a:sym typeface="Noto Serif SC"/>
                                        </a:rPr>
                                        <m:t>p,t</m:t>
                                      </m:r>
                                    </m:sub>
                                  </m:sSub>
                                  <m:r>
                                    <a:rPr sz="1800">
                                      <a:solidFill>
                                        <a:srgbClr val="383838"/>
                                      </a:solidFill>
                                      <a:latin typeface="Noto Serif SC"/>
                                      <a:ea typeface="Noto Serif SC"/>
                                      <a:cs typeface="Noto Serif SC"/>
                                      <a:sym typeface="Noto Serif SC"/>
                                    </a:rPr>
                                    <m:t>-</m:t>
                                  </m:r>
                                  <m:sSub>
                                    <m:e>
                                      <m:acc>
                                        <m:accPr>
                                          <m:chr m:val="̄"/>
                                        </m:accPr>
                                        <m:e>
                                          <m:r>
                                            <a:rPr sz="1800">
                                              <a:solidFill>
                                                <a:srgbClr val="383838"/>
                                              </a:solidFill>
                                              <a:latin typeface="Noto Serif SC"/>
                                              <a:ea typeface="Noto Serif SC"/>
                                              <a:cs typeface="Noto Serif SC"/>
                                              <a:sym typeface="Noto Serif SC"/>
                                            </a:rPr>
                                            <m:t>r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sz="1800">
                                          <a:solidFill>
                                            <a:srgbClr val="383838"/>
                                          </a:solidFill>
                                          <a:latin typeface="Noto Serif SC"/>
                                          <a:ea typeface="Noto Serif SC"/>
                                          <a:cs typeface="Noto Serif SC"/>
                                          <a:sym typeface="Noto Serif SC"/>
                                        </a:rPr>
                                        <m:t>p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sz="1800">
                                  <a:solidFill>
                                    <a:srgbClr val="383838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e>
                  </m:rad>
                  <m: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,</m:t>
                  </m:r>
                  <m:r>
                    <m:rPr>
                      <m:sty m:val="p"/>
                    </m:rP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  </m:t>
                  </m:r>
                  <m:sSub>
                    <m:e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σ</m:t>
                      </m:r>
                    </m:e>
                    <m:sub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ann</m:t>
                      </m:r>
                    </m:sub>
                  </m:sSub>
                  <m: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=</m:t>
                  </m:r>
                  <m:sSub>
                    <m:e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s</m:t>
                      </m:r>
                    </m:e>
                    <m:sub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p</m:t>
                      </m:r>
                    </m:sub>
                  </m:sSub>
                  <m:rad>
                    <m:radPr>
                      <m:degHide m:val="on"/>
                    </m:radPr>
                    <m:deg/>
                    <m:e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k</m:t>
                      </m:r>
                    </m:e>
                  </m:rad>
                </m:oMath>
              </m:oMathPara>
            </a14:m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16000" y="35560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它度量什么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16000" y="4000500"/>
            <a:ext cx="4826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28600" marL="228600">
              <a:lnSpc>
                <a:spcPct val="141666"/>
              </a:lnSpc>
              <a:buClr>
                <a:srgbClr val="383838"/>
              </a:buClr>
              <a:buChar char="•"/>
              <a:defRPr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收益围绕均值的离散程度</a:t>
            </a:r>
            <a:endParaRPr lang="en-US" sz="1100"/>
          </a:p>
          <a:p>
            <a:pPr algn="l" indent="-228600" marL="228600">
              <a:lnSpc>
                <a:spcPct val="141666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上涨与下跌同等计入波动</a:t>
            </a:r>
          </a:p>
          <a:p>
            <a:pPr algn="l" indent="-228600" marL="228600">
              <a:lnSpc>
                <a:spcPct val="141666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样本标准差分母为 n−1</a:t>
            </a:r>
          </a:p>
          <a:p>
            <a:pPr algn="l" indent="-228600" marL="228600">
              <a:lnSpc>
                <a:spcPct val="141666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日频年化乘 √252，月频乘 √12</a:t>
            </a:r>
          </a:p>
        </p:txBody>
      </p:sp>
      <p:cxnSp>
        <p:nvCxnSpPr>
          <p:cNvPr name="Connector 8" id="8"/>
          <p:cNvCxnSpPr/>
          <p:nvPr/>
        </p:nvCxnSpPr>
        <p:spPr>
          <a:xfrm rot="5378514" flipH="false" flipV="false">
            <a:off x="5334000" y="4565670"/>
            <a:ext cx="203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 txBox="true"/>
          <p:nvPr/>
        </p:nvSpPr>
        <p:spPr>
          <a:xfrm rot="0" flipH="false" flipV="false">
            <a:off x="6731000" y="3556000"/>
            <a:ext cx="444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它不度量什么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6731000" y="4000500"/>
            <a:ext cx="4445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28600" marL="228600">
              <a:lnSpc>
                <a:spcPct val="141666"/>
              </a:lnSpc>
              <a:buClr>
                <a:srgbClr val="383838"/>
              </a:buClr>
              <a:buChar char="•"/>
              <a:defRPr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不是"亏损概率"或"最大可能损失"</a:t>
            </a:r>
            <a:endParaRPr lang="en-US" sz="1100"/>
          </a:p>
          <a:p>
            <a:pPr algn="l" indent="-228600" marL="228600">
              <a:lnSpc>
                <a:spcPct val="141666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不区分上行波动与下行波动</a:t>
            </a:r>
          </a:p>
          <a:p>
            <a:pPr algn="l" indent="-228600" marL="228600">
              <a:lnSpc>
                <a:spcPct val="141666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√k 缩放依赖收益不相关、同方差假设</a:t>
            </a:r>
          </a:p>
          <a:p>
            <a:pPr algn="l" indent="-228600" marL="228600">
              <a:lnSpc>
                <a:spcPct val="141666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时变波动与自相关下，年化值只是约定性汇总</a:t>
            </a:r>
          </a:p>
        </p:txBody>
      </p:sp>
      <p:cxnSp>
        <p:nvCxnSpPr>
          <p:cNvPr name="Connector 11" id="11"/>
          <p:cNvCxnSpPr/>
          <p:nvPr/>
        </p:nvCxnSpPr>
        <p:spPr>
          <a:xfrm rot="-4297" flipH="false" flipV="false">
            <a:off x="1016004" y="621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 txBox="true"/>
          <p:nvPr/>
        </p:nvSpPr>
        <p:spPr>
          <a:xfrm rot="0" flipH="false" flipV="false">
            <a:off x="1016000" y="63500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787878"/>
                </a:solidFill>
                <a:latin typeface="Noto Serif SC"/>
                <a:ea typeface="Noto Serif SC"/>
                <a:cs typeface="Noto Serif SC"/>
                <a:sym typeface="Noto Serif SC"/>
              </a:rPr>
              <a:t>晨星"业绩波动风险"即基于近三年收益率标准差，按同类百分位 0–5 分。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03 · 收益与风险指标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下行风险：只惩罚低于目标的波动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57290" flipH="false" flipV="false">
            <a:off x="1016053" y="1771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2286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14:m xmlns:a14="http://schemas.microsoft.com/office/drawing/2010/main">
              <m:oMathPara xmlns:m="http://schemas.openxmlformats.org/officeDocument/2006/math">
                <m:oMathParaPr>
                  <m:jc m:val="left"/>
                </m:oMathParaPr>
                <m:oMath>
                  <m:sSub>
                    <m:e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σ</m:t>
                      </m:r>
                    </m:e>
                    <m:sub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d</m:t>
                      </m:r>
                    </m:sub>
                  </m:sSub>
                  <m: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=</m:t>
                  </m:r>
                  <m:rad>
                    <m:radPr>
                      <m:degHide m:val="on"/>
                    </m:radPr>
                    <m:deg/>
                    <m:e>
                      <m:f>
                        <m:fPr>
                          <m:type m:val="bar"/>
                        </m:fPr>
                        <m:num>
                          <m:r>
                            <a:rPr sz="1800">
                              <a:solidFill>
                                <a:srgbClr val="383838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1</m:t>
                          </m:r>
                        </m:num>
                        <m:den>
                          <m:r>
                            <a:rPr sz="1800">
                              <a:solidFill>
                                <a:srgbClr val="383838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1"/>
                          <m:subHide m:val="off"/>
                          <m:supHide m:val="on"/>
                        </m:naryPr>
                        <m:sub>
                          <m:r>
                            <a:rPr sz="1800">
                              <a:solidFill>
                                <a:srgbClr val="383838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t: </m:t>
                          </m:r>
                          <m:sSub>
                            <m:e>
                              <m:r>
                                <a:rPr sz="1800">
                                  <a:solidFill>
                                    <a:srgbClr val="383838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r</m:t>
                              </m:r>
                            </m:e>
                            <m:sub>
                              <m:r>
                                <a:rPr sz="1800">
                                  <a:solidFill>
                                    <a:srgbClr val="383838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t</m:t>
                              </m:r>
                            </m:sub>
                          </m:sSub>
                          <m:r>
                            <a:rPr sz="1800">
                              <a:solidFill>
                                <a:srgbClr val="383838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&lt;τ</m:t>
                          </m:r>
                        </m:sub>
                        <m:sup>
                          <m:r>
                            <a:rPr sz="1800">
                              <a:solidFill>
                                <a:srgbClr val="383838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⁣</m:t>
                          </m:r>
                        </m:sup>
                        <m:e>
                          <m:sSup>
                            <m:e>
                              <m:d>
                                <m:dPr>
                                  <m:sepChr m:val=","/>
                                </m:dPr>
                                <m:e>
                                  <m:sSub>
                                    <m:e>
                                      <m:r>
                                        <a:rPr sz="1800">
                                          <a:solidFill>
                                            <a:srgbClr val="383838"/>
                                          </a:solidFill>
                                          <a:latin typeface="Noto Serif SC"/>
                                          <a:ea typeface="Noto Serif SC"/>
                                          <a:cs typeface="Noto Serif SC"/>
                                          <a:sym typeface="Noto Serif SC"/>
                                        </a:rPr>
                                        <m:t>r</m:t>
                                      </m:r>
                                    </m:e>
                                    <m:sub>
                                      <m:r>
                                        <a:rPr sz="1800">
                                          <a:solidFill>
                                            <a:srgbClr val="383838"/>
                                          </a:solidFill>
                                          <a:latin typeface="Noto Serif SC"/>
                                          <a:ea typeface="Noto Serif SC"/>
                                          <a:cs typeface="Noto Serif SC"/>
                                          <a:sym typeface="Noto Serif SC"/>
                                        </a:rPr>
                                        <m:t>t</m:t>
                                      </m:r>
                                    </m:sub>
                                  </m:sSub>
                                  <m:r>
                                    <a:rPr sz="1800">
                                      <a:solidFill>
                                        <a:srgbClr val="383838"/>
                                      </a:solidFill>
                                      <a:latin typeface="Noto Serif SC"/>
                                      <a:ea typeface="Noto Serif SC"/>
                                      <a:cs typeface="Noto Serif SC"/>
                                      <a:sym typeface="Noto Serif SC"/>
                                    </a:rPr>
                                    <m:t>-τ</m:t>
                                  </m:r>
                                </m:e>
                              </m:d>
                            </m:e>
                            <m:sup>
                              <m:r>
                                <a:rPr sz="1800">
                                  <a:solidFill>
                                    <a:srgbClr val="383838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e>
                  </m:rad>
                </m:oMath>
              </m:oMathPara>
            </a14:m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16000" y="35560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与波动率的差别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16000" y="4000500"/>
            <a:ext cx="4826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28600" marL="228600">
              <a:lnSpc>
                <a:spcPct val="141666"/>
              </a:lnSpc>
              <a:buClr>
                <a:srgbClr val="383838"/>
              </a:buClr>
              <a:buChar char="•"/>
              <a:defRPr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τ 通常取无风险利率或目标收益</a:t>
            </a:r>
            <a:endParaRPr lang="en-US" sz="1100"/>
          </a:p>
          <a:p>
            <a:pPr algn="l" indent="-228600" marL="228600">
              <a:lnSpc>
                <a:spcPct val="141666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只在 r&lt;τ 的期间计入偏差</a:t>
            </a:r>
          </a:p>
          <a:p>
            <a:pPr algn="l" indent="-228600" marL="228600">
              <a:lnSpc>
                <a:spcPct val="141666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上行正波动不再被视为风险</a:t>
            </a:r>
          </a:p>
          <a:p>
            <a:pPr algn="l" indent="-228600" marL="228600">
              <a:lnSpc>
                <a:spcPct val="141666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更贴近投资者对"亏损"的真实感受</a:t>
            </a:r>
          </a:p>
        </p:txBody>
      </p:sp>
      <p:cxnSp>
        <p:nvCxnSpPr>
          <p:cNvPr name="Connector 8" id="8"/>
          <p:cNvCxnSpPr/>
          <p:nvPr/>
        </p:nvCxnSpPr>
        <p:spPr>
          <a:xfrm rot="5378514" flipH="false" flipV="false">
            <a:off x="5334000" y="4565670"/>
            <a:ext cx="203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 txBox="true"/>
          <p:nvPr/>
        </p:nvSpPr>
        <p:spPr>
          <a:xfrm rot="0" flipH="false" flipV="false">
            <a:off x="6731000" y="3556000"/>
            <a:ext cx="444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使用时的注意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6731000" y="4000500"/>
            <a:ext cx="4445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28600" marL="228600">
              <a:lnSpc>
                <a:spcPct val="141666"/>
              </a:lnSpc>
              <a:buClr>
                <a:srgbClr val="383838"/>
              </a:buClr>
              <a:buChar char="•"/>
              <a:defRPr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τ 的选择会改变结果，须在报告中说明</a:t>
            </a:r>
            <a:endParaRPr lang="en-US" sz="1100"/>
          </a:p>
          <a:p>
            <a:pPr algn="l" indent="-228600" marL="228600">
              <a:lnSpc>
                <a:spcPct val="141666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晨星"业绩下跌风险"即下行波动率</a:t>
            </a:r>
          </a:p>
          <a:p>
            <a:pPr algn="l" indent="-228600" marL="228600">
              <a:lnSpc>
                <a:spcPct val="141666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晨星"评级调整风险"是 MRAR 与 Morningstar Return 之差，侧重下行波动</a:t>
            </a:r>
          </a:p>
          <a:p>
            <a:pPr algn="l" indent="-228600" marL="228600">
              <a:lnSpc>
                <a:spcPct val="141666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与 Sharpe 排名通常高度相关，但解释更直观</a:t>
            </a:r>
          </a:p>
        </p:txBody>
      </p:sp>
      <p:cxnSp>
        <p:nvCxnSpPr>
          <p:cNvPr name="Connector 11" id="11"/>
          <p:cNvCxnSpPr/>
          <p:nvPr/>
        </p:nvCxnSpPr>
        <p:spPr>
          <a:xfrm rot="-4297" flipH="false" flipV="false">
            <a:off x="1016004" y="621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 txBox="true"/>
          <p:nvPr/>
        </p:nvSpPr>
        <p:spPr>
          <a:xfrm rot="0" flipH="false" flipV="false">
            <a:off x="1016000" y="63500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787878"/>
                </a:solidFill>
                <a:latin typeface="Noto Serif SC"/>
                <a:ea typeface="Noto Serif SC"/>
                <a:cs typeface="Noto Serif SC"/>
                <a:sym typeface="Noto Serif SC"/>
              </a:rPr>
              <a:t>来源：MBA 智库《索提诺比率》；Morningstar 晨星《基金产品风险评价方法》。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03 · 收益与风险指标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最大回撤：真实路径上的最深跌幅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57290" flipH="false" flipV="false">
            <a:off x="1016053" y="1771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2286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14:m xmlns:a14="http://schemas.microsoft.com/office/drawing/2010/main">
              <m:oMathPara xmlns:m="http://schemas.openxmlformats.org/officeDocument/2006/math">
                <m:oMathParaPr>
                  <m:jc m:val="left"/>
                </m:oMathParaPr>
                <m:oMath>
                  <m:sSub>
                    <m:e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W</m:t>
                      </m:r>
                    </m:e>
                    <m:sub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t</m:t>
                      </m:r>
                    </m:sub>
                  </m:sSub>
                  <m: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=</m:t>
                  </m:r>
                  <m:sSub>
                    <m:e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V</m:t>
                      </m:r>
                    </m:e>
                    <m:sub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t</m:t>
                      </m:r>
                    </m:sub>
                  </m:sSub>
                  <m: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/</m:t>
                  </m:r>
                  <m:sSub>
                    <m:e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V</m:t>
                      </m:r>
                    </m:e>
                    <m:sub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0</m:t>
                      </m:r>
                    </m:sub>
                  </m:sSub>
                  <m: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, </m:t>
                  </m:r>
                  <m:sSub>
                    <m:e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H</m:t>
                      </m:r>
                    </m:e>
                    <m:sub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t</m:t>
                      </m:r>
                    </m:sub>
                  </m:sSub>
                  <m: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=</m:t>
                  </m:r>
                  <m:sSub>
                    <m:e>
                      <m:r>
                        <m:rPr>
                          <m:sty m:val="p"/>
                        </m:rP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max</m:t>
                      </m:r>
                    </m:e>
                    <m:sub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0≤s≤t</m:t>
                      </m:r>
                    </m:sub>
                  </m:sSub>
                  <m:sSub>
                    <m:e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W</m:t>
                      </m:r>
                    </m:e>
                    <m:sub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s</m:t>
                      </m:r>
                    </m:sub>
                  </m:sSub>
                  <m: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, D</m:t>
                  </m:r>
                  <m:sSub>
                    <m:e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D</m:t>
                      </m:r>
                    </m:e>
                    <m:sub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t</m:t>
                      </m:r>
                    </m:sub>
                  </m:sSub>
                  <m: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=</m:t>
                  </m:r>
                  <m:sSub>
                    <m:e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W</m:t>
                      </m:r>
                    </m:e>
                    <m:sub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t</m:t>
                      </m:r>
                    </m:sub>
                  </m:sSub>
                  <m: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/</m:t>
                  </m:r>
                  <m:sSub>
                    <m:e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H</m:t>
                      </m:r>
                    </m:e>
                    <m:sub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t</m:t>
                      </m:r>
                    </m:sub>
                  </m:sSub>
                  <m: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-1, MDD=</m:t>
                  </m:r>
                  <m:sSub>
                    <m:e>
                      <m:r>
                        <m:rPr>
                          <m:sty m:val="p"/>
                        </m:rP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min</m:t>
                      </m:r>
                    </m:e>
                    <m:sub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t</m:t>
                      </m:r>
                    </m:sub>
                  </m:sSub>
                  <m: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D</m:t>
                  </m:r>
                  <m:sSub>
                    <m:e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D</m:t>
                      </m:r>
                    </m:e>
                    <m:sub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t</m:t>
                      </m:r>
                    </m:sub>
                  </m:sSub>
                </m:oMath>
              </m:oMathPara>
            </a14:m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16000" y="35560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它回答的问题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16000" y="4000500"/>
            <a:ext cx="4826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28600" marL="228600">
              <a:lnSpc>
                <a:spcPct val="141666"/>
              </a:lnSpc>
              <a:buClr>
                <a:srgbClr val="383838"/>
              </a:buClr>
              <a:buChar char="•"/>
              <a:defRPr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在观察到的路径上，从历史高点到后续低点最大累计跌幅</a:t>
            </a:r>
            <a:endParaRPr lang="en-US" sz="1100"/>
          </a:p>
          <a:p>
            <a:pPr algn="l" indent="-228600" marL="228600">
              <a:lnSpc>
                <a:spcPct val="141666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同时报告高点日期、低点日期、是否恢复</a:t>
            </a:r>
          </a:p>
          <a:p>
            <a:pPr algn="l" indent="-228600" marL="228600">
              <a:lnSpc>
                <a:spcPct val="141666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月频数据会遗漏月内高低点</a:t>
            </a:r>
          </a:p>
        </p:txBody>
      </p:sp>
      <p:cxnSp>
        <p:nvCxnSpPr>
          <p:cNvPr name="Connector 8" id="8"/>
          <p:cNvCxnSpPr/>
          <p:nvPr/>
        </p:nvCxnSpPr>
        <p:spPr>
          <a:xfrm rot="5378514" flipH="false" flipV="false">
            <a:off x="5334000" y="4565670"/>
            <a:ext cx="203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 txBox="true"/>
          <p:nvPr/>
        </p:nvSpPr>
        <p:spPr>
          <a:xfrm rot="0" flipH="false" flipV="false">
            <a:off x="6731000" y="3556000"/>
            <a:ext cx="444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使用边界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6731000" y="4000500"/>
            <a:ext cx="4445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28600" marL="228600">
              <a:lnSpc>
                <a:spcPct val="141666"/>
              </a:lnSpc>
              <a:buClr>
                <a:srgbClr val="383838"/>
              </a:buClr>
              <a:buChar char="•"/>
              <a:defRPr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是后视镜指标，不代表未来损失上限</a:t>
            </a:r>
            <a:endParaRPr lang="en-US" sz="1100"/>
          </a:p>
          <a:p>
            <a:pPr algn="l" indent="-228600" marL="228600">
              <a:lnSpc>
                <a:spcPct val="141666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单一历史事件，统计稳健性弱</a:t>
            </a:r>
          </a:p>
          <a:p>
            <a:pPr algn="l" indent="-228600" marL="228600">
              <a:lnSpc>
                <a:spcPct val="141666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晨星对成立不满三年、持仓风险 2–3 分者，按 MDD&gt;20% / &gt;40% 设附加分</a:t>
            </a:r>
          </a:p>
        </p:txBody>
      </p:sp>
      <p:cxnSp>
        <p:nvCxnSpPr>
          <p:cNvPr name="Connector 11" id="11"/>
          <p:cNvCxnSpPr/>
          <p:nvPr/>
        </p:nvCxnSpPr>
        <p:spPr>
          <a:xfrm rot="-4297" flipH="false" flipV="false">
            <a:off x="1016004" y="621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 txBox="true"/>
          <p:nvPr/>
        </p:nvSpPr>
        <p:spPr>
          <a:xfrm rot="0" flipH="false" flipV="false">
            <a:off x="1016000" y="63500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787878"/>
                </a:solidFill>
                <a:latin typeface="Noto Serif SC"/>
                <a:ea typeface="Noto Serif SC"/>
                <a:cs typeface="Noto Serif SC"/>
                <a:sym typeface="Noto Serif SC"/>
              </a:rPr>
              <a:t>来源：Morningstar 晨星《基金产品风险评价方法》业绩回撤附加风险部分。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03 · 收益与风险指标 · 晨星实务框架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持仓风险：注册类型 × 晨星分类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57290" flipH="false" flipV="false">
            <a:off x="1016053" y="1771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2159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持仓风险占综合得分 </a:t>
            </a:r>
            <a:r>
              <a:rPr lang="en-US" b="tru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70%</a:t>
            </a: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，以基金注册类型为主、晨星分类为辅，分 1–5 档：</a:t>
            </a:r>
            <a:endParaRPr lang="en-US" sz="1100"/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016000" y="2857500"/>
          <a:ext cx="10160000" cy="3048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524000"/>
                <a:gridCol w="2540000"/>
                <a:gridCol w="6096000"/>
              </a:tblGrid>
              <a:tr h="4699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持仓风险分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典型产品类型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分类依据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</a:tr>
              <a:tr h="5207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 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股票型基金、行业主题基金</a:t>
                      </a:r>
                      <a:endParaRPr lang="en-US" sz="1100"/>
                    </a:p>
                  </a:txBody>
                  <a:tcPr anchor="ctr" anchorCtr="false" marL="101600" marR="101600" marT="19050" marB="190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股票仓位 ≥ 80%，承担主要权益市场风险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07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 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商品基金、基础设施 REITs</a:t>
                      </a:r>
                      <a:endParaRPr lang="en-US" sz="1100"/>
                    </a:p>
                  </a:txBody>
                  <a:tcPr anchor="ctr" anchorCtr="false" marL="101600" marR="101600" marT="19050" marB="190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大宗商品、另类资产，波动率与流动性特征特殊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07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 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混合型基金、可转债基金</a:t>
                      </a:r>
                      <a:endParaRPr lang="en-US" sz="1100"/>
                    </a:p>
                  </a:txBody>
                  <a:tcPr anchor="ctr" anchorCtr="false" marL="101600" marR="101600" marT="19050" marB="190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股债混合，权益仓位介于股票型与债券型之间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07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 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债券型基金、市场中性策略</a:t>
                      </a:r>
                      <a:endParaRPr lang="en-US" sz="1100"/>
                    </a:p>
                  </a:txBody>
                  <a:tcPr anchor="ctr" anchorCtr="false" marL="101600" marR="101600" marT="19050" marB="190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债券仓位 ≥ 80%，权益敞口受限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953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 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货币市场基金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短期货币工具，久期与信用风险极低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name="Connector 7" id="7"/>
          <p:cNvCxnSpPr/>
          <p:nvPr/>
        </p:nvCxnSpPr>
        <p:spPr>
          <a:xfrm rot="-4297" flipH="false" flipV="false">
            <a:off x="1016004" y="621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 txBox="true"/>
          <p:nvPr/>
        </p:nvSpPr>
        <p:spPr>
          <a:xfrm rot="0" flipH="false" flipV="false">
            <a:off x="1016000" y="63500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787878"/>
                </a:solidFill>
                <a:latin typeface="Noto Serif SC"/>
                <a:ea typeface="Noto Serif SC"/>
                <a:cs typeface="Noto Serif SC"/>
                <a:sym typeface="Noto Serif SC"/>
              </a:rPr>
              <a:t>来源：Morningstar 晨星《基金产品风险评价方法》附件二；晨星分类以实际持仓而非基金名称为准。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03 · 收益与风险指标 · 晨星实务框架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持仓风险的补充标签调整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57290" flipH="false" flipV="false">
            <a:off x="1016053" y="1771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2159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仅按注册类型与分类不足以区分所有产品，晨星在特殊情形下对持仓风险做如下调整：</a:t>
            </a:r>
            <a:endParaRPr lang="en-US" sz="1100"/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016000" y="2857500"/>
          <a:ext cx="10160000" cy="32004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4826000"/>
                <a:gridCol w="1778000"/>
                <a:gridCol w="3556000"/>
              </a:tblGrid>
              <a:tr h="4572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特殊情形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调整后分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逻辑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商品基金中以实物黄金为主的"商品（黄金）"基金</a:t>
                      </a:r>
                      <a:endParaRPr lang="en-US" sz="1100"/>
                    </a:p>
                  </a:txBody>
                  <a:tcPr anchor="ctr" anchorCtr="false" marL="101600" marR="1016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 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黄金波动低于一般商品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保守混合类，权益仓位不超过 30%（含可转债）</a:t>
                      </a:r>
                      <a:endParaRPr lang="en-US" sz="1100"/>
                    </a:p>
                  </a:txBody>
                  <a:tcPr anchor="ctr" anchorCtr="false" marL="101600" marR="1016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 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权益敞口接近债基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主投科创板/创业板/北交所，或 TMT、医药等单一行业股票基金</a:t>
                      </a:r>
                      <a:endParaRPr lang="en-US" sz="1100"/>
                    </a:p>
                  </a:txBody>
                  <a:tcPr anchor="ctr" anchorCtr="false" marL="101600" marR="1016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 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行业集中与高波动板块风险更高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产权类基础设施 REITs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 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介于股债之间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QDII 债券中主投新兴市场或高收益债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 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信用与汇率风险高于普通债基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QDII 股票型中的行业股票基金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 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跨境 + 行业双重集中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name="Connector 7" id="7"/>
          <p:cNvCxnSpPr/>
          <p:nvPr/>
        </p:nvCxnSpPr>
        <p:spPr>
          <a:xfrm rot="-4297" flipH="false" flipV="false">
            <a:off x="1016004" y="621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 txBox="true"/>
          <p:nvPr/>
        </p:nvSpPr>
        <p:spPr>
          <a:xfrm rot="0" flipH="false" flipV="false">
            <a:off x="1016000" y="63500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787878"/>
                </a:solidFill>
                <a:latin typeface="Noto Serif SC"/>
                <a:ea typeface="Noto Serif SC"/>
                <a:cs typeface="Noto Serif SC"/>
                <a:sym typeface="Noto Serif SC"/>
              </a:rPr>
              <a:t>来源：Morningstar 晨星《基金产品风险评价方法》持仓风险补充标签部分。</a:t>
            </a:r>
            <a:endParaRPr lang="en-US" sz="1100"/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03 · 收益与风险指标 · 晨星实务框架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三项业绩风险指标：按百分位 0–5 分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57290" flipH="false" flipV="false">
            <a:off x="1016053" y="1771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2159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三项各占 </a:t>
            </a:r>
            <a:r>
              <a:rPr lang="en-US" b="tru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10%</a:t>
            </a: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 权重，按最近三年在全市场同类中的风险百分位升序打分：</a:t>
            </a:r>
            <a:endParaRPr lang="en-US" sz="1100"/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016000" y="2857500"/>
          <a:ext cx="10160000" cy="2540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556000"/>
                <a:gridCol w="1270000"/>
                <a:gridCol w="1270000"/>
                <a:gridCol w="1270000"/>
                <a:gridCol w="1270000"/>
                <a:gridCol w="1524000"/>
              </a:tblGrid>
              <a:tr h="1143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风险百分位（升序）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 ≤ 5%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5–15%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15–50%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50–85%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85% 以上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</a:tr>
              <a:tr h="1397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得分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4–5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7" id="7"/>
          <p:cNvSpPr txBox="true"/>
          <p:nvPr/>
        </p:nvSpPr>
        <p:spPr>
          <a:xfrm rot="0" flipH="false" flipV="false">
            <a:off x="1016000" y="5588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缓冲规则：</a:t>
            </a: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单项指标排名相对阈值变化不足 2% 时，沿用上期分值，避免评级在阈值附近频繁跳动。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4297" flipH="false" flipV="false">
            <a:off x="1016004" y="621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 txBox="true"/>
          <p:nvPr/>
        </p:nvSpPr>
        <p:spPr>
          <a:xfrm rot="0" flipH="false" flipV="false">
            <a:off x="1016000" y="63500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787878"/>
                </a:solidFill>
                <a:latin typeface="Noto Serif SC"/>
                <a:ea typeface="Noto Serif SC"/>
                <a:cs typeface="Noto Serif SC"/>
                <a:sym typeface="Noto Serif SC"/>
              </a:rPr>
              <a:t>三项分别为：晨星评级调整风险、业绩波动风险、业绩下跌风险；成立不满三年者权重并入持仓风险。</a:t>
            </a:r>
            <a:endParaRPr lang="en-US" sz="1100"/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03 · 收益与风险指标 · 晨星实务框架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三项附加风险：回撤、规模与高权益仓位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57290" flipH="false" flipV="false">
            <a:off x="1016053" y="1771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016000" y="2286000"/>
          <a:ext cx="10160000" cy="37592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32000"/>
                <a:gridCol w="4572000"/>
                <a:gridCol w="3556000"/>
              </a:tblGrid>
              <a:tr h="4572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附加项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触发条件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调整方式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</a:tr>
              <a:tr h="889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业绩回撤风险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成立不满三年且持仓风险 2–3 分者，按成立以来 MDD；满三年者按近三年 MDD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MDD &gt; 20% 加 0.1×(3−持仓分)；&gt; 40% 加 0.1×(4−持仓分)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89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基金规模风险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非发起式基金规模 &lt; 5 千万；发起式成立满三年前 6 个月起 &lt; 2 亿，满三年后 &lt; 5 千万</a:t>
                      </a:r>
                      <a:endParaRPr lang="en-US" sz="1100"/>
                    </a:p>
                  </a:txBody>
                  <a:tcPr anchor="ctr" anchorCtr="false" marL="101600" marR="1016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惩罚性加 0.4 分，反映清盘风险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89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高权益仓位风险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原持仓风险 3 分，且最近 12 季度权益仓位均值 ≥ 90%、最近 4 季度均 ≥ 90%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加 0.1 分；ETF 联接跟随目标 ETF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其他展示项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持仓流动性、封闭期限、杠杆比率、最小投资额等一般不进入综合得分，但在风险评价报告中单独列示。</a:t>
                      </a:r>
                      <a:endParaRPr lang="en-US" sz="1100"/>
                    </a:p>
                  </a:txBody>
                  <a:tcPr anchor="ctr" anchorCtr="false" marL="101600" marR="1016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anchor="ctr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name="Connector 6" id="6"/>
          <p:cNvCxnSpPr/>
          <p:nvPr/>
        </p:nvCxnSpPr>
        <p:spPr>
          <a:xfrm rot="-4297" flipH="false" flipV="false">
            <a:off x="1016004" y="621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 txBox="true"/>
          <p:nvPr/>
        </p:nvSpPr>
        <p:spPr>
          <a:xfrm rot="0" flipH="false" flipV="false">
            <a:off x="1016000" y="63500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787878"/>
                </a:solidFill>
                <a:latin typeface="Noto Serif SC"/>
                <a:ea typeface="Noto Serif SC"/>
                <a:cs typeface="Noto Serif SC"/>
                <a:sym typeface="Noto Serif SC"/>
              </a:rPr>
              <a:t>来源：Morningstar 晨星《基金产品风险评价方法》附加风险部分。</a:t>
            </a:r>
            <a:endParaRPr lang="en-US" sz="1100"/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bg>
      <p:bgPr>
        <a:solidFill>
          <a:srgbClr val="002FA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2286000"/>
            <a:ext cx="254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9600">
                <a:solidFill>
                  <a:srgbClr val="FFFFFF">
                    <a:alpha val="25098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04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2969" flipH="false" flipV="false">
            <a:off x="1016040" y="4057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FF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 txBox="true"/>
          <p:nvPr/>
        </p:nvSpPr>
        <p:spPr>
          <a:xfrm rot="0" flipH="false" flipV="false">
            <a:off x="1016000" y="4318000"/>
            <a:ext cx="889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风险调整收益指标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016000" y="5334000"/>
            <a:ext cx="889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74902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每承担一单位风险，换来多少超额收益</a:t>
            </a:r>
            <a:endParaRPr lang="en-US" sz="1100"/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04 · 风险调整收益指标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为什么必须做风险调整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57290" flipH="false" flipV="false">
            <a:off x="1016053" y="1771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2286000"/>
            <a:ext cx="1016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两只基金年化收益同为 12%：一只波动率 8%，一只波动率 20%。</a:t>
            </a:r>
            <a:r>
              <a:rPr lang="en-US" b="tru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仅看收益，二者"一样好"；承担风险后，前者的性价比显著更高。</a:t>
            </a: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风险调整指标就是把"收益"除以"所承担风险"，得到单位风险报酬，使不同风险特征的基金可在同一尺度上比较。</a:t>
            </a:r>
          </a:p>
        </p:txBody>
      </p:sp>
      <p:cxnSp>
        <p:nvCxnSpPr>
          <p:cNvPr name="Connector 6" id="6"/>
          <p:cNvCxnSpPr/>
          <p:nvPr/>
        </p:nvCxnSpPr>
        <p:spPr>
          <a:xfrm rot="-4297" flipH="false" flipV="false">
            <a:off x="1016004" y="3803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 txBox="true"/>
          <p:nvPr/>
        </p:nvSpPr>
        <p:spPr>
          <a:xfrm rot="0" flipH="false" flipV="false">
            <a:off x="1016000" y="4064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分母用什么风险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1016000" y="4508500"/>
            <a:ext cx="3048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28600" marL="228600">
              <a:lnSpc>
                <a:spcPct val="141666"/>
              </a:lnSpc>
              <a:buClr>
                <a:srgbClr val="383838"/>
              </a:buClr>
              <a:buChar char="•"/>
              <a:defRPr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总波动率 → Sharpe</a:t>
            </a:r>
            <a:endParaRPr lang="en-US" sz="1100"/>
          </a:p>
          <a:p>
            <a:pPr algn="l" indent="-228600" marL="228600">
              <a:lnSpc>
                <a:spcPct val="141666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下行波动率 → Sortino</a:t>
            </a:r>
          </a:p>
          <a:p>
            <a:pPr algn="l" indent="-228600" marL="228600">
              <a:lnSpc>
                <a:spcPct val="141666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系统性风险 β → Treynor</a:t>
            </a:r>
          </a:p>
          <a:p>
            <a:pPr algn="l" indent="-228600" marL="228600">
              <a:lnSpc>
                <a:spcPct val="141666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最大回撤 → Calmar</a:t>
            </a:r>
          </a:p>
          <a:p>
            <a:pPr algn="l" indent="-228600" marL="228600">
              <a:lnSpc>
                <a:spcPct val="141666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主动风险 → IR</a:t>
            </a:r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4572000" y="4064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分子用什么收益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4572000" y="4508500"/>
            <a:ext cx="3048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28600" marL="228600">
              <a:lnSpc>
                <a:spcPct val="141666"/>
              </a:lnSpc>
              <a:buClr>
                <a:srgbClr val="383838"/>
              </a:buClr>
              <a:buChar char="•"/>
              <a:defRPr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相对无风险利率的超额</a:t>
            </a:r>
            <a:endParaRPr lang="en-US" sz="1100"/>
          </a:p>
          <a:p>
            <a:pPr algn="l" indent="-228600" marL="228600">
              <a:lnSpc>
                <a:spcPct val="141666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相对基准的主动收益</a:t>
            </a:r>
          </a:p>
          <a:p>
            <a:pPr algn="l" indent="-228600" marL="228600">
              <a:lnSpc>
                <a:spcPct val="141666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年化复合收益</a:t>
            </a:r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8128000" y="4064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关键纪律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8128000" y="4508500"/>
            <a:ext cx="3048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28600" marL="228600">
              <a:lnSpc>
                <a:spcPct val="141666"/>
              </a:lnSpc>
              <a:buClr>
                <a:srgbClr val="383838"/>
              </a:buClr>
              <a:buChar char="•"/>
              <a:defRPr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分子分母频率一致</a:t>
            </a:r>
            <a:endParaRPr lang="en-US" sz="1100"/>
          </a:p>
          <a:p>
            <a:pPr algn="l" indent="-228600" marL="228600">
              <a:lnSpc>
                <a:spcPct val="141666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不混用算术年化与 CAGR</a:t>
            </a:r>
          </a:p>
          <a:p>
            <a:pPr algn="l" indent="-228600" marL="228600">
              <a:lnSpc>
                <a:spcPct val="141666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负 Sharpe 不能按大小排序</a:t>
            </a:r>
          </a:p>
        </p:txBody>
      </p:sp>
      <p:cxnSp>
        <p:nvCxnSpPr>
          <p:cNvPr name="Connector 13" id="13"/>
          <p:cNvCxnSpPr/>
          <p:nvPr/>
        </p:nvCxnSpPr>
        <p:spPr>
          <a:xfrm rot="-4297" flipH="false" flipV="false">
            <a:off x="1016004" y="621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 txBox="true"/>
          <p:nvPr/>
        </p:nvSpPr>
        <p:spPr>
          <a:xfrm rot="0" flipH="false" flipV="false">
            <a:off x="1016000" y="63500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787878"/>
                </a:solidFill>
                <a:latin typeface="Noto Serif SC"/>
                <a:ea typeface="Noto Serif SC"/>
                <a:cs typeface="Noto Serif SC"/>
                <a:sym typeface="Noto Serif SC"/>
              </a:rPr>
              <a:t>来源：Sharpe (1994)；Kidd, CFA Institute (2011)。</a:t>
            </a:r>
            <a:endParaRPr lang="en-US" sz="1100"/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04 · 风险调整收益指标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夏普比率 Sharpe Ratio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57290" flipH="false" flipV="false">
            <a:off x="1016053" y="1771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2286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14:m xmlns:a14="http://schemas.microsoft.com/office/drawing/2010/main">
              <m:oMathPara xmlns:m="http://schemas.openxmlformats.org/officeDocument/2006/math">
                <m:oMathParaPr>
                  <m:jc m:val="left"/>
                </m:oMathParaPr>
                <m:oMath>
                  <m: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SR=</m:t>
                  </m:r>
                  <m:f>
                    <m:fPr>
                      <m:type m:val="bar"/>
                    </m:fPr>
                    <m:num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E</m:t>
                      </m:r>
                      <m:d>
                        <m:dPr>
                          <m:sepChr m:val=","/>
                        </m:dPr>
                        <m:e>
                          <m:sSub>
                            <m:e>
                              <m:r>
                                <a:rPr sz="1800">
                                  <a:solidFill>
                                    <a:srgbClr val="383838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R</m:t>
                              </m:r>
                            </m:e>
                            <m:sub>
                              <m:r>
                                <a:rPr sz="1800">
                                  <a:solidFill>
                                    <a:srgbClr val="383838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p</m:t>
                              </m:r>
                            </m:sub>
                          </m:sSub>
                        </m:e>
                      </m:d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-</m:t>
                      </m:r>
                      <m:sSub>
                        <m:e>
                          <m:r>
                            <a:rPr sz="1800">
                              <a:solidFill>
                                <a:srgbClr val="383838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R</m:t>
                          </m:r>
                        </m:e>
                        <m:sub>
                          <m:r>
                            <a:rPr sz="1800">
                              <a:solidFill>
                                <a:srgbClr val="383838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f</m:t>
                          </m:r>
                        </m:sub>
                      </m:sSub>
                    </m:num>
                    <m:den>
                      <m:sSub>
                        <m:e>
                          <m:r>
                            <a:rPr sz="1800">
                              <a:solidFill>
                                <a:srgbClr val="383838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σ</m:t>
                          </m:r>
                        </m:e>
                        <m:sub>
                          <m:r>
                            <a:rPr sz="1800">
                              <a:solidFill>
                                <a:srgbClr val="383838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p</m:t>
                          </m:r>
                        </m:sub>
                      </m:sSub>
                    </m:den>
                  </m:f>
                </m:oMath>
              </m:oMathPara>
            </a14:m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16000" y="34290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回答的问题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16000" y="3873500"/>
            <a:ext cx="4826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28600" marL="228600">
              <a:lnSpc>
                <a:spcPct val="141666"/>
              </a:lnSpc>
              <a:buClr>
                <a:srgbClr val="383838"/>
              </a:buClr>
              <a:buChar char="•"/>
              <a:defRPr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每承担一单位总波动，获得多少无风险超额收益</a:t>
            </a:r>
            <a:endParaRPr lang="en-US" sz="1100"/>
          </a:p>
          <a:p>
            <a:pPr algn="l" indent="-228600" marL="228600">
              <a:lnSpc>
                <a:spcPct val="141666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最通用的风险调整收益指标</a:t>
            </a:r>
          </a:p>
          <a:p>
            <a:pPr algn="l" indent="-228600" marL="228600">
              <a:lnSpc>
                <a:spcPct val="141666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适合收益近似正态、分散化较好的组合</a:t>
            </a:r>
          </a:p>
        </p:txBody>
      </p:sp>
      <p:cxnSp>
        <p:nvCxnSpPr>
          <p:cNvPr name="Connector 8" id="8"/>
          <p:cNvCxnSpPr/>
          <p:nvPr/>
        </p:nvCxnSpPr>
        <p:spPr>
          <a:xfrm rot="5382370" flipH="false" flipV="false">
            <a:off x="5111750" y="4660916"/>
            <a:ext cx="2476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 txBox="true"/>
          <p:nvPr/>
        </p:nvSpPr>
        <p:spPr>
          <a:xfrm rot="0" flipH="false" flipV="false">
            <a:off x="6731000" y="3429000"/>
            <a:ext cx="444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局限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6731000" y="3873500"/>
            <a:ext cx="4445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28600" marL="228600">
              <a:lnSpc>
                <a:spcPct val="141666"/>
              </a:lnSpc>
              <a:buClr>
                <a:srgbClr val="383838"/>
              </a:buClr>
              <a:buChar char="•"/>
              <a:defRPr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对称处理上下波动，对期权类非对称策略失真</a:t>
            </a:r>
            <a:endParaRPr lang="en-US" sz="1100"/>
          </a:p>
          <a:p>
            <a:pPr algn="l" indent="-228600" marL="228600">
              <a:lnSpc>
                <a:spcPct val="141666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依赖无风险利率选择与收益频率约定</a:t>
            </a:r>
          </a:p>
          <a:p>
            <a:pPr algn="l" indent="-228600" marL="228600">
              <a:lnSpc>
                <a:spcPct val="141666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负 Sharpe 不能按大小排序（分母越大越接近 0）</a:t>
            </a:r>
          </a:p>
          <a:p>
            <a:pPr algn="l" indent="-228600" marL="228600">
              <a:lnSpc>
                <a:spcPct val="141666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不区分收益来自 β 还是选股</a:t>
            </a:r>
          </a:p>
        </p:txBody>
      </p:sp>
      <p:cxnSp>
        <p:nvCxnSpPr>
          <p:cNvPr name="Connector 11" id="11"/>
          <p:cNvCxnSpPr/>
          <p:nvPr/>
        </p:nvCxnSpPr>
        <p:spPr>
          <a:xfrm rot="-4297" flipH="false" flipV="false">
            <a:off x="1016004" y="621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 txBox="true"/>
          <p:nvPr/>
        </p:nvSpPr>
        <p:spPr>
          <a:xfrm rot="0" flipH="false" flipV="false">
            <a:off x="1016000" y="63500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787878"/>
                </a:solidFill>
                <a:latin typeface="Noto Serif SC"/>
                <a:ea typeface="Noto Serif SC"/>
                <a:cs typeface="Noto Serif SC"/>
                <a:sym typeface="Noto Serif SC"/>
              </a:rPr>
              <a:t>来源：William F. Sharpe, 《The Sharpe Ratio》, 1994。</a:t>
            </a:r>
            <a:endParaRPr lang="en-US" sz="1100"/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04 · 风险调整收益指标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索提诺比率 Sortino Ratio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57290" flipH="false" flipV="false">
            <a:off x="1016053" y="1771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2286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14:m xmlns:a14="http://schemas.microsoft.com/office/drawing/2010/main">
              <m:oMathPara xmlns:m="http://schemas.openxmlformats.org/officeDocument/2006/math">
                <m:oMathParaPr>
                  <m:jc m:val="left"/>
                </m:oMathParaPr>
                <m:oMath>
                  <m:r>
                    <m:rPr>
                      <m:nor/>
                    </m:rP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Sortino</m:t>
                  </m:r>
                  <m: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=</m:t>
                  </m:r>
                  <m:f>
                    <m:fPr>
                      <m:type m:val="bar"/>
                    </m:fPr>
                    <m:num>
                      <m:sSub>
                        <m:e>
                          <m:r>
                            <a:rPr sz="1800">
                              <a:solidFill>
                                <a:srgbClr val="383838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R</m:t>
                          </m:r>
                        </m:e>
                        <m:sub>
                          <m:r>
                            <a:rPr sz="1800">
                              <a:solidFill>
                                <a:srgbClr val="383838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p</m:t>
                          </m:r>
                        </m:sub>
                      </m:sSub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-τ</m:t>
                      </m:r>
                    </m:num>
                    <m:den>
                      <m:sSub>
                        <m:e>
                          <m:r>
                            <a:rPr sz="1800">
                              <a:solidFill>
                                <a:srgbClr val="383838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σ</m:t>
                          </m:r>
                        </m:e>
                        <m:sub>
                          <m:r>
                            <a:rPr sz="1800">
                              <a:solidFill>
                                <a:srgbClr val="383838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d</m:t>
                          </m:r>
                        </m:sub>
                      </m:sSub>
                    </m:den>
                  </m:f>
                </m:oMath>
              </m:oMathPara>
            </a14:m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16000" y="34290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与 Sharpe 的差别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16000" y="3873500"/>
            <a:ext cx="4826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28600" marL="228600">
              <a:lnSpc>
                <a:spcPct val="141666"/>
              </a:lnSpc>
              <a:buClr>
                <a:srgbClr val="383838"/>
              </a:buClr>
              <a:buChar char="•"/>
              <a:defRPr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分母从总波动率换为下行标准差 σd</a:t>
            </a:r>
            <a:endParaRPr lang="en-US" sz="1100"/>
          </a:p>
          <a:p>
            <a:pPr algn="l" indent="-228600" marL="228600">
              <a:lnSpc>
                <a:spcPct val="141666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只惩罚低于目标 τ 的波动</a:t>
            </a:r>
          </a:p>
          <a:p>
            <a:pPr algn="l" indent="-228600" marL="228600">
              <a:lnSpc>
                <a:spcPct val="141666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更符合投资者对"亏损"的真实感受</a:t>
            </a:r>
          </a:p>
          <a:p>
            <a:pPr algn="l" indent="-228600" marL="228600">
              <a:lnSpc>
                <a:spcPct val="141666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晨星"业绩下跌风险"即下行波动率的同类百分位</a:t>
            </a:r>
          </a:p>
        </p:txBody>
      </p:sp>
      <p:cxnSp>
        <p:nvCxnSpPr>
          <p:cNvPr name="Connector 8" id="8"/>
          <p:cNvCxnSpPr/>
          <p:nvPr/>
        </p:nvCxnSpPr>
        <p:spPr>
          <a:xfrm rot="5382370" flipH="false" flipV="false">
            <a:off x="5111750" y="4660916"/>
            <a:ext cx="2476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 txBox="true"/>
          <p:nvPr/>
        </p:nvSpPr>
        <p:spPr>
          <a:xfrm rot="0" flipH="false" flipV="false">
            <a:off x="6731000" y="3429000"/>
            <a:ext cx="444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局限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6731000" y="3873500"/>
            <a:ext cx="4445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28600" marL="228600">
              <a:lnSpc>
                <a:spcPct val="141666"/>
              </a:lnSpc>
              <a:buClr>
                <a:srgbClr val="383838"/>
              </a:buClr>
              <a:buChar char="•"/>
              <a:defRPr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τ 的选择（无风险利率 / 目标收益）影响结果</a:t>
            </a:r>
            <a:endParaRPr lang="en-US" sz="1100"/>
          </a:p>
          <a:p>
            <a:pPr algn="l" indent="-228600" marL="228600">
              <a:lnSpc>
                <a:spcPct val="141666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忽略上行波动，可能掩盖尾部风险</a:t>
            </a:r>
          </a:p>
          <a:p>
            <a:pPr algn="l" indent="-228600" marL="228600">
              <a:lnSpc>
                <a:spcPct val="141666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与 Sharpe 排名通常高度相关</a:t>
            </a:r>
          </a:p>
        </p:txBody>
      </p:sp>
      <p:cxnSp>
        <p:nvCxnSpPr>
          <p:cNvPr name="Connector 11" id="11"/>
          <p:cNvCxnSpPr/>
          <p:nvPr/>
        </p:nvCxnSpPr>
        <p:spPr>
          <a:xfrm rot="-4297" flipH="false" flipV="false">
            <a:off x="1016004" y="621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 txBox="true"/>
          <p:nvPr/>
        </p:nvSpPr>
        <p:spPr>
          <a:xfrm rot="0" flipH="false" flipV="false">
            <a:off x="1016000" y="63500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787878"/>
                </a:solidFill>
                <a:latin typeface="Noto Serif SC"/>
                <a:ea typeface="Noto Serif SC"/>
                <a:cs typeface="Noto Serif SC"/>
                <a:sym typeface="Noto Serif SC"/>
              </a:rPr>
              <a:t>来源：MBA 智库百科《索提诺比率》；Morningstar 晨星业绩下跌风险定义。</a:t>
            </a:r>
            <a:endParaRPr lang="en-US" sz="1100"/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04 · 风险调整收益指标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特雷诺比率 Treynor Ratio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57290" flipH="false" flipV="false">
            <a:off x="1016053" y="1771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2286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14:m xmlns:a14="http://schemas.microsoft.com/office/drawing/2010/main">
              <m:oMathPara xmlns:m="http://schemas.openxmlformats.org/officeDocument/2006/math">
                <m:oMathParaPr>
                  <m:jc m:val="left"/>
                </m:oMathParaPr>
                <m:oMath>
                  <m:r>
                    <m:rPr>
                      <m:nor/>
                    </m:rP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Treynor</m:t>
                  </m:r>
                  <m: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=</m:t>
                  </m:r>
                  <m:f>
                    <m:fPr>
                      <m:type m:val="bar"/>
                    </m:fPr>
                    <m:num>
                      <m:sSub>
                        <m:e>
                          <m:r>
                            <a:rPr sz="1800">
                              <a:solidFill>
                                <a:srgbClr val="383838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R</m:t>
                          </m:r>
                        </m:e>
                        <m:sub>
                          <m:r>
                            <a:rPr sz="1800">
                              <a:solidFill>
                                <a:srgbClr val="383838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p</m:t>
                          </m:r>
                        </m:sub>
                      </m:sSub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-</m:t>
                      </m:r>
                      <m:sSub>
                        <m:e>
                          <m:r>
                            <a:rPr sz="1800">
                              <a:solidFill>
                                <a:srgbClr val="383838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R</m:t>
                          </m:r>
                        </m:e>
                        <m:sub>
                          <m:r>
                            <a:rPr sz="1800">
                              <a:solidFill>
                                <a:srgbClr val="383838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f</m:t>
                          </m:r>
                        </m:sub>
                      </m:sSub>
                    </m:num>
                    <m:den>
                      <m:sSub>
                        <m:e>
                          <m:r>
                            <a:rPr sz="1800">
                              <a:solidFill>
                                <a:srgbClr val="383838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β</m:t>
                          </m:r>
                        </m:e>
                        <m:sub>
                          <m:r>
                            <a:rPr sz="1800">
                              <a:solidFill>
                                <a:srgbClr val="383838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p</m:t>
                          </m:r>
                        </m:sub>
                      </m:sSub>
                    </m:den>
                  </m:f>
                </m:oMath>
              </m:oMathPara>
            </a14:m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16000" y="34290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与 Sharpe 的差别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16000" y="3873500"/>
            <a:ext cx="4826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28600" marL="228600">
              <a:lnSpc>
                <a:spcPct val="141666"/>
              </a:lnSpc>
              <a:buClr>
                <a:srgbClr val="383838"/>
              </a:buClr>
              <a:buChar char="•"/>
              <a:defRPr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分母从总波动换为系统性风险 β</a:t>
            </a:r>
            <a:endParaRPr lang="en-US" sz="1100"/>
          </a:p>
          <a:p>
            <a:pPr algn="l" indent="-228600" marL="228600">
              <a:lnSpc>
                <a:spcPct val="141666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假设非系统性风险已被分散化</a:t>
            </a:r>
          </a:p>
          <a:p>
            <a:pPr algn="l" indent="-228600" marL="228600">
              <a:lnSpc>
                <a:spcPct val="141666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适合评价充分分散的组合</a:t>
            </a:r>
          </a:p>
        </p:txBody>
      </p:sp>
      <p:cxnSp>
        <p:nvCxnSpPr>
          <p:cNvPr name="Connector 8" id="8"/>
          <p:cNvCxnSpPr/>
          <p:nvPr/>
        </p:nvCxnSpPr>
        <p:spPr>
          <a:xfrm rot="5382370" flipH="false" flipV="false">
            <a:off x="5111750" y="4660916"/>
            <a:ext cx="2476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 txBox="true"/>
          <p:nvPr/>
        </p:nvSpPr>
        <p:spPr>
          <a:xfrm rot="0" flipH="false" flipV="false">
            <a:off x="6731000" y="3429000"/>
            <a:ext cx="444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局限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6731000" y="3873500"/>
            <a:ext cx="4445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28600" marL="228600">
              <a:lnSpc>
                <a:spcPct val="141666"/>
              </a:lnSpc>
              <a:buClr>
                <a:srgbClr val="383838"/>
              </a:buClr>
              <a:buChar char="•"/>
              <a:defRPr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β 估计依赖市场代理与样本区间</a:t>
            </a:r>
            <a:endParaRPr lang="en-US" sz="1100"/>
          </a:p>
          <a:p>
            <a:pPr algn="l" indent="-228600" marL="228600">
              <a:lnSpc>
                <a:spcPct val="141666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对负 β 的解释需谨慎</a:t>
            </a:r>
          </a:p>
          <a:p>
            <a:pPr algn="l" indent="-228600" marL="228600">
              <a:lnSpc>
                <a:spcPct val="141666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不适用于集中持仓、个股特异性风险占主导的基金</a:t>
            </a:r>
          </a:p>
        </p:txBody>
      </p:sp>
      <p:cxnSp>
        <p:nvCxnSpPr>
          <p:cNvPr name="Connector 11" id="11"/>
          <p:cNvCxnSpPr/>
          <p:nvPr/>
        </p:nvCxnSpPr>
        <p:spPr>
          <a:xfrm rot="-4297" flipH="false" flipV="false">
            <a:off x="1016004" y="621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 txBox="true"/>
          <p:nvPr/>
        </p:nvSpPr>
        <p:spPr>
          <a:xfrm rot="0" flipH="false" flipV="false">
            <a:off x="1016000" y="63500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787878"/>
                </a:solidFill>
                <a:latin typeface="Noto Serif SC"/>
                <a:ea typeface="Noto Serif SC"/>
                <a:cs typeface="Noto Serif SC"/>
                <a:sym typeface="Noto Serif SC"/>
              </a:rPr>
              <a:t>来源：Jack Treynor, 《How to Rate Management of Investment Funds》, 1965。</a:t>
            </a:r>
            <a:endParaRPr lang="en-US" sz="1100"/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04 · 风险调整收益指标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卡玛比率 Calmar Ratio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57290" flipH="false" flipV="false">
            <a:off x="1016053" y="1771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2286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14:m xmlns:a14="http://schemas.microsoft.com/office/drawing/2010/main">
              <m:oMathPara xmlns:m="http://schemas.openxmlformats.org/officeDocument/2006/math">
                <m:oMathParaPr>
                  <m:jc m:val="left"/>
                </m:oMathParaPr>
                <m:oMath>
                  <m:r>
                    <m:rPr>
                      <m:nor/>
                    </m:rP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Calmar</m:t>
                  </m:r>
                  <m: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=</m:t>
                  </m:r>
                  <m:f>
                    <m:fPr>
                      <m:type m:val="bar"/>
                    </m:fPr>
                    <m:num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年化收益率</m:t>
                      </m:r>
                    </m:num>
                    <m:den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|</m:t>
                      </m:r>
                      <m:r>
                        <m:rPr>
                          <m:nor/>
                        </m:rP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MDD</m:t>
                      </m:r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|</m:t>
                      </m:r>
                    </m:den>
                  </m:f>
                </m:oMath>
              </m:oMathPara>
            </a14:m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16000" y="34290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它度量什么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16000" y="3873500"/>
            <a:ext cx="4826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28600" marL="228600">
              <a:lnSpc>
                <a:spcPct val="141666"/>
              </a:lnSpc>
              <a:buClr>
                <a:srgbClr val="383838"/>
              </a:buClr>
              <a:buChar char="•"/>
              <a:defRPr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每单位历史最大回撤换来的年化收益</a:t>
            </a:r>
            <a:endParaRPr lang="en-US" sz="1100"/>
          </a:p>
          <a:p>
            <a:pPr algn="l" indent="-228600" marL="228600">
              <a:lnSpc>
                <a:spcPct val="141666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直接回应投资者"最坏会跌多少"的问题</a:t>
            </a:r>
          </a:p>
          <a:p>
            <a:pPr algn="l" indent="-228600" marL="228600">
              <a:lnSpc>
                <a:spcPct val="141666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适合固收+、绝对收益、量化策略类产品</a:t>
            </a:r>
          </a:p>
        </p:txBody>
      </p:sp>
      <p:cxnSp>
        <p:nvCxnSpPr>
          <p:cNvPr name="Connector 8" id="8"/>
          <p:cNvCxnSpPr/>
          <p:nvPr/>
        </p:nvCxnSpPr>
        <p:spPr>
          <a:xfrm rot="5382370" flipH="false" flipV="false">
            <a:off x="5111750" y="4660916"/>
            <a:ext cx="2476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 txBox="true"/>
          <p:nvPr/>
        </p:nvSpPr>
        <p:spPr>
          <a:xfrm rot="0" flipH="false" flipV="false">
            <a:off x="6731000" y="3429000"/>
            <a:ext cx="444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局限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6731000" y="3873500"/>
            <a:ext cx="4445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28600" marL="228600">
              <a:lnSpc>
                <a:spcPct val="141666"/>
              </a:lnSpc>
              <a:buClr>
                <a:srgbClr val="383838"/>
              </a:buClr>
              <a:buChar char="•"/>
              <a:defRPr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MDD 是单一历史事件，统计稳健性弱</a:t>
            </a:r>
            <a:endParaRPr lang="en-US" sz="1100"/>
          </a:p>
          <a:p>
            <a:pPr algn="l" indent="-228600" marL="228600">
              <a:lnSpc>
                <a:spcPct val="141666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未经历极端行情的产品可能被高估</a:t>
            </a:r>
          </a:p>
          <a:p>
            <a:pPr algn="l" indent="-228600" marL="228600">
              <a:lnSpc>
                <a:spcPct val="141666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对新发基金，晨星用 MDD 附加项而非 Calmar</a:t>
            </a:r>
          </a:p>
        </p:txBody>
      </p:sp>
      <p:cxnSp>
        <p:nvCxnSpPr>
          <p:cNvPr name="Connector 11" id="11"/>
          <p:cNvCxnSpPr/>
          <p:nvPr/>
        </p:nvCxnSpPr>
        <p:spPr>
          <a:xfrm rot="-4297" flipH="false" flipV="false">
            <a:off x="1016004" y="621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 txBox="true"/>
          <p:nvPr/>
        </p:nvSpPr>
        <p:spPr>
          <a:xfrm rot="0" flipH="false" flipV="false">
            <a:off x="1016000" y="63500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787878"/>
                </a:solidFill>
                <a:latin typeface="Noto Serif SC"/>
                <a:ea typeface="Noto Serif SC"/>
                <a:cs typeface="Noto Serif SC"/>
                <a:sym typeface="Noto Serif SC"/>
              </a:rPr>
              <a:t>来源：Young, 《A Calendar-Year Measure of Risk》, 1991；晨星 MDD 附加风险规则。</a:t>
            </a:r>
            <a:endParaRPr lang="en-US" sz="1100"/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508000"/>
            <a:ext cx="10160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04 · 风险调整收益指标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8636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跟踪误差 Tracking Error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57290" flipH="false" flipV="false">
            <a:off x="1016053" y="14922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1778000"/>
            <a:ext cx="635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14:m xmlns:a14="http://schemas.microsoft.com/office/drawing/2010/main">
              <m:oMathPara xmlns:m="http://schemas.openxmlformats.org/officeDocument/2006/math">
                <m:oMathParaPr>
                  <m:jc m:val="left"/>
                </m:oMathParaPr>
                <m:oMath>
                  <m:r>
                    <m:rPr>
                      <m:nor/>
                    </m:rP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TE</m:t>
                  </m:r>
                  <m: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=σ</m:t>
                  </m:r>
                  <m:d>
                    <m:dPr>
                      <m:sepChr m:val=","/>
                    </m:dPr>
                    <m:e>
                      <m:sSub>
                        <m:e>
                          <m:r>
                            <a:rPr sz="1800">
                              <a:solidFill>
                                <a:srgbClr val="383838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R</m:t>
                          </m:r>
                        </m:e>
                        <m:sub>
                          <m:r>
                            <a:rPr sz="1800">
                              <a:solidFill>
                                <a:srgbClr val="383838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p</m:t>
                          </m:r>
                        </m:sub>
                      </m:sSub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-</m:t>
                      </m:r>
                      <m:sSub>
                        <m:e>
                          <m:r>
                            <a:rPr sz="1800">
                              <a:solidFill>
                                <a:srgbClr val="383838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R</m:t>
                          </m:r>
                        </m:e>
                        <m:sub>
                          <m:r>
                            <a:rPr sz="1800">
                              <a:solidFill>
                                <a:srgbClr val="383838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b</m:t>
                          </m:r>
                        </m:sub>
                      </m:sSub>
                    </m:e>
                  </m:d>
                  <m: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×</m:t>
                  </m:r>
                  <m:rad>
                    <m:radPr>
                      <m:degHide m:val="on"/>
                    </m:radPr>
                    <m:deg/>
                    <m:e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k</m:t>
                      </m:r>
                    </m:e>
                  </m:rad>
                </m:oMath>
              </m:oMathPara>
            </a14:m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16000" y="2540000"/>
            <a:ext cx="10160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28600" marL="228600">
              <a:lnSpc>
                <a:spcPct val="125000"/>
              </a:lnSpc>
              <a:buClr>
                <a:srgbClr val="383838"/>
              </a:buClr>
              <a:buChar char="•"/>
              <a:defRPr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主动组合相对基准收益的波动，也称"主动风险"；指数基金目标 TE 趋近 0，主动基金 TE 反映偏离基准的程度</a:t>
            </a:r>
            <a:endParaRPr lang="en-US" sz="1100"/>
          </a:p>
          <a:p>
            <a:pPr algn="l" indent="-228600" marL="228600">
              <a:lnSpc>
                <a:spcPct val="125000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必须先确定基准，TE 才有意义；TE 本身不是目的，它是信息比率的分母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3810000"/>
            <a:ext cx="10160000" cy="1524000"/>
          </a:xfrm>
          <a:prstGeom prst="roundRect">
            <a:avLst>
              <a:gd name="adj" fmla="val 0"/>
            </a:avLst>
          </a:prstGeom>
          <a:solidFill>
            <a:srgbClr val="111111">
              <a:alpha val="100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</a:ln>
        </p:spPr>
        <p:txBody>
          <a:bodyPr anchor="ctr" rtlCol="false" anchorCtr="true" vert="horz" wrap="square" lIns="0" rIns="0" tIns="0" bIns="0"/>
          <a:lstStyle/>
          <a:p>
            <a:pPr algn="ctr" marL="0" indent="0">
              <a:lnSpc>
                <a:spcPct val="150000"/>
              </a:lnSpc>
              <a:defRPr/>
            </a:pPr>
            <a:r>
              <a:rPr lang="en-US" b="false" i="false" strike="noStrike" u="none" sz="20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▶ 课堂教学视频：跟踪误差与主动风险</a:t>
            </a:r>
            <a:endParaRPr lang="en-US" sz="1100"/>
          </a:p>
          <a:p>
            <a:pPr algn="ctr" marL="0" indent="0">
              <a:lnSpc>
                <a:spcPct val="150000"/>
              </a:lnSpc>
            </a:pPr>
            <a:r>
              <a:rPr lang="en-US" b="false" i="false" strike="noStrike" u="none" sz="20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详见在线讲义第 5 讲（HTML 版）</a:t>
            </a:r>
          </a:p>
        </p:txBody>
      </p:sp>
      <p:cxnSp>
        <p:nvCxnSpPr>
          <p:cNvPr name="Connector 8" id="8"/>
          <p:cNvCxnSpPr/>
          <p:nvPr/>
        </p:nvCxnSpPr>
        <p:spPr>
          <a:xfrm rot="-4297" flipH="false" flipV="false">
            <a:off x="1016004" y="5581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 txBox="true"/>
          <p:nvPr/>
        </p:nvSpPr>
        <p:spPr>
          <a:xfrm rot="0" flipH="false" flipV="false">
            <a:off x="1016000" y="5715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787878"/>
                </a:solidFill>
                <a:latin typeface="Noto Serif SC"/>
                <a:ea typeface="Noto Serif SC"/>
                <a:cs typeface="Noto Serif SC"/>
                <a:sym typeface="Noto Serif SC"/>
              </a:rPr>
              <a:t>来源：Grinold &amp; Kahn, 《Active Portfolio Management》, 1999。</a:t>
            </a:r>
            <a:endParaRPr lang="en-US" sz="1100"/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508000"/>
            <a:ext cx="10160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04 · 风险调整收益指标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8636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信息比率 Information Ratio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57290" flipH="false" flipV="false">
            <a:off x="1016053" y="14922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1778000"/>
            <a:ext cx="762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14:m xmlns:a14="http://schemas.microsoft.com/office/drawing/2010/main">
              <m:oMathPara xmlns:m="http://schemas.openxmlformats.org/officeDocument/2006/math">
                <m:oMathParaPr>
                  <m:jc m:val="left"/>
                </m:oMathParaPr>
                <m:oMath>
                  <m:r>
                    <m:rPr>
                      <m:nor/>
                    </m:rP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IR</m:t>
                  </m:r>
                  <m: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=</m:t>
                  </m:r>
                  <m:f>
                    <m:fPr>
                      <m:type m:val="bar"/>
                    </m:fPr>
                    <m:num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E</m:t>
                      </m:r>
                      <m:d>
                        <m:dPr>
                          <m:sepChr m:val=","/>
                        </m:dPr>
                        <m:e>
                          <m:sSub>
                            <m:e>
                              <m:r>
                                <a:rPr sz="1800">
                                  <a:solidFill>
                                    <a:srgbClr val="383838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R</m:t>
                              </m:r>
                            </m:e>
                            <m:sub>
                              <m:r>
                                <a:rPr sz="1800">
                                  <a:solidFill>
                                    <a:srgbClr val="383838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p</m:t>
                              </m:r>
                            </m:sub>
                          </m:sSub>
                          <m:r>
                            <a:rPr sz="1800">
                              <a:solidFill>
                                <a:srgbClr val="383838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-</m:t>
                          </m:r>
                          <m:sSub>
                            <m:e>
                              <m:r>
                                <a:rPr sz="1800">
                                  <a:solidFill>
                                    <a:srgbClr val="383838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R</m:t>
                              </m:r>
                            </m:e>
                            <m:sub>
                              <m:r>
                                <a:rPr sz="1800">
                                  <a:solidFill>
                                    <a:srgbClr val="383838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b</m:t>
                              </m:r>
                            </m:sub>
                          </m:sSub>
                        </m:e>
                      </m:d>
                    </m:num>
                    <m:den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σ</m:t>
                      </m:r>
                      <m:d>
                        <m:dPr>
                          <m:sepChr m:val=","/>
                        </m:dPr>
                        <m:e>
                          <m:sSub>
                            <m:e>
                              <m:r>
                                <a:rPr sz="1800">
                                  <a:solidFill>
                                    <a:srgbClr val="383838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R</m:t>
                              </m:r>
                            </m:e>
                            <m:sub>
                              <m:r>
                                <a:rPr sz="1800">
                                  <a:solidFill>
                                    <a:srgbClr val="383838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p</m:t>
                              </m:r>
                            </m:sub>
                          </m:sSub>
                          <m:r>
                            <a:rPr sz="1800">
                              <a:solidFill>
                                <a:srgbClr val="383838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-</m:t>
                          </m:r>
                          <m:sSub>
                            <m:e>
                              <m:r>
                                <a:rPr sz="1800">
                                  <a:solidFill>
                                    <a:srgbClr val="383838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R</m:t>
                              </m:r>
                            </m:e>
                            <m:sub>
                              <m:r>
                                <a:rPr sz="1800">
                                  <a:solidFill>
                                    <a:srgbClr val="383838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b</m:t>
                              </m:r>
                            </m:sub>
                          </m:sSub>
                        </m:e>
                      </m:d>
                    </m:den>
                  </m:f>
                  <m: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=</m:t>
                  </m:r>
                  <m:f>
                    <m:fPr>
                      <m:type m:val="bar"/>
                    </m:fPr>
                    <m:num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主动收益</m:t>
                      </m:r>
                    </m:num>
                    <m:den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跟踪误差</m:t>
                      </m:r>
                    </m:den>
                  </m:f>
                </m:oMath>
              </m:oMathPara>
            </a14:m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16000" y="2540000"/>
            <a:ext cx="10160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28600" marL="228600">
              <a:lnSpc>
                <a:spcPct val="125000"/>
              </a:lnSpc>
              <a:buClr>
                <a:srgbClr val="383838"/>
              </a:buClr>
              <a:buChar char="•"/>
              <a:defRPr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单位主动风险换来的主动收益，评价主动管理能力最直接的指标；Grinold-Kahn：IR ≈ IC × √Breadth</a:t>
            </a:r>
            <a:endParaRPr lang="en-US" sz="1100"/>
          </a:p>
          <a:p>
            <a:pPr algn="l" indent="-228600" marL="228600">
              <a:lnSpc>
                <a:spcPct val="125000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IR 为正且稳定说明主动收益可持续；IR 高但 TE 低=稳定跑赢，IR 高但 TE 高=押注大、波动也大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3873500"/>
            <a:ext cx="10160000" cy="1524000"/>
          </a:xfrm>
          <a:prstGeom prst="roundRect">
            <a:avLst>
              <a:gd name="adj" fmla="val 0"/>
            </a:avLst>
          </a:prstGeom>
          <a:solidFill>
            <a:srgbClr val="111111">
              <a:alpha val="100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</a:ln>
        </p:spPr>
        <p:txBody>
          <a:bodyPr anchor="ctr" rtlCol="false" anchorCtr="true" vert="horz" wrap="square" lIns="0" rIns="0" tIns="0" bIns="0"/>
          <a:lstStyle/>
          <a:p>
            <a:pPr algn="ctr" marL="0" indent="0">
              <a:lnSpc>
                <a:spcPct val="150000"/>
              </a:lnSpc>
              <a:defRPr/>
            </a:pPr>
            <a:r>
              <a:rPr lang="en-US" b="false" i="false" strike="noStrike" u="none" sz="20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▶ 课堂教学视频：信息比率与主动收益效率</a:t>
            </a:r>
            <a:endParaRPr lang="en-US" sz="1100"/>
          </a:p>
          <a:p>
            <a:pPr algn="ctr" marL="0" indent="0">
              <a:lnSpc>
                <a:spcPct val="150000"/>
              </a:lnSpc>
            </a:pPr>
            <a:r>
              <a:rPr lang="en-US" b="false" i="false" strike="noStrike" u="none" sz="20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详见在线讲义第 5 讲（HTML 版）</a:t>
            </a:r>
          </a:p>
        </p:txBody>
      </p:sp>
      <p:cxnSp>
        <p:nvCxnSpPr>
          <p:cNvPr name="Connector 8" id="8"/>
          <p:cNvCxnSpPr/>
          <p:nvPr/>
        </p:nvCxnSpPr>
        <p:spPr>
          <a:xfrm rot="-4297" flipH="false" flipV="false">
            <a:off x="1016004" y="5645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 txBox="true"/>
          <p:nvPr/>
        </p:nvSpPr>
        <p:spPr>
          <a:xfrm rot="0" flipH="false" flipV="false">
            <a:off x="1016000" y="57785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787878"/>
                </a:solidFill>
                <a:latin typeface="Noto Serif SC"/>
                <a:ea typeface="Noto Serif SC"/>
                <a:cs typeface="Noto Serif SC"/>
                <a:sym typeface="Noto Serif SC"/>
              </a:rPr>
              <a:t>来源：Grinold &amp; Kahn, 《Active Portfolio Management》, 1999。</a:t>
            </a:r>
            <a:endParaRPr lang="en-US" sz="1100"/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508000"/>
            <a:ext cx="10160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04 · 风险调整收益指标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8636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主动持股 Active Share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57290" flipH="false" flipV="false">
            <a:off x="1016053" y="14922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1778000"/>
            <a:ext cx="762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14:m xmlns:a14="http://schemas.microsoft.com/office/drawing/2010/main">
              <m:oMathPara xmlns:m="http://schemas.openxmlformats.org/officeDocument/2006/math">
                <m:oMathParaPr>
                  <m:jc m:val="left"/>
                </m:oMathParaPr>
                <m:oMath>
                  <m:r>
                    <m:rPr>
                      <m:nor/>
                    </m:rP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Active Share</m:t>
                  </m:r>
                  <m: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=</m:t>
                  </m:r>
                  <m:f>
                    <m:fPr>
                      <m:type m:val="bar"/>
                    </m:fPr>
                    <m:num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1</m:t>
                      </m:r>
                    </m:num>
                    <m:den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2</m:t>
                      </m:r>
                    </m:den>
                  </m:f>
                  <m:nary>
                    <m:naryPr>
                      <m:chr m:val="∑"/>
                      <m:limLoc m:val="undOvr"/>
                      <m:grow m:val="1"/>
                      <m:subHide m:val="off"/>
                      <m:supHide m:val="on"/>
                    </m:naryPr>
                    <m:sub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i</m:t>
                      </m:r>
                    </m:sub>
                    <m:sup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⁣</m:t>
                      </m:r>
                    </m:sup>
                    <m:e>
                      <m:d>
                        <m:dPr>
                          <m:begChr m:val="|"/>
                          <m:sepChr m:val=","/>
                          <m:endChr m:val="|"/>
                        </m:dPr>
                        <m:e>
                          <m:sSub>
                            <m:e>
                              <m:r>
                                <a:rPr sz="1800">
                                  <a:solidFill>
                                    <a:srgbClr val="383838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w</m:t>
                              </m:r>
                            </m:e>
                            <m:sub>
                              <m:r>
                                <a:rPr sz="1800">
                                  <a:solidFill>
                                    <a:srgbClr val="383838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p,i</m:t>
                              </m:r>
                            </m:sub>
                          </m:sSub>
                          <m:r>
                            <a:rPr sz="1800">
                              <a:solidFill>
                                <a:srgbClr val="383838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-</m:t>
                          </m:r>
                          <m:sSub>
                            <m:e>
                              <m:r>
                                <a:rPr sz="1800">
                                  <a:solidFill>
                                    <a:srgbClr val="383838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w</m:t>
                              </m:r>
                            </m:e>
                            <m:sub>
                              <m:r>
                                <a:rPr sz="1800">
                                  <a:solidFill>
                                    <a:srgbClr val="383838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b,i</m:t>
                              </m:r>
                            </m:sub>
                          </m:sSub>
                        </m:e>
                      </m:d>
                    </m:e>
                  </m:nary>
                </m:oMath>
              </m:oMathPara>
            </a14:m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16000" y="2540000"/>
            <a:ext cx="10160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28600" marL="228600">
              <a:lnSpc>
                <a:spcPct val="125000"/>
              </a:lnSpc>
              <a:buClr>
                <a:srgbClr val="383838"/>
              </a:buClr>
              <a:buChar char="•"/>
              <a:defRPr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持仓权重与基准权重差异绝对值之和的一半，取值 0–100%；0% 完全复制基准；Cremers &amp; Petajisto (2009) 发现高 Active Share 基金长期跑赢</a:t>
            </a:r>
            <a:endParaRPr lang="en-US" sz="1100"/>
          </a:p>
          <a:p>
            <a:pPr algn="l" indent="-228600" marL="228600">
              <a:lnSpc>
                <a:spcPct val="125000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Active Share 看持仓截面，TE 看时间序列；二者结合才能完整刻画"主动"——持仓差异大但收益轨迹接近，或持仓接近但行业择时导致高 TE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3937000"/>
            <a:ext cx="10160000" cy="1460500"/>
          </a:xfrm>
          <a:prstGeom prst="roundRect">
            <a:avLst>
              <a:gd name="adj" fmla="val 0"/>
            </a:avLst>
          </a:prstGeom>
          <a:solidFill>
            <a:srgbClr val="111111">
              <a:alpha val="100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</a:ln>
        </p:spPr>
        <p:txBody>
          <a:bodyPr anchor="ctr" rtlCol="false" anchorCtr="true" vert="horz" wrap="square" lIns="0" rIns="0" tIns="0" bIns="0"/>
          <a:lstStyle/>
          <a:p>
            <a:pPr algn="ctr" marL="0" indent="0">
              <a:lnSpc>
                <a:spcPct val="150000"/>
              </a:lnSpc>
              <a:defRPr/>
            </a:pPr>
            <a:r>
              <a:rPr lang="en-US" b="false" i="false" strike="noStrike" u="none" sz="20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▶ 课堂教学视频：主动基金与 Active Share</a:t>
            </a:r>
            <a:endParaRPr lang="en-US" sz="1100"/>
          </a:p>
          <a:p>
            <a:pPr algn="ctr" marL="0" indent="0">
              <a:lnSpc>
                <a:spcPct val="150000"/>
              </a:lnSpc>
            </a:pPr>
            <a:r>
              <a:rPr lang="en-US" b="false" i="false" strike="noStrike" u="none" sz="20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详见在线讲义第 5 讲（HTML 版）</a:t>
            </a:r>
          </a:p>
        </p:txBody>
      </p:sp>
      <p:cxnSp>
        <p:nvCxnSpPr>
          <p:cNvPr name="Connector 8" id="8"/>
          <p:cNvCxnSpPr/>
          <p:nvPr/>
        </p:nvCxnSpPr>
        <p:spPr>
          <a:xfrm rot="-4297" flipH="false" flipV="false">
            <a:off x="1016004" y="5645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 txBox="true"/>
          <p:nvPr/>
        </p:nvSpPr>
        <p:spPr>
          <a:xfrm rot="0" flipH="false" flipV="false">
            <a:off x="1016000" y="57785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787878"/>
                </a:solidFill>
                <a:latin typeface="Noto Serif SC"/>
                <a:ea typeface="Noto Serif SC"/>
                <a:cs typeface="Noto Serif SC"/>
                <a:sym typeface="Noto Serif SC"/>
              </a:rPr>
              <a:t>来源：Cremers &amp; Petajisto, 《How Active Is Your Fund Manager?》, 2009。</a:t>
            </a:r>
            <a:endParaRPr lang="en-US" sz="1100"/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04 · 风险调整收益指标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五个指标的分母与适用场景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57290" flipH="false" flipV="false">
            <a:off x="1016053" y="1771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016000" y="2286000"/>
          <a:ext cx="10160000" cy="355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78000"/>
                <a:gridCol w="2286000"/>
                <a:gridCol w="2286000"/>
                <a:gridCol w="3810000"/>
              </a:tblGrid>
              <a:tr h="5207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指标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分子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分母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适用场景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Sharpe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超额收益（对 Rf）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总波动率 σp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通用、分散化组合、近似正态收益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Sortino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超额收益（对目标 τ）</a:t>
                      </a:r>
                      <a:endParaRPr lang="en-US" sz="1100"/>
                    </a:p>
                  </a:txBody>
                  <a:tcPr anchor="ctr" anchorCtr="false" marL="101600" marR="1016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下行标准差 σd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关注亏损、偏态分布、绝对收益策略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Treynor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超额收益（对 Rf）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系统性风险 β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已充分分散、无明显个股风险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Calmar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年化收益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最大回撤 |MDD|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固收+、绝对收益、关注尾部损失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969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IR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主动收益（对基准）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跟踪误差 TE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评价主动管理能力，必须先定基准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name="Connector 6" id="6"/>
          <p:cNvCxnSpPr/>
          <p:nvPr/>
        </p:nvCxnSpPr>
        <p:spPr>
          <a:xfrm rot="-4297" flipH="false" flipV="false">
            <a:off x="1016004" y="621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 txBox="true"/>
          <p:nvPr/>
        </p:nvSpPr>
        <p:spPr>
          <a:xfrm rot="0" flipH="false" flipV="false">
            <a:off x="1016000" y="63500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787878"/>
                </a:solidFill>
                <a:latin typeface="Noto Serif SC"/>
                <a:ea typeface="Noto Serif SC"/>
                <a:cs typeface="Noto Serif SC"/>
                <a:sym typeface="Noto Serif SC"/>
              </a:rPr>
              <a:t>没有"最好"的指标，只有与评价问题匹配的指标；报告中应同时给出 2–3 个，避免单一指标偏误。</a:t>
            </a:r>
            <a:endParaRPr lang="en-US" sz="1100"/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04 · 风险调整收益指标 · 晨星实务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MRAR 与晨星星级：实务化的风险调整收益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57290" flipH="false" flipV="false">
            <a:off x="1016053" y="1771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2222500"/>
            <a:ext cx="10160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晨星 MRAR（Morningstar Risk-Adjusted Return）用幂效用函数把"下行波动惩罚"显式写进收益，再按同类百分位映射为 1–5 星：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14:m xmlns:a14="http://schemas.microsoft.com/office/drawing/2010/main">
              <m:oMathPara xmlns:m="http://schemas.openxmlformats.org/officeDocument/2006/math">
                <m:oMathParaPr>
                  <m:jc m:val="left"/>
                </m:oMathParaPr>
                <m:oMath>
                  <m:r>
                    <m:rPr>
                      <m:nor/>
                    </m:rP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MRAR</m:t>
                  </m:r>
                  <m: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=</m:t>
                  </m:r>
                  <m:sSup>
                    <m:e>
                      <m:d>
                        <m:dPr>
                          <m:begChr m:val="["/>
                          <m:sepChr m:val=","/>
                          <m:endChr m:val="]"/>
                        </m:dPr>
                        <m:e>
                          <m:f>
                            <m:fPr>
                              <m:type m:val="bar"/>
                            </m:fPr>
                            <m:num>
                              <m:r>
                                <a:rPr sz="1800">
                                  <a:solidFill>
                                    <a:srgbClr val="383838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1</m:t>
                              </m:r>
                            </m:num>
                            <m:den>
                              <m:r>
                                <a:rPr sz="1800">
                                  <a:solidFill>
                                    <a:srgbClr val="383838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N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grow m:val="1"/>
                              <m:subHide m:val="off"/>
                              <m:supHide m:val="off"/>
                            </m:naryPr>
                            <m:sub>
                              <m:r>
                                <a:rPr sz="1800">
                                  <a:solidFill>
                                    <a:srgbClr val="383838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t=1</m:t>
                              </m:r>
                            </m:sub>
                            <m:sup>
                              <m:r>
                                <a:rPr sz="1800">
                                  <a:solidFill>
                                    <a:srgbClr val="383838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N</m:t>
                              </m:r>
                            </m:sup>
                            <m:e>
                              <m:sSup>
                                <m:e>
                                  <m:d>
                                    <m:dPr>
                                      <m:sepChr m:val=","/>
                                    </m:dPr>
                                    <m:e>
                                      <m:r>
                                        <a:rPr sz="1800">
                                          <a:solidFill>
                                            <a:srgbClr val="383838"/>
                                          </a:solidFill>
                                          <a:latin typeface="Noto Serif SC"/>
                                          <a:ea typeface="Noto Serif SC"/>
                                          <a:cs typeface="Noto Serif SC"/>
                                          <a:sym typeface="Noto Serif SC"/>
                                        </a:rPr>
                                        <m:t>1+</m:t>
                                      </m:r>
                                      <m:sSub>
                                        <m:e>
                                          <m:r>
                                            <a:rPr sz="1800">
                                              <a:solidFill>
                                                <a:srgbClr val="383838"/>
                                              </a:solidFill>
                                              <a:latin typeface="Noto Serif SC"/>
                                              <a:ea typeface="Noto Serif SC"/>
                                              <a:cs typeface="Noto Serif SC"/>
                                              <a:sym typeface="Noto Serif SC"/>
                                            </a:rPr>
                                            <m:t>r</m:t>
                                          </m:r>
                                        </m:e>
                                        <m:sub>
                                          <m:r>
                                            <a:rPr sz="1800">
                                              <a:solidFill>
                                                <a:srgbClr val="383838"/>
                                              </a:solidFill>
                                              <a:latin typeface="Noto Serif SC"/>
                                              <a:ea typeface="Noto Serif SC"/>
                                              <a:cs typeface="Noto Serif SC"/>
                                              <a:sym typeface="Noto Serif SC"/>
                                            </a:rPr>
                                            <m:t>t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sz="1800">
                                      <a:solidFill>
                                        <a:srgbClr val="383838"/>
                                      </a:solidFill>
                                      <a:latin typeface="Noto Serif SC"/>
                                      <a:ea typeface="Noto Serif SC"/>
                                      <a:cs typeface="Noto Serif SC"/>
                                      <a:sym typeface="Noto Serif SC"/>
                                    </a:rPr>
                                    <m:t>-γ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</m:e>
                    <m:sup>
                      <m:f>
                        <m:fPr>
                          <m:type m:val="lin"/>
                        </m:fPr>
                        <m:num>
                          <m:r>
                            <a:rPr sz="1800">
                              <a:solidFill>
                                <a:srgbClr val="383838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-1</m:t>
                          </m:r>
                        </m:num>
                        <m:den>
                          <m:r>
                            <a:rPr sz="1800">
                              <a:solidFill>
                                <a:srgbClr val="383838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γ</m:t>
                          </m:r>
                        </m:den>
                      </m:f>
                    </m:sup>
                  </m:sSup>
                  <m: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⁣</m:t>
                  </m:r>
                  <m: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-1</m:t>
                  </m:r>
                </m:oMath>
              </m:oMathPara>
            </a14:m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其中 γ 为风险厌恶系数（晨星取 γ = 2）；基金成立满 3 年方参评，不足十年者按 60% 五年 + 40% 三年加权。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016000" y="3683000"/>
          <a:ext cx="10160000" cy="2159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32000"/>
                <a:gridCol w="1524000"/>
                <a:gridCol w="6604000"/>
              </a:tblGrid>
              <a:tr h="482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持有期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权重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说明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近十年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50%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长期表现权重最高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近五年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30%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中期表现，平滑短期波动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近三年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近期表现，权重最低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name="Connector 7" id="7"/>
          <p:cNvCxnSpPr/>
          <p:nvPr/>
        </p:nvCxnSpPr>
        <p:spPr>
          <a:xfrm rot="-4297" flipH="false" flipV="false">
            <a:off x="1016004" y="621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 txBox="true"/>
          <p:nvPr/>
        </p:nvSpPr>
        <p:spPr>
          <a:xfrm rot="0" flipH="false" flipV="false">
            <a:off x="1016000" y="63500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787878"/>
                </a:solidFill>
                <a:latin typeface="Noto Serif SC"/>
                <a:ea typeface="Noto Serif SC"/>
                <a:cs typeface="Noto Serif SC"/>
                <a:sym typeface="Noto Serif SC"/>
              </a:rPr>
              <a:t>星级映射：前 10% 为五星，22.5% 为四星，35% 为三星，22.5% 为二星，10% 为一星。来源：晨星评级方法。</a:t>
            </a:r>
            <a:endParaRPr lang="en-US" sz="1100"/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>
  <p:cSld>
    <p:bg>
      <p:bgPr>
        <a:solidFill>
          <a:srgbClr val="002FA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2286000"/>
            <a:ext cx="254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9600">
                <a:solidFill>
                  <a:srgbClr val="FFFFFF">
                    <a:alpha val="25098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05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2969" flipH="false" flipV="false">
            <a:off x="1016040" y="4057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FF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 txBox="true"/>
          <p:nvPr/>
        </p:nvSpPr>
        <p:spPr>
          <a:xfrm rot="0" flipH="false" flipV="false">
            <a:off x="1016000" y="4318000"/>
            <a:ext cx="889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归因与管理能力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016000" y="5334000"/>
            <a:ext cx="889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74902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超额收益来自风险暴露、因子押注，还是真正的选股？</a:t>
            </a:r>
            <a:endParaRPr lang="en-US" sz="1100"/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05 · 归因与管理能力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为什么"跑赢基准"不等于"能力"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57290" flipH="false" flipV="false">
            <a:off x="1016053" y="1771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2286000"/>
            <a:ext cx="10160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一只基金跑赢沪深 300 两年，可能是：</a:t>
            </a:r>
            <a:endParaRPr lang="en-US" sz="1100"/>
          </a:p>
          <a:p>
            <a:pPr algn="l" indent="-228600" marL="228600">
              <a:lnSpc>
                <a:spcPct val="141666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承担了更高的市场 β（牛市中 β=1.2 自然跑赢）</a:t>
            </a:r>
          </a:p>
          <a:p>
            <a:pPr algn="l" indent="-228600" marL="228600">
              <a:lnSpc>
                <a:spcPct val="141666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超配了小盘、价值、高动量等风险因子</a:t>
            </a:r>
          </a:p>
          <a:p>
            <a:pPr algn="l" indent="-228600" marL="228600">
              <a:lnSpc>
                <a:spcPct val="141666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行业配置偏离基准且恰好押对</a:t>
            </a:r>
          </a:p>
          <a:p>
            <a:pPr algn="l" indent="-228600" marL="228600">
              <a:lnSpc>
                <a:spcPct val="141666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真正通过个股选股创造了 α</a:t>
            </a:r>
          </a:p>
        </p:txBody>
      </p:sp>
      <p:cxnSp>
        <p:nvCxnSpPr>
          <p:cNvPr name="Connector 6" id="6"/>
          <p:cNvCxnSpPr/>
          <p:nvPr/>
        </p:nvCxnSpPr>
        <p:spPr>
          <a:xfrm rot="-4297" flipH="false" flipV="false">
            <a:off x="1016004" y="4057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 txBox="true"/>
          <p:nvPr/>
        </p:nvSpPr>
        <p:spPr>
          <a:xfrm rot="0" flipH="false" flipV="false">
            <a:off x="1016000" y="4318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归因模型的任务：</a:t>
            </a:r>
            <a:r>
              <a:rPr lang="en-US" b="fals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把基金收益拆成可被风险因子解释的部分与残差部分，只有残差（α）才能被审慎地归因为管理能力。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1016000" y="5334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两条主线：</a:t>
            </a:r>
            <a:r>
              <a:rPr lang="en-US" b="tru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时间序列回归</a:t>
            </a: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（CAPM → FF → Carhart，看 α 是否显著）与 </a:t>
            </a:r>
            <a:r>
              <a:rPr lang="en-US" b="tru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持仓归因</a:t>
            </a: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（Brinson 行业配置/选股，Barra 多因子风险模型）。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4297" flipH="false" flipV="false">
            <a:off x="1016004" y="621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 txBox="true"/>
          <p:nvPr/>
        </p:nvSpPr>
        <p:spPr>
          <a:xfrm rot="0" flipH="false" flipV="false">
            <a:off x="1016000" y="63500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787878"/>
                </a:solidFill>
                <a:latin typeface="Noto Serif SC"/>
                <a:ea typeface="Noto Serif SC"/>
                <a:cs typeface="Noto Serif SC"/>
                <a:sym typeface="Noto Serif SC"/>
              </a:rPr>
              <a:t>来源：Fama &amp; French (1993, 2010)；Carhart (1997)；Brinson, Hood &amp; Beebower (1986)。</a:t>
            </a:r>
            <a:endParaRPr lang="en-US" sz="1100"/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05 · 归因与管理能力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机构如何区分"运气"与"能力"：六步归因流程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57290" flipH="false" flipV="false">
            <a:off x="1016053" y="1771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2159000"/>
            <a:ext cx="76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01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778000" y="2159000"/>
            <a:ext cx="889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看历史业绩</a:t>
            </a: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——各周期收益、同类排名、与基准的主动收益，先建立第一印象。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16000" y="2730500"/>
            <a:ext cx="76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02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1778000" y="2730500"/>
            <a:ext cx="889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看持仓与盈亏来源</a:t>
            </a: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——行业、风格、个股权重分布；哪些持仓真正赚了钱。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1016000" y="3302000"/>
            <a:ext cx="76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03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778000" y="3302000"/>
            <a:ext cx="889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因子归因</a:t>
            </a: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——检验收益能否被已知风险因子（β、规模、价值、动量）解释；顺风车部分不是能力。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1016000" y="3873500"/>
            <a:ext cx="76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04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778000" y="3873500"/>
            <a:ext cx="889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识别选股 α</a:t>
            </a: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——扣除因子暴露后仍显著为正的残差，才是真正来自独有信息的选股回报。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1016000" y="4445000"/>
            <a:ext cx="76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05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1778000" y="4445000"/>
            <a:ext cx="889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访谈基金经理</a:t>
            </a: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——对照投资流程：他是否知道自己为什么赚钱、暴露在哪些因子上、分得清运气与能力。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1016000" y="5016500"/>
            <a:ext cx="76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06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1778000" y="5016500"/>
            <a:ext cx="889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长周期量化模拟</a:t>
            </a: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——按 Grinold &amp; Kahn（1994），主动管理的关键是 breadth：分散下很多很多的小注，而非少数几次豪赌。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4297" flipH="false" flipV="false">
            <a:off x="1016004" y="5835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 txBox="true"/>
          <p:nvPr/>
        </p:nvSpPr>
        <p:spPr>
          <a:xfrm rot="0" flipH="false" flipV="false">
            <a:off x="1016000" y="59690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787878"/>
                </a:solidFill>
                <a:latin typeface="Noto Serif SC"/>
                <a:ea typeface="Noto Serif SC"/>
                <a:cs typeface="Noto Serif SC"/>
                <a:sym typeface="Noto Serif SC"/>
              </a:rPr>
              <a:t>来源：Grinold &amp; Kahn, 《Active Portfolio Management》(1994)；晨星中国访谈 Nelson Wicas，2026-09-29。</a:t>
            </a:r>
            <a:endParaRPr lang="en-US" sz="1100"/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05 · 归因与管理能力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CAPM 与 Jensen's α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57290" flipH="false" flipV="false">
            <a:off x="1016053" y="1771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2286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14:m xmlns:a14="http://schemas.microsoft.com/office/drawing/2010/main">
              <m:oMathPara xmlns:m="http://schemas.openxmlformats.org/officeDocument/2006/math">
                <m:oMathParaPr>
                  <m:jc m:val="left"/>
                </m:oMathParaPr>
                <m:oMath>
                  <m:sSub>
                    <m:e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R</m:t>
                      </m:r>
                    </m:e>
                    <m:sub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p,t</m:t>
                      </m:r>
                    </m:sub>
                  </m:sSub>
                  <m: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-</m:t>
                  </m:r>
                  <m:sSub>
                    <m:e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R</m:t>
                      </m:r>
                    </m:e>
                    <m:sub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f</m:t>
                      </m:r>
                    </m:sub>
                  </m:sSub>
                  <m: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=</m:t>
                  </m:r>
                  <m:sSub>
                    <m:e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α</m:t>
                      </m:r>
                    </m:e>
                    <m:sub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p</m:t>
                      </m:r>
                    </m:sub>
                  </m:sSub>
                  <m: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+</m:t>
                  </m:r>
                  <m:sSub>
                    <m:e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β</m:t>
                      </m:r>
                    </m:e>
                    <m:sub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p</m:t>
                      </m:r>
                    </m:sub>
                  </m:sSub>
                  <m:d>
                    <m:dPr>
                      <m:sepChr m:val=","/>
                    </m:dPr>
                    <m:e>
                      <m:sSub>
                        <m:e>
                          <m:r>
                            <a:rPr sz="1800">
                              <a:solidFill>
                                <a:srgbClr val="383838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R</m:t>
                          </m:r>
                        </m:e>
                        <m:sub>
                          <m:r>
                            <a:rPr sz="1800">
                              <a:solidFill>
                                <a:srgbClr val="383838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m,t</m:t>
                          </m:r>
                        </m:sub>
                      </m:sSub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-</m:t>
                      </m:r>
                      <m:sSub>
                        <m:e>
                          <m:r>
                            <a:rPr sz="1800">
                              <a:solidFill>
                                <a:srgbClr val="383838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R</m:t>
                          </m:r>
                        </m:e>
                        <m:sub>
                          <m:r>
                            <a:rPr sz="1800">
                              <a:solidFill>
                                <a:srgbClr val="383838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f</m:t>
                          </m:r>
                        </m:sub>
                      </m:sSub>
                    </m:e>
                  </m:d>
                  <m: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+</m:t>
                  </m:r>
                  <m:sSub>
                    <m:e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ε</m:t>
                      </m:r>
                    </m:e>
                    <m:sub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p,t</m:t>
                      </m:r>
                    </m:sub>
                  </m:sSub>
                </m:oMath>
              </m:oMathPara>
            </a14:m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16000" y="36830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解释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16000" y="4127500"/>
            <a:ext cx="4826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28600" marL="228600">
              <a:lnSpc>
                <a:spcPct val="141666"/>
              </a:lnSpc>
              <a:buClr>
                <a:srgbClr val="383838"/>
              </a:buClr>
              <a:buChar char="•"/>
              <a:defRPr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βp：市场风险暴露，牛市放大、熊市同步</a:t>
            </a:r>
            <a:endParaRPr lang="en-US" sz="1100"/>
          </a:p>
          <a:p>
            <a:pPr algn="l" indent="-228600" marL="228600">
              <a:lnSpc>
                <a:spcPct val="141666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αp：Jensen's α，剥离 β 后的异常收益</a:t>
            </a:r>
          </a:p>
          <a:p>
            <a:pPr algn="l" indent="-228600" marL="228600">
              <a:lnSpc>
                <a:spcPct val="141666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ε：残差，反映非系统性波动</a:t>
            </a:r>
          </a:p>
        </p:txBody>
      </p:sp>
      <p:cxnSp>
        <p:nvCxnSpPr>
          <p:cNvPr name="Connector 8" id="8"/>
          <p:cNvCxnSpPr/>
          <p:nvPr/>
        </p:nvCxnSpPr>
        <p:spPr>
          <a:xfrm rot="5380355" flipH="false" flipV="false">
            <a:off x="5238750" y="4787918"/>
            <a:ext cx="222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 txBox="true"/>
          <p:nvPr/>
        </p:nvSpPr>
        <p:spPr>
          <a:xfrm rot="0" flipH="false" flipV="false">
            <a:off x="6731000" y="3683000"/>
            <a:ext cx="444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使用纪律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6731000" y="4127500"/>
            <a:ext cx="4445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28600" marL="228600">
              <a:lnSpc>
                <a:spcPct val="141666"/>
              </a:lnSpc>
              <a:buClr>
                <a:srgbClr val="383838"/>
              </a:buClr>
              <a:buChar char="•"/>
              <a:defRPr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α 必须报告 t 值，不显著的 α 不可断言为能力</a:t>
            </a:r>
            <a:endParaRPr lang="en-US" sz="1100"/>
          </a:p>
          <a:p>
            <a:pPr algn="l" indent="-228600" marL="228600">
              <a:lnSpc>
                <a:spcPct val="141666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CAPM 单因子无法解释小盘/价值溢价</a:t>
            </a:r>
          </a:p>
          <a:p>
            <a:pPr algn="l" indent="-228600" marL="228600">
              <a:lnSpc>
                <a:spcPct val="141666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市场代理选择（沪深 300 vs 中证全指）影响 β 与 α</a:t>
            </a:r>
          </a:p>
        </p:txBody>
      </p:sp>
      <p:cxnSp>
        <p:nvCxnSpPr>
          <p:cNvPr name="Connector 11" id="11"/>
          <p:cNvCxnSpPr/>
          <p:nvPr/>
        </p:nvCxnSpPr>
        <p:spPr>
          <a:xfrm rot="-4297" flipH="false" flipV="false">
            <a:off x="1016004" y="621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 txBox="true"/>
          <p:nvPr/>
        </p:nvSpPr>
        <p:spPr>
          <a:xfrm rot="0" flipH="false" flipV="false">
            <a:off x="1016000" y="63500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787878"/>
                </a:solidFill>
                <a:latin typeface="Noto Serif SC"/>
                <a:ea typeface="Noto Serif SC"/>
                <a:cs typeface="Noto Serif SC"/>
                <a:sym typeface="Noto Serif SC"/>
              </a:rPr>
              <a:t>来源：Jensen, 《The Performance of Mutual Funds in the Period 1945–1964》, 1968。</a:t>
            </a:r>
            <a:endParaRPr lang="en-US" sz="1100"/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05 · 归因与管理能力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选股能力 vs 择时能力：T-M 与 H-M 模型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57290" flipH="false" flipV="false">
            <a:off x="1016053" y="1771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2159000"/>
            <a:ext cx="10160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T-M 模型（Treynor &amp; Mazuy, 1966）：</a:t>
            </a: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marL="0" indent="0">
              <a:lnSpc>
                <a:spcPct val="141666"/>
              </a:lnSpc>
            </a:pPr>
            <a14:m xmlns:a14="http://schemas.microsoft.com/office/drawing/2010/main">
              <m:oMathPara xmlns:m="http://schemas.openxmlformats.org/officeDocument/2006/math">
                <m:oMathParaPr>
                  <m:jc m:val="left"/>
                </m:oMathParaPr>
                <m:oMath>
                  <m:sSub>
                    <m:e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R</m:t>
                      </m:r>
                    </m:e>
                    <m:sub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p</m:t>
                      </m:r>
                    </m:sub>
                  </m:sSub>
                  <m: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-</m:t>
                  </m:r>
                  <m:sSub>
                    <m:e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R</m:t>
                      </m:r>
                    </m:e>
                    <m:sub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f</m:t>
                      </m:r>
                    </m:sub>
                  </m:sSub>
                  <m: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=α+β</m:t>
                  </m:r>
                  <m:d>
                    <m:dPr>
                      <m:sepChr m:val=","/>
                    </m:dPr>
                    <m:e>
                      <m:sSub>
                        <m:e>
                          <m:r>
                            <a:rPr sz="1800">
                              <a:solidFill>
                                <a:srgbClr val="383838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R</m:t>
                          </m:r>
                        </m:e>
                        <m:sub>
                          <m:r>
                            <a:rPr sz="1800">
                              <a:solidFill>
                                <a:srgbClr val="383838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m</m:t>
                          </m:r>
                        </m:sub>
                      </m:sSub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-</m:t>
                      </m:r>
                      <m:sSub>
                        <m:e>
                          <m:r>
                            <a:rPr sz="1800">
                              <a:solidFill>
                                <a:srgbClr val="383838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R</m:t>
                          </m:r>
                        </m:e>
                        <m:sub>
                          <m:r>
                            <a:rPr sz="1800">
                              <a:solidFill>
                                <a:srgbClr val="383838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f</m:t>
                          </m:r>
                        </m:sub>
                      </m:sSub>
                    </m:e>
                  </m:d>
                  <m: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+γ</m:t>
                  </m:r>
                  <m:sSup>
                    <m:e>
                      <m:d>
                        <m:dPr>
                          <m:sepChr m:val=","/>
                        </m:dPr>
                        <m:e>
                          <m:sSub>
                            <m:e>
                              <m:r>
                                <a:rPr sz="1800">
                                  <a:solidFill>
                                    <a:srgbClr val="383838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R</m:t>
                              </m:r>
                            </m:e>
                            <m:sub>
                              <m:r>
                                <a:rPr sz="1800">
                                  <a:solidFill>
                                    <a:srgbClr val="383838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m</m:t>
                              </m:r>
                            </m:sub>
                          </m:sSub>
                          <m:r>
                            <a:rPr sz="1800">
                              <a:solidFill>
                                <a:srgbClr val="383838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-</m:t>
                          </m:r>
                          <m:sSub>
                            <m:e>
                              <m:r>
                                <a:rPr sz="1800">
                                  <a:solidFill>
                                    <a:srgbClr val="383838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R</m:t>
                              </m:r>
                            </m:e>
                            <m:sub>
                              <m:r>
                                <a:rPr sz="1800">
                                  <a:solidFill>
                                    <a:srgbClr val="383838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f</m:t>
                              </m:r>
                            </m:sub>
                          </m:sSub>
                        </m:e>
                      </m:d>
                    </m:e>
                    <m:sup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2</m:t>
                      </m:r>
                    </m:sup>
                  </m:sSup>
                  <m: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+ε</m:t>
                  </m:r>
                </m:oMath>
              </m:oMathPara>
            </a14:m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16000" y="33655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α 显著为正 → </a:t>
            </a:r>
            <a:r>
              <a:rPr lang="en-US" b="tru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选股能力</a:t>
            </a: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；γ 显著为正 → </a:t>
            </a:r>
            <a:r>
              <a:rPr lang="en-US" b="tru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市场择时能力</a:t>
            </a: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（在牛市中提高 β、熊市中降低 β）。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4297" flipH="false" flipV="false">
            <a:off x="1016004" y="4311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 txBox="true"/>
          <p:nvPr/>
        </p:nvSpPr>
        <p:spPr>
          <a:xfrm rot="0" flipH="false" flipV="false">
            <a:off x="1016000" y="45085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H-M 模型（Henriksson &amp; Merton, 1981）：</a:t>
            </a: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用虚拟变量 </a:t>
            </a:r>
            <a14:m xmlns:a14="http://schemas.microsoft.com/office/drawing/2010/main">
              <m:oMath xmlns:m="http://schemas.openxmlformats.org/officeDocument/2006/math" xmlns:mml="http://www.w3.org/1998/Math/MathML">
                <m:r>
                  <m:rPr>
                    <m:sty m:val="p"/>
                  </m:rPr>
                  <a:rPr sz="1800">
                    <a:solidFill>
                      <a:srgbClr val="383838"/>
                    </a:solidFill>
                    <a:latin typeface="Noto Serif SC"/>
                    <a:ea typeface="Noto Serif SC"/>
                    <a:cs typeface="Noto Serif SC"/>
                    <a:sym typeface="Noto Serif SC"/>
                  </a:rPr>
                  <m:t>max</m:t>
                </m:r>
                <m:d>
                  <m:dPr>
                    <m:sepChr m:val=","/>
                  </m:dPr>
                  <m:e>
                    <m:r>
                      <a:rPr sz="1800">
                        <a:solidFill>
                          <a:srgbClr val="383838"/>
                        </a:solidFill>
                        <a:latin typeface="Noto Serif SC"/>
                        <a:ea typeface="Noto Serif SC"/>
                        <a:cs typeface="Noto Serif SC"/>
                        <a:sym typeface="Noto Serif SC"/>
                      </a:rPr>
                      <m:t>0</m:t>
                    </m:r>
                  </m:e>
                  <m:e>
                    <m:sSub>
                      <m:e>
                        <m:r>
                          <a:rPr sz="1800">
                            <a:solidFill>
                              <a:srgbClr val="383838"/>
                            </a:solidFill>
                            <a:latin typeface="Noto Serif SC"/>
                            <a:ea typeface="Noto Serif SC"/>
                            <a:cs typeface="Noto Serif SC"/>
                            <a:sym typeface="Noto Serif SC"/>
                          </a:rPr>
                          <m:t>R</m:t>
                        </m:r>
                      </m:e>
                      <m:sub>
                        <m:r>
                          <a:rPr sz="1800">
                            <a:solidFill>
                              <a:srgbClr val="383838"/>
                            </a:solidFill>
                            <a:latin typeface="Noto Serif SC"/>
                            <a:ea typeface="Noto Serif SC"/>
                            <a:cs typeface="Noto Serif SC"/>
                            <a:sym typeface="Noto Serif SC"/>
                          </a:rPr>
                          <m:t>m</m:t>
                        </m:r>
                      </m:sub>
                    </m:sSub>
                    <m:r>
                      <a:rPr sz="1800">
                        <a:solidFill>
                          <a:srgbClr val="383838"/>
                        </a:solidFill>
                        <a:latin typeface="Noto Serif SC"/>
                        <a:ea typeface="Noto Serif SC"/>
                        <a:cs typeface="Noto Serif SC"/>
                        <a:sym typeface="Noto Serif SC"/>
                      </a:rPr>
                      <m:t>-</m:t>
                    </m:r>
                    <m:sSub>
                      <m:e>
                        <m:r>
                          <a:rPr sz="1800">
                            <a:solidFill>
                              <a:srgbClr val="383838"/>
                            </a:solidFill>
                            <a:latin typeface="Noto Serif SC"/>
                            <a:ea typeface="Noto Serif SC"/>
                            <a:cs typeface="Noto Serif SC"/>
                            <a:sym typeface="Noto Serif SC"/>
                          </a:rPr>
                          <m:t>R</m:t>
                        </m:r>
                      </m:e>
                      <m:sub>
                        <m:r>
                          <a:rPr sz="1800">
                            <a:solidFill>
                              <a:srgbClr val="383838"/>
                            </a:solidFill>
                            <a:latin typeface="Noto Serif SC"/>
                            <a:ea typeface="Noto Serif SC"/>
                            <a:cs typeface="Noto Serif SC"/>
                            <a:sym typeface="Noto Serif SC"/>
                          </a:rPr>
                          <m:t>f</m:t>
                        </m:r>
                      </m:sub>
                    </m:sSub>
                  </m:e>
                </m:d>
              </m:oMath>
            </a14:m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 刻画择时，等价于把牛市与熊市的 β 分开估计。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1016000" y="55245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A 股实证：</a:t>
            </a:r>
            <a:r>
              <a:rPr lang="en-US" b="fals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主动基金普遍表现为</a:t>
            </a:r>
            <a:r>
              <a:rPr lang="en-US" b="tru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选股 α 为正、择时项为负或不显著</a:t>
            </a:r>
            <a:r>
              <a:rPr lang="en-US" b="fals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——经理真正稳定贡献来自个股选择，而非预测市场涨跌。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4297" flipH="false" flipV="false">
            <a:off x="1016004" y="621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 txBox="true"/>
          <p:nvPr/>
        </p:nvSpPr>
        <p:spPr>
          <a:xfrm rot="0" flipH="false" flipV="false">
            <a:off x="1016000" y="63500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787878"/>
                </a:solidFill>
                <a:latin typeface="Noto Serif SC"/>
                <a:ea typeface="Noto Serif SC"/>
                <a:cs typeface="Noto Serif SC"/>
                <a:sym typeface="Noto Serif SC"/>
              </a:rPr>
              <a:t>来源：Treynor &amp; Mazuy (1966)；Henriksson &amp; Merton (1981)；A 股实证见 Wooldridge 及国内 FOF 研究综述。</a:t>
            </a:r>
            <a:endParaRPr lang="en-US" sz="1100"/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05 · 归因与管理能力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Fama-French 多因子模型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57290" flipH="false" flipV="false">
            <a:off x="1016053" y="1771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2286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14:m xmlns:a14="http://schemas.microsoft.com/office/drawing/2010/main">
              <m:oMathPara xmlns:m="http://schemas.openxmlformats.org/officeDocument/2006/math">
                <m:oMathParaPr>
                  <m:jc m:val="left"/>
                </m:oMathParaPr>
                <m:oMath>
                  <m:sSub>
                    <m:e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R</m:t>
                      </m:r>
                    </m:e>
                    <m:sub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p,t</m:t>
                      </m:r>
                    </m:sub>
                  </m:sSub>
                  <m: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-</m:t>
                  </m:r>
                  <m:sSub>
                    <m:e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R</m:t>
                      </m:r>
                    </m:e>
                    <m:sub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f</m:t>
                      </m:r>
                    </m:sub>
                  </m:sSub>
                  <m: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=</m:t>
                  </m:r>
                  <m:sSub>
                    <m:e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α</m:t>
                      </m:r>
                    </m:e>
                    <m:sub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p</m:t>
                      </m:r>
                    </m:sub>
                  </m:sSub>
                  <m: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+</m:t>
                  </m:r>
                  <m:sSub>
                    <m:e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β</m:t>
                      </m:r>
                    </m:e>
                    <m:sub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Mkt</m:t>
                      </m:r>
                    </m:sub>
                  </m:sSub>
                  <m: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 Mk</m:t>
                  </m:r>
                  <m:sSub>
                    <m:e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t</m:t>
                      </m:r>
                    </m:e>
                    <m:sub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t</m:t>
                      </m:r>
                    </m:sub>
                  </m:sSub>
                  <m: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+</m:t>
                  </m:r>
                  <m:sSub>
                    <m:e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β</m:t>
                      </m:r>
                    </m:e>
                    <m:sub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SMB</m:t>
                      </m:r>
                    </m:sub>
                  </m:sSub>
                  <m: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 SM</m:t>
                  </m:r>
                  <m:sSub>
                    <m:e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B</m:t>
                      </m:r>
                    </m:e>
                    <m:sub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t</m:t>
                      </m:r>
                    </m:sub>
                  </m:sSub>
                  <m: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+</m:t>
                  </m:r>
                  <m:sSub>
                    <m:e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β</m:t>
                      </m:r>
                    </m:e>
                    <m:sub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HML</m:t>
                      </m:r>
                    </m:sub>
                  </m:sSub>
                  <m: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 HM</m:t>
                  </m:r>
                  <m:sSub>
                    <m:e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L</m:t>
                      </m:r>
                    </m:e>
                    <m:sub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t</m:t>
                      </m:r>
                    </m:sub>
                  </m:sSub>
                  <m: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+</m:t>
                  </m:r>
                  <m:sSub>
                    <m:e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ε</m:t>
                      </m:r>
                    </m:e>
                    <m:sub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p,t</m:t>
                      </m:r>
                    </m:sub>
                  </m:sSub>
                </m:oMath>
              </m:oMathPara>
            </a14:m>
            <a:endParaRPr lang="en-US" sz="1100"/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016000" y="3683000"/>
          <a:ext cx="10160000" cy="2159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524000"/>
                <a:gridCol w="2540000"/>
                <a:gridCol w="6096000"/>
              </a:tblGrid>
              <a:tr h="4572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因子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含义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在基金评价中的解读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Mkt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市场超额收益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与 CAPM 相同的 β 暴露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SMB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小市值 − 大市值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正暴露说明基金超配小盘股，并非选股能力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HML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高账面市值比 − 低账面市值比</a:t>
                      </a:r>
                      <a:endParaRPr lang="en-US" sz="1100"/>
                    </a:p>
                  </a:txBody>
                  <a:tcPr anchor="ctr" anchorCtr="false" marL="101600" marR="1016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正暴露说明基金偏价值风格，而非能力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name="Connector 7" id="7"/>
          <p:cNvCxnSpPr/>
          <p:nvPr/>
        </p:nvCxnSpPr>
        <p:spPr>
          <a:xfrm rot="-4297" flipH="false" flipV="false">
            <a:off x="1016004" y="621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 txBox="true"/>
          <p:nvPr/>
        </p:nvSpPr>
        <p:spPr>
          <a:xfrm rot="0" flipH="false" flipV="false">
            <a:off x="1016000" y="63500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787878"/>
                </a:solidFill>
                <a:latin typeface="Noto Serif SC"/>
                <a:ea typeface="Noto Serif SC"/>
                <a:cs typeface="Noto Serif SC"/>
                <a:sym typeface="Noto Serif SC"/>
              </a:rPr>
              <a:t>五因子模型进一步加入 RMW（盈利）与 CMA（投资）。来源：Fama &amp; French, 1993 / 2015。</a:t>
            </a:r>
            <a:endParaRPr lang="en-US" sz="1100"/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05 · 归因与管理能力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Carhart 四因子：加入动量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57290" flipH="false" flipV="false">
            <a:off x="1016053" y="1771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2286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14:m xmlns:a14="http://schemas.microsoft.com/office/drawing/2010/main">
              <m:oMathPara xmlns:m="http://schemas.openxmlformats.org/officeDocument/2006/math">
                <m:oMathParaPr>
                  <m:jc m:val="left"/>
                </m:oMathParaPr>
                <m:oMath>
                  <m:sSub>
                    <m:e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R</m:t>
                      </m:r>
                    </m:e>
                    <m:sub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p,t</m:t>
                      </m:r>
                    </m:sub>
                  </m:sSub>
                  <m: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-</m:t>
                  </m:r>
                  <m:sSub>
                    <m:e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R</m:t>
                      </m:r>
                    </m:e>
                    <m:sub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f</m:t>
                      </m:r>
                    </m:sub>
                  </m:sSub>
                  <m: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=</m:t>
                  </m:r>
                  <m:sSub>
                    <m:e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α</m:t>
                      </m:r>
                    </m:e>
                    <m:sub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p</m:t>
                      </m:r>
                    </m:sub>
                  </m:sSub>
                  <m: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+b Mk</m:t>
                  </m:r>
                  <m:sSub>
                    <m:e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t</m:t>
                      </m:r>
                    </m:e>
                    <m:sub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t</m:t>
                      </m:r>
                    </m:sub>
                  </m:sSub>
                  <m: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+s SM</m:t>
                  </m:r>
                  <m:sSub>
                    <m:e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B</m:t>
                      </m:r>
                    </m:e>
                    <m:sub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t</m:t>
                      </m:r>
                    </m:sub>
                  </m:sSub>
                  <m: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+h HM</m:t>
                  </m:r>
                  <m:sSub>
                    <m:e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L</m:t>
                      </m:r>
                    </m:e>
                    <m:sub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t</m:t>
                      </m:r>
                    </m:sub>
                  </m:sSub>
                  <m: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+m MO</m:t>
                  </m:r>
                  <m:sSub>
                    <m:e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M</m:t>
                      </m:r>
                    </m:e>
                    <m:sub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t</m:t>
                      </m:r>
                    </m:sub>
                  </m:sSub>
                  <m: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+</m:t>
                  </m:r>
                  <m:sSub>
                    <m:e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ε</m:t>
                      </m:r>
                    </m:e>
                    <m:sub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p,t</m:t>
                      </m:r>
                    </m:sub>
                  </m:sSub>
                </m:oMath>
              </m:oMathPara>
            </a14:m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16000" y="3683000"/>
            <a:ext cx="10160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tru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关键发现（Carhart, 1997）：</a:t>
            </a: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l" indent="-228600" marL="228600">
              <a:lnSpc>
                <a:spcPct val="150000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加入动量因子后，共同基金的"热手效应" largely 消失——过去赢家继续赢，是因为它们持有动量股票，不是基金经理的选股能力</a:t>
            </a:r>
          </a:p>
          <a:p>
            <a:pPr algn="l" indent="-228600" marL="228600">
              <a:lnSpc>
                <a:spcPct val="150000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扣除费用后，多数主动基金的 α 不显著为正</a:t>
            </a:r>
          </a:p>
          <a:p>
            <a:pPr algn="l" indent="-228600" marL="228600">
              <a:lnSpc>
                <a:spcPct val="150000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费用率与 α 显著负相关：高费用基金并未带来更高净收益</a:t>
            </a:r>
          </a:p>
          <a:p>
            <a:pPr algn="l" indent="-228600" marL="228600">
              <a:lnSpc>
                <a:spcPct val="150000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这一结论在 Fama &amp; French (2010) 大样本检验中再次被确认</a:t>
            </a:r>
          </a:p>
        </p:txBody>
      </p:sp>
      <p:cxnSp>
        <p:nvCxnSpPr>
          <p:cNvPr name="Connector 7" id="7"/>
          <p:cNvCxnSpPr/>
          <p:nvPr/>
        </p:nvCxnSpPr>
        <p:spPr>
          <a:xfrm rot="-4297" flipH="false" flipV="false">
            <a:off x="1016004" y="621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 txBox="true"/>
          <p:nvPr/>
        </p:nvSpPr>
        <p:spPr>
          <a:xfrm rot="0" flipH="false" flipV="false">
            <a:off x="1016000" y="63500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787878"/>
                </a:solidFill>
                <a:latin typeface="Noto Serif SC"/>
                <a:ea typeface="Noto Serif SC"/>
                <a:cs typeface="Noto Serif SC"/>
                <a:sym typeface="Noto Serif SC"/>
              </a:rPr>
              <a:t>来源：Carhart, 《On Persistence in Mutual Fund Performance》, 1997；Fama &amp; French, 2010。</a:t>
            </a:r>
            <a:endParaRPr lang="en-US" sz="1100"/>
          </a:p>
        </p:txBody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05 · 归因与管理能力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Brinson 归因：配置与选股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57290" flipH="false" flipV="false">
            <a:off x="1016053" y="1771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2159000"/>
            <a:ext cx="1016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14:m xmlns:a14="http://schemas.microsoft.com/office/drawing/2010/main">
              <m:oMathPara xmlns:m="http://schemas.openxmlformats.org/officeDocument/2006/math">
                <m:oMathParaPr>
                  <m:jc m:val="left"/>
                </m:oMathParaPr>
                <m:oMath>
                  <m:sSub>
                    <m:e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R</m:t>
                      </m:r>
                    </m:e>
                    <m:sub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p</m:t>
                      </m:r>
                    </m:sub>
                  </m:sSub>
                  <m: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-</m:t>
                  </m:r>
                  <m:sSub>
                    <m:e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R</m:t>
                      </m:r>
                    </m:e>
                    <m:sub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b</m:t>
                      </m:r>
                    </m:sub>
                  </m:sSub>
                  <m: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=</m:t>
                  </m:r>
                  <m:sSub>
                    <m:e>
                      <m:limLow>
                        <m:e>
                          <m:nary>
                            <m:naryPr>
                              <m:chr m:val="∑"/>
                              <m:limLoc m:val="undOvr"/>
                              <m:grow m:val="1"/>
                              <m:subHide m:val="off"/>
                              <m:supHide m:val="on"/>
                            </m:naryPr>
                            <m:sub>
                              <m:r>
                                <a:rPr sz="1800">
                                  <a:solidFill>
                                    <a:srgbClr val="383838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i</m:t>
                              </m:r>
                            </m:sub>
                            <m:sup>
                              <m:r>
                                <a:rPr sz="1800">
                                  <a:solidFill>
                                    <a:srgbClr val="383838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⁣</m:t>
                              </m:r>
                            </m:sup>
                            <m:e>
                              <m:d>
                                <m:dPr>
                                  <m:sepChr m:val=","/>
                                </m:dPr>
                                <m:e>
                                  <m:sSub>
                                    <m:e>
                                      <m:r>
                                        <a:rPr sz="1800">
                                          <a:solidFill>
                                            <a:srgbClr val="383838"/>
                                          </a:solidFill>
                                          <a:latin typeface="Noto Serif SC"/>
                                          <a:ea typeface="Noto Serif SC"/>
                                          <a:cs typeface="Noto Serif SC"/>
                                          <a:sym typeface="Noto Serif SC"/>
                                        </a:rPr>
                                        <m:t>w</m:t>
                                      </m:r>
                                    </m:e>
                                    <m:sub>
                                      <m:r>
                                        <a:rPr sz="1800">
                                          <a:solidFill>
                                            <a:srgbClr val="383838"/>
                                          </a:solidFill>
                                          <a:latin typeface="Noto Serif SC"/>
                                          <a:ea typeface="Noto Serif SC"/>
                                          <a:cs typeface="Noto Serif SC"/>
                                          <a:sym typeface="Noto Serif SC"/>
                                        </a:rPr>
                                        <m:t>p,i</m:t>
                                      </m:r>
                                    </m:sub>
                                  </m:sSub>
                                  <m:r>
                                    <a:rPr sz="1800">
                                      <a:solidFill>
                                        <a:srgbClr val="383838"/>
                                      </a:solidFill>
                                      <a:latin typeface="Noto Serif SC"/>
                                      <a:ea typeface="Noto Serif SC"/>
                                      <a:cs typeface="Noto Serif SC"/>
                                      <a:sym typeface="Noto Serif SC"/>
                                    </a:rPr>
                                    <m:t>-</m:t>
                                  </m:r>
                                  <m:sSub>
                                    <m:e>
                                      <m:r>
                                        <a:rPr sz="1800">
                                          <a:solidFill>
                                            <a:srgbClr val="383838"/>
                                          </a:solidFill>
                                          <a:latin typeface="Noto Serif SC"/>
                                          <a:ea typeface="Noto Serif SC"/>
                                          <a:cs typeface="Noto Serif SC"/>
                                          <a:sym typeface="Noto Serif SC"/>
                                        </a:rPr>
                                        <m:t>w</m:t>
                                      </m:r>
                                    </m:e>
                                    <m:sub>
                                      <m:r>
                                        <a:rPr sz="1800">
                                          <a:solidFill>
                                            <a:srgbClr val="383838"/>
                                          </a:solidFill>
                                          <a:latin typeface="Noto Serif SC"/>
                                          <a:ea typeface="Noto Serif SC"/>
                                          <a:cs typeface="Noto Serif SC"/>
                                          <a:sym typeface="Noto Serif SC"/>
                                        </a:rPr>
                                        <m:t>b,i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sz="1800">
                              <a:solidFill>
                                <a:srgbClr val="383838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 </m:t>
                          </m:r>
                          <m:sSub>
                            <m:e>
                              <m:r>
                                <a:rPr sz="1800">
                                  <a:solidFill>
                                    <a:srgbClr val="383838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r</m:t>
                              </m:r>
                            </m:e>
                            <m:sub>
                              <m:r>
                                <a:rPr sz="1800">
                                  <a:solidFill>
                                    <a:srgbClr val="383838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b,i</m:t>
                              </m:r>
                            </m:sub>
                          </m:sSub>
                        </m:e>
                        <m:lim>
                          <m:r>
                            <a:rPr sz="1800">
                              <a:solidFill>
                                <a:srgbClr val="383838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︸</m:t>
                          </m:r>
                        </m:lim>
                      </m:limLow>
                    </m:e>
                    <m:sub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配置效应</m:t>
                      </m:r>
                    </m:sub>
                  </m:sSub>
                  <m: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⁣</m:t>
                  </m:r>
                  <m: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+</m:t>
                  </m:r>
                  <m:sSub>
                    <m:e>
                      <m:limLow>
                        <m:e>
                          <m:nary>
                            <m:naryPr>
                              <m:chr m:val="∑"/>
                              <m:limLoc m:val="undOvr"/>
                              <m:grow m:val="1"/>
                              <m:subHide m:val="off"/>
                              <m:supHide m:val="on"/>
                            </m:naryPr>
                            <m:sub>
                              <m:r>
                                <a:rPr sz="1800">
                                  <a:solidFill>
                                    <a:srgbClr val="383838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i</m:t>
                              </m:r>
                            </m:sub>
                            <m:sup>
                              <m:r>
                                <a:rPr sz="1800">
                                  <a:solidFill>
                                    <a:srgbClr val="383838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⁣</m:t>
                              </m:r>
                            </m:sup>
                            <m:e>
                              <m:sSub>
                                <m:e>
                                  <m:r>
                                    <a:rPr sz="1800">
                                      <a:solidFill>
                                        <a:srgbClr val="383838"/>
                                      </a:solidFill>
                                      <a:latin typeface="Noto Serif SC"/>
                                      <a:ea typeface="Noto Serif SC"/>
                                      <a:cs typeface="Noto Serif SC"/>
                                      <a:sym typeface="Noto Serif SC"/>
                                    </a:rPr>
                                    <m:t>w</m:t>
                                  </m:r>
                                </m:e>
                                <m:sub>
                                  <m:r>
                                    <a:rPr sz="1800">
                                      <a:solidFill>
                                        <a:srgbClr val="383838"/>
                                      </a:solidFill>
                                      <a:latin typeface="Noto Serif SC"/>
                                      <a:ea typeface="Noto Serif SC"/>
                                      <a:cs typeface="Noto Serif SC"/>
                                      <a:sym typeface="Noto Serif SC"/>
                                    </a:rPr>
                                    <m:t>b,i</m:t>
                                  </m:r>
                                </m:sub>
                              </m:sSub>
                            </m:e>
                          </m:nary>
                          <m:d>
                            <m:dPr>
                              <m:sepChr m:val=","/>
                            </m:dPr>
                            <m:e>
                              <m:sSub>
                                <m:e>
                                  <m:r>
                                    <a:rPr sz="1800">
                                      <a:solidFill>
                                        <a:srgbClr val="383838"/>
                                      </a:solidFill>
                                      <a:latin typeface="Noto Serif SC"/>
                                      <a:ea typeface="Noto Serif SC"/>
                                      <a:cs typeface="Noto Serif SC"/>
                                      <a:sym typeface="Noto Serif SC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sz="1800">
                                      <a:solidFill>
                                        <a:srgbClr val="383838"/>
                                      </a:solidFill>
                                      <a:latin typeface="Noto Serif SC"/>
                                      <a:ea typeface="Noto Serif SC"/>
                                      <a:cs typeface="Noto Serif SC"/>
                                      <a:sym typeface="Noto Serif SC"/>
                                    </a:rPr>
                                    <m:t>p,i</m:t>
                                  </m:r>
                                </m:sub>
                              </m:sSub>
                              <m:r>
                                <a:rPr sz="1800">
                                  <a:solidFill>
                                    <a:srgbClr val="383838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-</m:t>
                              </m:r>
                              <m:sSub>
                                <m:e>
                                  <m:r>
                                    <a:rPr sz="1800">
                                      <a:solidFill>
                                        <a:srgbClr val="383838"/>
                                      </a:solidFill>
                                      <a:latin typeface="Noto Serif SC"/>
                                      <a:ea typeface="Noto Serif SC"/>
                                      <a:cs typeface="Noto Serif SC"/>
                                      <a:sym typeface="Noto Serif SC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sz="1800">
                                      <a:solidFill>
                                        <a:srgbClr val="383838"/>
                                      </a:solidFill>
                                      <a:latin typeface="Noto Serif SC"/>
                                      <a:ea typeface="Noto Serif SC"/>
                                      <a:cs typeface="Noto Serif SC"/>
                                      <a:sym typeface="Noto Serif SC"/>
                                    </a:rPr>
                                    <m:t>b,i</m:t>
                                  </m:r>
                                </m:sub>
                              </m:sSub>
                            </m:e>
                          </m:d>
                        </m:e>
                        <m:lim>
                          <m:r>
                            <a:rPr sz="1800">
                              <a:solidFill>
                                <a:srgbClr val="383838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︸</m:t>
                          </m:r>
                        </m:lim>
                      </m:limLow>
                    </m:e>
                    <m:sub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选股效应</m:t>
                      </m:r>
                    </m:sub>
                  </m:sSub>
                  <m: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⁣</m:t>
                  </m:r>
                  <m: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+</m:t>
                  </m:r>
                  <m:sSub>
                    <m:e>
                      <m:limLow>
                        <m:e>
                          <m:nary>
                            <m:naryPr>
                              <m:chr m:val="∑"/>
                              <m:limLoc m:val="undOvr"/>
                              <m:grow m:val="1"/>
                              <m:subHide m:val="off"/>
                              <m:supHide m:val="on"/>
                            </m:naryPr>
                            <m:sub>
                              <m:r>
                                <a:rPr sz="1800">
                                  <a:solidFill>
                                    <a:srgbClr val="383838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i</m:t>
                              </m:r>
                            </m:sub>
                            <m:sup>
                              <m:r>
                                <a:rPr sz="1800">
                                  <a:solidFill>
                                    <a:srgbClr val="383838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⁣</m:t>
                              </m:r>
                            </m:sup>
                            <m:e>
                              <m:d>
                                <m:dPr>
                                  <m:sepChr m:val=","/>
                                </m:dPr>
                                <m:e>
                                  <m:sSub>
                                    <m:e>
                                      <m:r>
                                        <a:rPr sz="1800">
                                          <a:solidFill>
                                            <a:srgbClr val="383838"/>
                                          </a:solidFill>
                                          <a:latin typeface="Noto Serif SC"/>
                                          <a:ea typeface="Noto Serif SC"/>
                                          <a:cs typeface="Noto Serif SC"/>
                                          <a:sym typeface="Noto Serif SC"/>
                                        </a:rPr>
                                        <m:t>w</m:t>
                                      </m:r>
                                    </m:e>
                                    <m:sub>
                                      <m:r>
                                        <a:rPr sz="1800">
                                          <a:solidFill>
                                            <a:srgbClr val="383838"/>
                                          </a:solidFill>
                                          <a:latin typeface="Noto Serif SC"/>
                                          <a:ea typeface="Noto Serif SC"/>
                                          <a:cs typeface="Noto Serif SC"/>
                                          <a:sym typeface="Noto Serif SC"/>
                                        </a:rPr>
                                        <m:t>p,i</m:t>
                                      </m:r>
                                    </m:sub>
                                  </m:sSub>
                                  <m:r>
                                    <a:rPr sz="1800">
                                      <a:solidFill>
                                        <a:srgbClr val="383838"/>
                                      </a:solidFill>
                                      <a:latin typeface="Noto Serif SC"/>
                                      <a:ea typeface="Noto Serif SC"/>
                                      <a:cs typeface="Noto Serif SC"/>
                                      <a:sym typeface="Noto Serif SC"/>
                                    </a:rPr>
                                    <m:t>-</m:t>
                                  </m:r>
                                  <m:sSub>
                                    <m:e>
                                      <m:r>
                                        <a:rPr sz="1800">
                                          <a:solidFill>
                                            <a:srgbClr val="383838"/>
                                          </a:solidFill>
                                          <a:latin typeface="Noto Serif SC"/>
                                          <a:ea typeface="Noto Serif SC"/>
                                          <a:cs typeface="Noto Serif SC"/>
                                          <a:sym typeface="Noto Serif SC"/>
                                        </a:rPr>
                                        <m:t>w</m:t>
                                      </m:r>
                                    </m:e>
                                    <m:sub>
                                      <m:r>
                                        <a:rPr sz="1800">
                                          <a:solidFill>
                                            <a:srgbClr val="383838"/>
                                          </a:solidFill>
                                          <a:latin typeface="Noto Serif SC"/>
                                          <a:ea typeface="Noto Serif SC"/>
                                          <a:cs typeface="Noto Serif SC"/>
                                          <a:sym typeface="Noto Serif SC"/>
                                        </a:rPr>
                                        <m:t>b,i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d>
                            <m:dPr>
                              <m:sepChr m:val=","/>
                            </m:dPr>
                            <m:e>
                              <m:sSub>
                                <m:e>
                                  <m:r>
                                    <a:rPr sz="1800">
                                      <a:solidFill>
                                        <a:srgbClr val="383838"/>
                                      </a:solidFill>
                                      <a:latin typeface="Noto Serif SC"/>
                                      <a:ea typeface="Noto Serif SC"/>
                                      <a:cs typeface="Noto Serif SC"/>
                                      <a:sym typeface="Noto Serif SC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sz="1800">
                                      <a:solidFill>
                                        <a:srgbClr val="383838"/>
                                      </a:solidFill>
                                      <a:latin typeface="Noto Serif SC"/>
                                      <a:ea typeface="Noto Serif SC"/>
                                      <a:cs typeface="Noto Serif SC"/>
                                      <a:sym typeface="Noto Serif SC"/>
                                    </a:rPr>
                                    <m:t>p,i</m:t>
                                  </m:r>
                                </m:sub>
                              </m:sSub>
                              <m:r>
                                <a:rPr sz="1800">
                                  <a:solidFill>
                                    <a:srgbClr val="383838"/>
                                  </a:solidFill>
                                  <a:latin typeface="Noto Serif SC"/>
                                  <a:ea typeface="Noto Serif SC"/>
                                  <a:cs typeface="Noto Serif SC"/>
                                  <a:sym typeface="Noto Serif SC"/>
                                </a:rPr>
                                <m:t>-</m:t>
                              </m:r>
                              <m:sSub>
                                <m:e>
                                  <m:r>
                                    <a:rPr sz="1800">
                                      <a:solidFill>
                                        <a:srgbClr val="383838"/>
                                      </a:solidFill>
                                      <a:latin typeface="Noto Serif SC"/>
                                      <a:ea typeface="Noto Serif SC"/>
                                      <a:cs typeface="Noto Serif SC"/>
                                      <a:sym typeface="Noto Serif SC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sz="1800">
                                      <a:solidFill>
                                        <a:srgbClr val="383838"/>
                                      </a:solidFill>
                                      <a:latin typeface="Noto Serif SC"/>
                                      <a:ea typeface="Noto Serif SC"/>
                                      <a:cs typeface="Noto Serif SC"/>
                                      <a:sym typeface="Noto Serif SC"/>
                                    </a:rPr>
                                    <m:t>b,i</m:t>
                                  </m:r>
                                </m:sub>
                              </m:sSub>
                            </m:e>
                          </m:d>
                        </m:e>
                        <m:lim>
                          <m:r>
                            <a:rPr sz="1800">
                              <a:solidFill>
                                <a:srgbClr val="383838"/>
                              </a:solidFill>
                              <a:latin typeface="Noto Serif SC"/>
                              <a:ea typeface="Noto Serif SC"/>
                              <a:cs typeface="Noto Serif SC"/>
                              <a:sym typeface="Noto Serif SC"/>
                            </a:rPr>
                            <m:t>︸</m:t>
                          </m:r>
                        </m:lim>
                      </m:limLow>
                    </m:e>
                    <m:sub>
                      <m:r>
                        <a:rPr sz="18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m:t>交互效应</m:t>
                      </m:r>
                    </m:sub>
                  </m:sSub>
                  <m:r>
                    <a:rPr sz="1800">
                      <a:solidFill>
                        <a:srgbClr val="383838"/>
                      </a:solidFill>
                      <a:latin typeface="Noto Serif SC"/>
                      <a:ea typeface="Noto Serif SC"/>
                      <a:cs typeface="Noto Serif SC"/>
                      <a:sym typeface="Noto Serif SC"/>
                    </a:rPr>
                    <m:t>⁣</m:t>
                  </m:r>
                </m:oMath>
              </m:oMathPara>
            </a14:m>
            <a:endParaRPr lang="en-US" sz="1100"/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016000" y="3175000"/>
          <a:ext cx="10160000" cy="1651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524000"/>
                <a:gridCol w="4318000"/>
                <a:gridCol w="4318000"/>
              </a:tblGrid>
              <a:tr h="381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效应</a:t>
                      </a:r>
                      <a:endParaRPr lang="en-US" sz="1100"/>
                    </a:p>
                  </a:txBody>
                  <a:tcPr anchor="ctr" anchorCtr="false" marL="101600" marR="1016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含义</a:t>
                      </a:r>
                      <a:endParaRPr lang="en-US" sz="1100"/>
                    </a:p>
                  </a:txBody>
                  <a:tcPr anchor="ctr" anchorCtr="false" marL="101600" marR="1016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典型解读</a:t>
                      </a:r>
                      <a:endParaRPr lang="en-US" sz="1100"/>
                    </a:p>
                  </a:txBody>
                  <a:tcPr anchor="ctr" anchorCtr="false" marL="101600" marR="1016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</a:tr>
              <a:tr h="4191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配置效应</a:t>
                      </a:r>
                      <a:endParaRPr lang="en-US" sz="1100"/>
                    </a:p>
                  </a:txBody>
                  <a:tcPr anchor="ctr" anchorCtr="false" marL="101600" marR="101600" marT="82550" marB="825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超配/低配某行业带来的收益差</a:t>
                      </a:r>
                      <a:endParaRPr lang="en-US" sz="1100"/>
                    </a:p>
                  </a:txBody>
                  <a:tcPr anchor="ctr" anchorCtr="false" marL="101600" marR="101600" marT="82550" marB="825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反映宏观与行业判断</a:t>
                      </a:r>
                      <a:endParaRPr lang="en-US" sz="1100"/>
                    </a:p>
                  </a:txBody>
                  <a:tcPr anchor="ctr" anchorCtr="false" marL="101600" marR="101600" marT="82550" marB="825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191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选股效应</a:t>
                      </a:r>
                      <a:endParaRPr lang="en-US" sz="1100"/>
                    </a:p>
                  </a:txBody>
                  <a:tcPr anchor="ctr" anchorCtr="false" marL="101600" marR="101600" marT="82550" marB="825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在同一行业内选到更好的股票</a:t>
                      </a:r>
                      <a:endParaRPr lang="en-US" sz="1100"/>
                    </a:p>
                  </a:txBody>
                  <a:tcPr anchor="ctr" anchorCtr="false" marL="101600" marR="101600" marT="82550" marB="825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反映微观个股研究能力</a:t>
                      </a:r>
                      <a:endParaRPr lang="en-US" sz="1100"/>
                    </a:p>
                  </a:txBody>
                  <a:tcPr anchor="ctr" anchorCtr="false" marL="101600" marR="101600" marT="82550" marB="825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18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交互效应</a:t>
                      </a:r>
                      <a:endParaRPr lang="en-US" sz="1100"/>
                    </a:p>
                  </a:txBody>
                  <a:tcPr anchor="ctr" anchorCtr="false" marL="101600" marR="1016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同时超配行业并选到更好个股</a:t>
                      </a:r>
                      <a:endParaRPr lang="en-US" sz="1100"/>
                    </a:p>
                  </a:txBody>
                  <a:tcPr anchor="ctr" anchorCtr="false" marL="101600" marR="1016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配置与选股的协同</a:t>
                      </a:r>
                      <a:endParaRPr lang="en-US" sz="1100"/>
                    </a:p>
                  </a:txBody>
                  <a:tcPr anchor="ctr" anchorCtr="false" marL="101600" marR="1016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7" id="7"/>
          <p:cNvSpPr txBox="true"/>
          <p:nvPr/>
        </p:nvSpPr>
        <p:spPr>
          <a:xfrm rot="0" flipH="false" flipV="false">
            <a:off x="1016000" y="5016500"/>
            <a:ext cx="1016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局限与对照：</a:t>
            </a: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国内只能拿到季报前十大与半年报全持仓，存在"窗口粉饰"，且忽略季度内交易。关键检验：把归因结果与经理宣称的投资理念对照——声称"自下而上选股"的基金，若收益主要来自行业配置效应，就要打问号。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4297" flipH="false" flipV="false">
            <a:off x="1016004" y="621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 txBox="true"/>
          <p:nvPr/>
        </p:nvSpPr>
        <p:spPr>
          <a:xfrm rot="0" flipH="false" flipV="false">
            <a:off x="1016000" y="63500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787878"/>
                </a:solidFill>
                <a:latin typeface="Noto Serif SC"/>
                <a:ea typeface="Noto Serif SC"/>
                <a:cs typeface="Noto Serif SC"/>
                <a:sym typeface="Noto Serif SC"/>
              </a:rPr>
              <a:t>来源：Brinson, Hood &amp; Beebower (1986)；Brinson, Singer &amp; Beebower (1991)；持仓披露规则见证监会季报/半年报要求。</a:t>
            </a:r>
            <a:endParaRPr lang="en-US" sz="1100"/>
          </a:p>
        </p:txBody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05 · 归因与管理能力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Barra 风险模型：多因子风险归因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57290" flipH="false" flipV="false">
            <a:off x="1016053" y="1771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2286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Barra 模型把组合风险拆为</a:t>
            </a:r>
            <a:r>
              <a:rPr lang="en-US" b="tru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因子风险</a:t>
            </a: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（市场、行业、风格：规模、价值、动量、波动、流动性等）与</a:t>
            </a:r>
            <a:r>
              <a:rPr lang="en-US" b="tru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特异风险</a:t>
            </a: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（个股残差）：</a:t>
            </a:r>
            <a:endParaRPr lang="en-US" sz="1100"/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016000" y="3302000"/>
          <a:ext cx="10160000" cy="2540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86000"/>
                <a:gridCol w="7874000"/>
              </a:tblGrid>
              <a:tr h="4699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维度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典型因子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</a:tr>
              <a:tr h="5207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国家/市场因子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市场整体暴露（对单一市场模型）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07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行业因子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一级行业暴露（与 Brinson 配置效应对应）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07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风格因子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规模、价值/成长、动量、波动率、流动性、杠杆、盈利、成长等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特异风险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个股残差风险，分散化后应逐步衰减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name="Connector 7" id="7"/>
          <p:cNvCxnSpPr/>
          <p:nvPr/>
        </p:nvCxnSpPr>
        <p:spPr>
          <a:xfrm rot="-4297" flipH="false" flipV="false">
            <a:off x="1016004" y="621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 txBox="true"/>
          <p:nvPr/>
        </p:nvSpPr>
        <p:spPr>
          <a:xfrm rot="0" flipH="false" flipV="false">
            <a:off x="1016000" y="63500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787878"/>
                </a:solidFill>
                <a:latin typeface="Noto Serif SC"/>
                <a:ea typeface="Noto Serif SC"/>
                <a:cs typeface="Noto Serif SC"/>
                <a:sym typeface="Noto Serif SC"/>
              </a:rPr>
              <a:t>来源：MSCI Barra 中国模型手册；与 FF 时间序列回归互补，Barra 用持仓截面直接归因。</a:t>
            </a:r>
            <a:endParaRPr lang="en-US" sz="1100"/>
          </a:p>
        </p:txBody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05 · 归因与管理能力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业绩是否可持续：持续性检验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57290" flipH="false" flipV="false">
            <a:off x="1016053" y="1771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20955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"过去三年排名前 1/4"能否预测未来三年排名？这是投资者最关心的问题，也是学术检验的核心。</a:t>
            </a:r>
            <a:endParaRPr lang="en-US" sz="1100"/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016000" y="2857500"/>
          <a:ext cx="10160000" cy="1905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86000"/>
                <a:gridCol w="7874000"/>
              </a:tblGrid>
              <a:tr h="4064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研究结论</a:t>
                      </a:r>
                      <a:endParaRPr lang="en-US" sz="1100"/>
                    </a:p>
                  </a:txBody>
                  <a:tcPr anchor="ctr" anchorCtr="false" marL="101600" marR="1016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要点</a:t>
                      </a:r>
                      <a:endParaRPr lang="en-US" sz="1100"/>
                    </a:p>
                  </a:txBody>
                  <a:tcPr anchor="ctr" anchorCtr="false" marL="101600" marR="1016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</a:tr>
              <a:tr h="4953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Carhart (1997)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扣除费用后，赢家继续赢 largely 由动量因子解释；输家继续输的现象较稳定。</a:t>
                      </a:r>
                      <a:endParaRPr lang="en-US" sz="1100"/>
                    </a:p>
                  </a:txBody>
                  <a:tcPr anchor="ctr" anchorCtr="false" marL="101600" marR="101600" marT="6350" marB="6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953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Fama &amp; French (2010)</a:t>
                      </a:r>
                      <a:endParaRPr lang="en-US" sz="1100"/>
                    </a:p>
                  </a:txBody>
                  <a:tcPr anchor="ctr" anchorCtr="false" marL="101600" marR="101600" marT="6350" marB="6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扣除费用后，主动基金净 α 不显著为正；最好的少数基金可能有真 α，但扣费后优势微薄。</a:t>
                      </a:r>
                      <a:endParaRPr lang="en-US" sz="1100"/>
                    </a:p>
                  </a:txBody>
                  <a:tcPr anchor="ctr" anchorCtr="false" marL="101600" marR="101600" marT="6350" marB="6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实务含义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"冠军基金"不能作为未来业绩的可靠依据；持续跑输者更应警惕。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7" id="7"/>
          <p:cNvSpPr txBox="true"/>
          <p:nvPr/>
        </p:nvSpPr>
        <p:spPr>
          <a:xfrm rot="0" flipH="false" flipV="false">
            <a:off x="1016000" y="4953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实务上怎么量：</a:t>
            </a:r>
            <a:r>
              <a:rPr lang="en-US" b="fals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① </a:t>
            </a:r>
            <a:r>
              <a:rPr lang="en-US" b="tru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滚动胜率</a:t>
            </a:r>
            <a:r>
              <a:rPr lang="en-US" b="fals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——滚动 1 年/3 年窗口跑赢基准的比例；② </a:t>
            </a:r>
            <a:r>
              <a:rPr lang="en-US" b="tru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排名稳定性</a:t>
            </a:r>
            <a:r>
              <a:rPr lang="en-US" b="fals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——各年度同类排名分位的标准差，"年年前 1/3" 比 "一年第一、一年垫底" 更有价值；③ </a:t>
            </a:r>
            <a:r>
              <a:rPr lang="en-US" b="tru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超额收益曲线形态</a:t>
            </a:r>
            <a:r>
              <a:rPr lang="en-US" b="fals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——持续平稳向上，比靠一两次重仓押注带来的阶跃式上升更可信。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4297" flipH="false" flipV="false">
            <a:off x="1016004" y="621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 txBox="true"/>
          <p:nvPr/>
        </p:nvSpPr>
        <p:spPr>
          <a:xfrm rot="0" flipH="false" flipV="false">
            <a:off x="1016000" y="63500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787878"/>
                </a:solidFill>
                <a:latin typeface="Noto Serif SC"/>
                <a:ea typeface="Noto Serif SC"/>
                <a:cs typeface="Noto Serif SC"/>
                <a:sym typeface="Noto Serif SC"/>
              </a:rPr>
              <a:t>来源：Carhart (1997)；Fama &amp; French (2010)；实务度量参考晨星与国内 FOF 尽调清单。</a:t>
            </a:r>
            <a:endParaRPr lang="en-US" sz="1100"/>
          </a:p>
        </p:txBody>
      </p: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>
  <p:cSld>
    <p:bg>
      <p:bgPr>
        <a:solidFill>
          <a:srgbClr val="002FA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2286000"/>
            <a:ext cx="254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9600">
                <a:solidFill>
                  <a:srgbClr val="FFFFFF">
                    <a:alpha val="25098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06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2969" flipH="false" flipV="false">
            <a:off x="1016040" y="4057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FF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 txBox="true"/>
          <p:nvPr/>
        </p:nvSpPr>
        <p:spPr>
          <a:xfrm rot="0" flipH="false" flipV="false">
            <a:off x="1016000" y="4318000"/>
            <a:ext cx="889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实务评级与常见误区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016000" y="5334000"/>
            <a:ext cx="889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74902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从学术指标到可操作的评价清单</a:t>
            </a:r>
            <a:endParaRPr lang="en-US" sz="1100"/>
          </a:p>
        </p:txBody>
      </p: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06 · 实务评级与常见误区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晨星评价框架一览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57290" flipH="false" flipV="false">
            <a:off x="1016053" y="1771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2286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晨星把基金风险分为 </a:t>
            </a:r>
            <a:r>
              <a:rPr lang="en-US" b="tru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R1–R5</a:t>
            </a: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 五档，综合得分 = 持仓风险 × 70% + 三项业绩风险各 × 10%，再叠加附加风险调整：</a:t>
            </a:r>
            <a:endParaRPr lang="en-US" sz="1100"/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016000" y="3048000"/>
          <a:ext cx="10160000" cy="2921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270000"/>
                <a:gridCol w="2286000"/>
                <a:gridCol w="2540000"/>
                <a:gridCol w="4064000"/>
              </a:tblGrid>
              <a:tr h="4699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风险等级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风险得分区间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典型基金类型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对应投资者（适当性）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</a:tr>
              <a:tr h="4953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[0, 1.4)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货币市场基金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保守型及以上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953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[1.4, 2.2)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纯债基金、市场中性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稳健型及以上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953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R3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[2.2, 3.2)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混合基金、可转债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平衡型及以上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953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R4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[3.2, 4.7)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商品、REITs、行业主题股基</a:t>
                      </a:r>
                      <a:endParaRPr lang="en-US" sz="1100"/>
                    </a:p>
                  </a:txBody>
                  <a:tcPr anchor="ctr" anchorCtr="false" marL="101600" marR="101600" marT="6350" marB="6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进取型及以上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699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R5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[4.7, ∞)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股票型基金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激进型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name="Connector 7" id="7"/>
          <p:cNvCxnSpPr/>
          <p:nvPr/>
        </p:nvCxnSpPr>
        <p:spPr>
          <a:xfrm rot="-4297" flipH="false" flipV="false">
            <a:off x="1016004" y="621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 txBox="true"/>
          <p:nvPr/>
        </p:nvSpPr>
        <p:spPr>
          <a:xfrm rot="0" flipH="false" flipV="false">
            <a:off x="1016000" y="63500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787878"/>
                </a:solidFill>
                <a:latin typeface="Noto Serif SC"/>
                <a:ea typeface="Noto Serif SC"/>
                <a:cs typeface="Noto Serif SC"/>
                <a:sym typeface="Noto Serif SC"/>
              </a:rPr>
              <a:t>来源：Morningstar 晨星《基金产品风险评价方法》综合得分与 R1–R5 映射规则。</a:t>
            </a:r>
            <a:endParaRPr lang="en-US" sz="1100"/>
          </a:p>
        </p:txBody>
      </p: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06 · 实务评级与常见误区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晨星风格箱：把"风格"可视化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57290" flipH="false" flipV="false">
            <a:off x="1016053" y="1771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2286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风格箱按</a:t>
            </a:r>
            <a:r>
              <a:rPr lang="en-US" b="tru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市值</a:t>
            </a: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（大/中/小）× </a:t>
            </a:r>
            <a:r>
              <a:rPr lang="en-US" b="tru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估值</a:t>
            </a: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（价值/混合/成长）把股票基金放进 3×3 矩阵：</a:t>
            </a:r>
            <a:endParaRPr lang="en-US" sz="1100"/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2286000" y="3048000"/>
          <a:ext cx="7620000" cy="2540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905000"/>
                <a:gridCol w="1905000"/>
                <a:gridCol w="1905000"/>
                <a:gridCol w="1905000"/>
              </a:tblGrid>
              <a:tr h="635000"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endParaRPr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价值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混合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成长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大盘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大盘价值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大盘混合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大盘成长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中盘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中盘价值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中盘混合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中盘成长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11111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小盘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小盘价值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小盘混合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3838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小盘成长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7" id="7"/>
          <p:cNvSpPr txBox="true"/>
          <p:nvPr/>
        </p:nvSpPr>
        <p:spPr>
          <a:xfrm rot="0" flipH="false" flipV="false">
            <a:off x="1016000" y="57785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用途：</a:t>
            </a:r>
            <a:r>
              <a:rPr lang="en-US" b="false" i="false" strike="noStrike" u="none" sz="18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比较同风格箱内的基金，避免"拿大盘价值和小盘成长比收益"。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4297" flipH="false" flipV="false">
            <a:off x="1016004" y="621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 txBox="true"/>
          <p:nvPr/>
        </p:nvSpPr>
        <p:spPr>
          <a:xfrm rot="0" flipH="false" flipV="false">
            <a:off x="1016000" y="63500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787878"/>
                </a:solidFill>
                <a:latin typeface="Noto Serif SC"/>
                <a:ea typeface="Noto Serif SC"/>
                <a:cs typeface="Noto Serif SC"/>
                <a:sym typeface="Noto Serif SC"/>
              </a:rPr>
              <a:t>来源：Morningstar Style Box 方法；风格归属以持仓实际市值与估值指标加权计算，而非基金名称。</a:t>
            </a:r>
            <a:endParaRPr lang="en-US" sz="1100"/>
          </a:p>
        </p:txBody>
      </p: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06 · 实务评级与常见误区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误区一：幸存者偏差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57290" flipH="false" flipV="false">
            <a:off x="1016053" y="1771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2286000"/>
            <a:ext cx="1016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tru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现象：</a:t>
            </a:r>
            <a:r>
              <a:rPr lang="en-US" b="fals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公募基金行业每年都有产品清盘。如果只看"现在还活着的基金"的历史平均收益，会系统性高估主动管理的真实业绩。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tru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机制：</a:t>
            </a:r>
            <a:r>
              <a:rPr lang="en-US" b="false" i="false" strike="noStrike" u="none" sz="15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表现差、规模小的基金更可能被清盘合并；它们从样本中消失后，幸存者的平均收益自然更高。</a:t>
            </a:r>
          </a:p>
        </p:txBody>
      </p:sp>
      <p:cxnSp>
        <p:nvCxnSpPr>
          <p:cNvPr name="Connector 6" id="6"/>
          <p:cNvCxnSpPr/>
          <p:nvPr/>
        </p:nvCxnSpPr>
        <p:spPr>
          <a:xfrm rot="-4297" flipH="false" flipV="false">
            <a:off x="1016004" y="4057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 txBox="true"/>
          <p:nvPr/>
        </p:nvSpPr>
        <p:spPr>
          <a:xfrm rot="0" flipH="false" flipV="false">
            <a:off x="1016000" y="4318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如何识别与避免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1016000" y="4826000"/>
            <a:ext cx="10160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77800" marL="177800">
              <a:lnSpc>
                <a:spcPct val="141666"/>
              </a:lnSpc>
              <a:buClr>
                <a:srgbClr val="383838"/>
              </a:buClr>
              <a:buChar char="•"/>
              <a:defRPr/>
            </a:pPr>
            <a:r>
              <a:rPr lang="en-US" b="false" i="false" strike="noStrike" u="none" sz="14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研究结论必须说明样本是否包含已清盘、已合并基金</a:t>
            </a:r>
            <a:endParaRPr lang="en-US" sz="1100"/>
          </a:p>
          <a:p>
            <a:pPr algn="l" indent="-177800" marL="177800">
              <a:lnSpc>
                <a:spcPct val="141666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4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看"行业整体"业绩时，不能用当前存续基金反推历史</a:t>
            </a:r>
          </a:p>
          <a:p>
            <a:pPr algn="l" indent="-177800" marL="177800">
              <a:lnSpc>
                <a:spcPct val="141666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4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晨星与主流评级在基金退市后会保留其历史数据，避免幸存者偏差</a:t>
            </a:r>
          </a:p>
        </p:txBody>
      </p:sp>
      <p:cxnSp>
        <p:nvCxnSpPr>
          <p:cNvPr name="Connector 9" id="9"/>
          <p:cNvCxnSpPr/>
          <p:nvPr/>
        </p:nvCxnSpPr>
        <p:spPr>
          <a:xfrm rot="-4297" flipH="false" flipV="false">
            <a:off x="1016004" y="621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 txBox="true"/>
          <p:nvPr/>
        </p:nvSpPr>
        <p:spPr>
          <a:xfrm rot="0" flipH="false" flipV="false">
            <a:off x="1016000" y="63500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87878"/>
                </a:solidFill>
                <a:latin typeface="Noto Serif SC"/>
                <a:ea typeface="Noto Serif SC"/>
                <a:cs typeface="Noto Serif SC"/>
                <a:sym typeface="Noto Serif SC"/>
              </a:rPr>
              <a:t>来源：Brown, Goetzmann, Ibbotson &amp; Ross, 《Survivorship Bias in Performance Studies》, 1992。</a:t>
            </a:r>
            <a:endParaRPr lang="en-US" sz="1100"/>
          </a:p>
        </p:txBody>
      </p:sp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06 · 实务评级与常见误区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误区二：基准错配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57290" flipH="false" flipV="false">
            <a:off x="1016053" y="1771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2159000"/>
            <a:ext cx="10160000" cy="215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4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现象：</a:t>
            </a:r>
            <a:r>
              <a:rPr lang="en-US" b="false" i="false" strike="noStrike" u="none" sz="14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用沪深 300 评价一只重仓创业板、科创板的成长基金；用中证全债评价一只可转债基金。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4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后果：</a:t>
            </a:r>
            <a:r>
              <a:rPr lang="en-US" b="false" i="false" strike="noStrike" u="none" sz="14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主动收益、跟踪误差、信息比率、Brinson 归因全部失真。基金看似"大幅跑赢"，实际只是站在了与基准不同的风格上。</a:t>
            </a:r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4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实证：</a:t>
            </a:r>
            <a:r>
              <a:rPr lang="en-US" b="false" i="false" strike="noStrike" u="none" sz="14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晨星中国（截至 2026/8/31，按基金份额层面统计）把合同基准换成与历史投资风格更匹配、且采用全收益口径的晨星计算基准后，</a:t>
            </a:r>
            <a:r>
              <a:rPr lang="en-US" b="true" i="false" strike="noStrike" u="none" sz="14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近六成主动基金的超额收益由正转负</a:t>
            </a:r>
            <a:r>
              <a:rPr lang="en-US" b="false" i="false" strike="noStrike" u="none" sz="14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；官方基准下 0%~5% 区间占 38.17%，晨星基准下 -5%~0% 区间占 44.78%。</a:t>
            </a:r>
          </a:p>
        </p:txBody>
      </p:sp>
      <p:cxnSp>
        <p:nvCxnSpPr>
          <p:cNvPr name="Connector 6" id="6"/>
          <p:cNvCxnSpPr/>
          <p:nvPr/>
        </p:nvCxnSpPr>
        <p:spPr>
          <a:xfrm rot="-4297" flipH="false" flipV="false">
            <a:off x="1016004" y="4502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 txBox="true"/>
          <p:nvPr/>
        </p:nvSpPr>
        <p:spPr>
          <a:xfrm rot="0" flipH="false" flipV="false">
            <a:off x="1016000" y="4699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选择基准的三条纪律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1016000" y="5143500"/>
            <a:ext cx="10160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65100" marL="165100">
              <a:lnSpc>
                <a:spcPct val="141666"/>
              </a:lnSpc>
              <a:buClr>
                <a:srgbClr val="383838"/>
              </a:buClr>
              <a:buChar char="•"/>
              <a:defRPr/>
            </a:pPr>
            <a:r>
              <a:rPr lang="en-US" b="false" i="false" strike="noStrike" u="none" sz="13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基准应反映基金的投资领域与风格，而不是基金合同里写的那个"方便"基准</a:t>
            </a:r>
            <a:endParaRPr lang="en-US" sz="1100"/>
          </a:p>
          <a:p>
            <a:pPr algn="l" indent="-165100" marL="165100">
              <a:lnSpc>
                <a:spcPct val="141666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3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晨星分类就是为解决基准选择而设——先定风格箱，再选基准</a:t>
            </a:r>
          </a:p>
          <a:p>
            <a:pPr algn="l" indent="-165100" marL="165100">
              <a:lnSpc>
                <a:spcPct val="141666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3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同一只基金换基准，IR 与 α 可能变号；报告中必须说明所用基准</a:t>
            </a:r>
          </a:p>
        </p:txBody>
      </p:sp>
      <p:cxnSp>
        <p:nvCxnSpPr>
          <p:cNvPr name="Connector 9" id="9"/>
          <p:cNvCxnSpPr/>
          <p:nvPr/>
        </p:nvCxnSpPr>
        <p:spPr>
          <a:xfrm rot="-4297" flipH="false" flipV="false">
            <a:off x="1016004" y="621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 txBox="true"/>
          <p:nvPr/>
        </p:nvSpPr>
        <p:spPr>
          <a:xfrm rot="0" flipH="false" flipV="false">
            <a:off x="1016000" y="63500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87878"/>
                </a:solidFill>
                <a:latin typeface="Noto Serif SC"/>
                <a:ea typeface="Noto Serif SC"/>
                <a:cs typeface="Noto Serif SC"/>
                <a:sym typeface="Noto Serif SC"/>
              </a:rPr>
              <a:t>来源：Sensoy (2009)；晨星分类方法；晨星中国《如何区分基金经理的运气和能力？》，2026-09-29。</a:t>
            </a:r>
            <a:endParaRPr lang="en-US" sz="1100"/>
          </a:p>
        </p:txBody>
      </p:sp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06 · 实务评级与常见误区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误区三：费用、规模与行为偏差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57290" flipH="false" flipV="false">
            <a:off x="1016053" y="1771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016000" y="2159000"/>
          <a:ext cx="10160000" cy="3048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78000"/>
                <a:gridCol w="8382000"/>
              </a:tblGrid>
              <a:tr h="4318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a:t>维度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a:t>要点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111111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a:t>费用率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a:t>管理费、托管费、销售服务费持续从净值中扣除；Fama &amp; French (2010) 发现高费用并未带来更高净 α。评价时必须看</a:t>
                      </a:r>
                      <a:r>
                        <a:rPr lang="en-US" b="true" i="false" strike="noStrike" u="none" sz="12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a:t>净收益</a:t>
                      </a:r>
                      <a:r>
                        <a:rPr lang="en-US" b="false" i="false" strike="noStrike" u="none" sz="12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a:t>。夏普《主动管理的算术》：扣费前平均主动=指数，扣费后主动落后。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111111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a:t>基金规模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a:t>规模过小有清盘风险（晨星附加项惩罚 &lt; 5 千万）；规模过大则侵蚀小盘策略灵活性。规模不是越小越好，也不是越大越好。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111111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a:t>风格漂移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a:t>风格箱应随时间监控；一只"大盘价值"基金若实际持仓飘向小盘成长，其历史业绩不再可与同风格基金比较。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731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111111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a:t>经理变更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38383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a:t>历史业绩属于前任经理时，不能作为对现任能力的证据。评价窗口应与经理任职期匹配。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6" id="6"/>
          <p:cNvSpPr txBox="true"/>
          <p:nvPr/>
        </p:nvSpPr>
        <p:spPr>
          <a:xfrm rot="0" flipH="false" flipV="false">
            <a:off x="1016000" y="53975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3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个人投资者简化判断三步：</a:t>
            </a:r>
            <a:r>
              <a:rPr lang="en-US" b="false" i="false" strike="noStrike" u="none" sz="13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① 从低成本基金起步，先不在费率上吃亏；② 理解基金经理的投资逻辑，并在持仓中验证它；③ 检验不同市场环境下业绩与宣称风格是否一致——价值基金在价值占优时应表现较好、在成长占优时往往落后。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4297" flipH="false" flipV="false">
            <a:off x="1016004" y="621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 txBox="true"/>
          <p:nvPr/>
        </p:nvSpPr>
        <p:spPr>
          <a:xfrm rot="0" flipH="false" flipV="false">
            <a:off x="1016000" y="63500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87878"/>
                </a:solidFill>
                <a:latin typeface="Noto Serif SC"/>
                <a:ea typeface="Noto Serif SC"/>
                <a:cs typeface="Noto Serif SC"/>
                <a:sym typeface="Noto Serif SC"/>
              </a:rPr>
              <a:t>来源：Fama &amp; French (2010)；Sharpe (1991)《主动管理的算术》；晨星中国访谈 Andy Clarke &amp; Nelson Wicas，2026-09-29。</a:t>
            </a:r>
            <a:endParaRPr lang="en-US" sz="1100"/>
          </a:p>
        </p:txBody>
      </p:sp>
    </p:spTree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>
  <p:cSld>
    <p:bg>
      <p:bgPr>
        <a:solidFill>
          <a:srgbClr val="F5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06 · 实务评级与常见误区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11111"/>
                </a:solidFill>
                <a:latin typeface="Noto Serif SC"/>
                <a:ea typeface="Noto Serif SC"/>
                <a:cs typeface="Noto Serif SC"/>
                <a:sym typeface="Noto Serif SC"/>
              </a:rPr>
              <a:t>主动基金评价清单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57290" flipH="false" flipV="false">
            <a:off x="1016053" y="1771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2FA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2032000"/>
            <a:ext cx="482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一、立基准与窗口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16000" y="2413000"/>
            <a:ext cx="4826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52400" marL="152400">
              <a:lnSpc>
                <a:spcPct val="133333"/>
              </a:lnSpc>
              <a:buClr>
                <a:srgbClr val="383838"/>
              </a:buClr>
              <a:buChar char="•"/>
              <a:defRPr/>
            </a:pPr>
            <a:r>
              <a:rPr lang="en-US" b="false" i="false" strike="noStrike" u="none" sz="12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按晨星分类与风格箱确定可比集合</a:t>
            </a:r>
            <a:endParaRPr lang="en-US" sz="1100"/>
          </a:p>
          <a:p>
            <a:pPr algn="l" indent="-152400" marL="152400">
              <a:lnSpc>
                <a:spcPct val="133333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2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说明基准、时间区间、数据频率</a:t>
            </a:r>
          </a:p>
          <a:p>
            <a:pPr algn="l" indent="-152400" marL="152400">
              <a:lnSpc>
                <a:spcPct val="133333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2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区分算术年化与 CAGR</a:t>
            </a:r>
          </a:p>
          <a:p>
            <a:pPr algn="l" indent="-152400" marL="152400">
              <a:lnSpc>
                <a:spcPct val="133333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2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基金经理任职满 3 年以上，最好完整经历牛熊</a:t>
            </a:r>
          </a:p>
        </p:txBody>
      </p:sp>
      <p:cxnSp>
        <p:nvCxnSpPr>
          <p:cNvPr name="Connector 7" id="7"/>
          <p:cNvCxnSpPr/>
          <p:nvPr/>
        </p:nvCxnSpPr>
        <p:spPr>
          <a:xfrm rot="5388540" flipH="false" flipV="false">
            <a:off x="4318000" y="3930661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 txBox="true"/>
          <p:nvPr/>
        </p:nvSpPr>
        <p:spPr>
          <a:xfrm rot="0" flipH="false" flipV="false">
            <a:off x="6604000" y="2032000"/>
            <a:ext cx="4572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二、报指标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6604000" y="2413000"/>
            <a:ext cx="4572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52400" marL="152400">
              <a:lnSpc>
                <a:spcPct val="133333"/>
              </a:lnSpc>
              <a:buClr>
                <a:srgbClr val="383838"/>
              </a:buClr>
              <a:buChar char="•"/>
              <a:defRPr/>
            </a:pPr>
            <a:r>
              <a:rPr lang="en-US" b="false" i="false" strike="noStrike" u="none" sz="12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收益：超额、CAGR、同类排名分位</a:t>
            </a:r>
            <a:endParaRPr lang="en-US" sz="1100"/>
          </a:p>
          <a:p>
            <a:pPr algn="l" indent="-152400" marL="152400">
              <a:lnSpc>
                <a:spcPct val="133333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2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风险：波动率、下行波动、MDD</a:t>
            </a:r>
          </a:p>
          <a:p>
            <a:pPr algn="l" indent="-152400" marL="152400">
              <a:lnSpc>
                <a:spcPct val="133333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2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风险调整：Sharpe / Sortino / IR（长期 IR&gt;0.5 已属优秀）</a:t>
            </a:r>
          </a:p>
          <a:p>
            <a:pPr algn="l" indent="-152400" marL="152400">
              <a:lnSpc>
                <a:spcPct val="133333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2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归因：α（Carhart/FF）、Brinson 配置/选股、T-M 择时</a:t>
            </a:r>
          </a:p>
          <a:p>
            <a:pPr algn="l" indent="-152400" marL="152400">
              <a:lnSpc>
                <a:spcPct val="133333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2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持续性：滚动胜率、年度排名分位标准差</a:t>
            </a:r>
          </a:p>
        </p:txBody>
      </p:sp>
      <p:cxnSp>
        <p:nvCxnSpPr>
          <p:cNvPr name="Connector 10" id="10"/>
          <p:cNvCxnSpPr/>
          <p:nvPr/>
        </p:nvCxnSpPr>
        <p:spPr>
          <a:xfrm rot="-4297" flipH="false" flipV="false">
            <a:off x="1016004" y="4438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 txBox="true"/>
          <p:nvPr/>
        </p:nvSpPr>
        <p:spPr>
          <a:xfrm rot="0" flipH="false" flipV="false">
            <a:off x="1016000" y="4635500"/>
            <a:ext cx="482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三、看约束与定性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016000" y="5016500"/>
            <a:ext cx="4826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52400" marL="152400">
              <a:lnSpc>
                <a:spcPct val="133333"/>
              </a:lnSpc>
              <a:buClr>
                <a:srgbClr val="383838"/>
              </a:buClr>
              <a:buChar char="•"/>
              <a:defRPr/>
            </a:pPr>
            <a:r>
              <a:rPr lang="en-US" b="false" i="false" strike="noStrike" u="none" sz="12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费用率、规模、经理任职期</a:t>
            </a:r>
            <a:endParaRPr lang="en-US" sz="1100"/>
          </a:p>
          <a:p>
            <a:pPr algn="l" indent="-152400" marL="152400">
              <a:lnSpc>
                <a:spcPct val="133333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2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换手率、前十大持仓集中度、行业集中度</a:t>
            </a:r>
          </a:p>
          <a:p>
            <a:pPr algn="l" indent="-152400" marL="152400">
              <a:lnSpc>
                <a:spcPct val="133333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2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持有人结构（机构占比、经理自购）</a:t>
            </a:r>
          </a:p>
          <a:p>
            <a:pPr algn="l" indent="-152400" marL="152400">
              <a:lnSpc>
                <a:spcPct val="133333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2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风格漂移、基金合同约束</a:t>
            </a:r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6604000" y="4635500"/>
            <a:ext cx="4572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2FA7"/>
                </a:solidFill>
                <a:latin typeface="Noto Serif SC"/>
                <a:ea typeface="Noto Serif SC"/>
                <a:cs typeface="Noto Serif SC"/>
                <a:sym typeface="Noto Serif SC"/>
              </a:rPr>
              <a:t>四、防偏差与红旗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6604000" y="5016500"/>
            <a:ext cx="4572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52400" marL="152400">
              <a:lnSpc>
                <a:spcPct val="133333"/>
              </a:lnSpc>
              <a:buClr>
                <a:srgbClr val="383838"/>
              </a:buClr>
              <a:buChar char="•"/>
              <a:defRPr/>
            </a:pPr>
            <a:r>
              <a:rPr lang="en-US" b="false" i="false" strike="noStrike" u="none" sz="12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幸存者偏差、基准错配</a:t>
            </a:r>
            <a:endParaRPr lang="en-US" sz="1100"/>
          </a:p>
          <a:p>
            <a:pPr algn="l" indent="-152400" marL="152400">
              <a:lnSpc>
                <a:spcPct val="133333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2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单一指标偏误、过度外推历史</a:t>
            </a:r>
          </a:p>
          <a:p>
            <a:pPr algn="l" indent="-152400" marL="152400">
              <a:lnSpc>
                <a:spcPct val="133333"/>
              </a:lnSpc>
              <a:buClr>
                <a:srgbClr val="383838"/>
              </a:buClr>
              <a:buChar char="•"/>
            </a:pPr>
            <a:r>
              <a:rPr lang="en-US" b="false" i="false" strike="noStrike" u="none" sz="1200">
                <a:solidFill>
                  <a:srgbClr val="383838"/>
                </a:solidFill>
                <a:latin typeface="Noto Serif SC"/>
                <a:ea typeface="Noto Serif SC"/>
                <a:cs typeface="Noto Serif SC"/>
                <a:sym typeface="Noto Serif SC"/>
              </a:rPr>
              <a:t>短期业绩爆发、单一行业高度集中、大幅风格漂移——"押对赛道"≠"有能力"</a:t>
            </a:r>
          </a:p>
        </p:txBody>
      </p:sp>
    </p:spTree>
  </p:cSld>
  <p:clrMapOvr>
    <a:masterClrMapping/>
  </p:clrMapOvr>
</p:sld>
</file>

<file path=ppt/slides/slide5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2FA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35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FFFFF">
                    <a:alpha val="60000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结语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79500"/>
            <a:ext cx="1016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4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收益高 ≠ 能力强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69" flipH="false" flipV="false">
            <a:off x="1016040" y="2152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25400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① 赚了多少？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16000" y="2984500"/>
            <a:ext cx="482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看超额收益，不是绝对收益；绝对收益里大部分是市场 β。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6350000" y="25400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② 冒了多大风险？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6350000" y="2984500"/>
            <a:ext cx="482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看波动率、下行风险、最大回撤，而不是只看收益。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1016000" y="39370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③ 钱是不是靠能力？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016000" y="4381500"/>
            <a:ext cx="482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风险调整后 α 经因子归因、T-M 择时检验仍显著为正。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6350000" y="39370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④ 能力能不能持续？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6350000" y="4381500"/>
            <a:ext cx="482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看滚动胜率、排名稳定性、风格一致性，而非一年冠军。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4297" flipH="false" flipV="false">
            <a:off x="1016004" y="5391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 txBox="true"/>
          <p:nvPr/>
        </p:nvSpPr>
        <p:spPr>
          <a:xfrm rot="0" flipH="false" flipV="false">
            <a:off x="1016000" y="5588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只有经过</a:t>
            </a:r>
            <a:r>
              <a:rPr lang="en-US" b="true" i="false" strike="noStrike" u="none" sz="16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基准、风险、因子、持续性</a:t>
            </a:r>
            <a:r>
              <a:rPr lang="en-US" b="false" i="false" strike="noStrike" u="none" sz="16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四重检验的收益，才是管理能力。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1016000" y="63500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FFFFF">
                    <a:alpha val="50196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教学参考：晨星《基金产品风险评价方法》· Fama-French · Carhart · Brinson · Treynor-Mazuy</a:t>
            </a:r>
            <a:endParaRPr lang="en-US" sz="1100"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318250"/>
            <a:ext cx="1524000" cy="539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