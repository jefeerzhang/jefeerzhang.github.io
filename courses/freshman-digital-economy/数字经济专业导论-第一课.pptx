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custDataLst>
    <p:tags r:id="rId1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 rot="0" spcFirstLastPara="0" anchorCtr="0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US" sz="1200" b="1" i="0" kern="0" spc="0" baseline="0">
                <a:solidFill>
                  <a:srgbClr val="2F4A3B"/>
                </a:solidFill>
              </a:rPr>
              <a:t>核心产业内部构成（按增加值）</a:t>
            </a:r>
          </a:p>
        </c:rich>
      </c:tx>
      <c:layout>
        <c:manualLayout>
          <c:xMode val="edge"/>
          <c:yMode val="edge"/>
          <c:x val="0"/>
          <c:y val="0"/>
        </c:manualLayout>
      </c:layout>
      <c:overlay val="0"/>
    </c:title>
    <c:autoTitleDeleted val="0"/>
    <c:plotArea>
      <c:layout/>
      <c:doughnutChart>
        <c:varyColors val="1"/>
        <c:ser>
          <c:idx val="0"/>
          <c:order val="0"/>
          <c:tx>
            <c:v>占比</c:v>
          </c:tx>
          <c:dPt>
            <c:idx val="0"/>
            <c:bubble3D val="0"/>
            <c:spPr>
              <a:solidFill>
                <a:srgbClr val="2F4A3B"/>
              </a:solidFill>
            </c:spPr>
            <c:extLst>
              <c:ext xmlns:c16="http://schemas.microsoft.com/office/drawing/2014/chart" uri="{C3380CC4-5D6E-409C-BE32-E72D297353CC}">
                <c16:uniqueId val="{00000001-D912-4B02-BA92-E1D633C0E60D}"/>
              </c:ext>
            </c:extLst>
          </c:dPt>
          <c:dPt>
            <c:idx val="1"/>
            <c:bubble3D val="0"/>
            <c:spPr>
              <a:solidFill>
                <a:srgbClr val="5D7E68"/>
              </a:solidFill>
            </c:spPr>
            <c:extLst>
              <c:ext xmlns:c16="http://schemas.microsoft.com/office/drawing/2014/chart" uri="{C3380CC4-5D6E-409C-BE32-E72D297353CC}">
                <c16:uniqueId val="{00000003-D912-4B02-BA92-E1D633C0E60D}"/>
              </c:ext>
            </c:extLst>
          </c:dPt>
          <c:dPt>
            <c:idx val="2"/>
            <c:bubble3D val="0"/>
            <c:spPr>
              <a:solidFill>
                <a:srgbClr val="97B18C"/>
              </a:solidFill>
            </c:spPr>
            <c:extLst>
              <c:ext xmlns:c16="http://schemas.microsoft.com/office/drawing/2014/chart" uri="{C3380CC4-5D6E-409C-BE32-E72D297353CC}">
                <c16:uniqueId val="{00000005-D912-4B02-BA92-E1D633C0E60D}"/>
              </c:ext>
            </c:extLst>
          </c:dPt>
          <c:dPt>
            <c:idx val="3"/>
            <c:bubble3D val="0"/>
            <c:spPr>
              <a:solidFill>
                <a:srgbClr val="C8A44A"/>
              </a:solidFill>
            </c:spPr>
            <c:extLst>
              <c:ext xmlns:c16="http://schemas.microsoft.com/office/drawing/2014/chart" uri="{C3380CC4-5D6E-409C-BE32-E72D297353CC}">
                <c16:uniqueId val="{00000007-D912-4B02-BA92-E1D633C0E60D}"/>
              </c:ext>
            </c:extLst>
          </c:dPt>
          <c:dLbls>
            <c:dLbl>
              <c:idx val="0"/>
              <c:spPr/>
              <c:txPr>
                <a:bodyPr rot="0" spcFirstLastPara="0" anchorCtr="0"/>
                <a:lstStyle/>
                <a:p>
                  <a:pPr>
                    <a:defRPr sz="1000" b="0" i="0" strike="noStrike" kern="1200" spc="0" baseline="0">
                      <a:solidFill>
                        <a:srgbClr val="FFFFFF"/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D912-4B02-BA92-E1D633C0E60D}"/>
                </c:ext>
              </c:extLst>
            </c:dLbl>
            <c:dLbl>
              <c:idx val="1"/>
              <c:spPr/>
              <c:txPr>
                <a:bodyPr rot="0" spcFirstLastPara="0" anchorCtr="0"/>
                <a:lstStyle/>
                <a:p>
                  <a:pPr>
                    <a:defRPr sz="1000" b="0" i="0" strike="noStrike" kern="1200" spc="0" baseline="0">
                      <a:solidFill>
                        <a:srgbClr val="FFFFFF"/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D912-4B02-BA92-E1D633C0E60D}"/>
                </c:ext>
              </c:extLst>
            </c:dLbl>
            <c:dLbl>
              <c:idx val="2"/>
              <c:spPr/>
              <c:txPr>
                <a:bodyPr rot="0" spcFirstLastPara="0" anchorCtr="0"/>
                <a:lstStyle/>
                <a:p>
                  <a:pPr>
                    <a:defRPr sz="1000" b="0" i="0" strike="noStrike" kern="1200" spc="0" baseline="0">
                      <a:solidFill>
                        <a:srgbClr val="FFFFFF"/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D912-4B02-BA92-E1D633C0E60D}"/>
                </c:ext>
              </c:extLst>
            </c:dLbl>
            <c:dLbl>
              <c:idx val="3"/>
              <c:spPr/>
              <c:txPr>
                <a:bodyPr rot="0" spcFirstLastPara="0" anchorCtr="0"/>
                <a:lstStyle/>
                <a:p>
                  <a:pPr>
                    <a:defRPr sz="1000" b="0" i="0" strike="noStrike" kern="1200" spc="0" baseline="0">
                      <a:solidFill>
                        <a:srgbClr val="FFFFFF"/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D912-4B02-BA92-E1D633C0E6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anchorCtr="0"/>
              <a:lstStyle/>
              <a:p>
                <a:pPr>
                  <a:defRPr sz="1000" b="0" i="0" strike="noStrike" kern="1200" spc="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4"/>
              <c:pt idx="0">
                <c:v>数字技术应用业</c:v>
              </c:pt>
              <c:pt idx="1">
                <c:v>数字产品制造业</c:v>
              </c:pt>
              <c:pt idx="2">
                <c:v>数字要素驱动业</c:v>
              </c:pt>
              <c:pt idx="3">
                <c:v>数字产品服务业</c:v>
              </c:pt>
            </c:strLit>
          </c:cat>
          <c:val>
            <c:numLit>
              <c:formatCode>General</c:formatCode>
              <c:ptCount val="4"/>
              <c:pt idx="0">
                <c:v>44</c:v>
              </c:pt>
              <c:pt idx="1">
                <c:v>34.200000000000003</c:v>
              </c:pt>
              <c:pt idx="2">
                <c:v>18.8</c:v>
              </c:pt>
              <c:pt idx="3">
                <c:v>3.1</c:v>
              </c:pt>
            </c:numLit>
          </c:val>
          <c:extLst>
            <c:ext xmlns:c16="http://schemas.microsoft.com/office/drawing/2014/chart" uri="{C3380CC4-5D6E-409C-BE32-E72D297353CC}">
              <c16:uniqueId val="{00000008-D912-4B02-BA92-E1D633C0E6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开场自我介绍与课程定位：欢迎来到数字经济专业，今天第一课不谈概念定义，先从一个生活场景出发。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提醒学生本课节奏：前半段用选择与案例建立直觉，后半段讲清数字经济的两个核心分类，最后落到四年后的职业方向。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点明课程纪律：本课所有真实案例都有公开来源，课上只讲机制、不做简单归因，这是整个专业训练的分析习惯。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预告收尾动作：课末请每位同学写下自己最感兴趣的方向，作为第二次课的讨论素材。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请全班先举手选择：选 1 的、选 2 的、选 3 的分别有多少人，把数字写在黑板上。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追问一：选 3 的同学，省下的 2 元靠什么换来的？（提示：时间、确定性）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追问二：选 2 的同学，愿意为 30 分钟付多少钱？这个价格是谁定的？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追问三：三家方案背后，分别有哪些环节在起作用？（自提：线下门店；配送：骑手网络；平台：推荐算法与优惠券）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不急于给结论，告诉学生这些选择里已经藏着数据、网络、数字技术三个关键词。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先让两三个学生复述定义（教学要求：定义必须可复述，不是看过就好）。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用刚才的水果订单回扣三个关键词：方案的选择是数据，配送的调度靠网络，优惠券是算法应用。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强调口径纪律：数字经济增加值按国家统计局分类核算，不能把企业网上销售额直接等同。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过渡：既然数字经济是「数据 + 网络 + 技术」改变经济，那它分几条路？看下一页。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先让学生尝试把四个例子归到两栏，再公布答案：云服务、芯片制造属数字产业化；果园智能灌溉、商家线上订单分析属产业数字化。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强调判断标准：卖数字能力本身的是数字产业化；用数字能力改造传统行业的是产业数字化。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点出本专业定位：两种路都要学——经济学理解机制，数据工具支撑分析。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过渡：两条路加起来有多大？下一页看权威数字。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先读大数字：14.09 万亿元、占 GDP 10.5%，让学生建立体量感——相当于全国每 100 元 GDP 里有约 10.5 元来自这个行业。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再读环图：核心产业内部，数字技术应用业占 44%，数字产品制造业占 34.2%，两者相加接近八成。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强调口径：这是「核心产业」统计口径，不等于所有线上经济活动，别把口径混淆。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过渡：这么大的体量靠什么组织起来？下一环节看平台——市场如何被重新设计。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结构图讲法：平台处在中间，左手连接消费者，右手连接商家与配送者，三组关系由平台撮合。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三抓手逐一展开：搜寻与匹配成本（信息经济学）、网络效应（双边市场）、激励与利益分配（机制设计）。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回扣引题：方案二多收的配送费、方案三的优惠券，都是平台激励设计的体现。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过渡：平台把买卖双方聚到一起，那农产品是怎么被数字化改造的？看四川本地的真实案例。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按四个环节讲：生产监测让农民知道何时浇、何时防；智能分选让果子按品质分级；冷链保鲜让销售期翻倍；线上销售把市场半径扩大到全国。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强调这是真实案例：蒲江县农业农村局 2026 年答复函给出 6 万亩、11.32 万吨、10.07 亿元的最新口径。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图片说明：这是蒲江猕猴桃种植园的真实场景，不是示意图。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过渡：技术投入不是为数字化而数字化，每一项都要算经济账，下一页用表格对比。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逐行讲：技术动作与经济结果一一对应，强调每一行都有公开来源与数据年份。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特别讲气调冷库一行：智慧气调＋催熟让销售周期从 3 个月延长到 8 个月，6 万吨错峰上市，均价预计提升三成——一项技术对应一个明确的经济结果。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提醒分析纪律：这些都是真实机制与公开数据，但增长不能简单归因于某一项技术，要结合条件看。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过渡：同样的逻辑，如果数字化发生在生产端、由 AI 直接决策呢？看安岳柠檬。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与蒲江形成对照：蒲江数字化主要在流通与平台端，安岳数字化直接进入生产决策，两端合起来才是完整的产业数字化。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三步机制讲清楚：监测（数据采集）、建模（数据变知识）、处方（知识变决策），环环相扣。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用成效数字说明：人力、农资、单产、商品果率四个指标同时改善，这是可检验的结果。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强调地位：入选国家级典型案例，说明这个模式得到权威认可，值得作为专业学习素材。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四类岗位不是职业清单，而是专业能力地图：会看数据、会管链条、会算金融账、会评估政策。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每个岗位都回扣本课案例：蒲江电商（数据运营）、冷链物流（供应链）、南充数据产品授信（数字金融）、国家级样板推广（政策研究）。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给 2 分钟让每位同学在纸上写下最感兴趣的方向，作为第二次课的讨论素材。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提示：培养方案里 82 门课程对应这些方向，课后可以对照清单自查。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收束第一个问题：三种买法的选择，本质是在数据、网络与技术组织起来的市场里做权衡——今天已经能解释。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三个判断各用一句话复述，请学生跟读一遍，确保能脱离课件独立说出。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强调分析纪律：真实案例只讲机制、不简单归因，这是后续所有课程的方法论前提。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预告第二课：数字产业化与产业数字化如何划分、如何衡量，并请学生带着「我最感兴趣的方向」来上课。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1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A3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8128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F4A3B">
                  <a:alpha val="97000"/>
                </a:srgbClr>
              </a:gs>
              <a:gs pos="45000">
                <a:srgbClr val="2F4A3B">
                  <a:alpha val="88000"/>
                </a:srgbClr>
              </a:gs>
              <a:gs pos="75000">
                <a:srgbClr val="2F4A3B">
                  <a:alpha val="45000"/>
                </a:srgbClr>
              </a:gs>
              <a:gs pos="100000">
                <a:srgbClr val="2F4A3B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12800" y="711200"/>
            <a:ext cx="660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6E2D8"/>
                </a:solidFill>
                <a:latin typeface="微软雅黑"/>
                <a:ea typeface="微软雅黑"/>
                <a:cs typeface="微软雅黑"/>
                <a:sym typeface="微软雅黑"/>
              </a:rPr>
              <a:t>四川农业大学 · 数字经济专业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12800" y="1905000"/>
            <a:ext cx="711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数字经济专业导论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12800" y="34290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8D9A8"/>
                </a:solidFill>
                <a:latin typeface="微软雅黑"/>
                <a:ea typeface="微软雅黑"/>
                <a:cs typeface="微软雅黑"/>
                <a:sym typeface="微软雅黑"/>
              </a:rPr>
              <a:t>第一课 · 从一笔水果订单说起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55880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D6E2D8"/>
                </a:solidFill>
                <a:latin typeface="微软雅黑"/>
                <a:ea typeface="微软雅黑"/>
                <a:cs typeface="微软雅黑"/>
                <a:sym typeface="微软雅黑"/>
              </a:rPr>
              <a:t>2026 </a:t>
            </a:r>
            <a:r>
              <a:rPr lang="en-US" sz="1400" b="0" i="0" u="none" strike="noStrike" dirty="0" err="1">
                <a:solidFill>
                  <a:srgbClr val="D6E2D8"/>
                </a:solidFill>
                <a:latin typeface="微软雅黑"/>
                <a:ea typeface="微软雅黑"/>
                <a:cs typeface="微软雅黑"/>
                <a:sym typeface="微软雅黑"/>
              </a:rPr>
              <a:t>级新生</a:t>
            </a:r>
            <a:r>
              <a:rPr lang="en-US" sz="1400" b="0" i="0" u="none" strike="noStrike">
                <a:solidFill>
                  <a:srgbClr val="D6E2D8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3810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8C69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17600" y="406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同一盒猕猴桃，你会怎么买？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" y="1168400"/>
            <a:ext cx="10566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课堂情境（模拟）：刚搬进宿舍的你，想买一盒猕猴桃，三种方式摆在面前——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12800" y="1905000"/>
            <a:ext cx="325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692D"/>
                </a:solidFill>
                <a:latin typeface="微软雅黑"/>
                <a:ea typeface="微软雅黑"/>
                <a:cs typeface="微软雅黑"/>
                <a:sym typeface="微软雅黑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12800" y="2336800"/>
            <a:ext cx="325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校园超市自提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794000"/>
            <a:ext cx="3251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楼下就有，一盒 9.9 元；代价是自己跑一趟，还要赶在打烊前。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70400" y="1905000"/>
            <a:ext cx="325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692D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70400" y="2336800"/>
            <a:ext cx="325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即时配送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70400" y="2794000"/>
            <a:ext cx="3251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30 分钟送到宿舍门口；一盒 12.9 元，另加 3 元配送费。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905000"/>
            <a:ext cx="325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692D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2336800"/>
            <a:ext cx="325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平台下单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794000"/>
            <a:ext cx="3251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同一盒只要 7.9 元；但页面写着「明日达」——今晚还想吃吗？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" y="5207000"/>
            <a:ext cx="1056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先在心里选一个，并记下理由——答案与解释，这堂课后半段揭晓。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" y="57404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课堂模拟 · 三种购买方案（非真实报价）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131">
            <a:off x="812804" y="6165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9BCA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12800" y="62738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课堂模拟场景，用于引出概念，非真实报价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414000" y="6273800"/>
            <a:ext cx="96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02 / 11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3810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C8A4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17600" y="406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你刚才的每一次点击，都在产生数据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" y="1168400"/>
            <a:ext cx="10566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数字经济是什么？先记住一个可复述的定义骨架：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12800" y="1549400"/>
            <a:ext cx="10566400" cy="1117600"/>
          </a:xfrm>
          <a:prstGeom prst="roundRect">
            <a:avLst>
              <a:gd name="adj" fmla="val 9090"/>
            </a:avLst>
          </a:prstGeom>
          <a:solidFill>
            <a:srgbClr val="E8EDE6">
              <a:alpha val="100000"/>
            </a:srgbClr>
          </a:solidFill>
          <a:ln w="12700" cap="flat" cmpd="sng">
            <a:solidFill>
              <a:srgbClr val="5D7E6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17600" y="1727200"/>
            <a:ext cx="9956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7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数字经济：以数据资源为关键要素、以现代信息网络为主要载体、以数字技术应用为驱动，对生产、交换、分配、消费产生影响的经济形态。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17600" y="2336800"/>
            <a:ext cx="9956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教学转述 · 口径依据：国家统计局《数字经济及其核心产业统计分类（2021）》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800" y="30226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22400" y="29718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数据资源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810000" y="2997200"/>
            <a:ext cx="75692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你的选择、位置、评价，都在变成可记录、可分析的数据——刚才那笔订单就是。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800" y="38862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22400" y="3835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现代信息网络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10000" y="3860800"/>
            <a:ext cx="75692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手机、基站、云端，把分散在各处的数据连成一张网，让信息即时流动。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" y="47498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22400" y="4699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数字技术应用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810000" y="4724400"/>
            <a:ext cx="75692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算法把数据变成推荐、定价、调度与决策——比如平台给你的优惠券。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" y="5537200"/>
            <a:ext cx="10566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易错提醒：别把「网上卖东西」当成数字经济——网上交易额不等于数字经济增加值，网店与外卖只是它的一角。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131">
            <a:off x="812804" y="6165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9BCA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12800" y="62738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概念口径：国家统计局《数字经济及其核心产业统计分类（2021）》，教学转述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414000" y="6273800"/>
            <a:ext cx="96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03 / 11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3810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C8A4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17600" y="406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数字经济分两条路：造数字的，与用数字的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" y="1168400"/>
            <a:ext cx="10566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两种数字化，对应国家统计分类中的两个方向：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12800" y="1778000"/>
            <a:ext cx="508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数字产业化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12800" y="22606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提供数字产品与服务本身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6924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云服务、芯片、软件、互联网平台——它们是数字经济的「供给方」，把数字能力本身做成产业。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4013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D7E68"/>
                </a:solidFill>
                <a:latin typeface="微软雅黑"/>
                <a:ea typeface="微软雅黑"/>
                <a:cs typeface="微软雅黑"/>
                <a:sym typeface="微软雅黑"/>
              </a:rPr>
              <a:t>例：云服务、芯片制造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88145">
            <a:off x="4051300" y="3613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9BCA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299200" y="1778000"/>
            <a:ext cx="508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产业数字化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99200" y="22606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用数字能力改造原有产业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99200" y="26924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农业、制造、物流、金融——用数据与数字技术提升原有产业的效率、质量与收益。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99200" y="4013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D7E68"/>
                </a:solidFill>
                <a:latin typeface="微软雅黑"/>
                <a:ea typeface="微软雅黑"/>
                <a:cs typeface="微软雅黑"/>
                <a:sym typeface="微软雅黑"/>
              </a:rPr>
              <a:t>例：果园智能灌溉、商家线上订单分析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" y="5537200"/>
            <a:ext cx="1056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试试看：云服务、芯片制造、果园智能灌溉、商家线上订单分析，分别放进哪一栏？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131">
            <a:off x="812804" y="6165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9BCA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12800" y="62738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分类口径参考：国家统计局《数字经济及其核心产业统计分类（2021）》，教学转述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414000" y="6273800"/>
            <a:ext cx="96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04 / 11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3810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8C69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17600" y="406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数字经济核心产业，已占全国 GDP 的一成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" y="1168400"/>
            <a:ext cx="10566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国家统计局：2024 年数字经济核心产业增加值 140,891 亿元，占 GDP 的 10.5%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12800" y="1905000"/>
            <a:ext cx="4826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14.09 万亿元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12800" y="2819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2024 年数字经济核心产业增加值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34036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8C692D"/>
                </a:solidFill>
                <a:latin typeface="微软雅黑"/>
                <a:ea typeface="微软雅黑"/>
                <a:cs typeface="微软雅黑"/>
                <a:sym typeface="微软雅黑"/>
              </a:rPr>
              <a:t>占当年 GDP 10.5%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4064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平均每 100 元 GDP 中，约 10.5 元来自数字经济核心产业——它已是国民经济的重要支柱。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50292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口径：数字经济核心产业，不含全部数字经济相关活动</a:t>
            </a:r>
            <a:endParaRPr lang="en-US" sz="1100"/>
          </a:p>
        </p:txBody>
      </p:sp>
      <p:graphicFrame>
        <p:nvGraphicFramePr>
          <p:cNvPr id="10" name="Chart 10"/>
          <p:cNvGraphicFramePr>
            <a:graphicFrameLocks noGrp="1"/>
          </p:cNvGraphicFramePr>
          <p:nvPr/>
        </p:nvGraphicFramePr>
        <p:xfrm>
          <a:off x="5969000" y="1524000"/>
          <a:ext cx="54610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3" name="Connector 10"/>
          <p:cNvCxnSpPr/>
          <p:nvPr/>
        </p:nvCxnSpPr>
        <p:spPr>
          <a:xfrm rot="-4131">
            <a:off x="812804" y="6165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9BCA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812800" y="62738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来源：国家统计局 2024 年国民经济核算（2025-12 发布）｜国家统计局统计分类解读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414000" y="6273800"/>
            <a:ext cx="96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05 / 11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3810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8C69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17600" y="406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平台不是中间商，是市场的撮合者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" y="1168400"/>
            <a:ext cx="10566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回到水果订单：平台同时服务消费者、商家与配送者，经济学怎么理解它？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368800" y="2489200"/>
            <a:ext cx="1422400" cy="1422400"/>
          </a:xfrm>
          <a:prstGeom prst="ellipse">
            <a:avLst/>
          </a:prstGeom>
          <a:solidFill>
            <a:srgbClr val="2F4A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368800" y="3048000"/>
            <a:ext cx="142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平台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20800" y="2489200"/>
            <a:ext cx="1422400" cy="1422400"/>
          </a:xfrm>
          <a:prstGeom prst="ellipse">
            <a:avLst/>
          </a:prstGeom>
          <a:solidFill>
            <a:srgbClr val="E8EDE6">
              <a:alpha val="100000"/>
            </a:srgbClr>
          </a:solidFill>
          <a:ln w="12700" cap="flat" cmpd="sng">
            <a:solidFill>
              <a:srgbClr val="5D7E6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320800" y="3048000"/>
            <a:ext cx="142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消费者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416800" y="1905000"/>
            <a:ext cx="1422400" cy="1219200"/>
          </a:xfrm>
          <a:prstGeom prst="ellipse">
            <a:avLst/>
          </a:prstGeom>
          <a:solidFill>
            <a:srgbClr val="E8EDE6">
              <a:alpha val="100000"/>
            </a:srgbClr>
          </a:solidFill>
          <a:ln w="12700" cap="flat" cmpd="sng">
            <a:solidFill>
              <a:srgbClr val="5D7E6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416800" y="2362200"/>
            <a:ext cx="142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商家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416800" y="3429000"/>
            <a:ext cx="1422400" cy="1219200"/>
          </a:xfrm>
          <a:prstGeom prst="ellipse">
            <a:avLst/>
          </a:prstGeom>
          <a:solidFill>
            <a:srgbClr val="E8EDE6">
              <a:alpha val="100000"/>
            </a:srgbClr>
          </a:solidFill>
          <a:ln w="12700" cap="flat" cmpd="sng">
            <a:solidFill>
              <a:srgbClr val="5D7E6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416800" y="3886200"/>
            <a:ext cx="142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配送者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8647">
            <a:off x="2743226" y="31940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D7E6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4" name="Connector 14"/>
          <p:cNvCxnSpPr/>
          <p:nvPr/>
        </p:nvCxnSpPr>
        <p:spPr>
          <a:xfrm rot="-976713">
            <a:off x="5761229" y="2698743"/>
            <a:ext cx="158399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D7E6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5" name="Connector 15"/>
          <p:cNvCxnSpPr/>
          <p:nvPr/>
        </p:nvCxnSpPr>
        <p:spPr>
          <a:xfrm rot="868205">
            <a:off x="5764597" y="3676657"/>
            <a:ext cx="157725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D7E6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812800" y="5207000"/>
            <a:ext cx="325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" b="1" i="0" u="none" strike="noStrike">
                <a:solidFill>
                  <a:srgbClr val="8C692D"/>
                </a:solidFill>
                <a:latin typeface="微软雅黑"/>
                <a:ea typeface="微软雅黑"/>
                <a:cs typeface="微软雅黑"/>
                <a:sym typeface="微软雅黑"/>
              </a:rPr>
              <a:t>01</a:t>
            </a: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 搜寻与匹配成本：评价、搜索、算法，让买卖双方更快找到彼此。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470400" y="5207000"/>
            <a:ext cx="325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" b="1" i="0" u="none" strike="noStrike">
                <a:solidFill>
                  <a:srgbClr val="8C692D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 网络效应：用的人越多，平台对每个人越有价值。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5207000"/>
            <a:ext cx="325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" b="1" i="0" u="none" strike="noStrike">
                <a:solidFill>
                  <a:srgbClr val="8C692D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 激励与利益分配：佣金、补贴、运费怎么分，决定平台生态。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131">
            <a:off x="812804" y="6165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9BCA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2800" y="62738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课堂讲解 · 平台经济学基础概念；关系图为示意结构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414000" y="6273800"/>
            <a:ext cx="96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06 / 11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3810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8C69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17600" y="406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一颗蒲江猕猴桃的数字化之旅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" y="1168400"/>
            <a:ext cx="10566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真实案例（四川·成都蒲江）：从果园到餐桌，四个环节都在被数据重新组织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12800" y="1727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C692D"/>
                </a:solidFill>
                <a:latin typeface="微软雅黑"/>
                <a:ea typeface="微软雅黑"/>
                <a:cs typeface="微软雅黑"/>
                <a:sym typeface="微软雅黑"/>
              </a:rPr>
              <a:t>01 生产监测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12800" y="21844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土壤大数据平台采集 130 万余条数据；物联网基地 20 余个、节水灌溉 5 万亩，亩均人力成本降 30% 以上。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946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C692D"/>
                </a:solidFill>
                <a:latin typeface="微软雅黑"/>
                <a:ea typeface="微软雅黑"/>
                <a:cs typeface="微软雅黑"/>
                <a:sym typeface="微软雅黑"/>
              </a:rPr>
              <a:t>02 智能分选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34036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自动分选线单果每秒拍 56 张照片、做 12 项品质检测，瑕疵识别准确度 90%，二维码成为猕猴桃「身份证」。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165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C692D"/>
                </a:solidFill>
                <a:latin typeface="微软雅黑"/>
                <a:ea typeface="微软雅黑"/>
                <a:cs typeface="微软雅黑"/>
                <a:sym typeface="微软雅黑"/>
              </a:rPr>
              <a:t>03 冷链保鲜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" y="46228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114 间气调保鲜库、静态库容超 20 万吨；智慧气调加即食催熟把销售周期从 3 个月延长到 8 个月。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t="53" b="53"/>
          <a:stretch>
            <a:fillRect/>
          </a:stretch>
        </p:blipFill>
        <p:spPr>
          <a:xfrm>
            <a:off x="8128000" y="1524000"/>
            <a:ext cx="3302000" cy="215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8128000" y="37592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蒲江猕猴桃种植园 · 公开报道配图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4191000"/>
            <a:ext cx="325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2025 年种植 6 万亩、年产 11.32 万吨、产值 10.07 亿元。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4775200"/>
            <a:ext cx="325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04 线上销售：电商主体 8050 余家，年发货超 1 亿件，品牌价值 131.02 亿元。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" y="5689600"/>
            <a:ext cx="10566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一个环节一项技术，每个环节都对应可量化的经济结果——下一页算这笔账。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131">
            <a:off x="812804" y="6165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9BCA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12800" y="62738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来源：蒲江县农业农村局答复函（2026）｜四川省农业农村厅（2022）｜红星新闻（2024）｜人民网四川（2026）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414000" y="6273800"/>
            <a:ext cx="96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07 / 11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3810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C8A4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17600" y="406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一项技术，对应一个经济结果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" y="1168400"/>
            <a:ext cx="10566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数字化的价值，最终要落到成本、时间与价格上（真实数据，标注年份）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12800" y="1651000"/>
          <a:ext cx="10566400" cy="342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数字化环节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4A3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技术动作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4A3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经济结果（数据年份）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4A3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物联网监测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土壤与气象传感器＋大数据平台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亩均人力成本 -30% 以上（2022 省厅）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智能分选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单果每秒 56 张照片＋12 项品质检测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瑕疵识别准确度 90%（2024 红星新闻）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气调冷库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智慧气调＋精准温控＋即食催熟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销售周期 3→8 个月，6 万吨错峰上市（2026 人民网）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电商平台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线上订单＋产地直发＋冷链物流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年发货超 1 亿件，产地均价预计 +30%（2026 蒲江答复函）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812800" y="5334000"/>
            <a:ext cx="1056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算得清这笔账，就是数字经济专业的看家本领——成本、时间、价格，处处可计量。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131">
            <a:off x="812804" y="6165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9BCA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12800" y="62738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来源：四川省农业农村厅（2022）｜红星新闻（2024）｜人民网四川（2026）｜蒲江县农业农村局答复函（2026）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414000" y="6273800"/>
            <a:ext cx="96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08 / 11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3810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8C69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17600" y="406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AI 给柠檬树开「电子处方」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" y="1168400"/>
            <a:ext cx="10566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真实案例（四川·资阳安岳）：数字化发生在生产端，AI 直接参与农事决策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12800" y="1651000"/>
            <a:ext cx="685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种植面积 48 万亩 · 产量占全国约 70%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800" y="2336800"/>
            <a:ext cx="330200" cy="330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46200" y="2286000"/>
            <a:ext cx="622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第一步：「天-空-地-人」四维监测网采集果园数据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800" y="2870200"/>
            <a:ext cx="330200" cy="330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46200" y="2819400"/>
            <a:ext cx="622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第二步：柠檬作物模型平台生成个性化农事处方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" y="3403600"/>
            <a:ext cx="330200" cy="330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46200" y="3352800"/>
            <a:ext cx="622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第三步：AI「电子处方」推送到农户手机，像医生开方一样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" y="3987800"/>
            <a:ext cx="685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8C692D"/>
                </a:solidFill>
                <a:latin typeface="微软雅黑"/>
                <a:ea typeface="微软雅黑"/>
                <a:cs typeface="微软雅黑"/>
                <a:sym typeface="微软雅黑"/>
              </a:rPr>
              <a:t>成效（示范园一年）：</a:t>
            </a:r>
            <a:r>
              <a:rPr lang="en-US" sz="16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人力成本 -30%、农资 -25%、单产 +35%、商品果率 85% 以上；曾提前预警红蜘蛛，帮农户避免数十万元损失。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" y="4902200"/>
            <a:ext cx="685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地位：2026 年 1 月入选《2025 年全国智慧农业典型案例汇编》，是资阳市首个国家级智慧农业样板。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 l="35" r="35"/>
          <a:stretch>
            <a:fillRect/>
          </a:stretch>
        </p:blipFill>
        <p:spPr>
          <a:xfrm>
            <a:off x="8128000" y="1651000"/>
            <a:ext cx="3251200" cy="2171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128000" y="3911600"/>
            <a:ext cx="3251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安岳柠檬园 · 公开报道配图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4318000"/>
            <a:ext cx="325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「数据像医生一样看诊，AI 像处方一样开方」——生产端的数字化，同样落到成本与产量上。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131">
            <a:off x="812804" y="6165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9BCA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2800" y="62738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来源：农业农村部农产品质量安全中心（2026-01）｜四川在线（2026-01）｜安岳县政府（2025）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414000" y="6273800"/>
            <a:ext cx="96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09 / 11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3810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C8A4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17600" y="406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四年后，你会成为哪一类人？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" y="1168400"/>
            <a:ext cx="10566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第一课的案例里，已经藏着职业方向——四类岗位，对应四个真实场景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800" y="1778000"/>
            <a:ext cx="381000" cy="381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12800" y="2311400"/>
            <a:ext cx="2438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数据运营分析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768600"/>
            <a:ext cx="2438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蒲江电商团队：看数据决定上架什么、卖给谁、怎么定价。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1778000"/>
            <a:ext cx="381000" cy="381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657600" y="2311400"/>
            <a:ext cx="2438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供应链管理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57600" y="2768600"/>
            <a:ext cx="2438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冷链与物流：让水果在 48 小时内从田间到餐桌（即食猕猴桃实践）。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2400" y="17780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502400" y="2311400"/>
            <a:ext cx="2438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数字金融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02400" y="2768600"/>
            <a:ext cx="2438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数据产品获银行授信 1.1 亿元（南充案例）——谁来评估它的价值与风险？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47200" y="1778000"/>
            <a:ext cx="381000" cy="381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347200" y="2311400"/>
            <a:ext cx="2438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政策评估研究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47200" y="2768600"/>
            <a:ext cx="2438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2B2B2B"/>
                </a:solidFill>
                <a:latin typeface="微软雅黑"/>
                <a:ea typeface="微软雅黑"/>
                <a:cs typeface="微软雅黑"/>
                <a:sym typeface="微软雅黑"/>
              </a:rPr>
              <a:t>国家级智慧农业样板如何推广、效果如何评估——谁来研究并制定规则？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" y="4724400"/>
            <a:ext cx="10566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4A3B"/>
                </a:solidFill>
                <a:latin typeface="微软雅黑"/>
                <a:ea typeface="微软雅黑"/>
                <a:cs typeface="微软雅黑"/>
                <a:sym typeface="微软雅黑"/>
              </a:rPr>
              <a:t>动手写一写：我对哪一类最感兴趣？四年后想成为谁？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" y="5232400"/>
            <a:ext cx="10566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课后对照《培养方案课程清单》，找到通往这个方向的课程路径。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131">
            <a:off x="812804" y="6165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9BCA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2800" y="62738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岗位场景对应本课案例及《培养方案课程清单》；南充数据产品授信：南充市政府（2026）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414000" y="6273800"/>
            <a:ext cx="96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A6F"/>
                </a:solidFill>
                <a:latin typeface="微软雅黑"/>
                <a:ea typeface="微软雅黑"/>
                <a:cs typeface="微软雅黑"/>
                <a:sym typeface="微软雅黑"/>
              </a:rPr>
              <a:t>10 / 11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A3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09600"/>
            <a:ext cx="10566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数字经济专业：让传统产业变聪明的学问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1397000"/>
            <a:ext cx="1056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6E2D8"/>
                </a:solidFill>
                <a:latin typeface="微软雅黑"/>
                <a:ea typeface="微软雅黑"/>
                <a:cs typeface="微软雅黑"/>
                <a:sym typeface="微软雅黑"/>
              </a:rPr>
              <a:t>回到开头的提问：你的水果订单选择，今天解释清楚了吗？三个判断收束本课：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" y="2159000"/>
            <a:ext cx="203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8D9A8"/>
                </a:solidFill>
                <a:latin typeface="微软雅黑"/>
                <a:ea typeface="微软雅黑"/>
                <a:cs typeface="微软雅黑"/>
                <a:sym typeface="微软雅黑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946400" y="2184400"/>
            <a:ext cx="838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数字经济 = 数据 + 网络 + 数字技术，改变生产与交易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12800" y="3098800"/>
            <a:ext cx="203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8D9A8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946400" y="3124200"/>
            <a:ext cx="838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平台解决三件事：找人、聚人、分钱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4038600"/>
            <a:ext cx="203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8D9A8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46400" y="4064000"/>
            <a:ext cx="838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数字农业就在我们身边：蒲江的猕猴桃、安岳的柠檬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" y="4978400"/>
            <a:ext cx="10566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6E2D8"/>
                </a:solidFill>
                <a:latin typeface="微软雅黑"/>
                <a:ea typeface="微软雅黑"/>
                <a:cs typeface="微软雅黑"/>
                <a:sym typeface="微软雅黑"/>
              </a:rPr>
              <a:t>分析纪律：真实案例只讲机制，不把增长简单归因于某一项技术——这是本课程贯穿始终的习惯。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5486400"/>
            <a:ext cx="1056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8D9A8"/>
                </a:solidFill>
                <a:latin typeface="微软雅黑"/>
                <a:ea typeface="微软雅黑"/>
                <a:cs typeface="微软雅黑"/>
                <a:sym typeface="微软雅黑"/>
              </a:rPr>
              <a:t>下一课预告：数字产业化与产业数字化，如何划分、如何衡量——把今天的两条路走深。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131">
            <a:off x="812804" y="6165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9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12800" y="62738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6E2D8"/>
                </a:solidFill>
                <a:latin typeface="微软雅黑"/>
                <a:ea typeface="微软雅黑"/>
                <a:cs typeface="微软雅黑"/>
                <a:sym typeface="微软雅黑"/>
              </a:rPr>
              <a:t>第一课完 · 案例：蒲江猕猴桃（全链条）／安岳柠檬（生产端 AI）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414000" y="6273800"/>
            <a:ext cx="96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6E2D8"/>
                </a:solidFill>
                <a:latin typeface="微软雅黑"/>
                <a:ea typeface="微软雅黑"/>
                <a:cs typeface="微软雅黑"/>
                <a:sym typeface="微软雅黑"/>
              </a:rPr>
              <a:t>11 / 11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90418352621281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418352643506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418352648116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418352649580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418352650446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418352651528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418352663803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418352669987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418352670608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418352671799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418352673368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4183526833284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1352</Words>
  <Application>Microsoft Office PowerPoint</Application>
  <PresentationFormat>宽屏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微软雅黑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剑 张</cp:lastModifiedBy>
  <cp:revision>2</cp:revision>
  <dcterms:modified xsi:type="dcterms:W3CDTF">2026-09-26T10:26:07Z</dcterms:modified>
</cp:coreProperties>
</file>