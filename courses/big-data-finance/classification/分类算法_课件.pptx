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2"/>
  </p:notesMasterIdLst>
  <p:handoutMasterIdLst>
    <p:handoutMasterId r:id="rId93"/>
  </p:handoutMasterIdLst>
  <p:sldIdLst>
    <p:sldId id="696" r:id="rId2"/>
    <p:sldId id="1018" r:id="rId3"/>
    <p:sldId id="1051" r:id="rId5"/>
    <p:sldId id="1052" r:id="rId6"/>
    <p:sldId id="1053" r:id="rId7"/>
    <p:sldId id="1054" r:id="rId8"/>
    <p:sldId id="1062" r:id="rId17"/>
    <p:sldId id="1065" r:id="rId18"/>
    <p:sldId id="1064" r:id="rId19"/>
    <p:sldId id="1066" r:id="rId20"/>
    <p:sldId id="1067" r:id="rId21"/>
    <p:sldId id="1068" r:id="rId22"/>
    <p:sldId id="1069" r:id="rId23"/>
    <p:sldId id="1070" r:id="rId24"/>
    <p:sldId id="1071" r:id="rId25"/>
    <p:sldId id="1129" r:id="rId102"/>
    <p:sldId id="1130" r:id="rId103"/>
    <p:sldId id="1131" r:id="rId104"/>
    <p:sldId id="1132" r:id="rId105"/>
    <p:sldId id="1085" r:id="rId27"/>
    <p:sldId id="1086" r:id="rId28"/>
    <p:sldId id="1087" r:id="rId29"/>
    <p:sldId id="1088" r:id="rId30"/>
    <p:sldId id="1089" r:id="rId31"/>
    <p:sldId id="1090" r:id="rId32"/>
    <p:sldId id="1091" r:id="rId33"/>
    <p:sldId id="1092" r:id="rId34"/>
    <p:sldId id="1093" r:id="rId35"/>
    <p:sldId id="1094" r:id="rId36"/>
    <p:sldId id="1095" r:id="rId37"/>
    <p:sldId id="1096" r:id="rId38"/>
    <p:sldId id="1097" r:id="rId39"/>
    <p:sldId id="1098" r:id="rId40"/>
    <p:sldId id="1138" r:id="rId111"/>
    <p:sldId id="1139" r:id="rId112"/>
    <p:sldId id="1140" r:id="rId113"/>
    <p:sldId id="1141" r:id="rId114"/>
    <p:sldId id="1142" r:id="rId115"/>
    <p:sldId id="1100" r:id="rId42"/>
    <p:sldId id="1101" r:id="rId43"/>
    <p:sldId id="1102" r:id="rId44"/>
    <p:sldId id="1103" r:id="rId45"/>
    <p:sldId id="1104" r:id="rId46"/>
    <p:sldId id="1105" r:id="rId47"/>
    <p:sldId id="1106" r:id="rId48"/>
    <p:sldId id="1107" r:id="rId49"/>
    <p:sldId id="1108" r:id="rId50"/>
    <p:sldId id="1109" r:id="rId51"/>
    <p:sldId id="1110" r:id="rId52"/>
    <p:sldId id="1111" r:id="rId53"/>
    <p:sldId id="1112" r:id="rId54"/>
    <p:sldId id="1113" r:id="rId55"/>
    <p:sldId id="1114" r:id="rId56"/>
    <p:sldId id="1115" r:id="rId57"/>
    <p:sldId id="1116" r:id="rId58"/>
    <p:sldId id="1117" r:id="rId59"/>
    <p:sldId id="1118" r:id="rId60"/>
    <p:sldId id="1119" r:id="rId61"/>
    <p:sldId id="1120" r:id="rId62"/>
    <p:sldId id="1121" r:id="rId63"/>
    <p:sldId id="1122" r:id="rId64"/>
    <p:sldId id="1123" r:id="rId65"/>
    <p:sldId id="1124" r:id="rId66"/>
    <p:sldId id="1149" r:id="rId122"/>
    <p:sldId id="1150" r:id="rId123"/>
    <p:sldId id="1151" r:id="rId124"/>
    <p:sldId id="1152" r:id="rId125"/>
    <p:sldId id="1153" r:id="rId126"/>
    <p:sldId id="1154" r:id="rId127"/>
    <p:sldId id="1157" r:id="rId130"/>
    <p:sldId id="1158" r:id="rId131"/>
  </p:sldIdLst>
  <p:sldSz cx="12192000" cy="6858000"/>
  <p:notesSz cx="6811963" cy="9945688"/>
  <p:defaultTextStyle>
    <a:defPPr>
      <a:defRPr lang="zh-CN"/>
    </a:defPPr>
    <a:lvl1pPr algn="l" rtl="0" eaLnBrk="0" fontAlgn="base" hangingPunct="0">
      <a:spcBef>
        <a:spcPct val="0"/>
      </a:spcBef>
      <a:spcAft>
        <a:spcPct val="0"/>
      </a:spcAft>
      <a:defRPr sz="2400" kern="1200">
        <a:solidFill>
          <a:schemeClr val="tx1"/>
        </a:solidFill>
        <a:latin typeface="Arial" panose="020B0604020202020204" pitchFamily="34" charset="0"/>
        <a:ea typeface="微软雅黑" panose="020B0503020204020204" pitchFamily="34" charset="-122"/>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微软雅黑" panose="020B0503020204020204" pitchFamily="34" charset="-122"/>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微软雅黑" panose="020B0503020204020204" pitchFamily="34" charset="-122"/>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微软雅黑" panose="020B0503020204020204" pitchFamily="34" charset="-122"/>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微软雅黑" panose="020B0503020204020204" pitchFamily="34" charset="-122"/>
        <a:cs typeface="+mn-cs"/>
      </a:defRPr>
    </a:lvl5pPr>
    <a:lvl6pPr marL="2286000" algn="l" defTabSz="914400" rtl="0" eaLnBrk="1" latinLnBrk="0" hangingPunct="1">
      <a:defRPr sz="2400" kern="1200">
        <a:solidFill>
          <a:schemeClr val="tx1"/>
        </a:solidFill>
        <a:latin typeface="Arial" panose="020B0604020202020204" pitchFamily="34" charset="0"/>
        <a:ea typeface="微软雅黑" panose="020B0503020204020204" pitchFamily="34" charset="-122"/>
        <a:cs typeface="+mn-cs"/>
      </a:defRPr>
    </a:lvl6pPr>
    <a:lvl7pPr marL="2743200" algn="l" defTabSz="914400" rtl="0" eaLnBrk="1" latinLnBrk="0" hangingPunct="1">
      <a:defRPr sz="2400" kern="1200">
        <a:solidFill>
          <a:schemeClr val="tx1"/>
        </a:solidFill>
        <a:latin typeface="Arial" panose="020B0604020202020204" pitchFamily="34" charset="0"/>
        <a:ea typeface="微软雅黑" panose="020B0503020204020204" pitchFamily="34" charset="-122"/>
        <a:cs typeface="+mn-cs"/>
      </a:defRPr>
    </a:lvl7pPr>
    <a:lvl8pPr marL="3200400" algn="l" defTabSz="914400" rtl="0" eaLnBrk="1" latinLnBrk="0" hangingPunct="1">
      <a:defRPr sz="2400" kern="1200">
        <a:solidFill>
          <a:schemeClr val="tx1"/>
        </a:solidFill>
        <a:latin typeface="Arial" panose="020B0604020202020204" pitchFamily="34" charset="0"/>
        <a:ea typeface="微软雅黑" panose="020B0503020204020204" pitchFamily="34" charset="-122"/>
        <a:cs typeface="+mn-cs"/>
      </a:defRPr>
    </a:lvl8pPr>
    <a:lvl9pPr marL="3657600" algn="l" defTabSz="914400" rtl="0" eaLnBrk="1" latinLnBrk="0" hangingPunct="1">
      <a:defRPr sz="2400" kern="1200">
        <a:solidFill>
          <a:schemeClr val="tx1"/>
        </a:solidFill>
        <a:latin typeface="Arial" panose="020B0604020202020204" pitchFamily="34" charset="0"/>
        <a:ea typeface="微软雅黑" panose="020B0503020204020204" pitchFamily="34" charset="-122"/>
        <a:cs typeface="+mn-cs"/>
      </a:defRPr>
    </a:lvl9pPr>
  </p:defaultTextStyle>
  <p:extLst>
    <p:ext uri="{EFAFB233-063F-42B5-8137-9DF3F51BA10A}">
      <p15:sldGuideLst xmlns:p15="http://schemas.microsoft.com/office/powerpoint/2012/main">
        <p15:guide id="1" orient="horz" pos="229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66CC"/>
    <a:srgbClr val="DFF1F2"/>
    <a:srgbClr val="004586"/>
    <a:srgbClr val="A3D6D9"/>
    <a:srgbClr val="FF9900"/>
    <a:srgbClr val="00B0F0"/>
    <a:srgbClr val="0070C0"/>
    <a:srgbClr val="1C2948"/>
    <a:srgbClr val="FBBC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311" autoAdjust="0"/>
    <p:restoredTop sz="84491" autoAdjust="0"/>
  </p:normalViewPr>
  <p:slideViewPr>
    <p:cSldViewPr snapToGrid="0" showGuides="1">
      <p:cViewPr varScale="1">
        <p:scale>
          <a:sx n="135" d="100"/>
          <a:sy n="135" d="100"/>
        </p:scale>
        <p:origin x="1500" y="92"/>
      </p:cViewPr>
      <p:guideLst>
        <p:guide orient="horz" pos="2290"/>
        <p:guide pos="384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92" Type="http://schemas.openxmlformats.org/officeDocument/2006/relationships/notesMaster" Target="notesMasters/notesMaster1.xml"/><Relationship Id="rId93" Type="http://schemas.openxmlformats.org/officeDocument/2006/relationships/handoutMaster" Target="handoutMasters/handoutMaster1.xml"/><Relationship Id="rId94" Type="http://schemas.openxmlformats.org/officeDocument/2006/relationships/presProps" Target="presProps.xml"/><Relationship Id="rId95" Type="http://schemas.openxmlformats.org/officeDocument/2006/relationships/viewProps" Target="viewProps.xml"/><Relationship Id="rId96" Type="http://schemas.openxmlformats.org/officeDocument/2006/relationships/theme" Target="theme/theme1.xml"/><Relationship Id="rId97" Type="http://schemas.openxmlformats.org/officeDocument/2006/relationships/tableStyles" Target="tableStyles.xml"/><Relationship Id="rId102" Type="http://schemas.openxmlformats.org/officeDocument/2006/relationships/slide" Target="slides/slide16.xml"/><Relationship Id="rId103" Type="http://schemas.openxmlformats.org/officeDocument/2006/relationships/slide" Target="slides/slide17.xml"/><Relationship Id="rId104" Type="http://schemas.openxmlformats.org/officeDocument/2006/relationships/slide" Target="slides/slide18.xml"/><Relationship Id="rId105" Type="http://schemas.openxmlformats.org/officeDocument/2006/relationships/slide" Target="slides/slide19.xml"/><Relationship Id="rId111" Type="http://schemas.openxmlformats.org/officeDocument/2006/relationships/slide" Target="slides/slide34.xml"/><Relationship Id="rId112" Type="http://schemas.openxmlformats.org/officeDocument/2006/relationships/slide" Target="slides/slide35.xml"/><Relationship Id="rId113" Type="http://schemas.openxmlformats.org/officeDocument/2006/relationships/slide" Target="slides/slide36.xml"/><Relationship Id="rId114" Type="http://schemas.openxmlformats.org/officeDocument/2006/relationships/slide" Target="slides/slide37.xml"/><Relationship Id="rId115" Type="http://schemas.openxmlformats.org/officeDocument/2006/relationships/slide" Target="slides/slide38.xml"/><Relationship Id="rId122" Type="http://schemas.openxmlformats.org/officeDocument/2006/relationships/slide" Target="slides/slide64.xml"/><Relationship Id="rId123" Type="http://schemas.openxmlformats.org/officeDocument/2006/relationships/slide" Target="slides/slide65.xml"/><Relationship Id="rId124" Type="http://schemas.openxmlformats.org/officeDocument/2006/relationships/slide" Target="slides/slide66.xml"/><Relationship Id="rId125" Type="http://schemas.openxmlformats.org/officeDocument/2006/relationships/slide" Target="slides/slide67.xml"/><Relationship Id="rId126" Type="http://schemas.openxmlformats.org/officeDocument/2006/relationships/slide" Target="slides/slide68.xml"/><Relationship Id="rId127" Type="http://schemas.openxmlformats.org/officeDocument/2006/relationships/slide" Target="slides/slide69.xml"/><Relationship Id="rId130" Type="http://schemas.openxmlformats.org/officeDocument/2006/relationships/slide" Target="slides/slide70.xml"/><Relationship Id="rId131" Type="http://schemas.openxmlformats.org/officeDocument/2006/relationships/slide" Target="slides/slide7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2952054" cy="496744"/>
          </a:xfrm>
          <a:prstGeom prst="rect">
            <a:avLst/>
          </a:prstGeom>
        </p:spPr>
        <p:txBody>
          <a:bodyPr vert="horz" lIns="88395" tIns="44198" rIns="88395" bIns="44198" rtlCol="0"/>
          <a:lstStyle>
            <a:lvl1pPr algn="l">
              <a:defRPr sz="1200"/>
            </a:lvl1pPr>
          </a:lstStyle>
          <a:p>
            <a:endParaRPr lang="zh-CN" altLang="en-US"/>
          </a:p>
        </p:txBody>
      </p:sp>
      <p:sp>
        <p:nvSpPr>
          <p:cNvPr id="3" name="日期占位符 2"/>
          <p:cNvSpPr>
            <a:spLocks noGrp="1"/>
          </p:cNvSpPr>
          <p:nvPr>
            <p:ph type="dt" sz="quarter" idx="1"/>
          </p:nvPr>
        </p:nvSpPr>
        <p:spPr>
          <a:xfrm>
            <a:off x="3858387" y="1"/>
            <a:ext cx="2952054" cy="496744"/>
          </a:xfrm>
          <a:prstGeom prst="rect">
            <a:avLst/>
          </a:prstGeom>
        </p:spPr>
        <p:txBody>
          <a:bodyPr vert="horz" lIns="88395" tIns="44198" rIns="88395" bIns="44198" rtlCol="0"/>
          <a:lstStyle>
            <a:lvl1pPr algn="r">
              <a:defRPr sz="1200"/>
            </a:lvl1pPr>
          </a:lstStyle>
          <a:p>
            <a:fld id="{33F7A549-B379-4C34-825B-70BFB0F88B3A}" type="datetimeFigureOut">
              <a:rPr lang="zh-CN" altLang="en-US" smtClean="0"/>
              <a:t>2026/8/14</a:t>
            </a:fld>
            <a:endParaRPr lang="zh-CN" altLang="en-US"/>
          </a:p>
        </p:txBody>
      </p:sp>
      <p:sp>
        <p:nvSpPr>
          <p:cNvPr id="4" name="页脚占位符 3"/>
          <p:cNvSpPr>
            <a:spLocks noGrp="1"/>
          </p:cNvSpPr>
          <p:nvPr>
            <p:ph type="ftr" sz="quarter" idx="2"/>
          </p:nvPr>
        </p:nvSpPr>
        <p:spPr>
          <a:xfrm>
            <a:off x="0" y="9447401"/>
            <a:ext cx="2952054" cy="496744"/>
          </a:xfrm>
          <a:prstGeom prst="rect">
            <a:avLst/>
          </a:prstGeom>
        </p:spPr>
        <p:txBody>
          <a:bodyPr vert="horz" lIns="88395" tIns="44198" rIns="88395" bIns="44198"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58387" y="9447401"/>
            <a:ext cx="2952054" cy="496744"/>
          </a:xfrm>
          <a:prstGeom prst="rect">
            <a:avLst/>
          </a:prstGeom>
        </p:spPr>
        <p:txBody>
          <a:bodyPr vert="horz" lIns="88395" tIns="44198" rIns="88395" bIns="44198" rtlCol="0" anchor="b"/>
          <a:lstStyle>
            <a:lvl1pPr algn="r">
              <a:defRPr sz="1200"/>
            </a:lvl1pPr>
          </a:lstStyle>
          <a:p>
            <a:fld id="{2EC52559-07F0-4EB5-B465-6612A2299634}"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1" y="0"/>
            <a:ext cx="2951850" cy="497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750" tIns="47875" rIns="95750" bIns="47875" numCol="1" anchor="t" anchorCtr="0" compatLnSpc="1"/>
          <a:lstStyle>
            <a:lvl1pPr eaLnBrk="1" hangingPunct="1">
              <a:defRPr sz="1300">
                <a:latin typeface="Arial" panose="020B0604020202020204" pitchFamily="34" charset="0"/>
                <a:ea typeface="宋体" panose="02010600030101010101" pitchFamily="2" charset="-122"/>
              </a:defRPr>
            </a:lvl1pPr>
          </a:lstStyle>
          <a:p>
            <a:pPr>
              <a:defRPr/>
            </a:pPr>
            <a:endParaRPr lang="en-US" altLang="zh-CN"/>
          </a:p>
        </p:txBody>
      </p:sp>
      <p:sp>
        <p:nvSpPr>
          <p:cNvPr id="5123" name="Rectangle 3"/>
          <p:cNvSpPr>
            <a:spLocks noGrp="1" noChangeArrowheads="1"/>
          </p:cNvSpPr>
          <p:nvPr>
            <p:ph type="dt" idx="1"/>
          </p:nvPr>
        </p:nvSpPr>
        <p:spPr bwMode="auto">
          <a:xfrm>
            <a:off x="3858537" y="0"/>
            <a:ext cx="2951850" cy="497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750" tIns="47875" rIns="95750" bIns="47875" numCol="1" anchor="t" anchorCtr="0" compatLnSpc="1"/>
          <a:lstStyle>
            <a:lvl1pPr algn="r" eaLnBrk="1" hangingPunct="1">
              <a:defRPr sz="1300">
                <a:latin typeface="Arial" panose="020B0604020202020204" pitchFamily="34" charset="0"/>
                <a:ea typeface="宋体" panose="02010600030101010101" pitchFamily="2" charset="-122"/>
              </a:defRPr>
            </a:lvl1pPr>
          </a:lstStyle>
          <a:p>
            <a:pPr>
              <a:defRPr/>
            </a:pPr>
            <a:endParaRPr lang="en-US" altLang="zh-CN"/>
          </a:p>
        </p:txBody>
      </p:sp>
      <p:sp>
        <p:nvSpPr>
          <p:cNvPr id="2052" name="Rectangle 4"/>
          <p:cNvSpPr>
            <a:spLocks noGrp="1" noRot="1" noChangeAspect="1" noChangeArrowheads="1" noTextEdit="1"/>
          </p:cNvSpPr>
          <p:nvPr>
            <p:ph type="sldImg" idx="2"/>
          </p:nvPr>
        </p:nvSpPr>
        <p:spPr bwMode="auto">
          <a:xfrm>
            <a:off x="92075" y="746125"/>
            <a:ext cx="6627813" cy="3729038"/>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5" name="Rectangle 5"/>
          <p:cNvSpPr>
            <a:spLocks noGrp="1" noChangeArrowheads="1"/>
          </p:cNvSpPr>
          <p:nvPr>
            <p:ph type="body" sz="quarter" idx="3"/>
          </p:nvPr>
        </p:nvSpPr>
        <p:spPr bwMode="auto">
          <a:xfrm>
            <a:off x="681197" y="4724202"/>
            <a:ext cx="5449570" cy="4475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750" tIns="47875" rIns="95750" bIns="47875"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5126" name="Rectangle 6"/>
          <p:cNvSpPr>
            <a:spLocks noGrp="1" noChangeArrowheads="1"/>
          </p:cNvSpPr>
          <p:nvPr>
            <p:ph type="ftr" sz="quarter" idx="4"/>
          </p:nvPr>
        </p:nvSpPr>
        <p:spPr bwMode="auto">
          <a:xfrm>
            <a:off x="1" y="9446678"/>
            <a:ext cx="2951850" cy="497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750" tIns="47875" rIns="95750" bIns="47875" numCol="1" anchor="b" anchorCtr="0" compatLnSpc="1"/>
          <a:lstStyle>
            <a:lvl1pPr eaLnBrk="1" hangingPunct="1">
              <a:defRPr sz="1300">
                <a:latin typeface="Arial" panose="020B0604020202020204" pitchFamily="34" charset="0"/>
                <a:ea typeface="宋体" panose="02010600030101010101" pitchFamily="2" charset="-122"/>
              </a:defRPr>
            </a:lvl1pPr>
          </a:lstStyle>
          <a:p>
            <a:pPr>
              <a:defRPr/>
            </a:pPr>
            <a:endParaRPr lang="en-US" altLang="zh-CN"/>
          </a:p>
        </p:txBody>
      </p:sp>
      <p:sp>
        <p:nvSpPr>
          <p:cNvPr id="5127" name="Rectangle 7"/>
          <p:cNvSpPr>
            <a:spLocks noGrp="1" noChangeArrowheads="1"/>
          </p:cNvSpPr>
          <p:nvPr>
            <p:ph type="sldNum" sz="quarter" idx="5"/>
          </p:nvPr>
        </p:nvSpPr>
        <p:spPr bwMode="auto">
          <a:xfrm>
            <a:off x="3858537" y="9446678"/>
            <a:ext cx="2951850" cy="497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750" tIns="47875" rIns="95750" bIns="47875" numCol="1" anchor="b" anchorCtr="0" compatLnSpc="1"/>
          <a:lstStyle>
            <a:lvl1pPr algn="r" eaLnBrk="1" hangingPunct="1">
              <a:defRPr sz="1300" smtClean="0">
                <a:ea typeface="宋体" panose="02010600030101010101" pitchFamily="2" charset="-122"/>
              </a:defRPr>
            </a:lvl1pPr>
          </a:lstStyle>
          <a:p>
            <a:pPr>
              <a:defRPr/>
            </a:pPr>
            <a:fld id="{6020F7E6-B6AB-4685-9920-66673A4976C0}" type="slidenum">
              <a:rPr lang="en-US" altLang="zh-CN"/>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dirty="0"/>
              <a:t>封面图：四川农业大学成都校区校名石与校园。图片来源：百度图片检索结果（b0.bdstatic.com）。</a:t>
            </a:r>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t>1</a:t>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t>2</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8"/>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a:xfrm>
            <a:off x="609600" y="1600203"/>
            <a:ext cx="109728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3"/>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3"/>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3"/>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9" y="1535113"/>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9"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2"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3"/>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2" y="1435103"/>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3"/>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936567" y="222253"/>
            <a:ext cx="2880784" cy="5903913"/>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294219" y="222253"/>
            <a:ext cx="8439149" cy="590391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r>
              <a:rPr lang="zh-CN" altLang="en-US"/>
              <a:t>单击此处编辑母版标题样式</a:t>
            </a:r>
          </a:p>
        </p:txBody>
      </p:sp>
      <p:sp>
        <p:nvSpPr>
          <p:cNvPr id="3" name="表格占位符 2"/>
          <p:cNvSpPr>
            <a:spLocks noGrp="1"/>
          </p:cNvSpPr>
          <p:nvPr>
            <p:ph type="tbl" idx="1"/>
          </p:nvPr>
        </p:nvSpPr>
        <p:spPr>
          <a:xfrm>
            <a:off x="609600" y="1600201"/>
            <a:ext cx="10972800" cy="4530725"/>
          </a:xfrm>
        </p:spPr>
        <p:txBody>
          <a:bodyPr/>
          <a:lstStyle/>
          <a:p>
            <a:pPr lvl="0"/>
            <a:endParaRPr lang="zh-CN" altLang="en-US" noProof="0"/>
          </a:p>
        </p:txBody>
      </p:sp>
      <p:sp>
        <p:nvSpPr>
          <p:cNvPr id="4" name="Rectangle 9"/>
          <p:cNvSpPr>
            <a:spLocks noGrp="1" noChangeArrowheads="1"/>
          </p:cNvSpPr>
          <p:nvPr>
            <p:ph type="dt" sz="half" idx="10"/>
          </p:nvPr>
        </p:nvSpPr>
        <p:spPr/>
        <p:txBody>
          <a:bodyPr/>
          <a:lstStyle>
            <a:lvl1pPr>
              <a:defRPr/>
            </a:lvl1pPr>
          </a:lstStyle>
          <a:p>
            <a:pPr>
              <a:defRPr/>
            </a:pPr>
            <a:endParaRPr lang="en-US" altLang="zh-CN"/>
          </a:p>
        </p:txBody>
      </p:sp>
      <p:sp>
        <p:nvSpPr>
          <p:cNvPr id="5" name="Rectangle 10"/>
          <p:cNvSpPr>
            <a:spLocks noGrp="1" noChangeArrowheads="1"/>
          </p:cNvSpPr>
          <p:nvPr>
            <p:ph type="ftr" sz="quarter" idx="11"/>
          </p:nvPr>
        </p:nvSpPr>
        <p:spPr/>
        <p:txBody>
          <a:bodyPr/>
          <a:lstStyle>
            <a:lvl1pPr>
              <a:defRPr/>
            </a:lvl1pPr>
          </a:lstStyle>
          <a:p>
            <a:pPr>
              <a:defRPr/>
            </a:pPr>
            <a:endParaRPr lang="en-US" altLang="zh-CN"/>
          </a:p>
        </p:txBody>
      </p:sp>
      <p:sp>
        <p:nvSpPr>
          <p:cNvPr id="6" name="Rectangle 11"/>
          <p:cNvSpPr>
            <a:spLocks noGrp="1" noChangeArrowheads="1"/>
          </p:cNvSpPr>
          <p:nvPr>
            <p:ph type="sldNum" sz="quarter" idx="12"/>
          </p:nvPr>
        </p:nvSpPr>
        <p:spPr/>
        <p:txBody>
          <a:bodyPr/>
          <a:lstStyle>
            <a:lvl1pPr>
              <a:defRPr/>
            </a:lvl1pPr>
          </a:lstStyle>
          <a:p>
            <a:fld id="{18A54C05-12C6-4ED5-8C42-25DA65BDDB23}" type="slidenum">
              <a:rPr lang="en-US" altLang="zh-CN"/>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9"/>
          <p:cNvSpPr>
            <a:spLocks noChangeArrowheads="1"/>
          </p:cNvSpPr>
          <p:nvPr userDrawn="1"/>
        </p:nvSpPr>
        <p:spPr bwMode="auto">
          <a:xfrm>
            <a:off x="0" y="1000125"/>
            <a:ext cx="646113" cy="261938"/>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Arial" panose="020B0604020202020204" pitchFamily="34" charset="0"/>
                <a:ea typeface="微软雅黑" panose="020B0503020204020204" pitchFamily="34" charset="-122"/>
              </a:defRPr>
            </a:lvl1pPr>
            <a:lvl2pPr marL="742950" indent="-285750" eaLnBrk="0" hangingPunct="0">
              <a:defRPr sz="2400">
                <a:solidFill>
                  <a:schemeClr val="tx1"/>
                </a:solidFill>
                <a:latin typeface="Arial" panose="020B0604020202020204" pitchFamily="34" charset="0"/>
                <a:ea typeface="微软雅黑" panose="020B0503020204020204" pitchFamily="34" charset="-122"/>
              </a:defRPr>
            </a:lvl2pPr>
            <a:lvl3pPr marL="1143000" indent="-228600" eaLnBrk="0" hangingPunct="0">
              <a:defRPr sz="2400">
                <a:solidFill>
                  <a:schemeClr val="tx1"/>
                </a:solidFill>
                <a:latin typeface="Arial" panose="020B0604020202020204" pitchFamily="34" charset="0"/>
                <a:ea typeface="微软雅黑" panose="020B0503020204020204" pitchFamily="34" charset="-122"/>
              </a:defRPr>
            </a:lvl3pPr>
            <a:lvl4pPr marL="1600200" indent="-228600" eaLnBrk="0" hangingPunct="0">
              <a:defRPr sz="2400">
                <a:solidFill>
                  <a:schemeClr val="tx1"/>
                </a:solidFill>
                <a:latin typeface="Arial" panose="020B0604020202020204" pitchFamily="34" charset="0"/>
                <a:ea typeface="微软雅黑" panose="020B0503020204020204" pitchFamily="34" charset="-122"/>
              </a:defRPr>
            </a:lvl4pPr>
            <a:lvl5pPr marL="2057400" indent="-228600" eaLnBrk="0" hangingPunct="0">
              <a:defRPr sz="24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9pPr>
          </a:lstStyle>
          <a:p>
            <a:pPr eaLnBrk="1" hangingPunct="1">
              <a:defRPr/>
            </a:pPr>
            <a:endParaRPr lang="zh-CN" altLang="en-US"/>
          </a:p>
        </p:txBody>
      </p:sp>
      <p:sp>
        <p:nvSpPr>
          <p:cNvPr id="1027" name="Rectangle 10"/>
          <p:cNvSpPr>
            <a:spLocks noChangeArrowheads="1"/>
          </p:cNvSpPr>
          <p:nvPr userDrawn="1"/>
        </p:nvSpPr>
        <p:spPr bwMode="auto">
          <a:xfrm>
            <a:off x="703263" y="996950"/>
            <a:ext cx="11488737" cy="261938"/>
          </a:xfrm>
          <a:prstGeom prst="rect">
            <a:avLst/>
          </a:prstGeom>
          <a:solidFill>
            <a:srgbClr val="0066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Arial" panose="020B0604020202020204" pitchFamily="34" charset="0"/>
                <a:ea typeface="微软雅黑" panose="020B0503020204020204" pitchFamily="34" charset="-122"/>
              </a:defRPr>
            </a:lvl1pPr>
            <a:lvl2pPr marL="742950" indent="-285750" eaLnBrk="0" hangingPunct="0">
              <a:defRPr sz="2400">
                <a:solidFill>
                  <a:schemeClr val="tx1"/>
                </a:solidFill>
                <a:latin typeface="Arial" panose="020B0604020202020204" pitchFamily="34" charset="0"/>
                <a:ea typeface="微软雅黑" panose="020B0503020204020204" pitchFamily="34" charset="-122"/>
              </a:defRPr>
            </a:lvl2pPr>
            <a:lvl3pPr marL="1143000" indent="-228600" eaLnBrk="0" hangingPunct="0">
              <a:defRPr sz="2400">
                <a:solidFill>
                  <a:schemeClr val="tx1"/>
                </a:solidFill>
                <a:latin typeface="Arial" panose="020B0604020202020204" pitchFamily="34" charset="0"/>
                <a:ea typeface="微软雅黑" panose="020B0503020204020204" pitchFamily="34" charset="-122"/>
              </a:defRPr>
            </a:lvl3pPr>
            <a:lvl4pPr marL="1600200" indent="-228600" eaLnBrk="0" hangingPunct="0">
              <a:defRPr sz="2400">
                <a:solidFill>
                  <a:schemeClr val="tx1"/>
                </a:solidFill>
                <a:latin typeface="Arial" panose="020B0604020202020204" pitchFamily="34" charset="0"/>
                <a:ea typeface="微软雅黑" panose="020B0503020204020204" pitchFamily="34" charset="-122"/>
              </a:defRPr>
            </a:lvl4pPr>
            <a:lvl5pPr marL="2057400" indent="-228600" eaLnBrk="0" hangingPunct="0">
              <a:defRPr sz="24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9pPr>
          </a:lstStyle>
          <a:p>
            <a:pPr eaLnBrk="1" hangingPunct="1">
              <a:defRPr/>
            </a:pPr>
            <a:endParaRPr lang="zh-CN" altLang="en-US"/>
          </a:p>
        </p:txBody>
      </p:sp>
      <p:sp>
        <p:nvSpPr>
          <p:cNvPr id="1028" name="Text Box 11"/>
          <p:cNvSpPr txBox="1">
            <a:spLocks noChangeArrowheads="1"/>
          </p:cNvSpPr>
          <p:nvPr userDrawn="1"/>
        </p:nvSpPr>
        <p:spPr bwMode="auto">
          <a:xfrm>
            <a:off x="261938" y="963613"/>
            <a:ext cx="40322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微软雅黑" panose="020B0503020204020204" pitchFamily="34" charset="-122"/>
              </a:defRPr>
            </a:lvl1pPr>
            <a:lvl2pPr marL="742950" indent="-285750">
              <a:defRPr sz="2400">
                <a:solidFill>
                  <a:schemeClr val="tx1"/>
                </a:solidFill>
                <a:latin typeface="Arial" panose="020B0604020202020204" pitchFamily="34" charset="0"/>
                <a:ea typeface="微软雅黑" panose="020B0503020204020204" pitchFamily="34" charset="-122"/>
              </a:defRPr>
            </a:lvl2pPr>
            <a:lvl3pPr marL="1143000" indent="-228600">
              <a:defRPr sz="2400">
                <a:solidFill>
                  <a:schemeClr val="tx1"/>
                </a:solidFill>
                <a:latin typeface="Arial" panose="020B0604020202020204" pitchFamily="34" charset="0"/>
                <a:ea typeface="微软雅黑" panose="020B0503020204020204" pitchFamily="34" charset="-122"/>
              </a:defRPr>
            </a:lvl3pPr>
            <a:lvl4pPr marL="1600200" indent="-228600">
              <a:defRPr sz="2400">
                <a:solidFill>
                  <a:schemeClr val="tx1"/>
                </a:solidFill>
                <a:latin typeface="Arial" panose="020B0604020202020204" pitchFamily="34" charset="0"/>
                <a:ea typeface="微软雅黑" panose="020B0503020204020204" pitchFamily="34" charset="-122"/>
              </a:defRPr>
            </a:lvl4pPr>
            <a:lvl5pPr marL="2057400" indent="-228600">
              <a:defRPr sz="24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9pPr>
          </a:lstStyle>
          <a:p>
            <a:pPr algn="r" eaLnBrk="1" hangingPunct="1">
              <a:defRPr/>
            </a:pPr>
            <a:fld id="{679EA1FA-98DD-462E-800D-6ADA9E20B4EE}" type="slidenum">
              <a:rPr lang="en-US" altLang="zh-CN" sz="1400" b="1" smtClean="0">
                <a:solidFill>
                  <a:schemeClr val="bg1"/>
                </a:solidFill>
                <a:ea typeface="宋体" panose="02010600030101010101" pitchFamily="2" charset="-122"/>
              </a:rPr>
              <a:t>‹#›</a:t>
            </a:fld>
            <a:endParaRPr lang="en-US" altLang="zh-CN" sz="1400" b="1">
              <a:solidFill>
                <a:schemeClr val="bg1"/>
              </a:solidFill>
              <a:ea typeface="宋体" panose="02010600030101010101" pitchFamily="2" charset="-122"/>
            </a:endParaRPr>
          </a:p>
        </p:txBody>
      </p:sp>
      <p:sp>
        <p:nvSpPr>
          <p:cNvPr id="1029" name="Rectangle 12"/>
          <p:cNvSpPr>
            <a:spLocks noGrp="1" noChangeArrowheads="1"/>
          </p:cNvSpPr>
          <p:nvPr>
            <p:ph type="title"/>
          </p:nvPr>
        </p:nvSpPr>
        <p:spPr bwMode="auto">
          <a:xfrm>
            <a:off x="293688" y="222250"/>
            <a:ext cx="11523662" cy="677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a:t>单击此处编辑母版标题样式</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2pPr>
      <a:lvl3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3pPr>
      <a:lvl4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4pPr>
      <a:lvl5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5pPr>
      <a:lvl6pPr marL="4572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6pPr>
      <a:lvl7pPr marL="9144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7pPr>
      <a:lvl8pPr marL="13716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8pPr>
      <a:lvl9pPr marL="18288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9pPr>
    </p:titleStyle>
    <p:bodyStyle>
      <a:lvl1pPr marL="341630" indent="-341630" algn="l" rtl="0" eaLnBrk="0" fontAlgn="base" hangingPunct="0">
        <a:spcBef>
          <a:spcPct val="20000"/>
        </a:spcBef>
        <a:spcAft>
          <a:spcPct val="0"/>
        </a:spcAft>
        <a:buChar char="•"/>
        <a:defRPr sz="3200">
          <a:solidFill>
            <a:schemeClr val="tx1"/>
          </a:solidFill>
          <a:latin typeface="+mn-lt"/>
          <a:ea typeface="+mn-ea"/>
          <a:cs typeface="+mn-cs"/>
        </a:defRPr>
      </a:lvl1pPr>
      <a:lvl2pPr marL="741680" indent="-284480" algn="l" rtl="0" eaLnBrk="0" fontAlgn="base" hangingPunct="0">
        <a:spcBef>
          <a:spcPct val="20000"/>
        </a:spcBef>
        <a:spcAft>
          <a:spcPct val="0"/>
        </a:spcAft>
        <a:buChar char="–"/>
        <a:defRPr sz="2800">
          <a:solidFill>
            <a:schemeClr val="tx1"/>
          </a:solidFill>
          <a:latin typeface="+mn-lt"/>
          <a:ea typeface="+mn-ea"/>
        </a:defRPr>
      </a:lvl2pPr>
      <a:lvl3pPr marL="1141730" indent="-227330" algn="l" rtl="0" eaLnBrk="0" fontAlgn="base" hangingPunct="0">
        <a:spcBef>
          <a:spcPct val="20000"/>
        </a:spcBef>
        <a:spcAft>
          <a:spcPct val="0"/>
        </a:spcAft>
        <a:buChar char="•"/>
        <a:defRPr sz="2400">
          <a:solidFill>
            <a:schemeClr val="tx1"/>
          </a:solidFill>
          <a:latin typeface="+mn-lt"/>
          <a:ea typeface="+mn-ea"/>
        </a:defRPr>
      </a:lvl3pPr>
      <a:lvl4pPr marL="1598930" indent="-227330" algn="l" rtl="0" eaLnBrk="0" fontAlgn="base" hangingPunct="0">
        <a:spcBef>
          <a:spcPct val="20000"/>
        </a:spcBef>
        <a:spcAft>
          <a:spcPct val="0"/>
        </a:spcAft>
        <a:buChar char="–"/>
        <a:defRPr sz="2000">
          <a:solidFill>
            <a:schemeClr val="tx1"/>
          </a:solidFill>
          <a:latin typeface="+mn-lt"/>
          <a:ea typeface="+mn-ea"/>
        </a:defRPr>
      </a:lvl4pPr>
      <a:lvl5pPr marL="2056130" indent="-22733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4" Type="http://schemas.openxmlformats.org/officeDocument/2006/relationships/image" Target="../media/image69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image" Target="../media/image2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image" Target="../media/image2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 Id="rId3" Type="http://schemas.openxmlformats.org/officeDocument/2006/relationships/image" Target="../media/image3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jpeg"/><Relationship Id="rId3" Type="http://schemas.openxmlformats.org/officeDocument/2006/relationships/image" Target="../media/image3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merged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merged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merged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merged4.png"/><Relationship Id="rId5" Type="http://schemas.openxmlformats.org/officeDocument/2006/relationships/hyperlink" Target="&#35270;&#39057;/01_kNN&#31639;&#27861;&#27493;&#39588;.mp4" TargetMode="External"/><Relationship Id="rId6" Type="http://schemas.openxmlformats.org/officeDocument/2006/relationships/hyperlink" Target="&#35270;&#39057;/01_kNN&#31639;&#27861;&#27493;&#39588;.mp4"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png"/><Relationship Id="rId3" Type="http://schemas.openxmlformats.org/officeDocument/2006/relationships/image" Target="../media/image3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3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3.png"/><Relationship Id="rId3" Type="http://schemas.openxmlformats.org/officeDocument/2006/relationships/image" Target="../media/image420.png"/><Relationship Id="rId4" Type="http://schemas.openxmlformats.org/officeDocument/2006/relationships/image" Target="../media/image4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5.png"/><Relationship Id="rId3" Type="http://schemas.openxmlformats.org/officeDocument/2006/relationships/image" Target="../media/image4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7.png"/><Relationship Id="rId3" Type="http://schemas.openxmlformats.org/officeDocument/2006/relationships/image" Target="../media/image4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9.png"/><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52.png"/><Relationship Id="rId6" Type="http://schemas.openxmlformats.org/officeDocument/2006/relationships/image" Target="../media/image53.png"/><Relationship Id="rId7" Type="http://schemas.openxmlformats.org/officeDocument/2006/relationships/image" Target="../media/image54.png"/><Relationship Id="rId8" Type="http://schemas.openxmlformats.org/officeDocument/2006/relationships/image" Target="../media/image55.png"/><Relationship Id="rId9" Type="http://schemas.openxmlformats.org/officeDocument/2006/relationships/image" Target="../media/image56.png"/><Relationship Id="rId10" Type="http://schemas.openxmlformats.org/officeDocument/2006/relationships/image" Target="../media/image57.png"/><Relationship Id="rId11" Type="http://schemas.openxmlformats.org/officeDocument/2006/relationships/image" Target="../media/image58.png"/><Relationship Id="rId12" Type="http://schemas.openxmlformats.org/officeDocument/2006/relationships/image" Target="../media/image59.png"/><Relationship Id="rId13" Type="http://schemas.openxmlformats.org/officeDocument/2006/relationships/image" Target="../media/image60.png"/><Relationship Id="rId14" Type="http://schemas.openxmlformats.org/officeDocument/2006/relationships/image" Target="../media/image6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00.png"/><Relationship Id="rId3" Type="http://schemas.openxmlformats.org/officeDocument/2006/relationships/image" Target="../media/image6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3.png"/><Relationship Id="rId3" Type="http://schemas.openxmlformats.org/officeDocument/2006/relationships/image" Target="../media/image64.png"/><Relationship Id="rId4" Type="http://schemas.openxmlformats.org/officeDocument/2006/relationships/image" Target="../media/image65.png"/><Relationship Id="rId5" Type="http://schemas.openxmlformats.org/officeDocument/2006/relationships/image" Target="../media/image66.png"/><Relationship Id="rId6" Type="http://schemas.openxmlformats.org/officeDocument/2006/relationships/image" Target="../media/image67.png"/><Relationship Id="rId7" Type="http://schemas.openxmlformats.org/officeDocument/2006/relationships/image" Target="../media/image68.png"/><Relationship Id="rId8" Type="http://schemas.openxmlformats.org/officeDocument/2006/relationships/image" Target="../media/image6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70.png"/><Relationship Id="rId3" Type="http://schemas.openxmlformats.org/officeDocument/2006/relationships/image" Target="../media/image680.png"/><Relationship Id="rId4" Type="http://schemas.openxmlformats.org/officeDocument/2006/relationships/image" Target="../media/image690.png"/><Relationship Id="rId5" Type="http://schemas.openxmlformats.org/officeDocument/2006/relationships/image" Target="../media/image70.png"/><Relationship Id="rId6" Type="http://schemas.openxmlformats.org/officeDocument/2006/relationships/image" Target="../media/image7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merged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merged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merged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merged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merged9.png"/><Relationship Id="rId5" Type="http://schemas.openxmlformats.org/officeDocument/2006/relationships/hyperlink" Target="&#35270;&#39057;/02_&#26420;&#32032;&#36125;&#21494;&#26031;&#31639;&#27861;.mp4" TargetMode="External"/><Relationship Id="rId6" Type="http://schemas.openxmlformats.org/officeDocument/2006/relationships/hyperlink" Target="&#35270;&#39057;/02_&#26420;&#32032;&#36125;&#21494;&#26031;&#31639;&#27861;.mp4"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5.png"/><Relationship Id="rId3" Type="http://schemas.openxmlformats.org/officeDocument/2006/relationships/image" Target="../media/image76.png"/><Relationship Id="rId4" Type="http://schemas.openxmlformats.org/officeDocument/2006/relationships/image" Target="../media/image77.png"/><Relationship Id="rId5" Type="http://schemas.openxmlformats.org/officeDocument/2006/relationships/image" Target="../media/image7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0.png"/><Relationship Id="rId3" Type="http://schemas.openxmlformats.org/officeDocument/2006/relationships/image" Target="../media/image81.png"/><Relationship Id="rId4" Type="http://schemas.openxmlformats.org/officeDocument/2006/relationships/image" Target="../media/image82.png"/><Relationship Id="rId5" Type="http://schemas.openxmlformats.org/officeDocument/2006/relationships/image" Target="../media/image83.png"/><Relationship Id="rId6" Type="http://schemas.openxmlformats.org/officeDocument/2006/relationships/image" Target="../media/image84.png"/><Relationship Id="rId7" Type="http://schemas.openxmlformats.org/officeDocument/2006/relationships/image" Target="../media/image8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6.png"/><Relationship Id="rId3" Type="http://schemas.openxmlformats.org/officeDocument/2006/relationships/image" Target="../media/image8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8.png"/><Relationship Id="rId3" Type="http://schemas.openxmlformats.org/officeDocument/2006/relationships/image" Target="../media/image89.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3.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0.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3.png"/><Relationship Id="rId3" Type="http://schemas.openxmlformats.org/officeDocument/2006/relationships/image" Target="../media/image94.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5.png"/><Relationship Id="rId3" Type="http://schemas.openxmlformats.org/officeDocument/2006/relationships/image" Target="../media/image96.png"/><Relationship Id="rId4" Type="http://schemas.openxmlformats.org/officeDocument/2006/relationships/image" Target="../media/image97.png"/><Relationship Id="rId5" Type="http://schemas.openxmlformats.org/officeDocument/2006/relationships/image" Target="../media/image98.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2.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merged10.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merged1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merged12.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merged13.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merged14.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merged15.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温大钟楼">
            <a:extLst>
              <a:ext uri="{FF2B5EF4-FFF2-40B4-BE49-F238E27FC236}">
                <a16:creationId xmlns:a16="http://schemas.microsoft.com/office/drawing/2014/main" id="{6D8B8849-1464-4845-9032-34CD13BC7B9A}"/>
              </a:ext>
            </a:extLst>
          </p:cNvPr>
          <p:cNvPicPr>
            <a:picLocks noChangeAspect="1"/>
          </p:cNvPicPr>
          <p:nvPr/>
        </p:nvPicPr>
        <p:blipFill>
          <a:blip r:embed="rId4"/>
          <a:srcRect l="32" r="32"/>
          <a:stretch>
            <a:fillRect/>
          </a:stretch>
        </p:blipFill>
        <p:spPr>
          <a:xfrm>
            <a:off x="0" y="0"/>
            <a:ext cx="12192000" cy="3002280"/>
          </a:xfrm>
          <a:prstGeom prst="rect">
            <a:avLst/>
          </a:prstGeom>
        </p:spPr>
      </p:pic>
      <p:sp>
        <p:nvSpPr>
          <p:cNvPr id="3074" name="Rectangle 2">
            <a:extLst>
              <a:ext uri="{FF2B5EF4-FFF2-40B4-BE49-F238E27FC236}">
                <a16:creationId xmlns:a16="http://schemas.microsoft.com/office/drawing/2014/main" id="{7BBC3266-01BE-4532-B542-D20314FFC380}"/>
              </a:ext>
            </a:extLst>
          </p:cNvPr>
          <p:cNvSpPr>
            <a:spLocks noGrp="1" noChangeArrowheads="1"/>
          </p:cNvSpPr>
          <p:nvPr>
            <p:ph type="ctrTitle"/>
          </p:nvPr>
        </p:nvSpPr>
        <p:spPr>
          <a:xfrm>
            <a:off x="0" y="3000375"/>
            <a:ext cx="12202275" cy="1905000"/>
          </a:xfrm>
          <a:solidFill>
            <a:srgbClr val="0070C0"/>
          </a:solidFill>
          <a:effectLst>
            <a:outerShdw blurRad="50800" dist="38100" dir="2700000" algn="tl" rotWithShape="0">
              <a:prstClr val="black">
                <a:alpha val="40000"/>
              </a:prstClr>
            </a:outerShdw>
          </a:effectLst>
        </p:spPr>
        <p:txBody>
          <a:bodyPr>
            <a:normAutofit/>
          </a:bodyPr>
          <a:lstStyle/>
          <a:p>
            <a:r>
              <a:rPr sz="4600">
                <a:solidFill>
                  <a:schemeClr val="bg1"/>
                </a:solidFill>
                <a:latin typeface="微软雅黑"/>
                <a:ea typeface="微软雅黑"/>
              </a:rPr>
              <a:t>分类算法</a:t>
            </a:r>
          </a:p>
        </p:txBody>
      </p:sp>
      <p:sp>
        <p:nvSpPr>
          <p:cNvPr id="2" name="矩形 13">
            <a:extLst>
              <a:ext uri="{FF2B5EF4-FFF2-40B4-BE49-F238E27FC236}">
                <a16:creationId xmlns:a16="http://schemas.microsoft.com/office/drawing/2014/main" id="{A4084F28-E5AF-743E-7B37-8030A07D69EE}"/>
              </a:ext>
            </a:extLst>
          </p:cNvPr>
          <p:cNvSpPr>
            <a:spLocks noChangeArrowheads="1"/>
          </p:cNvSpPr>
          <p:nvPr/>
        </p:nvSpPr>
        <p:spPr bwMode="auto">
          <a:xfrm>
            <a:off x="5200631" y="4962165"/>
            <a:ext cx="2459990" cy="460375"/>
          </a:xfrm>
          <a:prstGeom prst="rect">
            <a:avLst/>
          </a:prstGeom>
          <a:noFill/>
          <a:ln w="9525">
            <a:noFill/>
            <a:miter lim="800000"/>
          </a:ln>
        </p:spPr>
        <p:txBody>
          <a:bodyPr wrap="square">
            <a:spAutoFit/>
          </a:bodyPr>
          <a:lstStyle/>
          <a:p>
            <a:pPr eaLnBrk="1" hangingPunct="1"/>
            <a:r>
              <a:rPr lang="en-US" altLang="zh-CN" sz="2400" b="1" dirty="0">
                <a:latin typeface="Times New Roman" panose="02020603050405020304" pitchFamily="18" charset="0"/>
                <a:ea typeface="微软雅黑" panose="020B0503020204020204" pitchFamily="34" charset="-122"/>
              </a:rPr>
              <a:t>2026</a:t>
            </a:r>
            <a:r>
              <a:rPr lang="zh-CN" altLang="en-US" sz="2400" b="1" dirty="0">
                <a:latin typeface="Times New Roman" panose="02020603050405020304" pitchFamily="18" charset="0"/>
                <a:ea typeface="微软雅黑" panose="020B0503020204020204" pitchFamily="34" charset="-122"/>
              </a:rPr>
              <a:t>年</a:t>
            </a:r>
            <a:r>
              <a:rPr lang="en-US" altLang="zh-CN" sz="2400" b="1" dirty="0">
                <a:latin typeface="Times New Roman" panose="02020603050405020304" pitchFamily="18" charset="0"/>
                <a:ea typeface="微软雅黑" panose="020B0503020204020204" pitchFamily="34" charset="-122"/>
              </a:rPr>
              <a:t>08</a:t>
            </a:r>
            <a:r>
              <a:rPr lang="zh-CN" altLang="zh-CN" sz="2400" b="1" dirty="0">
                <a:latin typeface="Times New Roman" panose="02020603050405020304" pitchFamily="18" charset="0"/>
                <a:ea typeface="微软雅黑" panose="020B0503020204020204" pitchFamily="34" charset="-122"/>
              </a:rPr>
              <a:t>月</a:t>
            </a:r>
          </a:p>
        </p:txBody>
      </p:sp>
    </p:spTree>
  </p:cSld>
  <p:clrMapOvr>
    <a:masterClrMapping/>
  </p:clrMapOvr>
  <mc:AlternateContent xmlns:mc="http://schemas.openxmlformats.org/markup-compatibility/2006" xmlns:p14="http://schemas.microsoft.com/office/powerpoint/2010/main">
    <mc:Choice Requires="p14">
      <p:transition spd="slow" p14:dur="2000" advTm="7175"/>
    </mc:Choice>
    <mc:Fallback xmlns="">
      <p:transition spd="slow" advTm="7175"/>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zh-CN" altLang="en-US" dirty="0">
                <a:solidFill>
                  <a:schemeClr val="tx1"/>
                </a:solidFill>
              </a:rPr>
              <a:t>本章目录</a:t>
            </a:r>
          </a:p>
        </p:txBody>
      </p:sp>
      <p:sp>
        <p:nvSpPr>
          <p:cNvPr id="44" name="TextBox 6"/>
          <p:cNvSpPr txBox="1">
            <a:spLocks noChangeArrowheads="1"/>
          </p:cNvSpPr>
          <p:nvPr/>
        </p:nvSpPr>
        <p:spPr bwMode="auto">
          <a:xfrm>
            <a:off x="2996569" y="1427625"/>
            <a:ext cx="5105475"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01 </a:t>
            </a:r>
            <a:r>
              <a:rPr lang="en-US" altLang="zh-CN" sz="4000" dirty="0">
                <a:latin typeface="Impact" panose="020B0806030902050204" pitchFamily="34" charset="0"/>
                <a:ea typeface="微软雅黑" panose="020B0503020204020204" pitchFamily="34" charset="-122"/>
              </a:rPr>
              <a:t> </a:t>
            </a:r>
            <a:r>
              <a:rPr lang="en-US" altLang="zh-CN" sz="3600" dirty="0">
                <a:latin typeface="Impact" panose="020B0806030902050204" pitchFamily="34" charset="0"/>
                <a:ea typeface="微软雅黑" panose="020B0503020204020204" pitchFamily="34" charset="-122"/>
              </a:rPr>
              <a:t>  </a:t>
            </a:r>
            <a:r>
              <a:rPr lang="zh-CN" altLang="en-US" sz="3600" dirty="0">
                <a:latin typeface="Impact" panose="020B0806030902050204" pitchFamily="34" charset="0"/>
                <a:ea typeface="微软雅黑" panose="020B0503020204020204" pitchFamily="34" charset="-122"/>
              </a:rPr>
              <a:t>前言</a:t>
            </a:r>
            <a:endParaRPr lang="en-US" altLang="zh-CN" sz="3600" dirty="0">
              <a:latin typeface="Impact" panose="020B0806030902050204" pitchFamily="34" charset="0"/>
              <a:ea typeface="微软雅黑" panose="020B0503020204020204" pitchFamily="34" charset="-122"/>
            </a:endParaRPr>
          </a:p>
        </p:txBody>
      </p:sp>
      <p:sp>
        <p:nvSpPr>
          <p:cNvPr id="48" name="TextBox 11">
            <a:extLst>
              <a:ext uri="{FF2B5EF4-FFF2-40B4-BE49-F238E27FC236}">
                <a16:creationId xmlns:a16="http://schemas.microsoft.com/office/drawing/2014/main" id="{470C6156-AA89-46F2-B3CF-970DDE73A092}"/>
              </a:ext>
            </a:extLst>
          </p:cNvPr>
          <p:cNvSpPr txBox="1">
            <a:spLocks noChangeArrowheads="1"/>
          </p:cNvSpPr>
          <p:nvPr/>
        </p:nvSpPr>
        <p:spPr bwMode="auto">
          <a:xfrm>
            <a:off x="3000375" y="2143125"/>
            <a:ext cx="6294525"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r>
              <a:rPr sz="3600">
                <a:latin typeface="Impact"/>
                <a:ea typeface="微软雅黑"/>
              </a:rPr>
              <a:t>02    kNN算法</a:t>
            </a:r>
          </a:p>
        </p:txBody>
      </p:sp>
      <p:sp>
        <p:nvSpPr>
          <p:cNvPr id="8" name="TextBox 10">
            <a:extLst>
              <a:ext uri="{FF2B5EF4-FFF2-40B4-BE49-F238E27FC236}">
                <a16:creationId xmlns:a16="http://schemas.microsoft.com/office/drawing/2014/main" id="{FEE13DBD-9B97-4BE4-B454-945937BBDE48}"/>
              </a:ext>
            </a:extLst>
          </p:cNvPr>
          <p:cNvSpPr txBox="1">
            <a:spLocks noChangeArrowheads="1"/>
          </p:cNvSpPr>
          <p:nvPr/>
        </p:nvSpPr>
        <p:spPr bwMode="auto">
          <a:xfrm>
            <a:off x="3000375" y="2828925"/>
            <a:ext cx="5743575"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r>
              <a:rPr sz="3600">
                <a:latin typeface="Impact"/>
                <a:ea typeface="微软雅黑"/>
              </a:rPr>
              <a:t>03    朴素贝叶斯</a:t>
            </a:r>
          </a:p>
        </p:txBody>
      </p:sp>
      <p:sp>
        <p:nvSpPr>
          <p:cNvPr id="9" name="TextBox 10">
            <a:extLst>
              <a:ext uri="{FF2B5EF4-FFF2-40B4-BE49-F238E27FC236}">
                <a16:creationId xmlns:a16="http://schemas.microsoft.com/office/drawing/2014/main" id="{8BD6B467-A59D-4C3D-A6C5-90AAC8892DC8}"/>
              </a:ext>
            </a:extLst>
          </p:cNvPr>
          <p:cNvSpPr txBox="1">
            <a:spLocks noChangeArrowheads="1"/>
          </p:cNvSpPr>
          <p:nvPr/>
        </p:nvSpPr>
        <p:spPr bwMode="auto">
          <a:xfrm>
            <a:off x="3000375" y="3514725"/>
            <a:ext cx="5743575"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r>
              <a:rPr sz="3600">
                <a:latin typeface="Impact"/>
                <a:ea typeface="微软雅黑"/>
              </a:rPr>
              <a:t>04    决策树</a:t>
            </a:r>
          </a:p>
        </p:txBody>
      </p:sp>
    </p:spTree>
  </p:cSld>
  <p:clrMapOvr>
    <a:masterClrMapping/>
  </p:clrMapOvr>
  <p:transition advTm="8005"/>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64D7DA9-EF80-4491-B746-377286CA1BC5}"/>
              </a:ext>
            </a:extLst>
          </p:cNvPr>
          <p:cNvSpPr>
            <a:spLocks noGrp="1"/>
          </p:cNvSpPr>
          <p:nvPr>
            <p:ph idx="1"/>
          </p:nvPr>
        </p:nvSpPr>
        <p:spPr>
          <a:xfrm>
            <a:off x="609600" y="1600200"/>
            <a:ext cx="4572000" cy="4524375"/>
          </a:xfrm>
        </p:spPr>
        <p:txBody>
          <a:bodyPr/>
          <a:lstStyle/>
          <a:p>
            <a:r>
              <a:rPr sz="2600">
                <a:latin typeface="+mj-ea"/>
                <a:ea typeface="+mj-ea"/>
              </a:rPr>
              <a:t>分类是监督学习的核心问题之一。在分类问题中，数据的输出属性是离散的。</a:t>
            </a:r>
          </a:p>
          <a:p>
            <a:r>
              <a:rPr sz="2600">
                <a:latin typeface="+mj-ea"/>
                <a:ea typeface="+mj-ea"/>
              </a:rPr>
              <a:t/>
            </a:r>
          </a:p>
          <a:p>
            <a:r>
              <a:rPr sz="2600">
                <a:latin typeface="+mj-ea"/>
                <a:ea typeface="+mj-ea"/>
              </a:rPr>
              <a:t>当分类的类别是两个时，为二分类问题；当分类的类别大于两个的时候，为多分类问题。</a:t>
            </a:r>
          </a:p>
        </p:txBody>
      </p:sp>
      <p:pic>
        <p:nvPicPr>
          <p:cNvPr id="1026" name="Picture 2" descr="https://img2.baidu.com/it/u=4183144409,347228652&amp;fm=253&amp;fmt=auto&amp;app=138&amp;f=JPEG?w=650&amp;h=32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80514" y="1950800"/>
            <a:ext cx="4019261" cy="2146187"/>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1.</a:t>
            </a:r>
            <a:r>
              <a:rPr lang="zh-CN" altLang="en-US" dirty="0">
                <a:solidFill>
                  <a:schemeClr val="tx1"/>
                </a:solidFill>
              </a:rPr>
              <a:t>前言</a:t>
            </a:r>
          </a:p>
        </p:txBody>
      </p:sp>
      <p:sp>
        <p:nvSpPr>
          <p:cNvPr id="4" name="TextBox 3"/>
          <p:cNvSpPr txBox="1"/>
          <p:nvPr/>
        </p:nvSpPr>
        <p:spPr>
          <a:xfrm>
            <a:off x="6905501" y="1471322"/>
            <a:ext cx="1415772" cy="461665"/>
          </a:xfrm>
          <a:prstGeom prst="rect">
            <a:avLst/>
          </a:prstGeom>
          <a:noFill/>
        </p:spPr>
        <p:txBody>
          <a:bodyPr wrap="none" rtlCol="0">
            <a:spAutoFit/>
          </a:bodyPr>
          <a:lstStyle/>
          <a:p>
            <a:r>
              <a:rPr lang="zh-CN" altLang="en-US" dirty="0"/>
              <a:t>邮件分类</a:t>
            </a:r>
          </a:p>
        </p:txBody>
      </p:sp>
      <p:sp>
        <p:nvSpPr>
          <p:cNvPr id="6" name="TextBox 5"/>
          <p:cNvSpPr txBox="1"/>
          <p:nvPr/>
        </p:nvSpPr>
        <p:spPr>
          <a:xfrm>
            <a:off x="7055246" y="4282526"/>
            <a:ext cx="1415772" cy="461665"/>
          </a:xfrm>
          <a:prstGeom prst="rect">
            <a:avLst/>
          </a:prstGeom>
          <a:noFill/>
        </p:spPr>
        <p:txBody>
          <a:bodyPr wrap="none" rtlCol="0">
            <a:spAutoFit/>
          </a:bodyPr>
          <a:lstStyle/>
          <a:p>
            <a:r>
              <a:rPr lang="zh-CN" altLang="en-US" dirty="0"/>
              <a:t>天气预测</a:t>
            </a:r>
          </a:p>
        </p:txBody>
      </p:sp>
      <p:pic>
        <p:nvPicPr>
          <p:cNvPr id="1028" name="Picture 4" descr="https://img2.baidu.com/it/u=20725568,3860382666&amp;fm=253&amp;fmt=auto&amp;app=138&amp;f=PNG?w=500&amp;h=50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88936" y="4214518"/>
            <a:ext cx="2381250" cy="2381250"/>
          </a:xfrm>
          <a:prstGeom prst="rect">
            <a:avLst/>
          </a:prstGeom>
          <a:noFill/>
          <a:extLst>
            <a:ext uri="{909E8E84-426E-40DD-AFC4-6F175D3DCCD1}">
              <a14:hiddenFill xmlns:a14="http://schemas.microsoft.com/office/drawing/2010/main">
                <a:solidFill>
                  <a:srgbClr val="FFFFFF"/>
                </a:solidFill>
              </a14:hiddenFill>
            </a:ext>
          </a:extLst>
        </p:spPr>
      </p:pic>
      <p:sp>
        <p:nvSpPr>
          <p:cNvPr id="9" name="圆角矩形标注 8"/>
          <p:cNvSpPr/>
          <p:nvPr/>
        </p:nvSpPr>
        <p:spPr>
          <a:xfrm>
            <a:off x="5289203" y="3023893"/>
            <a:ext cx="1892490" cy="764275"/>
          </a:xfrm>
          <a:prstGeom prst="wedgeRoundRectCallout">
            <a:avLst>
              <a:gd name="adj1" fmla="val -106638"/>
              <a:gd name="adj2" fmla="val -57274"/>
              <a:gd name="adj3" fmla="val 16667"/>
            </a:avLst>
          </a:prstGeom>
          <a:noFill/>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sz="3200" b="1" dirty="0">
                <a:solidFill>
                  <a:schemeClr val="tx1"/>
                </a:solidFill>
                <a:latin typeface="+mj-ea"/>
                <a:ea typeface="+mj-ea"/>
              </a:rPr>
              <a:t>标签离散</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1</a:t>
            </a:r>
            <a:r>
              <a:rPr lang="zh-CN" altLang="en-US" dirty="0"/>
              <a:t>、前言</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latin typeface="+mj-ea"/>
                    <a:ea typeface="+mj-ea"/>
                  </a:rPr>
                  <a:t>二分类问题：</a:t>
                </a:r>
                <a:r>
                  <a:rPr lang="zh-CN" altLang="zh-CN" dirty="0">
                    <a:latin typeface="+mj-ea"/>
                    <a:ea typeface="+mj-ea"/>
                  </a:rPr>
                  <a:t>在二分类问题中，预测输出变量只有两个值，一般情况下，我们用</a:t>
                </a:r>
                <a:r>
                  <a:rPr lang="en-US" altLang="zh-CN" dirty="0">
                    <a:latin typeface="+mj-ea"/>
                    <a:ea typeface="+mj-ea"/>
                  </a:rPr>
                  <a:t>0</a:t>
                </a:r>
                <a:r>
                  <a:rPr lang="zh-CN" altLang="zh-CN" dirty="0">
                    <a:latin typeface="+mj-ea"/>
                    <a:ea typeface="+mj-ea"/>
                  </a:rPr>
                  <a:t>来表示负类（注：有些书也用</a:t>
                </a:r>
                <a:r>
                  <a:rPr lang="en-US" altLang="zh-CN" dirty="0">
                    <a:latin typeface="+mj-ea"/>
                    <a:ea typeface="+mj-ea"/>
                  </a:rPr>
                  <a:t>-1</a:t>
                </a:r>
                <a:r>
                  <a:rPr lang="zh-CN" altLang="zh-CN" dirty="0">
                    <a:latin typeface="+mj-ea"/>
                    <a:ea typeface="+mj-ea"/>
                  </a:rPr>
                  <a:t>表示负类），用</a:t>
                </a:r>
                <a:r>
                  <a:rPr lang="en-US" altLang="zh-CN" dirty="0">
                    <a:latin typeface="+mj-ea"/>
                    <a:ea typeface="+mj-ea"/>
                  </a:rPr>
                  <a:t>+1</a:t>
                </a:r>
                <a:r>
                  <a:rPr lang="zh-CN" altLang="zh-CN" dirty="0">
                    <a:latin typeface="+mj-ea"/>
                    <a:ea typeface="+mj-ea"/>
                  </a:rPr>
                  <a:t>表示正类。对于这种二分类问题，我们只需要构建一个分类器即可。</a:t>
                </a:r>
                <a:endParaRPr lang="en-US" altLang="zh-CN" dirty="0">
                  <a:latin typeface="+mj-ea"/>
                  <a:ea typeface="+mj-ea"/>
                </a:endParaRPr>
              </a:p>
              <a:p>
                <a:endParaRPr lang="zh-CN" altLang="zh-CN" dirty="0">
                  <a:latin typeface="+mj-ea"/>
                  <a:ea typeface="+mj-ea"/>
                </a:endParaRPr>
              </a:p>
              <a:p>
                <a:r>
                  <a:rPr lang="zh-CN" altLang="zh-CN" dirty="0">
                    <a:latin typeface="+mj-ea"/>
                    <a:ea typeface="+mj-ea"/>
                  </a:rPr>
                  <a:t>多分类问题</a:t>
                </a:r>
                <a:r>
                  <a:rPr lang="zh-CN" altLang="en-US" dirty="0">
                    <a:latin typeface="+mj-ea"/>
                    <a:ea typeface="+mj-ea"/>
                  </a:rPr>
                  <a:t>：在多分类问题中，</a:t>
                </a:r>
                <a:r>
                  <a:rPr lang="zh-CN" altLang="zh-CN" dirty="0">
                    <a:latin typeface="+mj-ea"/>
                    <a:ea typeface="+mj-ea"/>
                  </a:rPr>
                  <a:t>输出预测变量则有多个值</a:t>
                </a:r>
                <a14:m>
                  <m:oMath xmlns:m="http://schemas.openxmlformats.org/officeDocument/2006/math">
                    <m:r>
                      <a:rPr lang="zh-CN" altLang="en-US" i="1">
                        <a:solidFill>
                          <a:srgbClr val="000000"/>
                        </a:solidFill>
                        <a:latin typeface="Cambria Math" panose="02040503050406030204" pitchFamily="18" charset="0"/>
                      </a:rPr>
                      <m:t>𝑦</m:t>
                    </m:r>
                    <m:r>
                      <a:rPr lang="zh-CN" altLang="en-US" i="1">
                        <a:solidFill>
                          <a:srgbClr val="000000"/>
                        </a:solidFill>
                        <a:latin typeface="Cambria Math" panose="02040503050406030204" pitchFamily="18" charset="0"/>
                      </a:rPr>
                      <m:t>={0,1,2,3,....}</m:t>
                    </m:r>
                  </m:oMath>
                </a14:m>
                <a:endParaRPr lang="zh-CN" altLang="en-US" dirty="0"/>
              </a:p>
              <a:p>
                <a:pPr marL="0" indent="0">
                  <a:buNone/>
                </a:pPr>
                <a:r>
                  <a:rPr lang="en-US" altLang="zh-CN" dirty="0">
                    <a:latin typeface="+mj-ea"/>
                    <a:ea typeface="+mj-ea"/>
                  </a:rPr>
                  <a:t>                  </a:t>
                </a:r>
                <a:endParaRPr lang="zh-CN" altLang="en-US" dirty="0">
                  <a:latin typeface="+mj-ea"/>
                  <a:ea typeface="+mj-ea"/>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1667" t="-3100" r="-1167"/>
                </a:stretch>
              </a:blipFill>
            </p:spPr>
            <p:txBody>
              <a:bodyPr/>
              <a:lstStyle/>
              <a:p>
                <a:r>
                  <a:rPr lang="zh-CN" altLang="en-US">
                    <a:noFill/>
                  </a:rPr>
                  <a:t> </a:t>
                </a:r>
              </a:p>
            </p:txBody>
          </p:sp>
        </mc:Fallback>
      </mc:AlternateContent>
      <p:sp>
        <p:nvSpPr>
          <p:cNvPr id="4" name="对象 3"/>
          <p:cNvSpPr txBox="1"/>
          <p:nvPr/>
        </p:nvSpPr>
        <p:spPr>
          <a:xfrm>
            <a:off x="1035708" y="4862946"/>
            <a:ext cx="2860289" cy="621802"/>
          </a:xfrm>
          <a:prstGeom prst="rect">
            <a:avLst/>
          </a:prstGeom>
        </p:spPr>
        <p:txBody>
          <a:bodyPr>
            <a:normAutofit/>
          </a:bodyPr>
          <a:lstStyle/>
          <a:p>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1.</a:t>
            </a:r>
            <a:r>
              <a:rPr lang="zh-CN" altLang="en-US" dirty="0"/>
              <a:t>前言</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527462" y="1358264"/>
                <a:ext cx="10972800" cy="4525963"/>
              </a:xfrm>
            </p:spPr>
            <p:txBody>
              <a:bodyPr/>
              <a:lstStyle/>
              <a:p>
                <a:r>
                  <a:rPr lang="zh-CN" altLang="zh-CN" dirty="0">
                    <a:latin typeface="+mj-ea"/>
                    <a:ea typeface="+mj-ea"/>
                  </a:rPr>
                  <a:t>“一对一”策略（</a:t>
                </a:r>
                <a:r>
                  <a:rPr lang="en-US" altLang="zh-CN" dirty="0">
                    <a:latin typeface="+mj-ea"/>
                    <a:ea typeface="+mj-ea"/>
                  </a:rPr>
                  <a:t>One vs. One</a:t>
                </a:r>
                <a:r>
                  <a:rPr lang="zh-CN" altLang="zh-CN" dirty="0">
                    <a:latin typeface="+mj-ea"/>
                    <a:ea typeface="+mj-ea"/>
                  </a:rPr>
                  <a:t>）</a:t>
                </a:r>
                <a:endParaRPr lang="en-US" altLang="zh-CN" dirty="0">
                  <a:latin typeface="+mj-ea"/>
                  <a:ea typeface="+mj-ea"/>
                </a:endParaRPr>
              </a:p>
              <a:p>
                <a:pPr lvl="1"/>
                <a:r>
                  <a:rPr lang="zh-CN" altLang="zh-CN" dirty="0">
                    <a:latin typeface="+mj-ea"/>
                    <a:ea typeface="+mj-ea"/>
                  </a:rPr>
                  <a:t>假定某个多分类问题中有</a:t>
                </a:r>
                <a:r>
                  <a:rPr lang="en-US" altLang="zh-CN" dirty="0">
                    <a:latin typeface="+mj-ea"/>
                    <a:ea typeface="+mj-ea"/>
                  </a:rPr>
                  <a:t>N</a:t>
                </a:r>
                <a:r>
                  <a:rPr lang="zh-CN" altLang="zh-CN" dirty="0">
                    <a:latin typeface="+mj-ea"/>
                    <a:ea typeface="+mj-ea"/>
                  </a:rPr>
                  <a:t>个类别，我们将这</a:t>
                </a:r>
                <a:r>
                  <a:rPr lang="en-US" altLang="zh-CN" dirty="0">
                    <a:latin typeface="+mj-ea"/>
                    <a:ea typeface="+mj-ea"/>
                  </a:rPr>
                  <a:t> </a:t>
                </a:r>
                <a:r>
                  <a:rPr lang="zh-CN" altLang="zh-CN" dirty="0">
                    <a:latin typeface="+mj-ea"/>
                    <a:ea typeface="+mj-ea"/>
                  </a:rPr>
                  <a:t>个类别进行两两配对，就可以将该多分类问题转换成为</a:t>
                </a:r>
                <a14:m>
                  <m:oMath xmlns:m="http://schemas.openxmlformats.org/officeDocument/2006/math">
                    <m:d>
                      <m:dPr>
                        <m:ctrlPr>
                          <a:rPr lang="en-US" altLang="zh-CN" i="1" smtClean="0">
                            <a:latin typeface="Cambria Math" panose="02040503050406030204" pitchFamily="18" charset="0"/>
                            <a:ea typeface="+mj-ea"/>
                          </a:rPr>
                        </m:ctrlPr>
                      </m:dPr>
                      <m:e>
                        <m:f>
                          <m:fPr>
                            <m:type m:val="noBar"/>
                            <m:ctrlPr>
                              <a:rPr lang="en-US" altLang="zh-CN" b="0" i="1" smtClean="0">
                                <a:latin typeface="Cambria Math" panose="02040503050406030204"/>
                                <a:ea typeface="+mj-ea"/>
                              </a:rPr>
                            </m:ctrlPr>
                          </m:fPr>
                          <m:num>
                            <m:r>
                              <a:rPr lang="en-US" altLang="zh-CN" b="0" i="1" smtClean="0">
                                <a:latin typeface="Cambria Math" panose="02040503050406030204"/>
                                <a:ea typeface="+mj-ea"/>
                              </a:rPr>
                              <m:t>𝑁</m:t>
                            </m:r>
                          </m:num>
                          <m:den>
                            <m:r>
                              <a:rPr lang="en-US" altLang="zh-CN" b="0" i="1" smtClean="0">
                                <a:latin typeface="Cambria Math" panose="02040503050406030204"/>
                                <a:ea typeface="+mj-ea"/>
                              </a:rPr>
                              <m:t>2</m:t>
                            </m:r>
                          </m:den>
                        </m:f>
                      </m:e>
                    </m:d>
                  </m:oMath>
                </a14:m>
                <a:r>
                  <a:rPr lang="en-US" altLang="zh-CN" dirty="0">
                    <a:latin typeface="+mj-ea"/>
                    <a:ea typeface="+mj-ea"/>
                  </a:rPr>
                  <a:t> </a:t>
                </a:r>
                <a:r>
                  <a:rPr lang="zh-CN" altLang="zh-CN" dirty="0">
                    <a:latin typeface="+mj-ea"/>
                    <a:ea typeface="+mj-ea"/>
                  </a:rPr>
                  <a:t>个二分类问题。</a:t>
                </a:r>
                <a:endParaRPr lang="zh-CN" altLang="en-US" dirty="0">
                  <a:latin typeface="+mj-ea"/>
                  <a:ea typeface="+mj-ea"/>
                </a:endParaRPr>
              </a:p>
            </p:txBody>
          </p:sp>
        </mc:Choice>
        <mc:Fallback xmlns="">
          <p:sp>
            <p:nvSpPr>
              <p:cNvPr id="3" name="内容占位符 2"/>
              <p:cNvSpPr>
                <a:spLocks noRot="1" noChangeAspect="1" noMove="1" noResize="1" noEditPoints="1" noAdjustHandles="1" noChangeArrowheads="1" noChangeShapeType="1" noTextEdit="1"/>
              </p:cNvSpPr>
              <p:nvPr>
                <p:ph idx="1"/>
              </p:nvPr>
            </p:nvSpPr>
            <p:spPr>
              <a:xfrm>
                <a:off x="527462" y="1358264"/>
                <a:ext cx="10972800" cy="4525963"/>
              </a:xfrm>
              <a:blipFill rotWithShape="1">
                <a:blip r:embed="rId2"/>
                <a:stretch>
                  <a:fillRect l="-4" t="-14" r="4" b="7"/>
                </a:stretch>
              </a:blipFill>
            </p:spPr>
            <p:txBody>
              <a:bodyPr/>
              <a:lstStyle/>
              <a:p>
                <a:r>
                  <a:rPr lang="zh-CN" altLang="en-US">
                    <a:noFill/>
                  </a:rPr>
                  <a:t> </a:t>
                </a:r>
              </a:p>
            </p:txBody>
          </p:sp>
        </mc:Fallback>
      </mc:AlternateContent>
      <p:sp>
        <p:nvSpPr>
          <p:cNvPr id="4" name="矩形 3"/>
          <p:cNvSpPr/>
          <p:nvPr/>
        </p:nvSpPr>
        <p:spPr>
          <a:xfrm>
            <a:off x="1745672" y="3063818"/>
            <a:ext cx="742208" cy="3503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类别</a:t>
            </a:r>
            <a:r>
              <a:rPr lang="en-US" altLang="zh-CN" sz="1600" dirty="0">
                <a:solidFill>
                  <a:schemeClr val="tx1"/>
                </a:solidFill>
              </a:rPr>
              <a:t>1</a:t>
            </a:r>
            <a:endParaRPr lang="zh-CN" altLang="en-US" sz="1600" dirty="0">
              <a:solidFill>
                <a:schemeClr val="tx1"/>
              </a:solidFill>
            </a:endParaRPr>
          </a:p>
        </p:txBody>
      </p:sp>
      <p:sp>
        <p:nvSpPr>
          <p:cNvPr id="5" name="矩形 4"/>
          <p:cNvSpPr/>
          <p:nvPr/>
        </p:nvSpPr>
        <p:spPr>
          <a:xfrm>
            <a:off x="2729345" y="3066787"/>
            <a:ext cx="742208" cy="350322"/>
          </a:xfrm>
          <a:prstGeom prst="rect">
            <a:avLst/>
          </a:prstGeom>
          <a:solidFill>
            <a:srgbClr val="0066CC">
              <a:alpha val="53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类别</a:t>
            </a:r>
            <a:r>
              <a:rPr lang="en-US" altLang="zh-CN" sz="1600" dirty="0">
                <a:solidFill>
                  <a:schemeClr val="tx1"/>
                </a:solidFill>
              </a:rPr>
              <a:t>2</a:t>
            </a:r>
            <a:endParaRPr lang="zh-CN" altLang="en-US" sz="1600" dirty="0">
              <a:solidFill>
                <a:schemeClr val="tx1"/>
              </a:solidFill>
            </a:endParaRPr>
          </a:p>
        </p:txBody>
      </p:sp>
      <p:sp>
        <p:nvSpPr>
          <p:cNvPr id="6" name="矩形 5"/>
          <p:cNvSpPr/>
          <p:nvPr/>
        </p:nvSpPr>
        <p:spPr>
          <a:xfrm>
            <a:off x="3703122" y="3066787"/>
            <a:ext cx="742208" cy="350322"/>
          </a:xfrm>
          <a:prstGeom prst="rect">
            <a:avLst/>
          </a:prstGeom>
          <a:solidFill>
            <a:srgbClr val="00B050">
              <a:alpha val="26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类别</a:t>
            </a:r>
            <a:r>
              <a:rPr lang="en-US" altLang="zh-CN" sz="1600" dirty="0">
                <a:solidFill>
                  <a:schemeClr val="tx1"/>
                </a:solidFill>
              </a:rPr>
              <a:t>3</a:t>
            </a:r>
            <a:endParaRPr lang="zh-CN" altLang="en-US" sz="1600" dirty="0">
              <a:solidFill>
                <a:schemeClr val="tx1"/>
              </a:solidFill>
            </a:endParaRPr>
          </a:p>
        </p:txBody>
      </p:sp>
      <p:sp>
        <p:nvSpPr>
          <p:cNvPr id="7" name="矩形 6"/>
          <p:cNvSpPr/>
          <p:nvPr/>
        </p:nvSpPr>
        <p:spPr>
          <a:xfrm>
            <a:off x="4668982" y="3062829"/>
            <a:ext cx="742208" cy="350322"/>
          </a:xfrm>
          <a:prstGeom prst="rect">
            <a:avLst/>
          </a:prstGeom>
          <a:solidFill>
            <a:srgbClr val="FF0000">
              <a:alpha val="26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类别</a:t>
            </a:r>
            <a:r>
              <a:rPr lang="en-US" altLang="zh-CN" sz="1600" dirty="0">
                <a:solidFill>
                  <a:schemeClr val="tx1"/>
                </a:solidFill>
              </a:rPr>
              <a:t>4</a:t>
            </a:r>
            <a:endParaRPr lang="zh-CN" altLang="en-US" sz="1600" dirty="0">
              <a:solidFill>
                <a:schemeClr val="tx1"/>
              </a:solidFill>
            </a:endParaRPr>
          </a:p>
        </p:txBody>
      </p:sp>
      <p:sp>
        <p:nvSpPr>
          <p:cNvPr id="8" name="矩形 7"/>
          <p:cNvSpPr/>
          <p:nvPr/>
        </p:nvSpPr>
        <p:spPr>
          <a:xfrm>
            <a:off x="900545" y="3714982"/>
            <a:ext cx="742208" cy="3503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类别</a:t>
            </a:r>
            <a:r>
              <a:rPr lang="en-US" altLang="zh-CN" sz="1600" dirty="0">
                <a:solidFill>
                  <a:schemeClr val="tx1"/>
                </a:solidFill>
              </a:rPr>
              <a:t>1</a:t>
            </a:r>
            <a:endParaRPr lang="zh-CN" altLang="en-US" sz="1600" dirty="0">
              <a:solidFill>
                <a:schemeClr val="tx1"/>
              </a:solidFill>
            </a:endParaRPr>
          </a:p>
        </p:txBody>
      </p:sp>
      <p:sp>
        <p:nvSpPr>
          <p:cNvPr id="9" name="矩形 8"/>
          <p:cNvSpPr/>
          <p:nvPr/>
        </p:nvSpPr>
        <p:spPr>
          <a:xfrm>
            <a:off x="1820883" y="3716962"/>
            <a:ext cx="742208" cy="3503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类别</a:t>
            </a:r>
            <a:r>
              <a:rPr lang="en-US" altLang="zh-CN" sz="1600" dirty="0">
                <a:solidFill>
                  <a:schemeClr val="tx1"/>
                </a:solidFill>
              </a:rPr>
              <a:t>1</a:t>
            </a:r>
            <a:endParaRPr lang="zh-CN" altLang="en-US" sz="1600" dirty="0">
              <a:solidFill>
                <a:schemeClr val="tx1"/>
              </a:solidFill>
            </a:endParaRPr>
          </a:p>
        </p:txBody>
      </p:sp>
      <p:sp>
        <p:nvSpPr>
          <p:cNvPr id="10" name="矩形 9"/>
          <p:cNvSpPr/>
          <p:nvPr/>
        </p:nvSpPr>
        <p:spPr>
          <a:xfrm>
            <a:off x="2742210" y="3716962"/>
            <a:ext cx="742208" cy="3503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类别</a:t>
            </a:r>
            <a:r>
              <a:rPr lang="en-US" altLang="zh-CN" sz="1600" dirty="0">
                <a:solidFill>
                  <a:schemeClr val="tx1"/>
                </a:solidFill>
              </a:rPr>
              <a:t>1</a:t>
            </a:r>
            <a:endParaRPr lang="zh-CN" altLang="en-US" sz="1600" dirty="0">
              <a:solidFill>
                <a:schemeClr val="tx1"/>
              </a:solidFill>
            </a:endParaRPr>
          </a:p>
        </p:txBody>
      </p:sp>
      <p:sp>
        <p:nvSpPr>
          <p:cNvPr id="11" name="矩形 10"/>
          <p:cNvSpPr/>
          <p:nvPr/>
        </p:nvSpPr>
        <p:spPr>
          <a:xfrm>
            <a:off x="900545" y="4231558"/>
            <a:ext cx="742208" cy="350322"/>
          </a:xfrm>
          <a:prstGeom prst="rect">
            <a:avLst/>
          </a:prstGeom>
          <a:solidFill>
            <a:srgbClr val="0066CC">
              <a:alpha val="53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类别</a:t>
            </a:r>
            <a:r>
              <a:rPr lang="en-US" altLang="zh-CN" sz="1600" dirty="0">
                <a:solidFill>
                  <a:schemeClr val="tx1"/>
                </a:solidFill>
              </a:rPr>
              <a:t>2</a:t>
            </a:r>
            <a:endParaRPr lang="zh-CN" altLang="en-US" sz="1600" dirty="0">
              <a:solidFill>
                <a:schemeClr val="tx1"/>
              </a:solidFill>
            </a:endParaRPr>
          </a:p>
        </p:txBody>
      </p:sp>
      <p:sp>
        <p:nvSpPr>
          <p:cNvPr id="12" name="矩形 11"/>
          <p:cNvSpPr/>
          <p:nvPr/>
        </p:nvSpPr>
        <p:spPr>
          <a:xfrm>
            <a:off x="3703122" y="3714982"/>
            <a:ext cx="742208" cy="350322"/>
          </a:xfrm>
          <a:prstGeom prst="rect">
            <a:avLst/>
          </a:prstGeom>
          <a:solidFill>
            <a:srgbClr val="0066CC">
              <a:alpha val="53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类别</a:t>
            </a:r>
            <a:r>
              <a:rPr lang="en-US" altLang="zh-CN" sz="1600" dirty="0">
                <a:solidFill>
                  <a:schemeClr val="tx1"/>
                </a:solidFill>
              </a:rPr>
              <a:t>2</a:t>
            </a:r>
            <a:endParaRPr lang="zh-CN" altLang="en-US" sz="1600" dirty="0">
              <a:solidFill>
                <a:schemeClr val="tx1"/>
              </a:solidFill>
            </a:endParaRPr>
          </a:p>
        </p:txBody>
      </p:sp>
      <p:sp>
        <p:nvSpPr>
          <p:cNvPr id="13" name="矩形 12"/>
          <p:cNvSpPr/>
          <p:nvPr/>
        </p:nvSpPr>
        <p:spPr>
          <a:xfrm>
            <a:off x="4668982" y="3709045"/>
            <a:ext cx="742208" cy="350322"/>
          </a:xfrm>
          <a:prstGeom prst="rect">
            <a:avLst/>
          </a:prstGeom>
          <a:solidFill>
            <a:srgbClr val="0066CC">
              <a:alpha val="53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类别</a:t>
            </a:r>
            <a:r>
              <a:rPr lang="en-US" altLang="zh-CN" sz="1600" dirty="0">
                <a:solidFill>
                  <a:schemeClr val="tx1"/>
                </a:solidFill>
              </a:rPr>
              <a:t>2</a:t>
            </a:r>
            <a:endParaRPr lang="zh-CN" altLang="en-US" sz="1600" dirty="0">
              <a:solidFill>
                <a:schemeClr val="tx1"/>
              </a:solidFill>
            </a:endParaRPr>
          </a:p>
        </p:txBody>
      </p:sp>
      <p:sp>
        <p:nvSpPr>
          <p:cNvPr id="14" name="矩形 13"/>
          <p:cNvSpPr/>
          <p:nvPr/>
        </p:nvSpPr>
        <p:spPr>
          <a:xfrm>
            <a:off x="1820883" y="4231558"/>
            <a:ext cx="742208" cy="350322"/>
          </a:xfrm>
          <a:prstGeom prst="rect">
            <a:avLst/>
          </a:prstGeom>
          <a:solidFill>
            <a:srgbClr val="00B050">
              <a:alpha val="26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类别</a:t>
            </a:r>
            <a:r>
              <a:rPr lang="en-US" altLang="zh-CN" sz="1600" dirty="0">
                <a:solidFill>
                  <a:schemeClr val="tx1"/>
                </a:solidFill>
              </a:rPr>
              <a:t>3</a:t>
            </a:r>
            <a:endParaRPr lang="zh-CN" altLang="en-US" sz="1600" dirty="0">
              <a:solidFill>
                <a:schemeClr val="tx1"/>
              </a:solidFill>
            </a:endParaRPr>
          </a:p>
        </p:txBody>
      </p:sp>
      <p:sp>
        <p:nvSpPr>
          <p:cNvPr id="15" name="矩形 14"/>
          <p:cNvSpPr/>
          <p:nvPr/>
        </p:nvSpPr>
        <p:spPr>
          <a:xfrm>
            <a:off x="3703122" y="4232548"/>
            <a:ext cx="742208" cy="350322"/>
          </a:xfrm>
          <a:prstGeom prst="rect">
            <a:avLst/>
          </a:prstGeom>
          <a:solidFill>
            <a:srgbClr val="00B050">
              <a:alpha val="26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类别</a:t>
            </a:r>
            <a:r>
              <a:rPr lang="en-US" altLang="zh-CN" sz="1600" dirty="0">
                <a:solidFill>
                  <a:schemeClr val="tx1"/>
                </a:solidFill>
              </a:rPr>
              <a:t>3</a:t>
            </a:r>
            <a:endParaRPr lang="zh-CN" altLang="en-US" sz="1600" dirty="0">
              <a:solidFill>
                <a:schemeClr val="tx1"/>
              </a:solidFill>
            </a:endParaRPr>
          </a:p>
        </p:txBody>
      </p:sp>
      <p:sp>
        <p:nvSpPr>
          <p:cNvPr id="16" name="矩形 15"/>
          <p:cNvSpPr/>
          <p:nvPr/>
        </p:nvSpPr>
        <p:spPr>
          <a:xfrm>
            <a:off x="5642758" y="3709045"/>
            <a:ext cx="742208" cy="350322"/>
          </a:xfrm>
          <a:prstGeom prst="rect">
            <a:avLst/>
          </a:prstGeom>
          <a:solidFill>
            <a:srgbClr val="00B050">
              <a:alpha val="26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类别</a:t>
            </a:r>
            <a:r>
              <a:rPr lang="en-US" altLang="zh-CN" sz="1600" dirty="0">
                <a:solidFill>
                  <a:schemeClr val="tx1"/>
                </a:solidFill>
              </a:rPr>
              <a:t>3</a:t>
            </a:r>
            <a:endParaRPr lang="zh-CN" altLang="en-US" sz="1600" dirty="0">
              <a:solidFill>
                <a:schemeClr val="tx1"/>
              </a:solidFill>
            </a:endParaRPr>
          </a:p>
        </p:txBody>
      </p:sp>
      <p:sp>
        <p:nvSpPr>
          <p:cNvPr id="17" name="矩形 16"/>
          <p:cNvSpPr/>
          <p:nvPr/>
        </p:nvSpPr>
        <p:spPr>
          <a:xfrm>
            <a:off x="5642758" y="4254317"/>
            <a:ext cx="742208" cy="350322"/>
          </a:xfrm>
          <a:prstGeom prst="rect">
            <a:avLst/>
          </a:prstGeom>
          <a:solidFill>
            <a:srgbClr val="FF0000">
              <a:alpha val="26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类别</a:t>
            </a:r>
            <a:r>
              <a:rPr lang="en-US" altLang="zh-CN" sz="1600" dirty="0">
                <a:solidFill>
                  <a:schemeClr val="tx1"/>
                </a:solidFill>
              </a:rPr>
              <a:t>4</a:t>
            </a:r>
            <a:endParaRPr lang="zh-CN" altLang="en-US" sz="1600" dirty="0">
              <a:solidFill>
                <a:schemeClr val="tx1"/>
              </a:solidFill>
            </a:endParaRPr>
          </a:p>
        </p:txBody>
      </p:sp>
      <p:sp>
        <p:nvSpPr>
          <p:cNvPr id="18" name="矩形 17"/>
          <p:cNvSpPr/>
          <p:nvPr/>
        </p:nvSpPr>
        <p:spPr>
          <a:xfrm>
            <a:off x="4668982" y="4247393"/>
            <a:ext cx="742208" cy="350322"/>
          </a:xfrm>
          <a:prstGeom prst="rect">
            <a:avLst/>
          </a:prstGeom>
          <a:solidFill>
            <a:srgbClr val="FF0000">
              <a:alpha val="26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类别</a:t>
            </a:r>
            <a:r>
              <a:rPr lang="en-US" altLang="zh-CN" sz="1600" dirty="0">
                <a:solidFill>
                  <a:schemeClr val="tx1"/>
                </a:solidFill>
              </a:rPr>
              <a:t>4</a:t>
            </a:r>
            <a:endParaRPr lang="zh-CN" altLang="en-US" sz="1600" dirty="0">
              <a:solidFill>
                <a:schemeClr val="tx1"/>
              </a:solidFill>
            </a:endParaRPr>
          </a:p>
        </p:txBody>
      </p:sp>
      <p:sp>
        <p:nvSpPr>
          <p:cNvPr id="19" name="矩形 18"/>
          <p:cNvSpPr/>
          <p:nvPr/>
        </p:nvSpPr>
        <p:spPr>
          <a:xfrm>
            <a:off x="2769919" y="4254317"/>
            <a:ext cx="742208" cy="350322"/>
          </a:xfrm>
          <a:prstGeom prst="rect">
            <a:avLst/>
          </a:prstGeom>
          <a:solidFill>
            <a:srgbClr val="FF0000">
              <a:alpha val="26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类别</a:t>
            </a:r>
            <a:r>
              <a:rPr lang="en-US" altLang="zh-CN" sz="1600" dirty="0">
                <a:solidFill>
                  <a:schemeClr val="tx1"/>
                </a:solidFill>
              </a:rPr>
              <a:t>4</a:t>
            </a:r>
            <a:endParaRPr lang="zh-CN" altLang="en-US" sz="1600" dirty="0">
              <a:solidFill>
                <a:schemeClr val="tx1"/>
              </a:solidFill>
            </a:endParaRPr>
          </a:p>
        </p:txBody>
      </p:sp>
      <p:cxnSp>
        <p:nvCxnSpPr>
          <p:cNvPr id="21" name="直接箭头连接符 20"/>
          <p:cNvCxnSpPr>
            <a:stCxn id="4" idx="2"/>
            <a:endCxn id="8" idx="0"/>
          </p:cNvCxnSpPr>
          <p:nvPr/>
        </p:nvCxnSpPr>
        <p:spPr>
          <a:xfrm flipH="1">
            <a:off x="1271649" y="3414140"/>
            <a:ext cx="845127" cy="30084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a:stCxn id="4" idx="2"/>
            <a:endCxn id="9" idx="0"/>
          </p:cNvCxnSpPr>
          <p:nvPr/>
        </p:nvCxnSpPr>
        <p:spPr>
          <a:xfrm>
            <a:off x="2116776" y="3414140"/>
            <a:ext cx="75211" cy="30282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a:stCxn id="4" idx="2"/>
            <a:endCxn id="10" idx="0"/>
          </p:cNvCxnSpPr>
          <p:nvPr/>
        </p:nvCxnSpPr>
        <p:spPr>
          <a:xfrm>
            <a:off x="2116776" y="3414140"/>
            <a:ext cx="996538" cy="30282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a:stCxn id="5" idx="2"/>
            <a:endCxn id="8" idx="0"/>
          </p:cNvCxnSpPr>
          <p:nvPr/>
        </p:nvCxnSpPr>
        <p:spPr>
          <a:xfrm flipH="1">
            <a:off x="1271649" y="3417109"/>
            <a:ext cx="1828800" cy="29787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a:stCxn id="5" idx="2"/>
            <a:endCxn id="12" idx="0"/>
          </p:cNvCxnSpPr>
          <p:nvPr/>
        </p:nvCxnSpPr>
        <p:spPr>
          <a:xfrm>
            <a:off x="3100449" y="3417109"/>
            <a:ext cx="973777" cy="29787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a:stCxn id="5" idx="2"/>
            <a:endCxn id="13" idx="0"/>
          </p:cNvCxnSpPr>
          <p:nvPr/>
        </p:nvCxnSpPr>
        <p:spPr>
          <a:xfrm>
            <a:off x="3100449" y="3417109"/>
            <a:ext cx="1939637" cy="291936"/>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a:stCxn id="6" idx="2"/>
            <a:endCxn id="9" idx="0"/>
          </p:cNvCxnSpPr>
          <p:nvPr/>
        </p:nvCxnSpPr>
        <p:spPr>
          <a:xfrm flipH="1">
            <a:off x="2191987" y="3417109"/>
            <a:ext cx="1882239" cy="29985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a:stCxn id="6" idx="2"/>
            <a:endCxn id="12" idx="0"/>
          </p:cNvCxnSpPr>
          <p:nvPr/>
        </p:nvCxnSpPr>
        <p:spPr>
          <a:xfrm>
            <a:off x="4074226" y="3417109"/>
            <a:ext cx="0" cy="29787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a:stCxn id="6" idx="2"/>
            <a:endCxn id="16" idx="0"/>
          </p:cNvCxnSpPr>
          <p:nvPr/>
        </p:nvCxnSpPr>
        <p:spPr>
          <a:xfrm>
            <a:off x="4074226" y="3417109"/>
            <a:ext cx="1939636" cy="291936"/>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9" name="直接箭头连接符 48"/>
          <p:cNvCxnSpPr>
            <a:stCxn id="7" idx="2"/>
            <a:endCxn id="10" idx="0"/>
          </p:cNvCxnSpPr>
          <p:nvPr/>
        </p:nvCxnSpPr>
        <p:spPr>
          <a:xfrm flipH="1">
            <a:off x="3113314" y="3413151"/>
            <a:ext cx="1926772" cy="30381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2" name="直接箭头连接符 51"/>
          <p:cNvCxnSpPr>
            <a:stCxn id="7" idx="2"/>
            <a:endCxn id="13" idx="0"/>
          </p:cNvCxnSpPr>
          <p:nvPr/>
        </p:nvCxnSpPr>
        <p:spPr>
          <a:xfrm>
            <a:off x="5040086" y="3413151"/>
            <a:ext cx="0" cy="2958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5" name="直接箭头连接符 54"/>
          <p:cNvCxnSpPr>
            <a:stCxn id="7" idx="2"/>
            <a:endCxn id="16" idx="0"/>
          </p:cNvCxnSpPr>
          <p:nvPr/>
        </p:nvCxnSpPr>
        <p:spPr>
          <a:xfrm>
            <a:off x="5040086" y="3413151"/>
            <a:ext cx="973776" cy="2958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8" name="矩形 57"/>
          <p:cNvSpPr/>
          <p:nvPr/>
        </p:nvSpPr>
        <p:spPr>
          <a:xfrm>
            <a:off x="6986662" y="3703108"/>
            <a:ext cx="742208" cy="35032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rPr>
              <a:t>正类</a:t>
            </a:r>
          </a:p>
        </p:txBody>
      </p:sp>
      <p:sp>
        <p:nvSpPr>
          <p:cNvPr id="59" name="矩形 58"/>
          <p:cNvSpPr/>
          <p:nvPr/>
        </p:nvSpPr>
        <p:spPr>
          <a:xfrm>
            <a:off x="6986662" y="4263229"/>
            <a:ext cx="742208" cy="350322"/>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rPr>
              <a:t>负类</a:t>
            </a:r>
          </a:p>
        </p:txBody>
      </p:sp>
      <p:sp>
        <p:nvSpPr>
          <p:cNvPr id="60" name="右箭头 59"/>
          <p:cNvSpPr/>
          <p:nvPr/>
        </p:nvSpPr>
        <p:spPr>
          <a:xfrm>
            <a:off x="6515594" y="3662674"/>
            <a:ext cx="391886" cy="484632"/>
          </a:xfrm>
          <a:prstGeom prst="rightArrow">
            <a:avLst/>
          </a:prstGeom>
          <a:solidFill>
            <a:srgbClr val="FFFF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右箭头 60"/>
          <p:cNvSpPr/>
          <p:nvPr/>
        </p:nvSpPr>
        <p:spPr>
          <a:xfrm>
            <a:off x="6515594" y="4229581"/>
            <a:ext cx="391886" cy="484632"/>
          </a:xfrm>
          <a:prstGeom prst="rightArrow">
            <a:avLst/>
          </a:prstGeom>
          <a:solidFill>
            <a:srgbClr val="FFFF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右箭头 61"/>
          <p:cNvSpPr/>
          <p:nvPr/>
        </p:nvSpPr>
        <p:spPr>
          <a:xfrm rot="10800000">
            <a:off x="6670673" y="5028696"/>
            <a:ext cx="555495"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TextBox 62"/>
          <p:cNvSpPr txBox="1"/>
          <p:nvPr/>
        </p:nvSpPr>
        <p:spPr>
          <a:xfrm>
            <a:off x="7226168" y="5139348"/>
            <a:ext cx="1005403" cy="338554"/>
          </a:xfrm>
          <a:prstGeom prst="rect">
            <a:avLst/>
          </a:prstGeom>
          <a:noFill/>
        </p:spPr>
        <p:txBody>
          <a:bodyPr wrap="none" rtlCol="0">
            <a:spAutoFit/>
          </a:bodyPr>
          <a:lstStyle/>
          <a:p>
            <a:r>
              <a:rPr lang="zh-CN" altLang="en-US" sz="1600" dirty="0"/>
              <a:t>测试数据</a:t>
            </a:r>
          </a:p>
        </p:txBody>
      </p:sp>
      <p:sp>
        <p:nvSpPr>
          <p:cNvPr id="64" name="矩形 63"/>
          <p:cNvSpPr/>
          <p:nvPr/>
        </p:nvSpPr>
        <p:spPr>
          <a:xfrm>
            <a:off x="900545" y="5120250"/>
            <a:ext cx="742208" cy="350322"/>
          </a:xfrm>
          <a:prstGeom prst="rect">
            <a:avLst/>
          </a:prstGeom>
          <a:solidFill>
            <a:srgbClr val="DFF1F2">
              <a:alpha val="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分类器</a:t>
            </a:r>
            <a:r>
              <a:rPr lang="en-US" altLang="zh-CN" sz="1200" dirty="0">
                <a:solidFill>
                  <a:schemeClr val="tx1"/>
                </a:solidFill>
              </a:rPr>
              <a:t>1</a:t>
            </a:r>
            <a:endParaRPr lang="zh-CN" altLang="en-US" sz="1200" dirty="0">
              <a:solidFill>
                <a:schemeClr val="tx1"/>
              </a:solidFill>
            </a:endParaRPr>
          </a:p>
        </p:txBody>
      </p:sp>
      <p:sp>
        <p:nvSpPr>
          <p:cNvPr id="65" name="矩形 64"/>
          <p:cNvSpPr/>
          <p:nvPr/>
        </p:nvSpPr>
        <p:spPr>
          <a:xfrm>
            <a:off x="1820883" y="5120110"/>
            <a:ext cx="742208" cy="350322"/>
          </a:xfrm>
          <a:prstGeom prst="rect">
            <a:avLst/>
          </a:prstGeom>
          <a:solidFill>
            <a:srgbClr val="DFF1F2">
              <a:alpha val="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分类器</a:t>
            </a:r>
            <a:r>
              <a:rPr lang="en-US" altLang="zh-CN" sz="1200" dirty="0">
                <a:solidFill>
                  <a:schemeClr val="tx1"/>
                </a:solidFill>
              </a:rPr>
              <a:t>2</a:t>
            </a:r>
            <a:endParaRPr lang="zh-CN" altLang="en-US" sz="1200" dirty="0">
              <a:solidFill>
                <a:schemeClr val="tx1"/>
              </a:solidFill>
            </a:endParaRPr>
          </a:p>
        </p:txBody>
      </p:sp>
      <p:sp>
        <p:nvSpPr>
          <p:cNvPr id="66" name="矩形 65"/>
          <p:cNvSpPr/>
          <p:nvPr/>
        </p:nvSpPr>
        <p:spPr>
          <a:xfrm>
            <a:off x="2741220" y="5120250"/>
            <a:ext cx="742208" cy="350322"/>
          </a:xfrm>
          <a:prstGeom prst="rect">
            <a:avLst/>
          </a:prstGeom>
          <a:solidFill>
            <a:srgbClr val="DFF1F2">
              <a:alpha val="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分类器</a:t>
            </a:r>
            <a:r>
              <a:rPr lang="en-US" altLang="zh-CN" sz="1200" dirty="0">
                <a:solidFill>
                  <a:schemeClr val="tx1"/>
                </a:solidFill>
              </a:rPr>
              <a:t>3</a:t>
            </a:r>
            <a:endParaRPr lang="zh-CN" altLang="en-US" sz="1200" dirty="0">
              <a:solidFill>
                <a:schemeClr val="tx1"/>
              </a:solidFill>
            </a:endParaRPr>
          </a:p>
        </p:txBody>
      </p:sp>
      <p:sp>
        <p:nvSpPr>
          <p:cNvPr id="67" name="矩形 66"/>
          <p:cNvSpPr/>
          <p:nvPr/>
        </p:nvSpPr>
        <p:spPr>
          <a:xfrm>
            <a:off x="3705596" y="5120250"/>
            <a:ext cx="742208" cy="350322"/>
          </a:xfrm>
          <a:prstGeom prst="rect">
            <a:avLst/>
          </a:prstGeom>
          <a:solidFill>
            <a:srgbClr val="DFF1F2">
              <a:alpha val="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分类器</a:t>
            </a:r>
            <a:r>
              <a:rPr lang="en-US" altLang="zh-CN" sz="1200" dirty="0">
                <a:solidFill>
                  <a:schemeClr val="tx1"/>
                </a:solidFill>
              </a:rPr>
              <a:t>4</a:t>
            </a:r>
            <a:endParaRPr lang="zh-CN" altLang="en-US" sz="1200" dirty="0">
              <a:solidFill>
                <a:schemeClr val="tx1"/>
              </a:solidFill>
            </a:endParaRPr>
          </a:p>
        </p:txBody>
      </p:sp>
      <p:sp>
        <p:nvSpPr>
          <p:cNvPr id="68" name="矩形 67"/>
          <p:cNvSpPr/>
          <p:nvPr/>
        </p:nvSpPr>
        <p:spPr>
          <a:xfrm>
            <a:off x="4668982" y="5120250"/>
            <a:ext cx="742208" cy="350322"/>
          </a:xfrm>
          <a:prstGeom prst="rect">
            <a:avLst/>
          </a:prstGeom>
          <a:solidFill>
            <a:srgbClr val="DFF1F2">
              <a:alpha val="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分类器</a:t>
            </a:r>
            <a:r>
              <a:rPr lang="en-US" altLang="zh-CN" sz="1200" dirty="0">
                <a:solidFill>
                  <a:schemeClr val="tx1"/>
                </a:solidFill>
              </a:rPr>
              <a:t>5</a:t>
            </a:r>
            <a:endParaRPr lang="zh-CN" altLang="en-US" sz="1200" dirty="0">
              <a:solidFill>
                <a:schemeClr val="tx1"/>
              </a:solidFill>
            </a:endParaRPr>
          </a:p>
        </p:txBody>
      </p:sp>
      <p:sp>
        <p:nvSpPr>
          <p:cNvPr id="69" name="矩形 68"/>
          <p:cNvSpPr/>
          <p:nvPr/>
        </p:nvSpPr>
        <p:spPr>
          <a:xfrm>
            <a:off x="5642758" y="5120110"/>
            <a:ext cx="742208" cy="350322"/>
          </a:xfrm>
          <a:prstGeom prst="rect">
            <a:avLst/>
          </a:prstGeom>
          <a:solidFill>
            <a:srgbClr val="DFF1F2">
              <a:alpha val="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分类器</a:t>
            </a:r>
            <a:r>
              <a:rPr lang="en-US" altLang="zh-CN" sz="1200" dirty="0">
                <a:solidFill>
                  <a:schemeClr val="tx1"/>
                </a:solidFill>
              </a:rPr>
              <a:t>6</a:t>
            </a:r>
            <a:endParaRPr lang="zh-CN" altLang="en-US" sz="1200" dirty="0">
              <a:solidFill>
                <a:schemeClr val="tx1"/>
              </a:solidFill>
            </a:endParaRPr>
          </a:p>
        </p:txBody>
      </p:sp>
      <p:sp>
        <p:nvSpPr>
          <p:cNvPr id="70" name="右箭头 69"/>
          <p:cNvSpPr/>
          <p:nvPr/>
        </p:nvSpPr>
        <p:spPr>
          <a:xfrm rot="5400000">
            <a:off x="3450857" y="4597732"/>
            <a:ext cx="367639" cy="484632"/>
          </a:xfrm>
          <a:prstGeom prst="rightArrow">
            <a:avLst/>
          </a:prstGeom>
          <a:solidFill>
            <a:srgbClr val="0066CC">
              <a:alpha val="16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矩形 70"/>
          <p:cNvSpPr/>
          <p:nvPr/>
        </p:nvSpPr>
        <p:spPr>
          <a:xfrm>
            <a:off x="670956" y="5018047"/>
            <a:ext cx="5902035" cy="581156"/>
          </a:xfrm>
          <a:prstGeom prst="rect">
            <a:avLst/>
          </a:prstGeom>
          <a:noFill/>
          <a:ln>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TextBox 71"/>
          <p:cNvSpPr txBox="1"/>
          <p:nvPr/>
        </p:nvSpPr>
        <p:spPr>
          <a:xfrm>
            <a:off x="3876993" y="4613551"/>
            <a:ext cx="1005403" cy="338554"/>
          </a:xfrm>
          <a:prstGeom prst="rect">
            <a:avLst/>
          </a:prstGeom>
          <a:noFill/>
        </p:spPr>
        <p:txBody>
          <a:bodyPr wrap="none" rtlCol="0">
            <a:spAutoFit/>
          </a:bodyPr>
          <a:lstStyle/>
          <a:p>
            <a:r>
              <a:rPr lang="zh-CN" altLang="en-US" sz="1600" dirty="0"/>
              <a:t>模型训练</a:t>
            </a:r>
          </a:p>
        </p:txBody>
      </p:sp>
      <p:sp>
        <p:nvSpPr>
          <p:cNvPr id="73" name="右箭头 72"/>
          <p:cNvSpPr/>
          <p:nvPr/>
        </p:nvSpPr>
        <p:spPr>
          <a:xfrm rot="5400000">
            <a:off x="3438153" y="5587343"/>
            <a:ext cx="367639" cy="484632"/>
          </a:xfrm>
          <a:prstGeom prst="rightArrow">
            <a:avLst/>
          </a:prstGeom>
          <a:solidFill>
            <a:srgbClr val="0066CC">
              <a:alpha val="16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矩形 79"/>
          <p:cNvSpPr/>
          <p:nvPr/>
        </p:nvSpPr>
        <p:spPr>
          <a:xfrm>
            <a:off x="663733" y="6048549"/>
            <a:ext cx="5902035" cy="581156"/>
          </a:xfrm>
          <a:prstGeom prst="rect">
            <a:avLst/>
          </a:prstGeom>
          <a:noFill/>
          <a:ln>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矩形 80"/>
          <p:cNvSpPr/>
          <p:nvPr/>
        </p:nvSpPr>
        <p:spPr>
          <a:xfrm>
            <a:off x="952004" y="6150612"/>
            <a:ext cx="742208" cy="3503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类别</a:t>
            </a:r>
            <a:r>
              <a:rPr lang="en-US" altLang="zh-CN" sz="1600" dirty="0">
                <a:solidFill>
                  <a:schemeClr val="tx1"/>
                </a:solidFill>
              </a:rPr>
              <a:t>1</a:t>
            </a:r>
            <a:endParaRPr lang="zh-CN" altLang="en-US" sz="1600" dirty="0">
              <a:solidFill>
                <a:schemeClr val="tx1"/>
              </a:solidFill>
            </a:endParaRPr>
          </a:p>
        </p:txBody>
      </p:sp>
      <p:sp>
        <p:nvSpPr>
          <p:cNvPr id="82" name="矩形 81"/>
          <p:cNvSpPr/>
          <p:nvPr/>
        </p:nvSpPr>
        <p:spPr>
          <a:xfrm>
            <a:off x="1843643" y="6150612"/>
            <a:ext cx="742208" cy="3503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类别</a:t>
            </a:r>
            <a:r>
              <a:rPr lang="en-US" altLang="zh-CN" sz="1600" dirty="0">
                <a:solidFill>
                  <a:schemeClr val="tx1"/>
                </a:solidFill>
              </a:rPr>
              <a:t>1</a:t>
            </a:r>
            <a:endParaRPr lang="zh-CN" altLang="en-US" sz="1600" dirty="0">
              <a:solidFill>
                <a:schemeClr val="tx1"/>
              </a:solidFill>
            </a:endParaRPr>
          </a:p>
        </p:txBody>
      </p:sp>
      <p:sp>
        <p:nvSpPr>
          <p:cNvPr id="83" name="矩形 82"/>
          <p:cNvSpPr/>
          <p:nvPr/>
        </p:nvSpPr>
        <p:spPr>
          <a:xfrm>
            <a:off x="2769919" y="6147629"/>
            <a:ext cx="742208" cy="3503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类别</a:t>
            </a:r>
            <a:r>
              <a:rPr lang="en-US" altLang="zh-CN" sz="1600" dirty="0">
                <a:solidFill>
                  <a:schemeClr val="tx1"/>
                </a:solidFill>
              </a:rPr>
              <a:t>1</a:t>
            </a:r>
            <a:endParaRPr lang="zh-CN" altLang="en-US" sz="1600" dirty="0">
              <a:solidFill>
                <a:schemeClr val="tx1"/>
              </a:solidFill>
            </a:endParaRPr>
          </a:p>
        </p:txBody>
      </p:sp>
      <p:sp>
        <p:nvSpPr>
          <p:cNvPr id="84" name="矩形 83"/>
          <p:cNvSpPr/>
          <p:nvPr/>
        </p:nvSpPr>
        <p:spPr>
          <a:xfrm>
            <a:off x="3711534" y="6158028"/>
            <a:ext cx="742208" cy="350322"/>
          </a:xfrm>
          <a:prstGeom prst="rect">
            <a:avLst/>
          </a:prstGeom>
          <a:solidFill>
            <a:srgbClr val="0066CC">
              <a:alpha val="53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类别</a:t>
            </a:r>
            <a:r>
              <a:rPr lang="en-US" altLang="zh-CN" sz="1600" dirty="0">
                <a:solidFill>
                  <a:schemeClr val="tx1"/>
                </a:solidFill>
              </a:rPr>
              <a:t>2</a:t>
            </a:r>
            <a:endParaRPr lang="zh-CN" altLang="en-US" sz="1600" dirty="0">
              <a:solidFill>
                <a:schemeClr val="tx1"/>
              </a:solidFill>
            </a:endParaRPr>
          </a:p>
        </p:txBody>
      </p:sp>
      <p:sp>
        <p:nvSpPr>
          <p:cNvPr id="85" name="矩形 84"/>
          <p:cNvSpPr/>
          <p:nvPr/>
        </p:nvSpPr>
        <p:spPr>
          <a:xfrm>
            <a:off x="4689763" y="6158028"/>
            <a:ext cx="742208" cy="350322"/>
          </a:xfrm>
          <a:prstGeom prst="rect">
            <a:avLst/>
          </a:prstGeom>
          <a:solidFill>
            <a:srgbClr val="00B050">
              <a:alpha val="26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类别</a:t>
            </a:r>
            <a:r>
              <a:rPr lang="en-US" altLang="zh-CN" sz="1600" dirty="0">
                <a:solidFill>
                  <a:schemeClr val="tx1"/>
                </a:solidFill>
              </a:rPr>
              <a:t>3</a:t>
            </a:r>
            <a:endParaRPr lang="zh-CN" altLang="en-US" sz="1600" dirty="0">
              <a:solidFill>
                <a:schemeClr val="tx1"/>
              </a:solidFill>
            </a:endParaRPr>
          </a:p>
        </p:txBody>
      </p:sp>
      <p:sp>
        <p:nvSpPr>
          <p:cNvPr id="86" name="矩形 85"/>
          <p:cNvSpPr/>
          <p:nvPr/>
        </p:nvSpPr>
        <p:spPr>
          <a:xfrm>
            <a:off x="5642758" y="6158028"/>
            <a:ext cx="742208" cy="350322"/>
          </a:xfrm>
          <a:prstGeom prst="rect">
            <a:avLst/>
          </a:prstGeom>
          <a:solidFill>
            <a:srgbClr val="FF0000">
              <a:alpha val="26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类别</a:t>
            </a:r>
            <a:r>
              <a:rPr lang="en-US" altLang="zh-CN" sz="1600" dirty="0">
                <a:solidFill>
                  <a:schemeClr val="tx1"/>
                </a:solidFill>
              </a:rPr>
              <a:t>4</a:t>
            </a:r>
            <a:endParaRPr lang="zh-CN" altLang="en-US" sz="1600" dirty="0">
              <a:solidFill>
                <a:schemeClr val="tx1"/>
              </a:solidFill>
            </a:endParaRPr>
          </a:p>
        </p:txBody>
      </p:sp>
      <p:sp>
        <p:nvSpPr>
          <p:cNvPr id="87" name="TextBox 86"/>
          <p:cNvSpPr txBox="1"/>
          <p:nvPr/>
        </p:nvSpPr>
        <p:spPr>
          <a:xfrm>
            <a:off x="8306789" y="5645839"/>
            <a:ext cx="1733797" cy="830997"/>
          </a:xfrm>
          <a:prstGeom prst="rect">
            <a:avLst/>
          </a:prstGeom>
          <a:noFill/>
        </p:spPr>
        <p:txBody>
          <a:bodyPr wrap="square" rtlCol="0">
            <a:spAutoFit/>
          </a:bodyPr>
          <a:lstStyle/>
          <a:p>
            <a:r>
              <a:rPr lang="zh-CN" altLang="en-US" dirty="0">
                <a:solidFill>
                  <a:srgbClr val="FF0000"/>
                </a:solidFill>
              </a:rPr>
              <a:t>测试数据被分到类别</a:t>
            </a:r>
            <a:r>
              <a:rPr lang="en-US" altLang="zh-CN" dirty="0">
                <a:solidFill>
                  <a:srgbClr val="FF0000"/>
                </a:solidFill>
              </a:rPr>
              <a:t>1</a:t>
            </a:r>
            <a:endParaRPr lang="zh-CN" altLang="en-US" dirty="0">
              <a:solidFill>
                <a:srgbClr val="FF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1.</a:t>
            </a:r>
            <a:r>
              <a:rPr lang="zh-CN" altLang="en-US" dirty="0"/>
              <a:t>前言</a:t>
            </a:r>
          </a:p>
        </p:txBody>
      </p:sp>
      <p:sp>
        <p:nvSpPr>
          <p:cNvPr id="3" name="内容占位符 2">
            <a:extLst>
              <a:ext uri="{FF2B5EF4-FFF2-40B4-BE49-F238E27FC236}">
                <a16:creationId xmlns:a16="http://schemas.microsoft.com/office/drawing/2014/main" id="{D5DC4B03-4FC0-41DF-9EE5-9CC5EAA2B38A}"/>
              </a:ext>
            </a:extLst>
          </p:cNvPr>
          <p:cNvSpPr>
            <a:spLocks noGrp="1"/>
          </p:cNvSpPr>
          <p:nvPr>
            <p:ph idx="1"/>
          </p:nvPr>
        </p:nvSpPr>
        <p:spPr>
          <a:xfrm>
            <a:off x="457200" y="1371600"/>
            <a:ext cx="10972800" cy="952500"/>
          </a:xfrm>
        </p:spPr>
        <p:txBody>
          <a:bodyPr>
            <a:normAutofit/>
          </a:bodyPr>
          <a:lstStyle/>
          <a:p>
            <a:r>
              <a:rPr sz="2400" lang="zh-CN" altLang="zh-CN" dirty="0">
                <a:latin typeface="+mj-ea"/>
                <a:ea typeface="+mj-ea"/>
              </a:rPr>
              <a:t>“一对剩余”策略（</a:t>
            </a:r>
            <a:r>
              <a:rPr sz="2400" lang="en-US" altLang="zh-CN" dirty="0">
                <a:latin typeface="+mj-ea"/>
                <a:ea typeface="+mj-ea"/>
              </a:rPr>
              <a:t>One vs. Rest</a:t>
            </a:r>
            <a:r>
              <a:rPr sz="2400" lang="zh-CN" altLang="zh-CN" dirty="0">
                <a:latin typeface="+mj-ea"/>
                <a:ea typeface="+mj-ea"/>
              </a:rPr>
              <a:t>）</a:t>
            </a:r>
            <a:endParaRPr lang="en-US" altLang="zh-CN" dirty="0">
              <a:latin typeface="+mj-ea"/>
              <a:ea typeface="+mj-ea"/>
            </a:endParaRPr>
          </a:p>
          <a:p>
            <a:pPr lvl="1"/>
            <a:r>
              <a:rPr sz="2400" lang="zh-CN" altLang="zh-CN" dirty="0">
                <a:latin typeface="+mj-ea"/>
                <a:ea typeface="+mj-ea"/>
              </a:rPr>
              <a:t>每次将一个类别作为正类，剩余的所有类别作为负类。</a:t>
            </a:r>
            <a:endParaRPr lang="zh-CN" altLang="en-US" dirty="0">
              <a:latin typeface="+mj-ea"/>
              <a:ea typeface="+mj-ea"/>
            </a:endParaRPr>
          </a:p>
        </p:txBody>
      </p:sp>
      <p:sp>
        <p:nvSpPr>
          <p:cNvPr id="4" name="矩形 3"/>
          <p:cNvSpPr/>
          <p:nvPr/>
        </p:nvSpPr>
        <p:spPr>
          <a:xfrm>
            <a:off x="1745672" y="3063818"/>
            <a:ext cx="742208" cy="3503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类别</a:t>
            </a:r>
            <a:r>
              <a:rPr lang="en-US" altLang="zh-CN" sz="1600" dirty="0">
                <a:solidFill>
                  <a:schemeClr val="tx1"/>
                </a:solidFill>
              </a:rPr>
              <a:t>1</a:t>
            </a:r>
            <a:endParaRPr lang="zh-CN" altLang="en-US" sz="1600" dirty="0">
              <a:solidFill>
                <a:schemeClr val="tx1"/>
              </a:solidFill>
            </a:endParaRPr>
          </a:p>
        </p:txBody>
      </p:sp>
      <p:sp>
        <p:nvSpPr>
          <p:cNvPr id="5" name="矩形 4"/>
          <p:cNvSpPr/>
          <p:nvPr/>
        </p:nvSpPr>
        <p:spPr>
          <a:xfrm>
            <a:off x="1745672" y="3636803"/>
            <a:ext cx="742208" cy="350322"/>
          </a:xfrm>
          <a:prstGeom prst="rect">
            <a:avLst/>
          </a:prstGeom>
          <a:solidFill>
            <a:srgbClr val="0066CC">
              <a:alpha val="53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类别</a:t>
            </a:r>
            <a:r>
              <a:rPr lang="en-US" altLang="zh-CN" sz="1600" dirty="0">
                <a:solidFill>
                  <a:schemeClr val="tx1"/>
                </a:solidFill>
              </a:rPr>
              <a:t>2</a:t>
            </a:r>
            <a:endParaRPr lang="zh-CN" altLang="en-US" sz="1600" dirty="0">
              <a:solidFill>
                <a:schemeClr val="tx1"/>
              </a:solidFill>
            </a:endParaRPr>
          </a:p>
        </p:txBody>
      </p:sp>
      <p:sp>
        <p:nvSpPr>
          <p:cNvPr id="6" name="矩形 5"/>
          <p:cNvSpPr/>
          <p:nvPr/>
        </p:nvSpPr>
        <p:spPr>
          <a:xfrm>
            <a:off x="1745672" y="4224632"/>
            <a:ext cx="742208" cy="350322"/>
          </a:xfrm>
          <a:prstGeom prst="rect">
            <a:avLst/>
          </a:prstGeom>
          <a:solidFill>
            <a:srgbClr val="00B050">
              <a:alpha val="26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类别</a:t>
            </a:r>
            <a:r>
              <a:rPr lang="en-US" altLang="zh-CN" sz="1600" dirty="0">
                <a:solidFill>
                  <a:schemeClr val="tx1"/>
                </a:solidFill>
              </a:rPr>
              <a:t>3</a:t>
            </a:r>
            <a:endParaRPr lang="zh-CN" altLang="en-US" sz="1600" dirty="0">
              <a:solidFill>
                <a:schemeClr val="tx1"/>
              </a:solidFill>
            </a:endParaRPr>
          </a:p>
        </p:txBody>
      </p:sp>
      <p:sp>
        <p:nvSpPr>
          <p:cNvPr id="7" name="矩形 6"/>
          <p:cNvSpPr/>
          <p:nvPr/>
        </p:nvSpPr>
        <p:spPr>
          <a:xfrm>
            <a:off x="1745672" y="4802564"/>
            <a:ext cx="742208" cy="350322"/>
          </a:xfrm>
          <a:prstGeom prst="rect">
            <a:avLst/>
          </a:prstGeom>
          <a:solidFill>
            <a:srgbClr val="FF0000">
              <a:alpha val="26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类别</a:t>
            </a:r>
            <a:r>
              <a:rPr lang="en-US" altLang="zh-CN" sz="1600" dirty="0">
                <a:solidFill>
                  <a:schemeClr val="tx1"/>
                </a:solidFill>
              </a:rPr>
              <a:t>4</a:t>
            </a:r>
            <a:endParaRPr lang="zh-CN" altLang="en-US" sz="1600" dirty="0">
              <a:solidFill>
                <a:schemeClr val="tx1"/>
              </a:solidFill>
            </a:endParaRPr>
          </a:p>
        </p:txBody>
      </p:sp>
      <p:sp>
        <p:nvSpPr>
          <p:cNvPr id="8" name="右箭头 7"/>
          <p:cNvSpPr/>
          <p:nvPr/>
        </p:nvSpPr>
        <p:spPr>
          <a:xfrm>
            <a:off x="2612567" y="3822711"/>
            <a:ext cx="546265" cy="484632"/>
          </a:xfrm>
          <a:prstGeom prst="rightArrow">
            <a:avLst/>
          </a:prstGeom>
          <a:solidFill>
            <a:srgbClr val="FF0000">
              <a:alpha val="55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3224150" y="2654134"/>
            <a:ext cx="890650" cy="3040083"/>
          </a:xfrm>
          <a:prstGeom prst="rect">
            <a:avLst/>
          </a:prstGeom>
          <a:solidFill>
            <a:srgbClr val="FFFF00">
              <a:alpha val="13000"/>
            </a:srgbClr>
          </a:solidFill>
          <a:ln>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3345872" y="5959419"/>
            <a:ext cx="742208" cy="35032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rPr>
              <a:t>正类</a:t>
            </a:r>
          </a:p>
        </p:txBody>
      </p:sp>
      <p:sp>
        <p:nvSpPr>
          <p:cNvPr id="12" name="矩形 11"/>
          <p:cNvSpPr/>
          <p:nvPr/>
        </p:nvSpPr>
        <p:spPr>
          <a:xfrm>
            <a:off x="3351810" y="3625635"/>
            <a:ext cx="742208" cy="350322"/>
          </a:xfrm>
          <a:prstGeom prst="rect">
            <a:avLst/>
          </a:prstGeom>
          <a:solidFill>
            <a:srgbClr val="0066CC">
              <a:alpha val="53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类别</a:t>
            </a:r>
            <a:r>
              <a:rPr lang="en-US" altLang="zh-CN" sz="1600" dirty="0">
                <a:solidFill>
                  <a:schemeClr val="tx1"/>
                </a:solidFill>
              </a:rPr>
              <a:t>2</a:t>
            </a:r>
            <a:endParaRPr lang="zh-CN" altLang="en-US" sz="1600" dirty="0">
              <a:solidFill>
                <a:schemeClr val="tx1"/>
              </a:solidFill>
            </a:endParaRPr>
          </a:p>
        </p:txBody>
      </p:sp>
      <p:sp>
        <p:nvSpPr>
          <p:cNvPr id="13" name="矩形 12"/>
          <p:cNvSpPr/>
          <p:nvPr/>
        </p:nvSpPr>
        <p:spPr>
          <a:xfrm>
            <a:off x="3372592" y="4230555"/>
            <a:ext cx="742208" cy="350322"/>
          </a:xfrm>
          <a:prstGeom prst="rect">
            <a:avLst/>
          </a:prstGeom>
          <a:solidFill>
            <a:srgbClr val="00B050">
              <a:alpha val="26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类别</a:t>
            </a:r>
            <a:r>
              <a:rPr lang="en-US" altLang="zh-CN" sz="1600" dirty="0">
                <a:solidFill>
                  <a:schemeClr val="tx1"/>
                </a:solidFill>
              </a:rPr>
              <a:t>3</a:t>
            </a:r>
            <a:endParaRPr lang="zh-CN" altLang="en-US" sz="1600" dirty="0">
              <a:solidFill>
                <a:schemeClr val="tx1"/>
              </a:solidFill>
            </a:endParaRPr>
          </a:p>
        </p:txBody>
      </p:sp>
      <p:sp>
        <p:nvSpPr>
          <p:cNvPr id="14" name="矩形 13"/>
          <p:cNvSpPr/>
          <p:nvPr/>
        </p:nvSpPr>
        <p:spPr>
          <a:xfrm>
            <a:off x="3351810" y="4802564"/>
            <a:ext cx="742208" cy="350322"/>
          </a:xfrm>
          <a:prstGeom prst="rect">
            <a:avLst/>
          </a:prstGeom>
          <a:solidFill>
            <a:srgbClr val="FF0000">
              <a:alpha val="26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类别</a:t>
            </a:r>
            <a:r>
              <a:rPr lang="en-US" altLang="zh-CN" sz="1600" dirty="0">
                <a:solidFill>
                  <a:schemeClr val="tx1"/>
                </a:solidFill>
              </a:rPr>
              <a:t>4</a:t>
            </a:r>
            <a:endParaRPr lang="zh-CN" altLang="en-US" sz="1600" dirty="0">
              <a:solidFill>
                <a:schemeClr val="tx1"/>
              </a:solidFill>
            </a:endParaRPr>
          </a:p>
        </p:txBody>
      </p:sp>
      <p:sp>
        <p:nvSpPr>
          <p:cNvPr id="15" name="矩形 14"/>
          <p:cNvSpPr/>
          <p:nvPr/>
        </p:nvSpPr>
        <p:spPr>
          <a:xfrm>
            <a:off x="4157352" y="3047687"/>
            <a:ext cx="742208" cy="350322"/>
          </a:xfrm>
          <a:prstGeom prst="rect">
            <a:avLst/>
          </a:prstGeom>
          <a:solidFill>
            <a:srgbClr val="0066CC">
              <a:alpha val="53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类别</a:t>
            </a:r>
            <a:r>
              <a:rPr lang="en-US" altLang="zh-CN" sz="1600" dirty="0">
                <a:solidFill>
                  <a:schemeClr val="tx1"/>
                </a:solidFill>
              </a:rPr>
              <a:t>2</a:t>
            </a:r>
            <a:endParaRPr lang="zh-CN" altLang="en-US" sz="1600" dirty="0">
              <a:solidFill>
                <a:schemeClr val="tx1"/>
              </a:solidFill>
            </a:endParaRPr>
          </a:p>
        </p:txBody>
      </p:sp>
      <p:sp>
        <p:nvSpPr>
          <p:cNvPr id="16" name="矩形 15"/>
          <p:cNvSpPr/>
          <p:nvPr/>
        </p:nvSpPr>
        <p:spPr>
          <a:xfrm>
            <a:off x="4950031" y="3047687"/>
            <a:ext cx="742208" cy="350322"/>
          </a:xfrm>
          <a:prstGeom prst="rect">
            <a:avLst/>
          </a:prstGeom>
          <a:solidFill>
            <a:srgbClr val="00B050">
              <a:alpha val="26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类别</a:t>
            </a:r>
            <a:r>
              <a:rPr lang="en-US" altLang="zh-CN" sz="1600" dirty="0">
                <a:solidFill>
                  <a:schemeClr val="tx1"/>
                </a:solidFill>
              </a:rPr>
              <a:t>3</a:t>
            </a:r>
            <a:endParaRPr lang="zh-CN" altLang="en-US" sz="1600" dirty="0">
              <a:solidFill>
                <a:schemeClr val="tx1"/>
              </a:solidFill>
            </a:endParaRPr>
          </a:p>
        </p:txBody>
      </p:sp>
      <p:sp>
        <p:nvSpPr>
          <p:cNvPr id="17" name="矩形 16"/>
          <p:cNvSpPr/>
          <p:nvPr/>
        </p:nvSpPr>
        <p:spPr>
          <a:xfrm>
            <a:off x="5742709" y="3037083"/>
            <a:ext cx="742208" cy="350322"/>
          </a:xfrm>
          <a:prstGeom prst="rect">
            <a:avLst/>
          </a:prstGeom>
          <a:solidFill>
            <a:srgbClr val="FF0000">
              <a:alpha val="26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类别</a:t>
            </a:r>
            <a:r>
              <a:rPr lang="en-US" altLang="zh-CN" sz="1600" dirty="0">
                <a:solidFill>
                  <a:schemeClr val="tx1"/>
                </a:solidFill>
              </a:rPr>
              <a:t>4</a:t>
            </a:r>
            <a:endParaRPr lang="zh-CN" altLang="en-US" sz="1600" dirty="0">
              <a:solidFill>
                <a:schemeClr val="tx1"/>
              </a:solidFill>
            </a:endParaRPr>
          </a:p>
        </p:txBody>
      </p:sp>
      <p:sp>
        <p:nvSpPr>
          <p:cNvPr id="18" name="矩形 17"/>
          <p:cNvSpPr/>
          <p:nvPr/>
        </p:nvSpPr>
        <p:spPr>
          <a:xfrm>
            <a:off x="5742709" y="3647550"/>
            <a:ext cx="742208" cy="350322"/>
          </a:xfrm>
          <a:prstGeom prst="rect">
            <a:avLst/>
          </a:prstGeom>
          <a:solidFill>
            <a:srgbClr val="FF0000">
              <a:alpha val="26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类别</a:t>
            </a:r>
            <a:r>
              <a:rPr lang="en-US" altLang="zh-CN" sz="1600" dirty="0">
                <a:solidFill>
                  <a:schemeClr val="tx1"/>
                </a:solidFill>
              </a:rPr>
              <a:t>4</a:t>
            </a:r>
            <a:endParaRPr lang="zh-CN" altLang="en-US" sz="1600" dirty="0">
              <a:solidFill>
                <a:schemeClr val="tx1"/>
              </a:solidFill>
            </a:endParaRPr>
          </a:p>
        </p:txBody>
      </p:sp>
      <p:sp>
        <p:nvSpPr>
          <p:cNvPr id="19" name="矩形 18"/>
          <p:cNvSpPr/>
          <p:nvPr/>
        </p:nvSpPr>
        <p:spPr>
          <a:xfrm>
            <a:off x="3345872" y="3041057"/>
            <a:ext cx="742208" cy="3503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类别</a:t>
            </a:r>
            <a:r>
              <a:rPr lang="en-US" altLang="zh-CN" sz="1600" dirty="0">
                <a:solidFill>
                  <a:schemeClr val="tx1"/>
                </a:solidFill>
              </a:rPr>
              <a:t>1</a:t>
            </a:r>
            <a:endParaRPr lang="zh-CN" altLang="en-US" sz="1600" dirty="0">
              <a:solidFill>
                <a:schemeClr val="tx1"/>
              </a:solidFill>
            </a:endParaRPr>
          </a:p>
        </p:txBody>
      </p:sp>
      <p:sp>
        <p:nvSpPr>
          <p:cNvPr id="20" name="矩形 19"/>
          <p:cNvSpPr/>
          <p:nvPr/>
        </p:nvSpPr>
        <p:spPr>
          <a:xfrm>
            <a:off x="4163289" y="3647550"/>
            <a:ext cx="742208" cy="3503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类别</a:t>
            </a:r>
            <a:r>
              <a:rPr lang="en-US" altLang="zh-CN" sz="1600" dirty="0">
                <a:solidFill>
                  <a:schemeClr val="tx1"/>
                </a:solidFill>
              </a:rPr>
              <a:t>1</a:t>
            </a:r>
            <a:endParaRPr lang="zh-CN" altLang="en-US" sz="1600" dirty="0">
              <a:solidFill>
                <a:schemeClr val="tx1"/>
              </a:solidFill>
            </a:endParaRPr>
          </a:p>
        </p:txBody>
      </p:sp>
      <p:sp>
        <p:nvSpPr>
          <p:cNvPr id="21" name="矩形 20"/>
          <p:cNvSpPr/>
          <p:nvPr/>
        </p:nvSpPr>
        <p:spPr>
          <a:xfrm>
            <a:off x="4950031" y="3643136"/>
            <a:ext cx="742208" cy="350322"/>
          </a:xfrm>
          <a:prstGeom prst="rect">
            <a:avLst/>
          </a:prstGeom>
          <a:solidFill>
            <a:srgbClr val="00B050">
              <a:alpha val="26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类别</a:t>
            </a:r>
            <a:r>
              <a:rPr lang="en-US" altLang="zh-CN" sz="1600" dirty="0">
                <a:solidFill>
                  <a:schemeClr val="tx1"/>
                </a:solidFill>
              </a:rPr>
              <a:t>3</a:t>
            </a:r>
            <a:endParaRPr lang="zh-CN" altLang="en-US" sz="1600" dirty="0">
              <a:solidFill>
                <a:schemeClr val="tx1"/>
              </a:solidFill>
            </a:endParaRPr>
          </a:p>
        </p:txBody>
      </p:sp>
      <p:sp>
        <p:nvSpPr>
          <p:cNvPr id="22" name="矩形 21"/>
          <p:cNvSpPr/>
          <p:nvPr/>
        </p:nvSpPr>
        <p:spPr>
          <a:xfrm>
            <a:off x="4163289" y="4224632"/>
            <a:ext cx="742208" cy="3503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类别</a:t>
            </a:r>
            <a:r>
              <a:rPr lang="en-US" altLang="zh-CN" sz="1600" dirty="0">
                <a:solidFill>
                  <a:schemeClr val="tx1"/>
                </a:solidFill>
              </a:rPr>
              <a:t>1</a:t>
            </a:r>
            <a:endParaRPr lang="zh-CN" altLang="en-US" sz="1600" dirty="0">
              <a:solidFill>
                <a:schemeClr val="tx1"/>
              </a:solidFill>
            </a:endParaRPr>
          </a:p>
        </p:txBody>
      </p:sp>
      <p:sp>
        <p:nvSpPr>
          <p:cNvPr id="23" name="矩形 22"/>
          <p:cNvSpPr/>
          <p:nvPr/>
        </p:nvSpPr>
        <p:spPr>
          <a:xfrm>
            <a:off x="4958936" y="4224617"/>
            <a:ext cx="742208" cy="350322"/>
          </a:xfrm>
          <a:prstGeom prst="rect">
            <a:avLst/>
          </a:prstGeom>
          <a:solidFill>
            <a:srgbClr val="0066CC">
              <a:alpha val="53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类别</a:t>
            </a:r>
            <a:r>
              <a:rPr lang="en-US" altLang="zh-CN" sz="1600" dirty="0">
                <a:solidFill>
                  <a:schemeClr val="tx1"/>
                </a:solidFill>
              </a:rPr>
              <a:t>2</a:t>
            </a:r>
            <a:endParaRPr lang="zh-CN" altLang="en-US" sz="1600" dirty="0">
              <a:solidFill>
                <a:schemeClr val="tx1"/>
              </a:solidFill>
            </a:endParaRPr>
          </a:p>
        </p:txBody>
      </p:sp>
      <p:sp>
        <p:nvSpPr>
          <p:cNvPr id="24" name="矩形 23"/>
          <p:cNvSpPr/>
          <p:nvPr/>
        </p:nvSpPr>
        <p:spPr>
          <a:xfrm>
            <a:off x="5742709" y="4224615"/>
            <a:ext cx="742208" cy="350322"/>
          </a:xfrm>
          <a:prstGeom prst="rect">
            <a:avLst/>
          </a:prstGeom>
          <a:solidFill>
            <a:srgbClr val="FF0000">
              <a:alpha val="26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类别</a:t>
            </a:r>
            <a:r>
              <a:rPr lang="en-US" altLang="zh-CN" sz="1600" dirty="0">
                <a:solidFill>
                  <a:schemeClr val="tx1"/>
                </a:solidFill>
              </a:rPr>
              <a:t>4</a:t>
            </a:r>
            <a:endParaRPr lang="zh-CN" altLang="en-US" sz="1600" dirty="0">
              <a:solidFill>
                <a:schemeClr val="tx1"/>
              </a:solidFill>
            </a:endParaRPr>
          </a:p>
        </p:txBody>
      </p:sp>
      <p:sp>
        <p:nvSpPr>
          <p:cNvPr id="25" name="矩形 24"/>
          <p:cNvSpPr/>
          <p:nvPr/>
        </p:nvSpPr>
        <p:spPr>
          <a:xfrm>
            <a:off x="4163289" y="4802564"/>
            <a:ext cx="742208" cy="3503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类别</a:t>
            </a:r>
            <a:r>
              <a:rPr lang="en-US" altLang="zh-CN" sz="1600" dirty="0">
                <a:solidFill>
                  <a:schemeClr val="tx1"/>
                </a:solidFill>
              </a:rPr>
              <a:t>1</a:t>
            </a:r>
            <a:endParaRPr lang="zh-CN" altLang="en-US" sz="1600" dirty="0">
              <a:solidFill>
                <a:schemeClr val="tx1"/>
              </a:solidFill>
            </a:endParaRPr>
          </a:p>
        </p:txBody>
      </p:sp>
      <p:sp>
        <p:nvSpPr>
          <p:cNvPr id="26" name="矩形 25"/>
          <p:cNvSpPr/>
          <p:nvPr/>
        </p:nvSpPr>
        <p:spPr>
          <a:xfrm>
            <a:off x="4958936" y="4802549"/>
            <a:ext cx="742208" cy="350322"/>
          </a:xfrm>
          <a:prstGeom prst="rect">
            <a:avLst/>
          </a:prstGeom>
          <a:solidFill>
            <a:srgbClr val="0066CC">
              <a:alpha val="53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类别</a:t>
            </a:r>
            <a:r>
              <a:rPr lang="en-US" altLang="zh-CN" sz="1600" dirty="0">
                <a:solidFill>
                  <a:schemeClr val="tx1"/>
                </a:solidFill>
              </a:rPr>
              <a:t>2</a:t>
            </a:r>
            <a:endParaRPr lang="zh-CN" altLang="en-US" sz="1600" dirty="0">
              <a:solidFill>
                <a:schemeClr val="tx1"/>
              </a:solidFill>
            </a:endParaRPr>
          </a:p>
        </p:txBody>
      </p:sp>
      <p:sp>
        <p:nvSpPr>
          <p:cNvPr id="27" name="矩形 26"/>
          <p:cNvSpPr/>
          <p:nvPr/>
        </p:nvSpPr>
        <p:spPr>
          <a:xfrm>
            <a:off x="5742709" y="4794356"/>
            <a:ext cx="742208" cy="350322"/>
          </a:xfrm>
          <a:prstGeom prst="rect">
            <a:avLst/>
          </a:prstGeom>
          <a:solidFill>
            <a:srgbClr val="00B050">
              <a:alpha val="26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类别</a:t>
            </a:r>
            <a:r>
              <a:rPr lang="en-US" altLang="zh-CN" sz="1600" dirty="0">
                <a:solidFill>
                  <a:schemeClr val="tx1"/>
                </a:solidFill>
              </a:rPr>
              <a:t>3</a:t>
            </a:r>
            <a:endParaRPr lang="zh-CN" altLang="en-US" sz="1600" dirty="0">
              <a:solidFill>
                <a:schemeClr val="tx1"/>
              </a:solidFill>
            </a:endParaRPr>
          </a:p>
        </p:txBody>
      </p:sp>
      <p:sp>
        <p:nvSpPr>
          <p:cNvPr id="28" name="矩形 27"/>
          <p:cNvSpPr/>
          <p:nvPr/>
        </p:nvSpPr>
        <p:spPr>
          <a:xfrm>
            <a:off x="4142506" y="2668945"/>
            <a:ext cx="2495799" cy="3040083"/>
          </a:xfrm>
          <a:prstGeom prst="rect">
            <a:avLst/>
          </a:prstGeom>
          <a:solidFill>
            <a:srgbClr val="7030A0">
              <a:alpha val="13000"/>
            </a:srgbClr>
          </a:solidFill>
          <a:ln>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4736288" y="5959419"/>
            <a:ext cx="742208" cy="350322"/>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rPr>
              <a:t>负类</a:t>
            </a:r>
          </a:p>
        </p:txBody>
      </p:sp>
      <p:sp>
        <p:nvSpPr>
          <p:cNvPr id="30" name="右箭头 29"/>
          <p:cNvSpPr/>
          <p:nvPr/>
        </p:nvSpPr>
        <p:spPr>
          <a:xfrm>
            <a:off x="6755076" y="3873578"/>
            <a:ext cx="546265" cy="484632"/>
          </a:xfrm>
          <a:prstGeom prst="rightArrow">
            <a:avLst/>
          </a:prstGeom>
          <a:solidFill>
            <a:srgbClr val="FF0000">
              <a:alpha val="55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p:cNvSpPr/>
          <p:nvPr/>
        </p:nvSpPr>
        <p:spPr>
          <a:xfrm>
            <a:off x="7420098" y="3024203"/>
            <a:ext cx="742208" cy="350322"/>
          </a:xfrm>
          <a:prstGeom prst="rect">
            <a:avLst/>
          </a:prstGeom>
          <a:solidFill>
            <a:srgbClr val="DFF1F2">
              <a:alpha val="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分类器</a:t>
            </a:r>
            <a:r>
              <a:rPr lang="en-US" altLang="zh-CN" sz="1200" dirty="0">
                <a:solidFill>
                  <a:schemeClr val="tx1"/>
                </a:solidFill>
              </a:rPr>
              <a:t>1</a:t>
            </a:r>
            <a:endParaRPr lang="zh-CN" altLang="en-US" sz="1200" dirty="0">
              <a:solidFill>
                <a:schemeClr val="tx1"/>
              </a:solidFill>
            </a:endParaRPr>
          </a:p>
        </p:txBody>
      </p:sp>
      <p:sp>
        <p:nvSpPr>
          <p:cNvPr id="32" name="矩形 31"/>
          <p:cNvSpPr/>
          <p:nvPr/>
        </p:nvSpPr>
        <p:spPr>
          <a:xfrm>
            <a:off x="7420098" y="3639757"/>
            <a:ext cx="742208" cy="350322"/>
          </a:xfrm>
          <a:prstGeom prst="rect">
            <a:avLst/>
          </a:prstGeom>
          <a:solidFill>
            <a:srgbClr val="DFF1F2">
              <a:alpha val="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分类器</a:t>
            </a:r>
            <a:r>
              <a:rPr lang="en-US" altLang="zh-CN" sz="1200" dirty="0">
                <a:solidFill>
                  <a:schemeClr val="tx1"/>
                </a:solidFill>
              </a:rPr>
              <a:t>2</a:t>
            </a:r>
            <a:endParaRPr lang="zh-CN" altLang="en-US" sz="1200" dirty="0">
              <a:solidFill>
                <a:schemeClr val="tx1"/>
              </a:solidFill>
            </a:endParaRPr>
          </a:p>
        </p:txBody>
      </p:sp>
      <p:sp>
        <p:nvSpPr>
          <p:cNvPr id="33" name="矩形 32"/>
          <p:cNvSpPr/>
          <p:nvPr/>
        </p:nvSpPr>
        <p:spPr>
          <a:xfrm>
            <a:off x="7420098" y="4224615"/>
            <a:ext cx="742208" cy="350322"/>
          </a:xfrm>
          <a:prstGeom prst="rect">
            <a:avLst/>
          </a:prstGeom>
          <a:solidFill>
            <a:srgbClr val="DFF1F2">
              <a:alpha val="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分类器</a:t>
            </a:r>
            <a:r>
              <a:rPr lang="en-US" altLang="zh-CN" sz="1200" dirty="0">
                <a:solidFill>
                  <a:schemeClr val="tx1"/>
                </a:solidFill>
              </a:rPr>
              <a:t>3</a:t>
            </a:r>
            <a:endParaRPr lang="zh-CN" altLang="en-US" sz="1200" dirty="0">
              <a:solidFill>
                <a:schemeClr val="tx1"/>
              </a:solidFill>
            </a:endParaRPr>
          </a:p>
        </p:txBody>
      </p:sp>
      <p:sp>
        <p:nvSpPr>
          <p:cNvPr id="34" name="矩形 33"/>
          <p:cNvSpPr/>
          <p:nvPr/>
        </p:nvSpPr>
        <p:spPr>
          <a:xfrm>
            <a:off x="7420098" y="4802564"/>
            <a:ext cx="742208" cy="350322"/>
          </a:xfrm>
          <a:prstGeom prst="rect">
            <a:avLst/>
          </a:prstGeom>
          <a:solidFill>
            <a:srgbClr val="DFF1F2">
              <a:alpha val="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分类器</a:t>
            </a:r>
            <a:r>
              <a:rPr lang="en-US" altLang="zh-CN" sz="1200" dirty="0">
                <a:solidFill>
                  <a:schemeClr val="tx1"/>
                </a:solidFill>
              </a:rPr>
              <a:t>4</a:t>
            </a:r>
            <a:endParaRPr lang="zh-CN" altLang="en-US" sz="1200" dirty="0">
              <a:solidFill>
                <a:schemeClr val="tx1"/>
              </a:solidFill>
            </a:endParaRPr>
          </a:p>
        </p:txBody>
      </p:sp>
      <p:sp>
        <p:nvSpPr>
          <p:cNvPr id="35" name="TextBox 34"/>
          <p:cNvSpPr txBox="1"/>
          <p:nvPr/>
        </p:nvSpPr>
        <p:spPr>
          <a:xfrm>
            <a:off x="6755076" y="3506518"/>
            <a:ext cx="595035" cy="338554"/>
          </a:xfrm>
          <a:prstGeom prst="rect">
            <a:avLst/>
          </a:prstGeom>
          <a:noFill/>
        </p:spPr>
        <p:txBody>
          <a:bodyPr wrap="none" rtlCol="0">
            <a:spAutoFit/>
          </a:bodyPr>
          <a:lstStyle/>
          <a:p>
            <a:r>
              <a:rPr lang="zh-CN" altLang="en-US" sz="1600" dirty="0"/>
              <a:t>训练</a:t>
            </a:r>
          </a:p>
        </p:txBody>
      </p:sp>
      <p:sp>
        <p:nvSpPr>
          <p:cNvPr id="36" name="右箭头 35"/>
          <p:cNvSpPr/>
          <p:nvPr/>
        </p:nvSpPr>
        <p:spPr>
          <a:xfrm>
            <a:off x="8292926" y="3873578"/>
            <a:ext cx="546265" cy="484632"/>
          </a:xfrm>
          <a:prstGeom prst="rightArrow">
            <a:avLst/>
          </a:prstGeom>
          <a:solidFill>
            <a:srgbClr val="FF0000">
              <a:alpha val="55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p:cNvSpPr/>
          <p:nvPr/>
        </p:nvSpPr>
        <p:spPr>
          <a:xfrm>
            <a:off x="8914409" y="3001396"/>
            <a:ext cx="742208" cy="350322"/>
          </a:xfrm>
          <a:prstGeom prst="rect">
            <a:avLst/>
          </a:prstGeom>
          <a:solidFill>
            <a:srgbClr val="DFF1F2">
              <a:alpha val="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rPr>
              <a:t>负类</a:t>
            </a:r>
          </a:p>
        </p:txBody>
      </p:sp>
      <p:sp>
        <p:nvSpPr>
          <p:cNvPr id="38" name="矩形 37"/>
          <p:cNvSpPr/>
          <p:nvPr/>
        </p:nvSpPr>
        <p:spPr>
          <a:xfrm>
            <a:off x="8914409" y="3625635"/>
            <a:ext cx="742208" cy="350322"/>
          </a:xfrm>
          <a:prstGeom prst="rect">
            <a:avLst/>
          </a:prstGeom>
          <a:solidFill>
            <a:srgbClr val="DFF1F2">
              <a:alpha val="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rPr>
              <a:t>正类</a:t>
            </a:r>
          </a:p>
        </p:txBody>
      </p:sp>
      <p:sp>
        <p:nvSpPr>
          <p:cNvPr id="39" name="矩形 38"/>
          <p:cNvSpPr/>
          <p:nvPr/>
        </p:nvSpPr>
        <p:spPr>
          <a:xfrm>
            <a:off x="8925293" y="4230555"/>
            <a:ext cx="742208" cy="350322"/>
          </a:xfrm>
          <a:prstGeom prst="rect">
            <a:avLst/>
          </a:prstGeom>
          <a:solidFill>
            <a:srgbClr val="DFF1F2">
              <a:alpha val="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rPr>
              <a:t>负类</a:t>
            </a:r>
          </a:p>
        </p:txBody>
      </p:sp>
      <p:sp>
        <p:nvSpPr>
          <p:cNvPr id="40" name="矩形 39"/>
          <p:cNvSpPr/>
          <p:nvPr/>
        </p:nvSpPr>
        <p:spPr>
          <a:xfrm>
            <a:off x="8925293" y="4813403"/>
            <a:ext cx="742208" cy="350322"/>
          </a:xfrm>
          <a:prstGeom prst="rect">
            <a:avLst/>
          </a:prstGeom>
          <a:solidFill>
            <a:srgbClr val="DFF1F2">
              <a:alpha val="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rPr>
              <a:t>负类</a:t>
            </a:r>
          </a:p>
        </p:txBody>
      </p:sp>
      <p:sp>
        <p:nvSpPr>
          <p:cNvPr id="41" name="右箭头 40"/>
          <p:cNvSpPr/>
          <p:nvPr/>
        </p:nvSpPr>
        <p:spPr>
          <a:xfrm>
            <a:off x="9822864" y="3911744"/>
            <a:ext cx="546265" cy="484632"/>
          </a:xfrm>
          <a:prstGeom prst="rightArrow">
            <a:avLst/>
          </a:prstGeom>
          <a:solidFill>
            <a:srgbClr val="FF0000">
              <a:alpha val="55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p:cNvSpPr/>
          <p:nvPr/>
        </p:nvSpPr>
        <p:spPr>
          <a:xfrm>
            <a:off x="10602685" y="3640449"/>
            <a:ext cx="742208" cy="350322"/>
          </a:xfrm>
          <a:prstGeom prst="rect">
            <a:avLst/>
          </a:prstGeom>
          <a:solidFill>
            <a:srgbClr val="0066CC">
              <a:alpha val="53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类别</a:t>
            </a:r>
            <a:r>
              <a:rPr lang="en-US" altLang="zh-CN" sz="1600" dirty="0">
                <a:solidFill>
                  <a:schemeClr val="tx1"/>
                </a:solidFill>
              </a:rPr>
              <a:t>2</a:t>
            </a:r>
            <a:endParaRPr lang="zh-CN" altLang="en-US" sz="1600" dirty="0">
              <a:solidFill>
                <a:schemeClr val="tx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012F-E2AA-4C8A-9285-0D9ABE931A47}"/>
              </a:ext>
            </a:extLst>
          </p:cNvPr>
          <p:cNvSpPr>
            <a:spLocks noGrp="1"/>
          </p:cNvSpPr>
          <p:nvPr>
            <p:ph type="title"/>
          </p:nvPr>
        </p:nvSpPr>
        <p:spPr/>
        <p:txBody>
          <a:bodyPr/>
          <a:lstStyle/>
          <a:p>
            <a:pPr algn="l"/>
            <a:r>
              <a:rPr/>
              <a:t>2.kNN算法</a:t>
            </a:r>
          </a:p>
        </p:txBody>
      </p:sp>
      <p:sp>
        <p:nvSpPr>
          <p:cNvPr id="3" name="内容占位符 2"/>
          <p:cNvSpPr>
            <a:spLocks noGrp="1"/>
          </p:cNvSpPr>
          <p:nvPr>
            <p:ph idx="1"/>
          </p:nvPr>
        </p:nvSpPr>
        <p:spPr/>
        <p:txBody>
          <a:bodyPr/>
          <a:lstStyle/>
          <a:p>
            <a:pPr>
              <a:lnSpc>
                <a:spcPct val="150000"/>
              </a:lnSpc>
            </a:pPr>
            <a:r>
              <a:rPr lang="en-US" altLang="zh-CN" b="1" dirty="0">
                <a:latin typeface="+mj-ea"/>
                <a:ea typeface="+mj-ea"/>
              </a:rPr>
              <a:t>k-</a:t>
            </a:r>
            <a:r>
              <a:rPr lang="zh-CN" altLang="zh-CN" b="1" dirty="0">
                <a:latin typeface="+mj-ea"/>
                <a:ea typeface="+mj-ea"/>
              </a:rPr>
              <a:t>最近邻算法</a:t>
            </a:r>
            <a:r>
              <a:rPr lang="zh-CN" altLang="zh-CN" dirty="0">
                <a:latin typeface="+mj-ea"/>
                <a:ea typeface="+mj-ea"/>
              </a:rPr>
              <a:t>（</a:t>
            </a:r>
            <a:r>
              <a:rPr lang="en-US" altLang="zh-CN" dirty="0">
                <a:latin typeface="+mj-ea"/>
                <a:ea typeface="+mj-ea"/>
              </a:rPr>
              <a:t>k-Nearest Neighbors, </a:t>
            </a:r>
            <a:r>
              <a:rPr lang="en-US" altLang="zh-CN" dirty="0" err="1">
                <a:latin typeface="+mj-ea"/>
                <a:ea typeface="+mj-ea"/>
              </a:rPr>
              <a:t>kNN</a:t>
            </a:r>
            <a:r>
              <a:rPr lang="zh-CN" altLang="zh-CN" dirty="0">
                <a:latin typeface="+mj-ea"/>
                <a:ea typeface="+mj-ea"/>
              </a:rPr>
              <a:t>）是一种机器学习算法中最简单、最基础的有监督分类算法之一。它通过测量不同特征之间的距离确定邻近数据，并使用邻近数据的标签对单个数据点进行预测。既可以用于回归问题，也能用于分类问题。</a:t>
            </a:r>
          </a:p>
          <a:p>
            <a:endParaRPr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6F8207-C77B-440A-9F15-15D708633E6D}"/>
              </a:ext>
            </a:extLst>
          </p:cNvPr>
          <p:cNvSpPr>
            <a:spLocks noGrp="1"/>
          </p:cNvSpPr>
          <p:nvPr>
            <p:ph type="title"/>
          </p:nvPr>
        </p:nvSpPr>
        <p:spPr/>
        <p:txBody>
          <a:bodyPr/>
          <a:lstStyle/>
          <a:p>
            <a:pPr algn="l"/>
            <a:r>
              <a:rPr/>
              <a:t>2.kNN算法</a:t>
            </a:r>
          </a:p>
        </p:txBody>
      </p:sp>
      <p:sp>
        <p:nvSpPr>
          <p:cNvPr id="3" name="内容占位符 2"/>
          <p:cNvSpPr>
            <a:spLocks noGrp="1"/>
          </p:cNvSpPr>
          <p:nvPr>
            <p:ph idx="1"/>
          </p:nvPr>
        </p:nvSpPr>
        <p:spPr>
          <a:xfrm>
            <a:off x="609600" y="1600203"/>
            <a:ext cx="5197434" cy="4525963"/>
          </a:xfrm>
        </p:spPr>
        <p:txBody>
          <a:bodyPr/>
          <a:lstStyle/>
          <a:p>
            <a:r>
              <a:rPr lang="zh-CN" altLang="zh-CN" b="1" dirty="0">
                <a:latin typeface="+mj-ea"/>
                <a:ea typeface="+mj-ea"/>
              </a:rPr>
              <a:t>常用的距离指标</a:t>
            </a:r>
            <a:r>
              <a:rPr lang="zh-CN" altLang="en-US" b="1" dirty="0">
                <a:latin typeface="+mj-ea"/>
                <a:ea typeface="+mj-ea"/>
              </a:rPr>
              <a:t>：</a:t>
            </a:r>
            <a:endParaRPr lang="en-US" altLang="zh-CN" b="1" dirty="0">
              <a:latin typeface="+mj-ea"/>
              <a:ea typeface="+mj-ea"/>
            </a:endParaRPr>
          </a:p>
          <a:p>
            <a:pPr lvl="1"/>
            <a:r>
              <a:rPr lang="zh-CN" altLang="zh-CN" dirty="0">
                <a:latin typeface="+mj-ea"/>
                <a:ea typeface="+mj-ea"/>
              </a:rPr>
              <a:t>欧几里得距离：</a:t>
            </a:r>
            <a:endParaRPr lang="en-US" altLang="zh-CN" dirty="0">
              <a:latin typeface="+mj-ea"/>
              <a:ea typeface="+mj-ea"/>
            </a:endParaRPr>
          </a:p>
          <a:p>
            <a:pPr marL="457200" lvl="1" indent="0">
              <a:lnSpc>
                <a:spcPct val="150000"/>
              </a:lnSpc>
              <a:buNone/>
            </a:pPr>
            <a:r>
              <a:rPr lang="zh-CN" altLang="zh-CN" kern="100" dirty="0">
                <a:latin typeface="+mj-ea"/>
                <a:ea typeface="+mj-ea"/>
              </a:rPr>
              <a:t>是一个通常采用的距离定义，指在</a:t>
            </a:r>
            <a:r>
              <a:rPr lang="zh-CN" altLang="en-US" kern="100" dirty="0">
                <a:latin typeface="+mj-ea"/>
                <a:ea typeface="+mj-ea"/>
              </a:rPr>
              <a:t>多</a:t>
            </a:r>
            <a:r>
              <a:rPr lang="zh-CN" altLang="zh-CN" kern="100" dirty="0">
                <a:latin typeface="+mj-ea"/>
                <a:ea typeface="+mj-ea"/>
              </a:rPr>
              <a:t>维</a:t>
            </a:r>
            <a:r>
              <a:rPr lang="zh-CN" altLang="en-US" kern="100" dirty="0">
                <a:latin typeface="+mj-ea"/>
                <a:ea typeface="+mj-ea"/>
              </a:rPr>
              <a:t>欧几里得空间</a:t>
            </a:r>
            <a:r>
              <a:rPr lang="zh-CN" altLang="zh-CN" kern="100" dirty="0">
                <a:latin typeface="+mj-ea"/>
                <a:ea typeface="+mj-ea"/>
              </a:rPr>
              <a:t>空间中两个点之间的</a:t>
            </a:r>
            <a:r>
              <a:rPr lang="zh-CN" altLang="zh-CN" b="1" kern="100" dirty="0">
                <a:solidFill>
                  <a:srgbClr val="FF0000"/>
                </a:solidFill>
                <a:latin typeface="+mj-ea"/>
                <a:ea typeface="+mj-ea"/>
              </a:rPr>
              <a:t>真实距离</a:t>
            </a:r>
            <a:endParaRPr lang="zh-CN" altLang="en-US" b="1" dirty="0">
              <a:solidFill>
                <a:srgbClr val="FF0000"/>
              </a:solidFill>
              <a:latin typeface="+mj-ea"/>
              <a:ea typeface="+mj-ea"/>
            </a:endParaRPr>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921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2552" y="3225758"/>
            <a:ext cx="3486150" cy="2876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6" name="文本框 5"/>
              <p:cNvSpPr txBox="1"/>
              <p:nvPr/>
            </p:nvSpPr>
            <p:spPr>
              <a:xfrm>
                <a:off x="6055519" y="1318066"/>
                <a:ext cx="4524700" cy="1768626"/>
              </a:xfrm>
              <a:prstGeom prst="rect">
                <a:avLst/>
              </a:prstGeom>
              <a:noFill/>
            </p:spPr>
            <p:txBody>
              <a:bodyPr wrap="none" rtlCol="0" anchor="t">
                <a:spAutoFit/>
              </a:bodyPr>
              <a:lstStyle/>
              <a:p>
                <a:pPr algn="l"/>
                <a14:m>
                  <m:oMathPara xmlns:m="http://schemas.openxmlformats.org/officeDocument/2006/math">
                    <m:oMath>
                      <m:r>
                        <a:rPr lang="en-US" altLang="zh-CN" sz="2800" i="1">
                          <a:latin typeface="Cambria Math" panose="02040503050406030204" pitchFamily="18" charset="0"/>
                          <a:cs typeface="Cambria Math" panose="02040503050406030204" pitchFamily="18" charset="0"/>
                        </a:rPr>
                        <m:t>𝑑</m:t>
                      </m:r>
                      <m:r>
                        <a:rPr lang="en-US" altLang="zh-CN" sz="2800" i="1">
                          <a:latin typeface="Cambria Math" panose="02040503050406030204" pitchFamily="18" charset="0"/>
                          <a:cs typeface="Cambria Math" panose="02040503050406030204" pitchFamily="18" charset="0"/>
                        </a:rPr>
                        <m:t>(</m:t>
                      </m:r>
                      <m:r>
                        <a:rPr lang="en-US" altLang="zh-CN" sz="2800" i="1">
                          <a:latin typeface="Cambria Math" panose="02040503050406030204" pitchFamily="18" charset="0"/>
                          <a:cs typeface="Cambria Math" panose="02040503050406030204" pitchFamily="18" charset="0"/>
                        </a:rPr>
                        <m:t>𝑎</m:t>
                      </m:r>
                      <m:r>
                        <a:rPr lang="en-US" altLang="zh-CN" sz="2800" i="1">
                          <a:latin typeface="Cambria Math" panose="02040503050406030204" pitchFamily="18" charset="0"/>
                          <a:cs typeface="Cambria Math" panose="02040503050406030204" pitchFamily="18" charset="0"/>
                        </a:rPr>
                        <m:t>,</m:t>
                      </m:r>
                      <m:r>
                        <a:rPr lang="en-US" altLang="zh-CN" sz="2800" i="1">
                          <a:latin typeface="Cambria Math" panose="02040503050406030204" pitchFamily="18" charset="0"/>
                          <a:cs typeface="Cambria Math" panose="02040503050406030204" pitchFamily="18" charset="0"/>
                        </a:rPr>
                        <m:t>𝑏</m:t>
                      </m:r>
                      <m:r>
                        <a:rPr lang="en-US" altLang="zh-CN" sz="2800" i="1">
                          <a:latin typeface="Cambria Math" panose="02040503050406030204" pitchFamily="18" charset="0"/>
                          <a:cs typeface="Cambria Math" panose="02040503050406030204" pitchFamily="18" charset="0"/>
                        </a:rPr>
                        <m:t>)=</m:t>
                      </m:r>
                      <m:rad>
                        <m:radPr>
                          <m:degHide m:val="on"/>
                          <m:ctrlPr>
                            <a:rPr lang="en-US" altLang="zh-CN" sz="2800" i="1">
                              <a:latin typeface="Cambria Math" panose="02040503050406030204" pitchFamily="18" charset="0"/>
                              <a:cs typeface="Cambria Math" panose="02040503050406030204" pitchFamily="18" charset="0"/>
                            </a:rPr>
                          </m:ctrlPr>
                        </m:radPr>
                        <m:deg/>
                        <m:e>
                          <m:nary>
                            <m:naryPr>
                              <m:chr m:val="∑"/>
                              <m:limLoc m:val="undOvr"/>
                              <m:ctrlPr>
                                <a:rPr lang="en-US" altLang="zh-CN" sz="2800" i="1">
                                  <a:latin typeface="Cambria Math" panose="02040503050406030204" pitchFamily="18" charset="0"/>
                                  <a:cs typeface="Cambria Math" panose="02040503050406030204" pitchFamily="18" charset="0"/>
                                </a:rPr>
                              </m:ctrlPr>
                            </m:naryPr>
                            <m:sub>
                              <m:r>
                                <a:rPr lang="en-US" altLang="zh-CN" sz="2800" i="1">
                                  <a:latin typeface="Cambria Math" panose="02040503050406030204" pitchFamily="18" charset="0"/>
                                  <a:cs typeface="Cambria Math" panose="02040503050406030204" pitchFamily="18" charset="0"/>
                                </a:rPr>
                                <m:t>𝑘</m:t>
                              </m:r>
                              <m:r>
                                <a:rPr lang="en-US" altLang="zh-CN" sz="2800" i="1">
                                  <a:latin typeface="Cambria Math" panose="02040503050406030204" pitchFamily="18" charset="0"/>
                                  <a:cs typeface="Cambria Math" panose="02040503050406030204" pitchFamily="18" charset="0"/>
                                </a:rPr>
                                <m:t>=1</m:t>
                              </m:r>
                            </m:sub>
                            <m:sup>
                              <m:r>
                                <a:rPr lang="en-US" altLang="zh-CN" sz="2800" i="1">
                                  <a:latin typeface="Cambria Math" panose="02040503050406030204" pitchFamily="18" charset="0"/>
                                  <a:cs typeface="Cambria Math" panose="02040503050406030204" pitchFamily="18" charset="0"/>
                                </a:rPr>
                                <m:t>𝑛</m:t>
                              </m:r>
                            </m:sup>
                            <m:e>
                              <m:sSup>
                                <m:sSupPr>
                                  <m:ctrlPr>
                                    <a:rPr lang="en-US" altLang="zh-CN" sz="2800" i="1">
                                      <a:latin typeface="Cambria Math" panose="02040503050406030204" pitchFamily="18" charset="0"/>
                                      <a:cs typeface="Cambria Math" panose="02040503050406030204" pitchFamily="18" charset="0"/>
                                    </a:rPr>
                                  </m:ctrlPr>
                                </m:sSupPr>
                                <m:e>
                                  <m:r>
                                    <a:rPr lang="en-US" altLang="zh-CN" sz="2800" i="1">
                                      <a:latin typeface="Cambria Math" panose="02040503050406030204" pitchFamily="18" charset="0"/>
                                      <a:cs typeface="Cambria Math" panose="02040503050406030204" pitchFamily="18" charset="0"/>
                                    </a:rPr>
                                    <m:t>(</m:t>
                                  </m:r>
                                  <m:sSub>
                                    <m:sSubPr>
                                      <m:ctrlPr>
                                        <a:rPr lang="en-US" altLang="zh-CN" sz="2800" i="1">
                                          <a:latin typeface="Cambria Math" panose="02040503050406030204" pitchFamily="18" charset="0"/>
                                          <a:cs typeface="Cambria Math" panose="02040503050406030204" pitchFamily="18" charset="0"/>
                                        </a:rPr>
                                      </m:ctrlPr>
                                    </m:sSubPr>
                                    <m:e>
                                      <m:r>
                                        <a:rPr lang="en-US" altLang="zh-CN" sz="2800" i="1">
                                          <a:latin typeface="Cambria Math" panose="02040503050406030204" pitchFamily="18" charset="0"/>
                                          <a:cs typeface="Cambria Math" panose="02040503050406030204" pitchFamily="18" charset="0"/>
                                        </a:rPr>
                                        <m:t>𝑥</m:t>
                                      </m:r>
                                    </m:e>
                                    <m:sub>
                                      <m:r>
                                        <a:rPr lang="en-US" altLang="zh-CN" sz="2800" i="1">
                                          <a:latin typeface="Cambria Math" panose="02040503050406030204" pitchFamily="18" charset="0"/>
                                          <a:cs typeface="Cambria Math" panose="02040503050406030204" pitchFamily="18" charset="0"/>
                                        </a:rPr>
                                        <m:t>1</m:t>
                                      </m:r>
                                      <m:r>
                                        <a:rPr lang="en-US" altLang="zh-CN" sz="2800" i="1">
                                          <a:latin typeface="Cambria Math" panose="02040503050406030204" pitchFamily="18" charset="0"/>
                                          <a:cs typeface="Cambria Math" panose="02040503050406030204" pitchFamily="18" charset="0"/>
                                        </a:rPr>
                                        <m:t>𝑘</m:t>
                                      </m:r>
                                    </m:sub>
                                  </m:sSub>
                                  <m:r>
                                    <a:rPr lang="en-US" altLang="zh-CN" sz="2800" i="1">
                                      <a:latin typeface="Cambria Math" panose="02040503050406030204" pitchFamily="18" charset="0"/>
                                      <a:cs typeface="Cambria Math" panose="02040503050406030204" pitchFamily="18" charset="0"/>
                                    </a:rPr>
                                    <m:t>−</m:t>
                                  </m:r>
                                  <m:sSub>
                                    <m:sSubPr>
                                      <m:ctrlPr>
                                        <a:rPr lang="en-US" altLang="zh-CN" sz="2800" i="1">
                                          <a:latin typeface="Cambria Math" panose="02040503050406030204" pitchFamily="18" charset="0"/>
                                          <a:cs typeface="Cambria Math" panose="02040503050406030204" pitchFamily="18" charset="0"/>
                                        </a:rPr>
                                      </m:ctrlPr>
                                    </m:sSubPr>
                                    <m:e>
                                      <m:r>
                                        <a:rPr lang="en-US" altLang="zh-CN" sz="2800" i="1">
                                          <a:latin typeface="Cambria Math" panose="02040503050406030204" pitchFamily="18" charset="0"/>
                                          <a:cs typeface="Cambria Math" panose="02040503050406030204" pitchFamily="18" charset="0"/>
                                        </a:rPr>
                                        <m:t>𝑥</m:t>
                                      </m:r>
                                    </m:e>
                                    <m:sub>
                                      <m:r>
                                        <a:rPr lang="en-US" altLang="zh-CN" sz="2800" i="1">
                                          <a:latin typeface="Cambria Math" panose="02040503050406030204" pitchFamily="18" charset="0"/>
                                          <a:cs typeface="Cambria Math" panose="02040503050406030204" pitchFamily="18" charset="0"/>
                                        </a:rPr>
                                        <m:t>2</m:t>
                                      </m:r>
                                      <m:r>
                                        <a:rPr lang="en-US" altLang="zh-CN" sz="2800" i="1">
                                          <a:latin typeface="Cambria Math" panose="02040503050406030204" pitchFamily="18" charset="0"/>
                                          <a:cs typeface="Cambria Math" panose="02040503050406030204" pitchFamily="18" charset="0"/>
                                        </a:rPr>
                                        <m:t>𝑘</m:t>
                                      </m:r>
                                    </m:sub>
                                  </m:sSub>
                                  <m:r>
                                    <a:rPr lang="en-US" altLang="zh-CN" sz="2800" i="1">
                                      <a:latin typeface="Cambria Math" panose="02040503050406030204" pitchFamily="18" charset="0"/>
                                      <a:cs typeface="Cambria Math" panose="02040503050406030204" pitchFamily="18" charset="0"/>
                                    </a:rPr>
                                    <m:t>)</m:t>
                                  </m:r>
                                </m:e>
                                <m:sup>
                                  <m:r>
                                    <a:rPr lang="en-US" altLang="zh-CN" sz="2800" i="1">
                                      <a:latin typeface="Cambria Math" panose="02040503050406030204" pitchFamily="18" charset="0"/>
                                      <a:cs typeface="Cambria Math" panose="02040503050406030204" pitchFamily="18" charset="0"/>
                                    </a:rPr>
                                    <m:t>2</m:t>
                                  </m:r>
                                </m:sup>
                              </m:sSup>
                            </m:e>
                          </m:nary>
                        </m:e>
                      </m:rad>
                    </m:oMath>
                  </m:oMathPara>
                </a14:m>
                <a:endParaRPr lang="zh-CN" altLang="en-US" dirty="0"/>
              </a:p>
            </p:txBody>
          </p:sp>
        </mc:Choice>
        <mc:Fallback xmlns="">
          <p:sp>
            <p:nvSpPr>
              <p:cNvPr id="6" name="文本框 5"/>
              <p:cNvSpPr txBox="1">
                <a:spLocks noRot="1" noChangeAspect="1" noMove="1" noResize="1" noEditPoints="1" noAdjustHandles="1" noChangeArrowheads="1" noChangeShapeType="1" noTextEdit="1"/>
              </p:cNvSpPr>
              <p:nvPr/>
            </p:nvSpPr>
            <p:spPr>
              <a:xfrm>
                <a:off x="6055519" y="1318066"/>
                <a:ext cx="4524700" cy="1768626"/>
              </a:xfrm>
              <a:prstGeom prst="rect">
                <a:avLst/>
              </a:prstGeom>
              <a:blipFill>
                <a:blip r:embed="rId3"/>
                <a:stretch>
                  <a:fillRect/>
                </a:stretch>
              </a:blipFill>
            </p:spPr>
            <p:txBody>
              <a:bodyPr/>
              <a:lstStyle/>
              <a:p>
                <a:r>
                  <a:rPr lang="zh-CN" altLang="en-US">
                    <a:noFill/>
                  </a:rPr>
                  <a:t> </a:t>
                </a:r>
              </a:p>
            </p:txBody>
          </p:sp>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BDF0FE-8C59-43F7-8D61-7FCE592169E0}"/>
              </a:ext>
            </a:extLst>
          </p:cNvPr>
          <p:cNvSpPr>
            <a:spLocks noGrp="1"/>
          </p:cNvSpPr>
          <p:nvPr>
            <p:ph type="title"/>
          </p:nvPr>
        </p:nvSpPr>
        <p:spPr/>
        <p:txBody>
          <a:bodyPr/>
          <a:lstStyle/>
          <a:p>
            <a:pPr algn="l"/>
            <a:r>
              <a:rPr/>
              <a:t>2.kNN算法</a:t>
            </a:r>
          </a:p>
        </p:txBody>
      </p:sp>
      <p:sp>
        <p:nvSpPr>
          <p:cNvPr id="3" name="内容占位符 2">
            <a:extLst>
              <a:ext uri="{FF2B5EF4-FFF2-40B4-BE49-F238E27FC236}">
                <a16:creationId xmlns:a16="http://schemas.microsoft.com/office/drawing/2014/main" id="{36DFB4A7-E616-4DDE-AEB4-39D15239EC80}"/>
              </a:ext>
            </a:extLst>
          </p:cNvPr>
          <p:cNvSpPr>
            <a:spLocks noGrp="1"/>
          </p:cNvSpPr>
          <p:nvPr>
            <p:ph idx="1"/>
          </p:nvPr>
        </p:nvSpPr>
        <p:spPr>
          <a:xfrm>
            <a:off x="609600" y="1600203"/>
            <a:ext cx="5524005" cy="4525963"/>
          </a:xfrm>
        </p:spPr>
        <p:txBody>
          <a:bodyPr>
            <a:normAutofit/>
          </a:bodyPr>
          <a:lstStyle/>
          <a:p>
            <a:r>
              <a:rPr sz="2200" b="1">
                <a:latin typeface="+mj-ea"/>
                <a:ea typeface="+mj-ea"/>
              </a:rPr>
              <a:t>常用的距离指标</a:t>
            </a:r>
            <a:r>
              <a:rPr sz="2200" b="1">
                <a:latin typeface="+mj-ea"/>
                <a:ea typeface="+mj-ea"/>
              </a:rPr>
              <a:t>：</a:t>
            </a:r>
          </a:p>
          <a:p>
            <a:pPr lvl="1"/>
            <a:r>
              <a:rPr sz="2200">
                <a:latin typeface="+mj-ea"/>
                <a:ea typeface="+mj-ea"/>
              </a:rPr>
              <a:t>曼哈顿距离：</a:t>
            </a:r>
          </a:p>
          <a:p>
            <a:pPr lvl="1">
              <a:lnSpc>
                <a:spcPct val="130000"/>
              </a:lnSpc>
            </a:pPr>
            <a:r>
              <a:rPr sz="2200" kern="100">
                <a:latin typeface="+mj-ea"/>
                <a:ea typeface="+mj-ea"/>
              </a:rPr>
              <a:t>想象你在城市道路里，要从一个十字路口开车到另外一个十字路口，驾驶距离是两点间的直线距离吗？显然不是，除非你能穿越大楼。实际驾驶距离就是这个</a:t>
            </a:r>
            <a:r>
              <a:rPr sz="2200" kern="100">
                <a:latin typeface="+mj-ea"/>
                <a:ea typeface="+mj-ea"/>
              </a:rPr>
              <a:t>“</a:t>
            </a:r>
            <a:r>
              <a:rPr sz="2200" kern="100">
                <a:latin typeface="+mj-ea"/>
                <a:ea typeface="+mj-ea"/>
              </a:rPr>
              <a:t>曼哈顿距离</a:t>
            </a:r>
            <a:r>
              <a:rPr sz="2200" kern="100">
                <a:latin typeface="+mj-ea"/>
                <a:ea typeface="+mj-ea"/>
              </a:rPr>
              <a:t>”</a:t>
            </a:r>
            <a:r>
              <a:rPr sz="2200" kern="100">
                <a:latin typeface="+mj-ea"/>
                <a:ea typeface="+mj-ea"/>
              </a:rPr>
              <a:t>。</a:t>
            </a:r>
          </a:p>
          <a:p>
            <a:r>
              <a:rPr sz="2200"/>
              <a:t/>
            </a:r>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10244" name="Picture 4" descr="https://img-blog.csdnimg.cn/img_convert/e86cf6b35a5b16cd38b821cb6526bd1f.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26687" y="2717675"/>
            <a:ext cx="3733594" cy="373359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6" name="文本框 5"/>
              <p:cNvSpPr txBox="1"/>
              <p:nvPr/>
            </p:nvSpPr>
            <p:spPr>
              <a:xfrm>
                <a:off x="6133401" y="1444244"/>
                <a:ext cx="3354070" cy="1104900"/>
              </a:xfrm>
              <a:prstGeom prst="rect">
                <a:avLst/>
              </a:prstGeom>
              <a:noFill/>
            </p:spPr>
            <p:txBody>
              <a:bodyPr wrap="none" rtlCol="0" anchor="t">
                <a:spAutoFit/>
              </a:bodyPr>
              <a:lstStyle/>
              <a:p>
                <a:pPr algn="l"/>
                <a14:m>
                  <m:oMathPara xmlns:m="http://schemas.openxmlformats.org/officeDocument/2006/math">
                    <m:oMath>
                      <m:r>
                        <a:rPr lang="en-US" altLang="zh-CN" i="1">
                          <a:latin typeface="Cambria Math" panose="02040503050406030204" pitchFamily="18" charset="0"/>
                          <a:cs typeface="Cambria Math" panose="02040503050406030204" pitchFamily="18" charset="0"/>
                        </a:rPr>
                        <m:t>𝑑</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𝑎</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𝑏</m:t>
                      </m:r>
                      <m:r>
                        <a:rPr lang="en-US" altLang="zh-CN" i="1">
                          <a:latin typeface="Cambria Math" panose="02040503050406030204" pitchFamily="18" charset="0"/>
                          <a:cs typeface="Cambria Math" panose="02040503050406030204" pitchFamily="18" charset="0"/>
                        </a:rPr>
                        <m:t>)=</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𝑘</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𝑛</m:t>
                          </m:r>
                        </m:sup>
                        <m:e>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1</m:t>
                              </m:r>
                              <m:r>
                                <a:rPr lang="en-US" altLang="zh-CN" i="1">
                                  <a:latin typeface="Cambria Math" panose="02040503050406030204" pitchFamily="18" charset="0"/>
                                  <a:cs typeface="Cambria Math" panose="02040503050406030204" pitchFamily="18" charset="0"/>
                                </a:rPr>
                                <m:t>𝑘</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2</m:t>
                              </m:r>
                              <m:r>
                                <a:rPr lang="en-US" altLang="zh-CN" i="1">
                                  <a:latin typeface="Cambria Math" panose="02040503050406030204" pitchFamily="18" charset="0"/>
                                  <a:cs typeface="Cambria Math" panose="02040503050406030204" pitchFamily="18" charset="0"/>
                                </a:rPr>
                                <m:t>𝑘</m:t>
                              </m:r>
                            </m:sub>
                          </m:sSub>
                          <m:r>
                            <a:rPr lang="en-US" altLang="zh-CN" i="1">
                              <a:latin typeface="Cambria Math" panose="02040503050406030204" pitchFamily="18" charset="0"/>
                              <a:cs typeface="Cambria Math" panose="02040503050406030204" pitchFamily="18" charset="0"/>
                            </a:rPr>
                            <m:t>|</m:t>
                          </m:r>
                        </m:e>
                      </m:nary>
                    </m:oMath>
                  </m:oMathPara>
                </a14:m>
                <a:endParaRPr lang="zh-CN" altLang="en-US"/>
              </a:p>
            </p:txBody>
          </p:sp>
        </mc:Choice>
        <mc:Fallback xmlns="">
          <p:sp>
            <p:nvSpPr>
              <p:cNvPr id="6" name="文本框 5"/>
              <p:cNvSpPr txBox="1">
                <a:spLocks noRot="1" noChangeAspect="1" noMove="1" noResize="1" noEditPoints="1" noAdjustHandles="1" noChangeArrowheads="1" noChangeShapeType="1" noTextEdit="1"/>
              </p:cNvSpPr>
              <p:nvPr/>
            </p:nvSpPr>
            <p:spPr>
              <a:xfrm>
                <a:off x="6133401" y="1444244"/>
                <a:ext cx="3354070" cy="1104900"/>
              </a:xfrm>
              <a:prstGeom prst="rect">
                <a:avLst/>
              </a:prstGeom>
              <a:blipFill rotWithShape="1">
                <a:blip r:embed="rId3"/>
                <a:stretch>
                  <a:fillRect l="-17" t="-23" r="17" b="23"/>
                </a:stretch>
              </a:blipFill>
            </p:spPr>
            <p:txBody>
              <a:bodyPr/>
              <a:lstStyle/>
              <a:p>
                <a:r>
                  <a:rPr lang="zh-CN" altLang="en-US">
                    <a:noFill/>
                  </a:rPr>
                  <a:t> </a:t>
                </a:r>
              </a:p>
            </p:txBody>
          </p:sp>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F8D172-F5DE-4983-B7D8-361C23C48706}"/>
              </a:ext>
            </a:extLst>
          </p:cNvPr>
          <p:cNvSpPr>
            <a:spLocks noGrp="1"/>
          </p:cNvSpPr>
          <p:nvPr>
            <p:ph type="title"/>
          </p:nvPr>
        </p:nvSpPr>
        <p:spPr/>
        <p:txBody>
          <a:bodyPr/>
          <a:lstStyle/>
          <a:p>
            <a:pPr algn="l"/>
            <a:r>
              <a:rPr/>
              <a:t>2.kNN算法</a:t>
            </a:r>
          </a:p>
        </p:txBody>
      </p:sp>
      <p:sp>
        <p:nvSpPr>
          <p:cNvPr id="3" name="内容占位符 2">
            <a:extLst>
              <a:ext uri="{FF2B5EF4-FFF2-40B4-BE49-F238E27FC236}">
                <a16:creationId xmlns:a16="http://schemas.microsoft.com/office/drawing/2014/main" id="{9DDD802C-1D85-40B1-AC31-FD49680B1475}"/>
              </a:ext>
            </a:extLst>
          </p:cNvPr>
          <p:cNvSpPr>
            <a:spLocks noGrp="1"/>
          </p:cNvSpPr>
          <p:nvPr>
            <p:ph idx="1"/>
          </p:nvPr>
        </p:nvSpPr>
        <p:spPr>
          <a:xfrm>
            <a:off x="609600" y="1600203"/>
            <a:ext cx="5571506" cy="4525963"/>
          </a:xfrm>
        </p:spPr>
        <p:txBody>
          <a:bodyPr>
            <a:normAutofit/>
          </a:bodyPr>
          <a:lstStyle/>
          <a:p>
            <a:r>
              <a:rPr sz="2000" b="1">
                <a:latin typeface="+mj-ea"/>
                <a:ea typeface="+mj-ea"/>
              </a:rPr>
              <a:t>常用的距离指标</a:t>
            </a:r>
            <a:r>
              <a:rPr sz="2000" b="1">
                <a:latin typeface="+mj-ea"/>
                <a:ea typeface="+mj-ea"/>
              </a:rPr>
              <a:t>：</a:t>
            </a:r>
          </a:p>
          <a:p>
            <a:pPr lvl="1"/>
            <a:r>
              <a:rPr sz="2000">
                <a:latin typeface="+mj-ea"/>
                <a:ea typeface="+mj-ea"/>
              </a:rPr>
              <a:t>闵可夫斯基</a:t>
            </a:r>
            <a:r>
              <a:rPr sz="2000">
                <a:latin typeface="+mj-ea"/>
                <a:ea typeface="+mj-ea"/>
              </a:rPr>
              <a:t>距离：</a:t>
            </a:r>
          </a:p>
          <a:p>
            <a:pPr lvl="1"/>
            <a:r>
              <a:rPr sz="2000">
                <a:latin typeface="+mj-ea"/>
                <a:ea typeface="+mj-ea"/>
              </a:rPr>
              <a:t>距离度量的一般化形式</a:t>
            </a:r>
          </a:p>
          <a:p>
            <a:pPr>
              <a:lnSpc>
                <a:spcPct val="150000"/>
              </a:lnSpc>
            </a:pPr>
            <a:r>
              <a:rPr sz="2000" i="1" kern="100">
                <a:latin typeface="Times New Roman"/>
                <a:ea typeface="+mj-ea"/>
                <a:cs typeface="Times New Roman"/>
              </a:rPr>
              <a:t>p</a:t>
            </a:r>
            <a:r>
              <a:rPr sz="2000" kern="100">
                <a:latin typeface="Times New Roman"/>
                <a:ea typeface="+mj-ea"/>
                <a:cs typeface="Times New Roman"/>
              </a:rPr>
              <a:t>=2</a:t>
            </a:r>
            <a:r>
              <a:rPr sz="2000" kern="100">
                <a:latin typeface="+mj-ea"/>
                <a:ea typeface="+mj-ea"/>
                <a:cs typeface="Times New Roman"/>
              </a:rPr>
              <a:t>即为欧氏距离，</a:t>
            </a:r>
          </a:p>
          <a:p>
            <a:pPr>
              <a:lnSpc>
                <a:spcPct val="150000"/>
              </a:lnSpc>
            </a:pPr>
            <a:r>
              <a:rPr sz="2000" i="1" kern="100">
                <a:latin typeface="Times New Roman"/>
                <a:ea typeface="+mj-ea"/>
                <a:cs typeface="Times New Roman"/>
              </a:rPr>
              <a:t>p</a:t>
            </a:r>
            <a:r>
              <a:rPr sz="2000" kern="100">
                <a:latin typeface="Times New Roman"/>
                <a:ea typeface="+mj-ea"/>
                <a:cs typeface="Times New Roman"/>
              </a:rPr>
              <a:t>=1</a:t>
            </a:r>
            <a:r>
              <a:rPr sz="2000" kern="100">
                <a:latin typeface="+mj-ea"/>
                <a:ea typeface="+mj-ea"/>
                <a:cs typeface="Times New Roman"/>
              </a:rPr>
              <a:t>时则为曼哈顿距离。</a:t>
            </a:r>
          </a:p>
          <a:p>
            <a:pPr>
              <a:lnSpc>
                <a:spcPct val="150000"/>
              </a:lnSpc>
            </a:pPr>
            <a:r>
              <a:rPr sz="2000" kern="100">
                <a:latin typeface="+mj-ea"/>
                <a:ea typeface="+mj-ea"/>
                <a:cs typeface="Times New Roman"/>
              </a:rPr>
              <a:t>当</a:t>
            </a:r>
            <a:r>
              <a:rPr sz="2000" i="1" kern="100">
                <a:latin typeface="Times New Roman"/>
                <a:ea typeface="+mj-ea"/>
                <a:cs typeface="Times New Roman"/>
              </a:rPr>
              <a:t>p</a:t>
            </a:r>
            <a:r>
              <a:rPr sz="2000" kern="100">
                <a:latin typeface="+mj-ea"/>
                <a:ea typeface="+mj-ea"/>
                <a:cs typeface="Times New Roman"/>
              </a:rPr>
              <a:t>取无穷时的极限情况下，可以得到切比雪夫距离</a:t>
            </a:r>
          </a:p>
          <a:p>
            <a:pPr lvl="1"/>
            <a:r>
              <a:rPr sz="2000">
                <a:latin typeface="+mj-ea"/>
                <a:ea typeface="+mj-ea"/>
              </a:rPr>
              <a:t/>
            </a:r>
          </a:p>
          <a:p>
            <a:r>
              <a:rPr sz="2000"/>
              <a:t/>
            </a:r>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mc:AlternateContent xmlns:mc="http://schemas.openxmlformats.org/markup-compatibility/2006" xmlns:a14="http://schemas.microsoft.com/office/drawing/2010/main">
        <mc:Choice Requires="a14">
          <p:sp>
            <p:nvSpPr>
              <p:cNvPr id="6" name="文本框 5"/>
              <p:cNvSpPr txBox="1"/>
              <p:nvPr/>
            </p:nvSpPr>
            <p:spPr>
              <a:xfrm>
                <a:off x="6055519" y="1976867"/>
                <a:ext cx="6096000" cy="1553759"/>
              </a:xfrm>
              <a:prstGeom prst="rect">
                <a:avLst/>
              </a:prstGeom>
              <a:noFill/>
            </p:spPr>
            <p:txBody>
              <a:bodyPr wrap="square" rtlCol="0" anchor="t">
                <a:spAutoFit/>
              </a:bodyPr>
              <a:lstStyle/>
              <a:p>
                <a:pPr algn="l"/>
                <a14:m>
                  <m:oMathPara xmlns:m="http://schemas.openxmlformats.org/officeDocument/2006/math">
                    <m:oMath>
                      <m:r>
                        <a:rPr lang="en-US" altLang="zh-CN" sz="3200" i="1">
                          <a:latin typeface="Cambria Math" panose="02040503050406030204" pitchFamily="18" charset="0"/>
                          <a:cs typeface="Cambria Math" panose="02040503050406030204" pitchFamily="18" charset="0"/>
                        </a:rPr>
                        <m:t>𝑑</m:t>
                      </m:r>
                      <m:r>
                        <a:rPr lang="en-US" altLang="zh-CN" sz="3200" i="1">
                          <a:latin typeface="Cambria Math" panose="02040503050406030204" pitchFamily="18" charset="0"/>
                          <a:cs typeface="Cambria Math" panose="02040503050406030204" pitchFamily="18" charset="0"/>
                        </a:rPr>
                        <m:t>(</m:t>
                      </m:r>
                      <m:r>
                        <a:rPr lang="en-US" altLang="zh-CN" sz="3200" i="1">
                          <a:latin typeface="Cambria Math" panose="02040503050406030204" pitchFamily="18" charset="0"/>
                          <a:cs typeface="Cambria Math" panose="02040503050406030204" pitchFamily="18" charset="0"/>
                        </a:rPr>
                        <m:t>𝑎</m:t>
                      </m:r>
                      <m:r>
                        <a:rPr lang="en-US" altLang="zh-CN" sz="3200" i="1">
                          <a:latin typeface="Cambria Math" panose="02040503050406030204" pitchFamily="18" charset="0"/>
                          <a:cs typeface="Cambria Math" panose="02040503050406030204" pitchFamily="18" charset="0"/>
                        </a:rPr>
                        <m:t>,</m:t>
                      </m:r>
                      <m:r>
                        <a:rPr lang="en-US" altLang="zh-CN" sz="3200" i="1">
                          <a:latin typeface="Cambria Math" panose="02040503050406030204" pitchFamily="18" charset="0"/>
                          <a:cs typeface="Cambria Math" panose="02040503050406030204" pitchFamily="18" charset="0"/>
                        </a:rPr>
                        <m:t>𝑏</m:t>
                      </m:r>
                      <m:r>
                        <a:rPr lang="en-US" altLang="zh-CN" sz="3200" i="1">
                          <a:latin typeface="Cambria Math" panose="02040503050406030204" pitchFamily="18" charset="0"/>
                          <a:cs typeface="Cambria Math" panose="02040503050406030204" pitchFamily="18" charset="0"/>
                        </a:rPr>
                        <m:t>)=</m:t>
                      </m:r>
                      <m:sSup>
                        <m:sSupPr>
                          <m:ctrlPr>
                            <a:rPr lang="en-US" altLang="zh-CN" sz="3200" i="1">
                              <a:latin typeface="Cambria Math" panose="02040503050406030204" pitchFamily="18" charset="0"/>
                              <a:cs typeface="Cambria Math" panose="02040503050406030204" pitchFamily="18" charset="0"/>
                            </a:rPr>
                          </m:ctrlPr>
                        </m:sSupPr>
                        <m:e>
                          <m:d>
                            <m:dPr>
                              <m:ctrlPr>
                                <a:rPr lang="en-US" altLang="zh-CN" sz="3200" i="1">
                                  <a:latin typeface="Cambria Math" panose="02040503050406030204" pitchFamily="18" charset="0"/>
                                  <a:cs typeface="Cambria Math" panose="02040503050406030204" pitchFamily="18" charset="0"/>
                                </a:rPr>
                              </m:ctrlPr>
                            </m:dPr>
                            <m:e>
                              <m:nary>
                                <m:naryPr>
                                  <m:chr m:val="∑"/>
                                  <m:limLoc m:val="undOvr"/>
                                  <m:ctrlPr>
                                    <a:rPr lang="en-US" altLang="zh-CN" sz="3200" i="1">
                                      <a:latin typeface="Cambria Math" panose="02040503050406030204" pitchFamily="18" charset="0"/>
                                      <a:cs typeface="Cambria Math" panose="02040503050406030204" pitchFamily="18" charset="0"/>
                                    </a:rPr>
                                  </m:ctrlPr>
                                </m:naryPr>
                                <m:sub>
                                  <m:r>
                                    <a:rPr lang="en-US" altLang="zh-CN" sz="3200" i="1">
                                      <a:latin typeface="Cambria Math" panose="02040503050406030204" pitchFamily="18" charset="0"/>
                                      <a:cs typeface="Cambria Math" panose="02040503050406030204" pitchFamily="18" charset="0"/>
                                    </a:rPr>
                                    <m:t>𝑘</m:t>
                                  </m:r>
                                  <m:r>
                                    <a:rPr lang="en-US" altLang="zh-CN" sz="3200" i="1">
                                      <a:latin typeface="Cambria Math" panose="02040503050406030204" pitchFamily="18" charset="0"/>
                                      <a:cs typeface="Cambria Math" panose="02040503050406030204" pitchFamily="18" charset="0"/>
                                    </a:rPr>
                                    <m:t>=1</m:t>
                                  </m:r>
                                </m:sub>
                                <m:sup>
                                  <m:r>
                                    <a:rPr lang="en-US" altLang="zh-CN" sz="3200" i="1">
                                      <a:latin typeface="Cambria Math" panose="02040503050406030204" pitchFamily="18" charset="0"/>
                                      <a:cs typeface="Cambria Math" panose="02040503050406030204" pitchFamily="18" charset="0"/>
                                    </a:rPr>
                                    <m:t>𝑛</m:t>
                                  </m:r>
                                </m:sup>
                                <m:e>
                                  <m:sSup>
                                    <m:sSupPr>
                                      <m:ctrlPr>
                                        <a:rPr lang="en-US" altLang="zh-CN" sz="3200" i="1">
                                          <a:latin typeface="Cambria Math" panose="02040503050406030204" pitchFamily="18" charset="0"/>
                                          <a:cs typeface="Cambria Math" panose="02040503050406030204" pitchFamily="18" charset="0"/>
                                        </a:rPr>
                                      </m:ctrlPr>
                                    </m:sSupPr>
                                    <m:e>
                                      <m:r>
                                        <a:rPr lang="en-US" altLang="zh-CN" sz="3200" i="1">
                                          <a:latin typeface="Cambria Math" panose="02040503050406030204" pitchFamily="18" charset="0"/>
                                          <a:cs typeface="Cambria Math" panose="02040503050406030204" pitchFamily="18" charset="0"/>
                                        </a:rPr>
                                        <m:t>|</m:t>
                                      </m:r>
                                      <m:sSub>
                                        <m:sSubPr>
                                          <m:ctrlPr>
                                            <a:rPr lang="en-US" altLang="zh-CN" sz="3200" i="1">
                                              <a:latin typeface="Cambria Math" panose="02040503050406030204" pitchFamily="18" charset="0"/>
                                              <a:cs typeface="Cambria Math" panose="02040503050406030204" pitchFamily="18" charset="0"/>
                                            </a:rPr>
                                          </m:ctrlPr>
                                        </m:sSubPr>
                                        <m:e>
                                          <m:r>
                                            <a:rPr lang="en-US" altLang="zh-CN" sz="3200" i="1">
                                              <a:latin typeface="Cambria Math" panose="02040503050406030204" pitchFamily="18" charset="0"/>
                                              <a:cs typeface="Cambria Math" panose="02040503050406030204" pitchFamily="18" charset="0"/>
                                            </a:rPr>
                                            <m:t>𝑥</m:t>
                                          </m:r>
                                        </m:e>
                                        <m:sub>
                                          <m:r>
                                            <a:rPr lang="en-US" altLang="zh-CN" sz="3200" i="1">
                                              <a:latin typeface="Cambria Math" panose="02040503050406030204" pitchFamily="18" charset="0"/>
                                              <a:cs typeface="Cambria Math" panose="02040503050406030204" pitchFamily="18" charset="0"/>
                                            </a:rPr>
                                            <m:t>1</m:t>
                                          </m:r>
                                          <m:r>
                                            <a:rPr lang="en-US" altLang="zh-CN" sz="3200" i="1">
                                              <a:latin typeface="Cambria Math" panose="02040503050406030204" pitchFamily="18" charset="0"/>
                                              <a:cs typeface="Cambria Math" panose="02040503050406030204" pitchFamily="18" charset="0"/>
                                            </a:rPr>
                                            <m:t>𝑘</m:t>
                                          </m:r>
                                        </m:sub>
                                      </m:sSub>
                                      <m:r>
                                        <a:rPr lang="en-US" altLang="zh-CN" sz="3200" i="1">
                                          <a:latin typeface="Cambria Math" panose="02040503050406030204" pitchFamily="18" charset="0"/>
                                          <a:cs typeface="Cambria Math" panose="02040503050406030204" pitchFamily="18" charset="0"/>
                                        </a:rPr>
                                        <m:t>−</m:t>
                                      </m:r>
                                      <m:sSub>
                                        <m:sSubPr>
                                          <m:ctrlPr>
                                            <a:rPr lang="en-US" altLang="zh-CN" sz="3200" i="1">
                                              <a:latin typeface="Cambria Math" panose="02040503050406030204" pitchFamily="18" charset="0"/>
                                              <a:cs typeface="Cambria Math" panose="02040503050406030204" pitchFamily="18" charset="0"/>
                                            </a:rPr>
                                          </m:ctrlPr>
                                        </m:sSubPr>
                                        <m:e>
                                          <m:r>
                                            <a:rPr lang="en-US" altLang="zh-CN" sz="3200" i="1">
                                              <a:latin typeface="Cambria Math" panose="02040503050406030204" pitchFamily="18" charset="0"/>
                                              <a:cs typeface="Cambria Math" panose="02040503050406030204" pitchFamily="18" charset="0"/>
                                            </a:rPr>
                                            <m:t>𝑥</m:t>
                                          </m:r>
                                        </m:e>
                                        <m:sub>
                                          <m:r>
                                            <a:rPr lang="en-US" altLang="zh-CN" sz="3200" i="1">
                                              <a:latin typeface="Cambria Math" panose="02040503050406030204" pitchFamily="18" charset="0"/>
                                              <a:cs typeface="Cambria Math" panose="02040503050406030204" pitchFamily="18" charset="0"/>
                                            </a:rPr>
                                            <m:t>2</m:t>
                                          </m:r>
                                          <m:r>
                                            <a:rPr lang="en-US" altLang="zh-CN" sz="3200" i="1">
                                              <a:latin typeface="Cambria Math" panose="02040503050406030204" pitchFamily="18" charset="0"/>
                                              <a:cs typeface="Cambria Math" panose="02040503050406030204" pitchFamily="18" charset="0"/>
                                            </a:rPr>
                                            <m:t>𝑘</m:t>
                                          </m:r>
                                        </m:sub>
                                      </m:sSub>
                                      <m:r>
                                        <a:rPr lang="en-US" altLang="zh-CN" sz="3200" i="1">
                                          <a:latin typeface="Cambria Math" panose="02040503050406030204" pitchFamily="18" charset="0"/>
                                          <a:cs typeface="Cambria Math" panose="02040503050406030204" pitchFamily="18" charset="0"/>
                                        </a:rPr>
                                        <m:t>|</m:t>
                                      </m:r>
                                    </m:e>
                                    <m:sup>
                                      <m:r>
                                        <a:rPr lang="en-US" altLang="zh-CN" sz="3200" i="1">
                                          <a:latin typeface="Cambria Math" panose="02040503050406030204" pitchFamily="18" charset="0"/>
                                          <a:cs typeface="Cambria Math" panose="02040503050406030204" pitchFamily="18" charset="0"/>
                                        </a:rPr>
                                        <m:t>𝑝</m:t>
                                      </m:r>
                                    </m:sup>
                                  </m:sSup>
                                </m:e>
                              </m:nary>
                            </m:e>
                          </m:d>
                        </m:e>
                        <m:sup>
                          <m:r>
                            <a:rPr lang="en-US" altLang="zh-CN" sz="3200" i="1">
                              <a:latin typeface="Cambria Math" panose="02040503050406030204" pitchFamily="18" charset="0"/>
                              <a:cs typeface="Cambria Math" panose="02040503050406030204" pitchFamily="18" charset="0"/>
                            </a:rPr>
                            <m:t>1/</m:t>
                          </m:r>
                          <m:r>
                            <a:rPr lang="en-US" altLang="zh-CN" sz="3200" i="1">
                              <a:latin typeface="Cambria Math" panose="02040503050406030204" pitchFamily="18" charset="0"/>
                              <a:cs typeface="Cambria Math" panose="02040503050406030204" pitchFamily="18" charset="0"/>
                            </a:rPr>
                            <m:t>𝑝</m:t>
                          </m:r>
                        </m:sup>
                      </m:sSup>
                    </m:oMath>
                  </m:oMathPara>
                </a14:m>
                <a:endParaRPr lang="en-US" altLang="zh-CN" i="1" dirty="0">
                  <a:latin typeface="Cambria Math" panose="02040503050406030204" pitchFamily="18" charset="0"/>
                  <a:cs typeface="Cambria Math" panose="02040503050406030204" pitchFamily="18" charset="0"/>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6055519" y="1976867"/>
                <a:ext cx="6096000" cy="1553759"/>
              </a:xfrm>
              <a:prstGeom prst="rect">
                <a:avLst/>
              </a:prstGeom>
              <a:blipFill>
                <a:blip r:embed="rId2"/>
                <a:stretch>
                  <a:fillRect/>
                </a:stretch>
              </a:blipFill>
            </p:spPr>
            <p:txBody>
              <a:bodyPr/>
              <a:lstStyle/>
              <a:p>
                <a:r>
                  <a:rPr lang="zh-CN" altLang="en-US">
                    <a:noFill/>
                  </a:rPr>
                  <a:t> </a:t>
                </a:r>
              </a:p>
            </p:txBody>
          </p:sp>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D992AF-ED77-4541-9581-58C65BC5FEEC}"/>
              </a:ext>
            </a:extLst>
          </p:cNvPr>
          <p:cNvSpPr>
            <a:spLocks noGrp="1"/>
          </p:cNvSpPr>
          <p:nvPr>
            <p:ph type="title"/>
          </p:nvPr>
        </p:nvSpPr>
        <p:spPr/>
        <p:txBody>
          <a:bodyPr/>
          <a:lstStyle/>
          <a:p>
            <a:pPr algn="l"/>
            <a:r>
              <a:rPr/>
              <a:t>2.kNN算法</a:t>
            </a:r>
          </a:p>
        </p:txBody>
      </p:sp>
      <p:sp>
        <p:nvSpPr>
          <p:cNvPr id="3" name="内容占位符 2"/>
          <p:cNvSpPr>
            <a:spLocks noGrp="1"/>
          </p:cNvSpPr>
          <p:nvPr>
            <p:ph idx="1"/>
          </p:nvPr>
        </p:nvSpPr>
        <p:spPr>
          <a:xfrm>
            <a:off x="609600" y="1600203"/>
            <a:ext cx="5126182" cy="4525963"/>
          </a:xfrm>
        </p:spPr>
        <p:txBody>
          <a:bodyPr/>
          <a:lstStyle/>
          <a:p>
            <a:r>
              <a:rPr lang="zh-CN" altLang="zh-CN" b="1" dirty="0">
                <a:latin typeface="+mj-ea"/>
                <a:ea typeface="+mj-ea"/>
              </a:rPr>
              <a:t>常用的距离指标</a:t>
            </a:r>
            <a:r>
              <a:rPr lang="zh-CN" altLang="en-US" b="1" dirty="0">
                <a:latin typeface="+mj-ea"/>
                <a:ea typeface="+mj-ea"/>
              </a:rPr>
              <a:t>：</a:t>
            </a:r>
            <a:endParaRPr lang="en-US" altLang="zh-CN" b="1" dirty="0">
              <a:latin typeface="+mj-ea"/>
              <a:ea typeface="+mj-ea"/>
            </a:endParaRPr>
          </a:p>
          <a:p>
            <a:pPr lvl="1"/>
            <a:r>
              <a:rPr lang="zh-CN" altLang="en-US" dirty="0">
                <a:latin typeface="+mj-ea"/>
                <a:ea typeface="+mj-ea"/>
              </a:rPr>
              <a:t>切比雪夫</a:t>
            </a:r>
            <a:r>
              <a:rPr lang="zh-CN" altLang="zh-CN" dirty="0">
                <a:latin typeface="+mj-ea"/>
                <a:ea typeface="+mj-ea"/>
              </a:rPr>
              <a:t>距离：</a:t>
            </a:r>
            <a:endParaRPr lang="en-US" altLang="zh-CN" dirty="0">
              <a:latin typeface="+mj-ea"/>
              <a:ea typeface="+mj-ea"/>
            </a:endParaRPr>
          </a:p>
          <a:p>
            <a:pPr>
              <a:lnSpc>
                <a:spcPct val="150000"/>
              </a:lnSpc>
            </a:pPr>
            <a:r>
              <a:rPr lang="zh-CN" altLang="en-US" sz="2000" dirty="0">
                <a:solidFill>
                  <a:srgbClr val="333333"/>
                </a:solidFill>
                <a:latin typeface="+mj-ea"/>
                <a:ea typeface="+mj-ea"/>
              </a:rPr>
              <a:t>二个点之间的距离定义是其各坐标数值差绝对值的</a:t>
            </a:r>
            <a:r>
              <a:rPr lang="zh-CN" altLang="en-US" sz="2000" dirty="0">
                <a:solidFill>
                  <a:srgbClr val="FF0000"/>
                </a:solidFill>
                <a:latin typeface="+mj-ea"/>
                <a:ea typeface="+mj-ea"/>
              </a:rPr>
              <a:t>最大值</a:t>
            </a:r>
            <a:r>
              <a:rPr lang="zh-CN" altLang="en-US" sz="2000" dirty="0">
                <a:solidFill>
                  <a:srgbClr val="333333"/>
                </a:solidFill>
                <a:latin typeface="+mj-ea"/>
                <a:ea typeface="+mj-ea"/>
              </a:rPr>
              <a:t>。</a:t>
            </a:r>
            <a:endParaRPr lang="en-US" altLang="zh-CN" sz="2000" dirty="0">
              <a:solidFill>
                <a:srgbClr val="333333"/>
              </a:solidFill>
              <a:latin typeface="+mj-ea"/>
              <a:ea typeface="+mj-ea"/>
            </a:endParaRPr>
          </a:p>
          <a:p>
            <a:pPr>
              <a:lnSpc>
                <a:spcPct val="150000"/>
              </a:lnSpc>
            </a:pPr>
            <a:r>
              <a:rPr lang="zh-CN" altLang="en-US" sz="2000" dirty="0">
                <a:latin typeface="+mj-ea"/>
                <a:ea typeface="+mj-ea"/>
              </a:rPr>
              <a:t>国际象棋棋盘上二个位置间的切比雪夫距离是指王要从一个位子移至另一个位子需要走的步数。</a:t>
            </a:r>
            <a:endParaRPr lang="en-US" altLang="zh-CN" sz="2000" dirty="0">
              <a:latin typeface="+mj-ea"/>
              <a:ea typeface="+mj-ea"/>
            </a:endParaRPr>
          </a:p>
          <a:p>
            <a:endParaRPr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12292" name="Picture 4" descr="https://img2018.cnblogs.com/blog/1180694/201906/1180694-20190604000500090-154909521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2642239"/>
            <a:ext cx="4000500" cy="4152901"/>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6" name="文本框 5"/>
              <p:cNvSpPr txBox="1"/>
              <p:nvPr/>
            </p:nvSpPr>
            <p:spPr>
              <a:xfrm>
                <a:off x="5845746" y="1600454"/>
                <a:ext cx="4207819" cy="656013"/>
              </a:xfrm>
              <a:prstGeom prst="rect">
                <a:avLst/>
              </a:prstGeom>
              <a:noFill/>
            </p:spPr>
            <p:txBody>
              <a:bodyPr wrap="none" rtlCol="0" anchor="t">
                <a:spAutoFit/>
              </a:bodyPr>
              <a:lstStyle/>
              <a:p>
                <a:pPr algn="l"/>
                <a14:m>
                  <m:oMathPara xmlns:m="http://schemas.openxmlformats.org/officeDocument/2006/math">
                    <m:oMath>
                      <m:r>
                        <a:rPr lang="en-US" altLang="zh-CN" sz="2800" i="1">
                          <a:latin typeface="Cambria Math" panose="02040503050406030204" pitchFamily="18" charset="0"/>
                          <a:cs typeface="Cambria Math" panose="02040503050406030204" pitchFamily="18" charset="0"/>
                        </a:rPr>
                        <m:t>𝑑</m:t>
                      </m:r>
                      <m:r>
                        <a:rPr lang="en-US" altLang="zh-CN" sz="2800" i="1">
                          <a:latin typeface="Cambria Math" panose="02040503050406030204" pitchFamily="18" charset="0"/>
                          <a:cs typeface="Cambria Math" panose="02040503050406030204" pitchFamily="18" charset="0"/>
                        </a:rPr>
                        <m:t>(</m:t>
                      </m:r>
                      <m:r>
                        <a:rPr lang="en-US" altLang="zh-CN" sz="2800" i="1">
                          <a:latin typeface="Cambria Math" panose="02040503050406030204" pitchFamily="18" charset="0"/>
                          <a:cs typeface="Cambria Math" panose="02040503050406030204" pitchFamily="18" charset="0"/>
                        </a:rPr>
                        <m:t>𝑎</m:t>
                      </m:r>
                      <m:r>
                        <a:rPr lang="en-US" altLang="zh-CN" sz="2800" i="1">
                          <a:latin typeface="Cambria Math" panose="02040503050406030204" pitchFamily="18" charset="0"/>
                          <a:cs typeface="Cambria Math" panose="02040503050406030204" pitchFamily="18" charset="0"/>
                        </a:rPr>
                        <m:t>,</m:t>
                      </m:r>
                      <m:r>
                        <a:rPr lang="en-US" altLang="zh-CN" sz="2800" i="1">
                          <a:latin typeface="Cambria Math" panose="02040503050406030204" pitchFamily="18" charset="0"/>
                          <a:cs typeface="Cambria Math" panose="02040503050406030204" pitchFamily="18" charset="0"/>
                        </a:rPr>
                        <m:t>𝑏</m:t>
                      </m:r>
                      <m:r>
                        <a:rPr lang="en-US" altLang="zh-CN" sz="2800" i="1">
                          <a:latin typeface="Cambria Math" panose="02040503050406030204" pitchFamily="18" charset="0"/>
                          <a:cs typeface="Cambria Math" panose="02040503050406030204" pitchFamily="18" charset="0"/>
                        </a:rPr>
                        <m:t>)=</m:t>
                      </m:r>
                      <m:func>
                        <m:funcPr>
                          <m:ctrlPr>
                            <a:rPr lang="en-US" altLang="zh-CN" sz="2800" i="1">
                              <a:latin typeface="Cambria Math" panose="02040503050406030204" pitchFamily="18" charset="0"/>
                              <a:cs typeface="Cambria Math" panose="02040503050406030204" pitchFamily="18" charset="0"/>
                            </a:rPr>
                          </m:ctrlPr>
                        </m:funcPr>
                        <m:fName>
                          <m:limLow>
                            <m:limLowPr>
                              <m:ctrlPr>
                                <a:rPr lang="en-US" altLang="zh-CN" sz="2800">
                                  <a:latin typeface="Cambria Math" panose="02040503050406030204" pitchFamily="18" charset="0"/>
                                  <a:cs typeface="Cambria Math" panose="02040503050406030204" pitchFamily="18" charset="0"/>
                                </a:rPr>
                              </m:ctrlPr>
                            </m:limLowPr>
                            <m:e>
                              <m:r>
                                <m:rPr>
                                  <m:sty m:val="p"/>
                                </m:rPr>
                                <a:rPr lang="en-US" altLang="zh-CN" sz="2800">
                                  <a:latin typeface="Cambria Math" panose="02040503050406030204" pitchFamily="18" charset="0"/>
                                  <a:cs typeface="Cambria Math" panose="02040503050406030204" pitchFamily="18" charset="0"/>
                                </a:rPr>
                                <m:t>max</m:t>
                              </m:r>
                            </m:e>
                            <m:lim>
                              <m:r>
                                <a:rPr lang="en-US" altLang="zh-CN" sz="2800" i="1">
                                  <a:latin typeface="Cambria Math" panose="02040503050406030204" pitchFamily="18" charset="0"/>
                                  <a:cs typeface="Cambria Math" panose="02040503050406030204" pitchFamily="18" charset="0"/>
                                </a:rPr>
                                <m:t>𝑘</m:t>
                              </m:r>
                            </m:lim>
                          </m:limLow>
                        </m:fName>
                        <m:e>
                          <m:r>
                            <a:rPr lang="en-US" altLang="zh-CN" sz="2800" i="1">
                              <a:latin typeface="Cambria Math" panose="02040503050406030204" pitchFamily="18" charset="0"/>
                              <a:cs typeface="Cambria Math" panose="02040503050406030204" pitchFamily="18" charset="0"/>
                            </a:rPr>
                            <m:t>|</m:t>
                          </m:r>
                          <m:sSub>
                            <m:sSubPr>
                              <m:ctrlPr>
                                <a:rPr lang="en-US" altLang="zh-CN" sz="2800" i="1">
                                  <a:latin typeface="Cambria Math" panose="02040503050406030204" pitchFamily="18" charset="0"/>
                                  <a:cs typeface="Cambria Math" panose="02040503050406030204" pitchFamily="18" charset="0"/>
                                </a:rPr>
                              </m:ctrlPr>
                            </m:sSubPr>
                            <m:e>
                              <m:r>
                                <a:rPr lang="en-US" altLang="zh-CN" sz="2800" i="1">
                                  <a:latin typeface="Cambria Math" panose="02040503050406030204" pitchFamily="18" charset="0"/>
                                  <a:cs typeface="Cambria Math" panose="02040503050406030204" pitchFamily="18" charset="0"/>
                                </a:rPr>
                                <m:t>𝑥</m:t>
                              </m:r>
                            </m:e>
                            <m:sub>
                              <m:r>
                                <a:rPr lang="en-US" altLang="zh-CN" sz="2800" i="1">
                                  <a:latin typeface="Cambria Math" panose="02040503050406030204" pitchFamily="18" charset="0"/>
                                  <a:cs typeface="Cambria Math" panose="02040503050406030204" pitchFamily="18" charset="0"/>
                                </a:rPr>
                                <m:t>1</m:t>
                              </m:r>
                              <m:r>
                                <a:rPr lang="en-US" altLang="zh-CN" sz="2800" i="1">
                                  <a:latin typeface="Cambria Math" panose="02040503050406030204" pitchFamily="18" charset="0"/>
                                  <a:cs typeface="Cambria Math" panose="02040503050406030204" pitchFamily="18" charset="0"/>
                                </a:rPr>
                                <m:t>𝑘</m:t>
                              </m:r>
                            </m:sub>
                          </m:sSub>
                          <m:r>
                            <a:rPr lang="en-US" altLang="zh-CN" sz="2800" i="1">
                              <a:latin typeface="Cambria Math" panose="02040503050406030204" pitchFamily="18" charset="0"/>
                              <a:cs typeface="Cambria Math" panose="02040503050406030204" pitchFamily="18" charset="0"/>
                            </a:rPr>
                            <m:t>−</m:t>
                          </m:r>
                          <m:sSub>
                            <m:sSubPr>
                              <m:ctrlPr>
                                <a:rPr lang="en-US" altLang="zh-CN" sz="2800" i="1">
                                  <a:latin typeface="Cambria Math" panose="02040503050406030204" pitchFamily="18" charset="0"/>
                                  <a:cs typeface="Cambria Math" panose="02040503050406030204" pitchFamily="18" charset="0"/>
                                </a:rPr>
                              </m:ctrlPr>
                            </m:sSubPr>
                            <m:e>
                              <m:r>
                                <a:rPr lang="en-US" altLang="zh-CN" sz="2800" i="1">
                                  <a:latin typeface="Cambria Math" panose="02040503050406030204" pitchFamily="18" charset="0"/>
                                  <a:cs typeface="Cambria Math" panose="02040503050406030204" pitchFamily="18" charset="0"/>
                                </a:rPr>
                                <m:t>𝑥</m:t>
                              </m:r>
                            </m:e>
                            <m:sub>
                              <m:r>
                                <a:rPr lang="en-US" altLang="zh-CN" sz="2800" i="1">
                                  <a:latin typeface="Cambria Math" panose="02040503050406030204" pitchFamily="18" charset="0"/>
                                  <a:cs typeface="Cambria Math" panose="02040503050406030204" pitchFamily="18" charset="0"/>
                                </a:rPr>
                                <m:t>2</m:t>
                              </m:r>
                              <m:r>
                                <a:rPr lang="en-US" altLang="zh-CN" sz="2800" i="1">
                                  <a:latin typeface="Cambria Math" panose="02040503050406030204" pitchFamily="18" charset="0"/>
                                  <a:cs typeface="Cambria Math" panose="02040503050406030204" pitchFamily="18" charset="0"/>
                                </a:rPr>
                                <m:t>𝑘</m:t>
                              </m:r>
                            </m:sub>
                          </m:sSub>
                          <m:r>
                            <a:rPr lang="en-US" altLang="zh-CN" sz="2800" i="1">
                              <a:latin typeface="Cambria Math" panose="02040503050406030204" pitchFamily="18" charset="0"/>
                              <a:cs typeface="Cambria Math" panose="02040503050406030204" pitchFamily="18" charset="0"/>
                            </a:rPr>
                            <m:t>|</m:t>
                          </m:r>
                        </m:e>
                      </m:func>
                    </m:oMath>
                  </m:oMathPara>
                </a14:m>
                <a:endParaRPr lang="zh-CN" altLang="en-US" dirty="0"/>
              </a:p>
            </p:txBody>
          </p:sp>
        </mc:Choice>
        <mc:Fallback xmlns="">
          <p:sp>
            <p:nvSpPr>
              <p:cNvPr id="6" name="文本框 5"/>
              <p:cNvSpPr txBox="1">
                <a:spLocks noRot="1" noChangeAspect="1" noMove="1" noResize="1" noEditPoints="1" noAdjustHandles="1" noChangeArrowheads="1" noChangeShapeType="1" noTextEdit="1"/>
              </p:cNvSpPr>
              <p:nvPr/>
            </p:nvSpPr>
            <p:spPr>
              <a:xfrm>
                <a:off x="5845746" y="1600454"/>
                <a:ext cx="4207819" cy="656013"/>
              </a:xfrm>
              <a:prstGeom prst="rect">
                <a:avLst/>
              </a:prstGeom>
              <a:blipFill>
                <a:blip r:embed="rId3"/>
                <a:stretch>
                  <a:fillRect/>
                </a:stretch>
              </a:blipFill>
            </p:spPr>
            <p:txBody>
              <a:bodyPr/>
              <a:lstStyle/>
              <a:p>
                <a:r>
                  <a:rPr lang="zh-CN" altLang="en-US">
                    <a:noFill/>
                  </a:rPr>
                  <a:t> </a:t>
                </a:r>
              </a:p>
            </p:txBody>
          </p:sp>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390171-7A7E-400E-B483-EF0301E338FF}"/>
              </a:ext>
            </a:extLst>
          </p:cNvPr>
          <p:cNvSpPr>
            <a:spLocks noGrp="1"/>
          </p:cNvSpPr>
          <p:nvPr>
            <p:ph type="title"/>
          </p:nvPr>
        </p:nvSpPr>
        <p:spPr/>
        <p:txBody>
          <a:bodyPr/>
          <a:lstStyle/>
          <a:p>
            <a:pPr algn="l"/>
            <a:r>
              <a:rPr/>
              <a:t>2.kNN算法</a:t>
            </a:r>
          </a:p>
        </p:txBody>
      </p:sp>
      <p:sp>
        <p:nvSpPr>
          <p:cNvPr id="3" name="内容占位符 2"/>
          <p:cNvSpPr>
            <a:spLocks noGrp="1"/>
          </p:cNvSpPr>
          <p:nvPr>
            <p:ph idx="1"/>
          </p:nvPr>
        </p:nvSpPr>
        <p:spPr>
          <a:xfrm>
            <a:off x="609599" y="2036618"/>
            <a:ext cx="5486401" cy="4089548"/>
          </a:xfrm>
        </p:spPr>
        <p:txBody>
          <a:bodyPr/>
          <a:lstStyle/>
          <a:p>
            <a:r>
              <a:rPr lang="zh-CN" altLang="zh-CN" b="1" dirty="0">
                <a:latin typeface="+mj-ea"/>
                <a:ea typeface="+mj-ea"/>
              </a:rPr>
              <a:t>常用的距离指标</a:t>
            </a:r>
            <a:r>
              <a:rPr lang="zh-CN" altLang="en-US" b="1" dirty="0">
                <a:latin typeface="+mj-ea"/>
                <a:ea typeface="+mj-ea"/>
              </a:rPr>
              <a:t>：</a:t>
            </a:r>
            <a:endParaRPr lang="en-US" altLang="zh-CN" b="1" dirty="0">
              <a:latin typeface="+mj-ea"/>
              <a:ea typeface="+mj-ea"/>
            </a:endParaRPr>
          </a:p>
          <a:p>
            <a:pPr lvl="1"/>
            <a:r>
              <a:rPr lang="zh-CN" altLang="en-US" dirty="0">
                <a:latin typeface="+mj-ea"/>
                <a:ea typeface="+mj-ea"/>
              </a:rPr>
              <a:t>汉明</a:t>
            </a:r>
            <a:r>
              <a:rPr lang="zh-CN" altLang="zh-CN" dirty="0">
                <a:latin typeface="+mj-ea"/>
                <a:ea typeface="+mj-ea"/>
              </a:rPr>
              <a:t>距离：</a:t>
            </a:r>
            <a:endParaRPr lang="en-US" altLang="zh-CN" dirty="0">
              <a:latin typeface="+mj-ea"/>
              <a:ea typeface="+mj-ea"/>
            </a:endParaRPr>
          </a:p>
          <a:p>
            <a:pPr lvl="1">
              <a:lnSpc>
                <a:spcPct val="150000"/>
              </a:lnSpc>
            </a:pPr>
            <a:r>
              <a:rPr lang="zh-CN" altLang="en-US" kern="100" dirty="0">
                <a:latin typeface="+mj-ea"/>
                <a:ea typeface="+mj-ea"/>
              </a:rPr>
              <a:t>应用</a:t>
            </a:r>
            <a:r>
              <a:rPr lang="zh-CN" altLang="zh-CN" kern="100" dirty="0">
                <a:latin typeface="+mj-ea"/>
                <a:ea typeface="+mj-ea"/>
              </a:rPr>
              <a:t>在数据传输差错控制编码</a:t>
            </a:r>
            <a:r>
              <a:rPr lang="zh-CN" altLang="en-US" kern="100" dirty="0">
                <a:latin typeface="+mj-ea"/>
                <a:ea typeface="+mj-ea"/>
              </a:rPr>
              <a:t>中</a:t>
            </a:r>
            <a:r>
              <a:rPr lang="zh-CN" altLang="zh-CN" kern="100" dirty="0">
                <a:latin typeface="+mj-ea"/>
                <a:ea typeface="+mj-ea"/>
              </a:rPr>
              <a:t>，表示两个（相同长度）字对应位不同的数量</a:t>
            </a:r>
            <a:r>
              <a:rPr lang="zh-CN" altLang="en-US" kern="100" dirty="0">
                <a:latin typeface="+mj-ea"/>
                <a:ea typeface="+mj-ea"/>
              </a:rPr>
              <a:t>。</a:t>
            </a:r>
            <a:endParaRPr lang="zh-CN" altLang="en-US" dirty="0">
              <a:latin typeface="+mj-ea"/>
              <a:ea typeface="+mj-ea"/>
            </a:endParaRPr>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7"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5428" t="23663" r="10534" b="23244"/>
          <a:stretch>
            <a:fillRect/>
          </a:stretch>
        </p:blipFill>
        <p:spPr bwMode="auto">
          <a:xfrm>
            <a:off x="6606495" y="2736574"/>
            <a:ext cx="5122862" cy="325174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6" name="文本框 5"/>
              <p:cNvSpPr txBox="1"/>
              <p:nvPr/>
            </p:nvSpPr>
            <p:spPr>
              <a:xfrm>
                <a:off x="5708586" y="1440429"/>
                <a:ext cx="3400803" cy="1192378"/>
              </a:xfrm>
              <a:prstGeom prst="rect">
                <a:avLst/>
              </a:prstGeom>
              <a:noFill/>
            </p:spPr>
            <p:txBody>
              <a:bodyPr wrap="none" rtlCol="0" anchor="t">
                <a:spAutoFit/>
              </a:bodyPr>
              <a:lstStyle/>
              <a:p>
                <a:pPr algn="l"/>
                <a14:m>
                  <m:oMathPara xmlns:m="http://schemas.openxmlformats.org/officeDocument/2006/math">
                    <m:oMath>
                      <m:r>
                        <a:rPr lang="en-US" altLang="zh-CN" sz="2800" i="1">
                          <a:latin typeface="Cambria Math" panose="02040503050406030204" pitchFamily="18" charset="0"/>
                          <a:cs typeface="Cambria Math" panose="02040503050406030204" pitchFamily="18" charset="0"/>
                        </a:rPr>
                        <m:t>𝑑</m:t>
                      </m:r>
                      <m:r>
                        <a:rPr lang="en-US" altLang="zh-CN" sz="2800" i="1">
                          <a:latin typeface="Cambria Math" panose="02040503050406030204" pitchFamily="18" charset="0"/>
                          <a:cs typeface="Cambria Math" panose="02040503050406030204" pitchFamily="18" charset="0"/>
                        </a:rPr>
                        <m:t>(</m:t>
                      </m:r>
                      <m:r>
                        <a:rPr lang="en-US" altLang="zh-CN" sz="2800" i="1">
                          <a:latin typeface="Cambria Math" panose="02040503050406030204" pitchFamily="18" charset="0"/>
                          <a:cs typeface="Cambria Math" panose="02040503050406030204" pitchFamily="18" charset="0"/>
                        </a:rPr>
                        <m:t>𝑎</m:t>
                      </m:r>
                      <m:r>
                        <a:rPr lang="en-US" altLang="zh-CN" sz="2800" i="1">
                          <a:latin typeface="Cambria Math" panose="02040503050406030204" pitchFamily="18" charset="0"/>
                          <a:cs typeface="Cambria Math" panose="02040503050406030204" pitchFamily="18" charset="0"/>
                        </a:rPr>
                        <m:t>,</m:t>
                      </m:r>
                      <m:r>
                        <a:rPr lang="en-US" altLang="zh-CN" sz="2800" i="1">
                          <a:latin typeface="Cambria Math" panose="02040503050406030204" pitchFamily="18" charset="0"/>
                          <a:cs typeface="Cambria Math" panose="02040503050406030204" pitchFamily="18" charset="0"/>
                        </a:rPr>
                        <m:t>𝑏</m:t>
                      </m:r>
                      <m:r>
                        <a:rPr lang="en-US" altLang="zh-CN" sz="2800" i="1">
                          <a:latin typeface="Cambria Math" panose="02040503050406030204" pitchFamily="18" charset="0"/>
                          <a:cs typeface="Cambria Math" panose="02040503050406030204" pitchFamily="18" charset="0"/>
                        </a:rPr>
                        <m:t>)=</m:t>
                      </m:r>
                      <m:f>
                        <m:fPr>
                          <m:ctrlPr>
                            <a:rPr lang="en-US" altLang="zh-CN" sz="2800" i="1">
                              <a:latin typeface="Cambria Math" panose="02040503050406030204" pitchFamily="18" charset="0"/>
                              <a:cs typeface="Cambria Math" panose="02040503050406030204" pitchFamily="18" charset="0"/>
                            </a:rPr>
                          </m:ctrlPr>
                        </m:fPr>
                        <m:num>
                          <m:r>
                            <a:rPr lang="en-US" altLang="zh-CN" sz="2800" i="1">
                              <a:latin typeface="Cambria Math" panose="02040503050406030204" pitchFamily="18" charset="0"/>
                              <a:cs typeface="Cambria Math" panose="02040503050406030204" pitchFamily="18" charset="0"/>
                            </a:rPr>
                            <m:t>1</m:t>
                          </m:r>
                        </m:num>
                        <m:den>
                          <m:r>
                            <a:rPr lang="en-US" altLang="zh-CN" sz="2800" i="1">
                              <a:latin typeface="Cambria Math" panose="02040503050406030204" pitchFamily="18" charset="0"/>
                              <a:cs typeface="Cambria Math" panose="02040503050406030204" pitchFamily="18" charset="0"/>
                            </a:rPr>
                            <m:t>𝑛</m:t>
                          </m:r>
                        </m:den>
                      </m:f>
                      <m:nary>
                        <m:naryPr>
                          <m:chr m:val="∑"/>
                          <m:limLoc m:val="undOvr"/>
                          <m:supHide m:val="on"/>
                          <m:ctrlPr>
                            <a:rPr lang="en-US" altLang="zh-CN" sz="2800" i="1">
                              <a:latin typeface="Cambria Math" panose="02040503050406030204" pitchFamily="18" charset="0"/>
                              <a:cs typeface="Cambria Math" panose="02040503050406030204" pitchFamily="18" charset="0"/>
                            </a:rPr>
                          </m:ctrlPr>
                        </m:naryPr>
                        <m:sub>
                          <m:sSub>
                            <m:sSubPr>
                              <m:ctrlPr>
                                <a:rPr lang="en-US" altLang="zh-CN" sz="2800" i="1">
                                  <a:latin typeface="Cambria Math" panose="02040503050406030204" pitchFamily="18" charset="0"/>
                                  <a:cs typeface="Cambria Math" panose="02040503050406030204" pitchFamily="18" charset="0"/>
                                </a:rPr>
                              </m:ctrlPr>
                            </m:sSubPr>
                            <m:e>
                              <m:r>
                                <a:rPr lang="en-US" altLang="zh-CN" sz="2800" i="1">
                                  <a:latin typeface="Cambria Math" panose="02040503050406030204" pitchFamily="18" charset="0"/>
                                  <a:cs typeface="Cambria Math" panose="02040503050406030204" pitchFamily="18" charset="0"/>
                                </a:rPr>
                                <m:t>𝑥</m:t>
                              </m:r>
                            </m:e>
                            <m:sub>
                              <m:r>
                                <a:rPr lang="en-US" altLang="zh-CN" sz="2800" i="1">
                                  <a:latin typeface="Cambria Math" panose="02040503050406030204" pitchFamily="18" charset="0"/>
                                  <a:cs typeface="Cambria Math" panose="02040503050406030204" pitchFamily="18" charset="0"/>
                                </a:rPr>
                                <m:t>1</m:t>
                              </m:r>
                              <m:r>
                                <a:rPr lang="en-US" altLang="zh-CN" sz="2800" i="1">
                                  <a:latin typeface="Cambria Math" panose="02040503050406030204" pitchFamily="18" charset="0"/>
                                  <a:cs typeface="Cambria Math" panose="02040503050406030204" pitchFamily="18" charset="0"/>
                                </a:rPr>
                                <m:t>𝑘</m:t>
                              </m:r>
                            </m:sub>
                          </m:sSub>
                          <m:r>
                            <a:rPr lang="en-US" altLang="zh-CN" sz="2800" i="1">
                              <a:latin typeface="Cambria Math" panose="02040503050406030204" pitchFamily="18" charset="0"/>
                              <a:cs typeface="Cambria Math" panose="02040503050406030204" pitchFamily="18" charset="0"/>
                            </a:rPr>
                            <m:t>≠</m:t>
                          </m:r>
                          <m:sSub>
                            <m:sSubPr>
                              <m:ctrlPr>
                                <a:rPr lang="en-US" altLang="zh-CN" sz="2800" i="1">
                                  <a:latin typeface="Cambria Math" panose="02040503050406030204" pitchFamily="18" charset="0"/>
                                  <a:cs typeface="Cambria Math" panose="02040503050406030204" pitchFamily="18" charset="0"/>
                                </a:rPr>
                              </m:ctrlPr>
                            </m:sSubPr>
                            <m:e>
                              <m:r>
                                <a:rPr lang="en-US" altLang="zh-CN" sz="2800" i="1">
                                  <a:latin typeface="Cambria Math" panose="02040503050406030204" pitchFamily="18" charset="0"/>
                                  <a:cs typeface="Cambria Math" panose="02040503050406030204" pitchFamily="18" charset="0"/>
                                </a:rPr>
                                <m:t>𝑥</m:t>
                              </m:r>
                            </m:e>
                            <m:sub>
                              <m:r>
                                <a:rPr lang="en-US" altLang="zh-CN" sz="2800" i="1">
                                  <a:latin typeface="Cambria Math" panose="02040503050406030204" pitchFamily="18" charset="0"/>
                                  <a:cs typeface="Cambria Math" panose="02040503050406030204" pitchFamily="18" charset="0"/>
                                </a:rPr>
                                <m:t>2</m:t>
                              </m:r>
                              <m:r>
                                <a:rPr lang="en-US" altLang="zh-CN" sz="2800" i="1">
                                  <a:latin typeface="Cambria Math" panose="02040503050406030204" pitchFamily="18" charset="0"/>
                                  <a:cs typeface="Cambria Math" panose="02040503050406030204" pitchFamily="18" charset="0"/>
                                </a:rPr>
                                <m:t>𝑘</m:t>
                              </m:r>
                            </m:sub>
                          </m:sSub>
                        </m:sub>
                        <m:sup/>
                        <m:e>
                          <m:r>
                            <a:rPr lang="en-US" altLang="zh-CN" sz="2800" i="1">
                              <a:latin typeface="Cambria Math" panose="02040503050406030204" pitchFamily="18" charset="0"/>
                              <a:cs typeface="Cambria Math" panose="02040503050406030204" pitchFamily="18" charset="0"/>
                            </a:rPr>
                            <m:t>1</m:t>
                          </m:r>
                        </m:e>
                      </m:nary>
                    </m:oMath>
                  </m:oMathPara>
                </a14:m>
                <a:endParaRPr lang="zh-CN" altLang="en-US" dirty="0"/>
              </a:p>
            </p:txBody>
          </p:sp>
        </mc:Choice>
        <mc:Fallback xmlns="">
          <p:sp>
            <p:nvSpPr>
              <p:cNvPr id="6" name="文本框 5"/>
              <p:cNvSpPr txBox="1">
                <a:spLocks noRot="1" noChangeAspect="1" noMove="1" noResize="1" noEditPoints="1" noAdjustHandles="1" noChangeArrowheads="1" noChangeShapeType="1" noTextEdit="1"/>
              </p:cNvSpPr>
              <p:nvPr/>
            </p:nvSpPr>
            <p:spPr>
              <a:xfrm>
                <a:off x="5708586" y="1440429"/>
                <a:ext cx="3400803" cy="1192378"/>
              </a:xfrm>
              <a:prstGeom prst="rect">
                <a:avLst/>
              </a:prstGeom>
              <a:blipFill>
                <a:blip r:embed="rId3"/>
                <a:stretch>
                  <a:fillRect/>
                </a:stretch>
              </a:blipFill>
            </p:spPr>
            <p:txBody>
              <a:bodyPr/>
              <a:lstStyle/>
              <a:p>
                <a:r>
                  <a:rPr lang="zh-CN" altLang="en-US">
                    <a:noFill/>
                  </a:rPr>
                  <a:t> </a:t>
                </a:r>
              </a:p>
            </p:txBody>
          </p:sp>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9FBEAE-6885-4BA3-91B6-CF59AD63AF2A}"/>
              </a:ext>
            </a:extLst>
          </p:cNvPr>
          <p:cNvSpPr>
            <a:spLocks noGrp="1"/>
          </p:cNvSpPr>
          <p:nvPr>
            <p:ph type="title"/>
          </p:nvPr>
        </p:nvSpPr>
        <p:spPr/>
        <p:txBody>
          <a:bodyPr/>
          <a:lstStyle/>
          <a:p>
            <a:pPr algn="l"/>
            <a:r>
              <a:rPr/>
              <a:t>2.kNN算法</a:t>
            </a:r>
          </a:p>
        </p:txBody>
      </p:sp>
      <p:sp>
        <p:nvSpPr>
          <p:cNvPr id="3" name="内容占位符 2">
            <a:extLst>
              <a:ext uri="{FF2B5EF4-FFF2-40B4-BE49-F238E27FC236}">
                <a16:creationId xmlns:a16="http://schemas.microsoft.com/office/drawing/2014/main" id="{58DED336-8C5F-4723-809A-FACF30D3F887}"/>
              </a:ext>
            </a:extLst>
          </p:cNvPr>
          <p:cNvSpPr>
            <a:spLocks noGrp="1"/>
          </p:cNvSpPr>
          <p:nvPr>
            <p:ph idx="1"/>
          </p:nvPr>
        </p:nvSpPr>
        <p:spPr>
          <a:xfrm>
            <a:off x="336468" y="1398323"/>
            <a:ext cx="6450280" cy="4525963"/>
          </a:xfrm>
        </p:spPr>
        <p:txBody>
          <a:bodyPr>
            <a:normAutofit/>
          </a:bodyPr>
          <a:lstStyle/>
          <a:p>
            <a:pPr algn="just">
              <a:lnSpc>
                <a:spcPct val="150000"/>
              </a:lnSpc>
            </a:pPr>
            <a:r>
              <a:rPr sz="2000" kern="100">
                <a:latin typeface="+mj-ea"/>
                <a:ea typeface="+mj-ea"/>
              </a:rPr>
              <a:t>算法流程如下：</a:t>
            </a:r>
          </a:p>
          <a:p>
            <a:pPr algn="just">
              <a:lnSpc>
                <a:spcPct val="150000"/>
              </a:lnSpc>
            </a:pPr>
            <a:r>
              <a:rPr sz="2000" kern="100">
                <a:latin typeface="+mj-ea"/>
                <a:ea typeface="+mj-ea"/>
              </a:rPr>
              <a:t>1.</a:t>
            </a:r>
            <a:r>
              <a:rPr sz="2000" kern="100">
                <a:latin typeface="+mj-ea"/>
                <a:ea typeface="+mj-ea"/>
              </a:rPr>
              <a:t>计算测试对象到训练集中每个对象的距离</a:t>
            </a:r>
          </a:p>
          <a:p>
            <a:pPr algn="just">
              <a:lnSpc>
                <a:spcPct val="150000"/>
              </a:lnSpc>
            </a:pPr>
            <a:r>
              <a:rPr sz="2000" kern="100">
                <a:latin typeface="+mj-ea"/>
                <a:ea typeface="+mj-ea"/>
              </a:rPr>
              <a:t>2.</a:t>
            </a:r>
            <a:r>
              <a:rPr sz="2000" kern="100">
                <a:latin typeface="+mj-ea"/>
                <a:ea typeface="+mj-ea"/>
              </a:rPr>
              <a:t>按照距离的远近排序</a:t>
            </a:r>
          </a:p>
          <a:p>
            <a:pPr algn="just">
              <a:lnSpc>
                <a:spcPct val="150000"/>
              </a:lnSpc>
            </a:pPr>
            <a:r>
              <a:rPr sz="2000" kern="100">
                <a:latin typeface="+mj-ea"/>
                <a:ea typeface="+mj-ea"/>
              </a:rPr>
              <a:t>3.</a:t>
            </a:r>
            <a:r>
              <a:rPr sz="2000" kern="100">
                <a:latin typeface="+mj-ea"/>
                <a:ea typeface="+mj-ea"/>
              </a:rPr>
              <a:t>选取与当前测试对象最近的</a:t>
            </a:r>
            <a:r>
              <a:rPr sz="2000" kern="100">
                <a:latin typeface="+mj-ea"/>
                <a:ea typeface="+mj-ea"/>
              </a:rPr>
              <a:t>k</a:t>
            </a:r>
            <a:r>
              <a:rPr sz="2000" kern="100">
                <a:latin typeface="+mj-ea"/>
                <a:ea typeface="+mj-ea"/>
              </a:rPr>
              <a:t>的训练对象，作为该测试对象的邻居 </a:t>
            </a:r>
          </a:p>
          <a:p>
            <a:pPr algn="just">
              <a:lnSpc>
                <a:spcPct val="150000"/>
              </a:lnSpc>
            </a:pPr>
            <a:r>
              <a:rPr sz="2000" kern="100">
                <a:latin typeface="+mj-ea"/>
                <a:ea typeface="+mj-ea"/>
              </a:rPr>
              <a:t>4.</a:t>
            </a:r>
            <a:r>
              <a:rPr sz="2000" kern="100">
                <a:latin typeface="+mj-ea"/>
                <a:ea typeface="+mj-ea"/>
              </a:rPr>
              <a:t>统计这</a:t>
            </a:r>
            <a:r>
              <a:rPr sz="2000" kern="100">
                <a:latin typeface="+mj-ea"/>
                <a:ea typeface="+mj-ea"/>
              </a:rPr>
              <a:t>k</a:t>
            </a:r>
            <a:r>
              <a:rPr sz="2000" kern="100">
                <a:latin typeface="+mj-ea"/>
                <a:ea typeface="+mj-ea"/>
              </a:rPr>
              <a:t>个邻居的类别频次 </a:t>
            </a:r>
          </a:p>
          <a:p>
            <a:pPr algn="just">
              <a:lnSpc>
                <a:spcPct val="150000"/>
              </a:lnSpc>
            </a:pPr>
            <a:r>
              <a:rPr sz="2000" kern="100">
                <a:latin typeface="+mj-ea"/>
                <a:ea typeface="+mj-ea"/>
              </a:rPr>
              <a:t>5.k</a:t>
            </a:r>
            <a:r>
              <a:rPr sz="2000" kern="100">
                <a:latin typeface="+mj-ea"/>
                <a:ea typeface="+mj-ea"/>
              </a:rPr>
              <a:t>个邻居里频次最高的类别，即为测试对象的类别</a:t>
            </a:r>
          </a:p>
          <a:p>
            <a:r>
              <a:rPr sz="2600"/>
              <a:t/>
            </a:r>
          </a:p>
        </p:txBody>
      </p:sp>
      <p:pic>
        <p:nvPicPr>
          <p:cNvPr id="4" name="Picture" descr="img"/>
          <p:cNvPicPr/>
          <p:nvPr/>
        </p:nvPicPr>
        <p:blipFill>
          <a:blip r:embed="rId2"/>
          <a:stretch>
            <a:fillRect/>
          </a:stretch>
        </p:blipFill>
        <p:spPr bwMode="auto">
          <a:xfrm>
            <a:off x="7092363" y="1886763"/>
            <a:ext cx="4541797" cy="3726771"/>
          </a:xfrm>
          <a:prstGeom prst="rect">
            <a:avLst/>
          </a:prstGeom>
          <a:noFill/>
          <a:ln w="9525">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F3B711-336A-4A1A-9726-B64553607EB9}"/>
              </a:ext>
            </a:extLst>
          </p:cNvPr>
          <p:cNvSpPr>
            <a:spLocks noGrp="1"/>
          </p:cNvSpPr>
          <p:nvPr>
            <p:ph type="title"/>
          </p:nvPr>
        </p:nvSpPr>
        <p:spPr/>
        <p:txBody>
          <a:bodyPr/>
          <a:lstStyle/>
          <a:p>
            <a:pPr algn="l"/>
            <a:r>
              <a:rPr/>
              <a:t>2.kNN算法</a:t>
            </a:r>
          </a:p>
        </p:txBody>
      </p:sp>
      <p:sp>
        <p:nvSpPr>
          <p:cNvPr id="3" name="内容占位符 2">
            <a:extLst>
              <a:ext uri="{FF2B5EF4-FFF2-40B4-BE49-F238E27FC236}">
                <a16:creationId xmlns:a16="http://schemas.microsoft.com/office/drawing/2014/main" id="{4379FD4A-27AA-4EA2-B4B4-2FEC4C648109}"/>
              </a:ext>
            </a:extLst>
          </p:cNvPr>
          <p:cNvSpPr>
            <a:spLocks noGrp="1"/>
          </p:cNvSpPr>
          <p:nvPr>
            <p:ph idx="1"/>
          </p:nvPr>
        </p:nvSpPr>
        <p:spPr/>
        <p:txBody>
          <a:bodyPr/>
          <a:lstStyle/>
          <a:p>
            <a:r>
              <a:rPr sz="2800">
                <a:latin typeface="+mj-ea"/>
                <a:ea typeface="+mj-ea"/>
              </a:rPr>
              <a:t>k</a:t>
            </a:r>
            <a:r>
              <a:rPr sz="2800">
                <a:latin typeface="+mj-ea"/>
                <a:ea typeface="+mj-ea"/>
              </a:rPr>
              <a:t>的取值</a:t>
            </a:r>
            <a:r>
              <a:rPr sz="2800">
                <a:latin typeface="+mj-ea"/>
                <a:ea typeface="+mj-ea"/>
              </a:rPr>
              <a:t>：</a:t>
            </a:r>
            <a:r>
              <a:rPr sz="2800">
                <a:latin typeface="+mj-ea"/>
                <a:ea typeface="+mj-ea"/>
              </a:rPr>
              <a:t>通过</a:t>
            </a:r>
            <a:r>
              <a:rPr sz="2800" b="1">
                <a:solidFill>
                  <a:srgbClr val="FF0000"/>
                </a:solidFill>
                <a:latin typeface="+mj-ea"/>
                <a:ea typeface="+mj-ea"/>
              </a:rPr>
              <a:t>交叉验证</a:t>
            </a:r>
            <a:r>
              <a:rPr sz="2800">
                <a:latin typeface="+mj-ea"/>
                <a:ea typeface="+mj-ea"/>
              </a:rPr>
              <a:t>来选择</a:t>
            </a:r>
          </a:p>
          <a:p>
            <a:r>
              <a:rPr sz="2800">
                <a:latin typeface="+mj-ea"/>
                <a:ea typeface="+mj-ea"/>
              </a:rPr>
              <a:t/>
            </a:r>
          </a:p>
          <a:p>
            <a:pPr>
              <a:lnSpc>
                <a:spcPct val="150000"/>
              </a:lnSpc>
            </a:pPr>
            <a:r>
              <a:rPr sz="2800">
                <a:latin typeface="+mj-ea"/>
                <a:ea typeface="+mj-ea"/>
              </a:rPr>
              <a:t>首先将样本数据按照一定比例（比如</a:t>
            </a:r>
            <a:r>
              <a:rPr sz="2800">
                <a:latin typeface="+mj-ea"/>
                <a:ea typeface="+mj-ea"/>
              </a:rPr>
              <a:t>6:4</a:t>
            </a:r>
            <a:r>
              <a:rPr sz="2800">
                <a:latin typeface="+mj-ea"/>
                <a:ea typeface="+mj-ea"/>
              </a:rPr>
              <a:t>）拆分成训练数据集合验证数据集；从选取一个较小的</a:t>
            </a:r>
            <a:r>
              <a:rPr sz="2800">
                <a:latin typeface="+mj-ea"/>
                <a:ea typeface="+mj-ea"/>
              </a:rPr>
              <a:t>k</a:t>
            </a:r>
            <a:r>
              <a:rPr sz="2800">
                <a:latin typeface="+mj-ea"/>
                <a:ea typeface="+mj-ea"/>
              </a:rPr>
              <a:t>值开始，不断增加</a:t>
            </a:r>
            <a:r>
              <a:rPr sz="2800">
                <a:latin typeface="+mj-ea"/>
                <a:ea typeface="+mj-ea"/>
              </a:rPr>
              <a:t>k</a:t>
            </a:r>
            <a:r>
              <a:rPr sz="2800">
                <a:latin typeface="+mj-ea"/>
                <a:ea typeface="+mj-ea"/>
              </a:rPr>
              <a:t>的值，然后计算验证数据集的错误率。最终选择一个合适的</a:t>
            </a:r>
            <a:r>
              <a:rPr sz="2800">
                <a:latin typeface="+mj-ea"/>
                <a:ea typeface="+mj-ea"/>
              </a:rPr>
              <a:t>k</a:t>
            </a:r>
            <a:r>
              <a:rPr sz="2800">
                <a:latin typeface="+mj-ea"/>
                <a:ea typeface="+mj-ea"/>
              </a:rPr>
              <a:t>值。</a:t>
            </a:r>
          </a:p>
          <a:p>
            <a:r>
              <a:rPr sz="2800"/>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A59FF6-2832-42DE-8F37-92ED7F2221E5}"/>
              </a:ext>
            </a:extLst>
          </p:cNvPr>
          <p:cNvSpPr>
            <a:spLocks noGrp="1"/>
          </p:cNvSpPr>
          <p:nvPr>
            <p:ph type="title"/>
          </p:nvPr>
        </p:nvSpPr>
        <p:spPr/>
        <p:txBody>
          <a:bodyPr/>
          <a:lstStyle/>
          <a:p>
            <a:pPr algn="l"/>
            <a:r>
              <a:rPr/>
              <a:t>2.kNN算法</a:t>
            </a:r>
          </a:p>
        </p:txBody>
      </p:sp>
      <p:sp>
        <p:nvSpPr>
          <p:cNvPr id="3" name="内容占位符 2">
            <a:extLst>
              <a:ext uri="{FF2B5EF4-FFF2-40B4-BE49-F238E27FC236}">
                <a16:creationId xmlns:a16="http://schemas.microsoft.com/office/drawing/2014/main" id="{E655983D-3369-4E61-A938-7974FF5AB0C9}"/>
              </a:ext>
            </a:extLst>
          </p:cNvPr>
          <p:cNvSpPr>
            <a:spLocks noGrp="1"/>
          </p:cNvSpPr>
          <p:nvPr>
            <p:ph idx="1"/>
          </p:nvPr>
        </p:nvSpPr>
        <p:spPr>
          <a:xfrm>
            <a:off x="744071" y="1418668"/>
            <a:ext cx="10972800" cy="4525963"/>
          </a:xfrm>
        </p:spPr>
        <p:txBody>
          <a:bodyPr>
            <a:normAutofit/>
          </a:bodyPr>
          <a:lstStyle/>
          <a:p>
            <a:pPr>
              <a:lnSpc>
                <a:spcPct val="120000"/>
              </a:lnSpc>
            </a:pPr>
            <a:r>
              <a:rPr sz="1800">
                <a:latin typeface="+mj-ea"/>
                <a:ea typeface="+mj-ea"/>
              </a:rPr>
              <a:t>优点：</a:t>
            </a:r>
          </a:p>
          <a:p>
            <a:pPr lvl="1">
              <a:lnSpc>
                <a:spcPct val="120000"/>
              </a:lnSpc>
            </a:pPr>
            <a:r>
              <a:rPr sz="1800">
                <a:latin typeface="+mj-ea"/>
                <a:ea typeface="+mj-ea"/>
              </a:rPr>
              <a:t>简单易用，模型训练时间快；</a:t>
            </a:r>
          </a:p>
          <a:p>
            <a:pPr lvl="1">
              <a:lnSpc>
                <a:spcPct val="120000"/>
              </a:lnSpc>
            </a:pPr>
            <a:r>
              <a:rPr sz="1800">
                <a:latin typeface="+mj-ea"/>
                <a:ea typeface="+mj-ea"/>
              </a:rPr>
              <a:t>对异常值不敏感；</a:t>
            </a:r>
          </a:p>
          <a:p>
            <a:pPr lvl="1">
              <a:lnSpc>
                <a:spcPct val="120000"/>
              </a:lnSpc>
            </a:pPr>
            <a:r>
              <a:rPr sz="1800">
                <a:latin typeface="+mj-ea"/>
                <a:ea typeface="+mj-ea"/>
              </a:rPr>
              <a:t>随着新样本的增加，算法会根据新数据对模型进行调整，因此适应性比较强；</a:t>
            </a:r>
          </a:p>
          <a:p>
            <a:pPr>
              <a:lnSpc>
                <a:spcPct val="120000"/>
              </a:lnSpc>
            </a:pPr>
            <a:r>
              <a:rPr sz="1800">
                <a:latin typeface="+mj-ea"/>
                <a:ea typeface="+mj-ea"/>
              </a:rPr>
              <a:t>缺点：</a:t>
            </a:r>
          </a:p>
          <a:p>
            <a:pPr lvl="1">
              <a:lnSpc>
                <a:spcPct val="120000"/>
              </a:lnSpc>
            </a:pPr>
            <a:r>
              <a:rPr sz="1800">
                <a:latin typeface="+mj-ea"/>
                <a:ea typeface="+mj-ea"/>
              </a:rPr>
              <a:t>对数据规模比较敏感，</a:t>
            </a:r>
            <a:r>
              <a:rPr sz="1800">
                <a:latin typeface="+mj-ea"/>
                <a:ea typeface="+mj-ea"/>
              </a:rPr>
              <a:t>kNN</a:t>
            </a:r>
            <a:r>
              <a:rPr sz="1800">
                <a:latin typeface="+mj-ea"/>
                <a:ea typeface="+mj-ea"/>
              </a:rPr>
              <a:t>本质上是一种惰性算法，与其他分类器相比，它占用了更多的内存。</a:t>
            </a:r>
          </a:p>
          <a:p>
            <a:pPr lvl="1">
              <a:lnSpc>
                <a:spcPct val="120000"/>
              </a:lnSpc>
            </a:pPr>
            <a:r>
              <a:rPr sz="1800">
                <a:latin typeface="+mj-ea"/>
                <a:ea typeface="+mj-ea"/>
              </a:rPr>
              <a:t>kNN</a:t>
            </a:r>
            <a:r>
              <a:rPr sz="1800">
                <a:latin typeface="+mj-ea"/>
                <a:ea typeface="+mj-ea"/>
              </a:rPr>
              <a:t>算法在高位数据输入时表现不佳，由于维数灾难，</a:t>
            </a:r>
            <a:r>
              <a:rPr sz="1800">
                <a:latin typeface="+mj-ea"/>
                <a:ea typeface="+mj-ea"/>
              </a:rPr>
              <a:t>kNN</a:t>
            </a:r>
            <a:r>
              <a:rPr sz="1800">
                <a:latin typeface="+mj-ea"/>
                <a:ea typeface="+mj-ea"/>
              </a:rPr>
              <a:t>容易出现过拟合的情况。利用特征选择和降维技术可以在一定程度上解决这些问题。</a:t>
            </a:r>
          </a:p>
          <a:p>
            <a:r>
              <a:rPr sz="1800"/>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a:extLst>
              <a:ext uri="{FF2B5EF4-FFF2-40B4-BE49-F238E27FC236}">
                <a16:creationId xmlns:a16="http://schemas.microsoft.com/office/drawing/2014/main" id="{23AA912E-2F0A-4839-AE50-A623BC30F21D}"/>
              </a:ext>
            </a:extLst>
          </p:cNvPr>
          <p:cNvSpPr/>
          <p:nvPr/>
        </p:nvSpPr>
        <p:spPr>
          <a:xfrm>
            <a:off x="0" y="1000125"/>
            <a:ext cx="647700" cy="266700"/>
          </a:xfrm>
          <a:prstGeom prst="rect">
            <a:avLst/>
          </a:prstGeom>
          <a:solidFill>
            <a:srgbClr val="A50021"/>
          </a:solidFill>
        </p:spPr>
        <p:txBody>
          <a:bodyPr wrap="square" rtlCol="0"/>
          <a:lstStyle/>
          <a:p>
            <a:r>
              <a:rPr/>
              <a:t/>
            </a:r>
          </a:p>
        </p:txBody>
      </p:sp>
      <p:sp>
        <p:nvSpPr>
          <p:cNvPr id="4" name="Shape 4">
            <a:extLst>
              <a:ext uri="{FF2B5EF4-FFF2-40B4-BE49-F238E27FC236}">
                <a16:creationId xmlns:a16="http://schemas.microsoft.com/office/drawing/2014/main" id="{C9FE719A-8260-4E22-9277-B36B47DD489E}"/>
              </a:ext>
            </a:extLst>
          </p:cNvPr>
          <p:cNvSpPr/>
          <p:nvPr/>
        </p:nvSpPr>
        <p:spPr>
          <a:xfrm>
            <a:off x="704850" y="1000125"/>
            <a:ext cx="11487150" cy="266700"/>
          </a:xfrm>
          <a:prstGeom prst="rect">
            <a:avLst/>
          </a:prstGeom>
          <a:solidFill>
            <a:srgbClr val="0066CC"/>
          </a:solidFill>
        </p:spPr>
        <p:txBody>
          <a:bodyPr wrap="square" rtlCol="0"/>
          <a:lstStyle/>
          <a:p>
            <a:r>
              <a:rPr/>
              <a:t/>
            </a:r>
          </a:p>
        </p:txBody>
      </p:sp>
      <p:sp>
        <p:nvSpPr>
          <p:cNvPr id="5" name="TextBox 5">
            <a:extLst>
              <a:ext uri="{FF2B5EF4-FFF2-40B4-BE49-F238E27FC236}">
                <a16:creationId xmlns:a16="http://schemas.microsoft.com/office/drawing/2014/main" id="{1D2AC1DB-FF69-4472-AFD2-B90FF23BE8AC}"/>
              </a:ext>
            </a:extLst>
          </p:cNvPr>
          <p:cNvSpPr txBox="1"/>
          <p:nvPr/>
        </p:nvSpPr>
        <p:spPr>
          <a:xfrm>
            <a:off x="9334500" y="1038225"/>
            <a:ext cx="2762250" cy="190500"/>
          </a:xfrm>
        </p:spPr>
        <p:txBody>
          <a:bodyPr wrap="square" rtlCol="0" lIns="0" tIns="0" rIns="0" bIns="0" anchor="ctr"/>
          <a:lstStyle/>
          <a:p>
            <a:pPr algn="r"/>
            <a:r>
              <a:rPr sz="1200" b="1">
                <a:solidFill>
                  <a:srgbClr val="FFFFFF"/>
                </a:solidFill>
                <a:latin typeface="Microsoft YaHei"/>
                <a:ea typeface="Microsoft YaHei"/>
              </a:rPr>
              <a:t>kNN · 图解 1</a:t>
            </a:r>
          </a:p>
        </p:txBody>
      </p:sp>
      <p:sp>
        <p:nvSpPr>
          <p:cNvPr id="6" name="TextBox 6">
            <a:extLst>
              <a:ext uri="{FF2B5EF4-FFF2-40B4-BE49-F238E27FC236}">
                <a16:creationId xmlns:a16="http://schemas.microsoft.com/office/drawing/2014/main" id="{6C04234A-5EFF-4E35-A62B-13AFD43E5E07}"/>
              </a:ext>
            </a:extLst>
          </p:cNvPr>
          <p:cNvSpPr txBox="1"/>
          <p:nvPr/>
        </p:nvSpPr>
        <p:spPr>
          <a:xfrm>
            <a:off x="295275" y="219075"/>
            <a:ext cx="10953750" cy="619125"/>
          </a:xfrm>
        </p:spPr>
        <p:txBody>
          <a:bodyPr wrap="square" rtlCol="0" lIns="0" tIns="0" rIns="0" bIns="0" anchor="t"/>
          <a:lstStyle/>
          <a:p>
            <a:pPr algn="l"/>
            <a:r>
              <a:rPr sz="3400" b="1">
                <a:solidFill>
                  <a:srgbClr val="000000"/>
                </a:solidFill>
                <a:latin typeface="Microsoft YaHei"/>
                <a:ea typeface="Microsoft YaHei"/>
              </a:rPr>
              <a:t>尺子变了，邻居就变了</a:t>
            </a:r>
          </a:p>
        </p:txBody>
      </p:sp>
      <p:sp>
        <p:nvSpPr>
          <p:cNvPr id="7" name="TextBox 7">
            <a:extLst>
              <a:ext uri="{FF2B5EF4-FFF2-40B4-BE49-F238E27FC236}">
                <a16:creationId xmlns:a16="http://schemas.microsoft.com/office/drawing/2014/main" id="{5880AD8C-CBB8-482F-915B-03EF4F4A55EF}"/>
              </a:ext>
            </a:extLst>
          </p:cNvPr>
          <p:cNvSpPr txBox="1"/>
          <p:nvPr/>
        </p:nvSpPr>
        <p:spPr>
          <a:xfrm>
            <a:off x="609600" y="1333500"/>
            <a:ext cx="10953750" cy="381000"/>
          </a:xfrm>
        </p:spPr>
        <p:txBody>
          <a:bodyPr wrap="square" rtlCol="0" lIns="0" tIns="0" rIns="0" bIns="0" anchor="t"/>
          <a:lstStyle/>
          <a:p>
            <a:pPr algn="l"/>
            <a:r>
              <a:rPr sz="2000">
                <a:solidFill>
                  <a:srgbClr val="333333"/>
                </a:solidFill>
                <a:latin typeface="Microsoft YaHei"/>
                <a:ea typeface="Microsoft YaHei"/>
              </a:rPr>
              <a:t>同样的 k=5，标准化前后判决相反。</a:t>
            </a:r>
          </a:p>
        </p:txBody>
      </p:sp>
      <p:pic>
        <p:nvPicPr>
          <p:cNvPr id="8" name="Picture 8">
            <a:extLst>
              <a:ext uri="{FF2B5EF4-FFF2-40B4-BE49-F238E27FC236}">
                <a16:creationId xmlns:a16="http://schemas.microsoft.com/office/drawing/2014/main" id="{33E121FB-112B-4838-BB95-8C67E0031462}"/>
              </a:ext>
            </a:extLst>
          </p:cNvPr>
          <p:cNvPicPr/>
          <p:nvPr/>
        </p:nvPicPr>
        <p:blipFill>
          <a:blip r:embed="rId2"/>
          <a:stretch>
            <a:fillRect/>
          </a:stretch>
        </p:blipFill>
        <p:spPr>
          <a:xfrm>
            <a:off x="571500" y="1809750"/>
            <a:ext cx="6096000" cy="4114800"/>
          </a:xfrm>
          <a:prstGeom prst="rect">
            <a:avLst/>
          </a:prstGeom>
        </p:spPr>
      </p:pic>
      <p:sp>
        <p:nvSpPr>
          <p:cNvPr id="9" name="TextBox 9">
            <a:extLst>
              <a:ext uri="{FF2B5EF4-FFF2-40B4-BE49-F238E27FC236}">
                <a16:creationId xmlns:a16="http://schemas.microsoft.com/office/drawing/2014/main" id="{20E3BE08-6503-47BE-9AC7-3252EF4CBB79}"/>
              </a:ext>
            </a:extLst>
          </p:cNvPr>
          <p:cNvSpPr txBox="1"/>
          <p:nvPr/>
        </p:nvSpPr>
        <p:spPr>
          <a:xfrm>
            <a:off x="6953250" y="1809750"/>
            <a:ext cx="4667250" cy="4095750"/>
          </a:xfrm>
        </p:spPr>
        <p:txBody>
          <a:bodyPr wrap="square" rtlCol="0" lIns="0" tIns="0" rIns="0" bIns="0" anchor="t"/>
          <a:lstStyle/>
          <a:p>
            <a:pPr algn="l">
              <a:lnSpc>
                <a:spcPct val="120000"/>
              </a:lnSpc>
              <a:spcAft>
                <a:spcPts val="1000"/>
              </a:spcAft>
            </a:pPr>
            <a:r>
              <a:rPr sz="2000">
                <a:solidFill>
                  <a:srgbClr val="000000"/>
                </a:solidFill>
                <a:latin typeface="Microsoft YaHei"/>
                <a:ea typeface="Microsoft YaHei"/>
              </a:rPr>
              <a:t>• 原始量纲下，负债收入比的跨度是月收入的 3 倍多，距离主要由它决定。</a:t>
            </a:r>
          </a:p>
          <a:p>
            <a:pPr algn="l">
              <a:lnSpc>
                <a:spcPct val="120000"/>
              </a:lnSpc>
              <a:spcAft>
                <a:spcPts val="1000"/>
              </a:spcAft>
            </a:pPr>
            <a:r>
              <a:rPr sz="2000">
                <a:solidFill>
                  <a:srgbClr val="000000"/>
                </a:solidFill>
                <a:latin typeface="Microsoft YaHei"/>
                <a:ea typeface="Microsoft YaHei"/>
              </a:rPr>
              <a:t>• 标准化后，k=5 的邻居从 H、J 变为 B、D，判决从“正常”翻为“违约”。</a:t>
            </a:r>
          </a:p>
          <a:p>
            <a:pPr algn="l">
              <a:lnSpc>
                <a:spcPct val="120000"/>
              </a:lnSpc>
              <a:spcAft>
                <a:spcPts val="1000"/>
              </a:spcAft>
            </a:pPr>
            <a:r>
              <a:rPr sz="2000">
                <a:solidFill>
                  <a:srgbClr val="000000"/>
                </a:solidFill>
                <a:latin typeface="Microsoft YaHei"/>
                <a:ea typeface="Microsoft YaHei"/>
              </a:rPr>
              <a:t>• kNN 没有模型，只有一把尺子；量纲不同的特征必须先标准化。</a:t>
            </a:r>
          </a:p>
        </p:txBody>
      </p:sp>
      <p:sp>
        <p:nvSpPr>
          <p:cNvPr id="10" name="TextBox 10">
            <a:extLst>
              <a:ext uri="{FF2B5EF4-FFF2-40B4-BE49-F238E27FC236}">
                <a16:creationId xmlns:a16="http://schemas.microsoft.com/office/drawing/2014/main" id="{227180DB-B371-4050-8961-A68D743152C3}"/>
              </a:ext>
            </a:extLst>
          </p:cNvPr>
          <p:cNvSpPr txBox="1"/>
          <p:nvPr/>
        </p:nvSpPr>
        <p:spPr>
          <a:xfrm>
            <a:off x="571500" y="6429375"/>
            <a:ext cx="10477500" cy="228600"/>
          </a:xfrm>
        </p:spPr>
        <p:txBody>
          <a:bodyPr wrap="square" rtlCol="0" lIns="0" tIns="0" rIns="0" bIns="0" anchor="t"/>
          <a:lstStyle/>
          <a:p>
            <a:pPr algn="l"/>
            <a:r>
              <a:rPr sz="1400">
                <a:solidFill>
                  <a:srgbClr val="666666"/>
                </a:solidFill>
                <a:latin typeface="Microsoft YaHei"/>
                <a:ea typeface="Microsoft YaHei"/>
              </a:rPr>
              <a:t>案例：10 位历史借款人的小额贷款审批（教学构造数据）。</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a:extLst>
              <a:ext uri="{FF2B5EF4-FFF2-40B4-BE49-F238E27FC236}">
                <a16:creationId xmlns:a16="http://schemas.microsoft.com/office/drawing/2014/main" id="{6885E328-7908-4F8E-9EC6-4D25D7AC3DE9}"/>
              </a:ext>
            </a:extLst>
          </p:cNvPr>
          <p:cNvSpPr/>
          <p:nvPr/>
        </p:nvSpPr>
        <p:spPr>
          <a:xfrm>
            <a:off x="0" y="1000125"/>
            <a:ext cx="647700" cy="266700"/>
          </a:xfrm>
          <a:prstGeom prst="rect">
            <a:avLst/>
          </a:prstGeom>
          <a:solidFill>
            <a:srgbClr val="A50021"/>
          </a:solidFill>
        </p:spPr>
        <p:txBody>
          <a:bodyPr wrap="square" rtlCol="0"/>
          <a:lstStyle/>
          <a:p>
            <a:r>
              <a:rPr/>
              <a:t/>
            </a:r>
          </a:p>
        </p:txBody>
      </p:sp>
      <p:sp>
        <p:nvSpPr>
          <p:cNvPr id="4" name="Shape 4">
            <a:extLst>
              <a:ext uri="{FF2B5EF4-FFF2-40B4-BE49-F238E27FC236}">
                <a16:creationId xmlns:a16="http://schemas.microsoft.com/office/drawing/2014/main" id="{178A246E-FC11-409C-8905-38DBBFBFB839}"/>
              </a:ext>
            </a:extLst>
          </p:cNvPr>
          <p:cNvSpPr/>
          <p:nvPr/>
        </p:nvSpPr>
        <p:spPr>
          <a:xfrm>
            <a:off x="704850" y="1000125"/>
            <a:ext cx="11487150" cy="266700"/>
          </a:xfrm>
          <a:prstGeom prst="rect">
            <a:avLst/>
          </a:prstGeom>
          <a:solidFill>
            <a:srgbClr val="0066CC"/>
          </a:solidFill>
        </p:spPr>
        <p:txBody>
          <a:bodyPr wrap="square" rtlCol="0"/>
          <a:lstStyle/>
          <a:p>
            <a:r>
              <a:rPr/>
              <a:t/>
            </a:r>
          </a:p>
        </p:txBody>
      </p:sp>
      <p:sp>
        <p:nvSpPr>
          <p:cNvPr id="5" name="TextBox 5">
            <a:extLst>
              <a:ext uri="{FF2B5EF4-FFF2-40B4-BE49-F238E27FC236}">
                <a16:creationId xmlns:a16="http://schemas.microsoft.com/office/drawing/2014/main" id="{7C802962-CD19-48F6-A7CD-56408558C15A}"/>
              </a:ext>
            </a:extLst>
          </p:cNvPr>
          <p:cNvSpPr txBox="1"/>
          <p:nvPr/>
        </p:nvSpPr>
        <p:spPr>
          <a:xfrm>
            <a:off x="9334500" y="1038225"/>
            <a:ext cx="2762250" cy="190500"/>
          </a:xfrm>
        </p:spPr>
        <p:txBody>
          <a:bodyPr wrap="square" rtlCol="0" lIns="0" tIns="0" rIns="0" bIns="0" anchor="ctr"/>
          <a:lstStyle/>
          <a:p>
            <a:pPr algn="r"/>
            <a:r>
              <a:rPr sz="1200" b="1">
                <a:solidFill>
                  <a:srgbClr val="FFFFFF"/>
                </a:solidFill>
                <a:latin typeface="Microsoft YaHei"/>
                <a:ea typeface="Microsoft YaHei"/>
              </a:rPr>
              <a:t>kNN · 图解 2</a:t>
            </a:r>
          </a:p>
        </p:txBody>
      </p:sp>
      <p:sp>
        <p:nvSpPr>
          <p:cNvPr id="6" name="TextBox 6">
            <a:extLst>
              <a:ext uri="{FF2B5EF4-FFF2-40B4-BE49-F238E27FC236}">
                <a16:creationId xmlns:a16="http://schemas.microsoft.com/office/drawing/2014/main" id="{7E17D9EE-03F0-4F54-874D-3B94891F78BC}"/>
              </a:ext>
            </a:extLst>
          </p:cNvPr>
          <p:cNvSpPr txBox="1"/>
          <p:nvPr/>
        </p:nvSpPr>
        <p:spPr>
          <a:xfrm>
            <a:off x="295275" y="219075"/>
            <a:ext cx="10953750" cy="619125"/>
          </a:xfrm>
        </p:spPr>
        <p:txBody>
          <a:bodyPr wrap="square" rtlCol="0" lIns="0" tIns="0" rIns="0" bIns="0" anchor="t"/>
          <a:lstStyle/>
          <a:p>
            <a:pPr algn="l"/>
            <a:r>
              <a:rPr sz="3400" b="1">
                <a:solidFill>
                  <a:srgbClr val="000000"/>
                </a:solidFill>
                <a:latin typeface="Microsoft YaHei"/>
                <a:ea typeface="Microsoft YaHei"/>
              </a:rPr>
              <a:t>k 值决定边界</a:t>
            </a:r>
          </a:p>
        </p:txBody>
      </p:sp>
      <p:sp>
        <p:nvSpPr>
          <p:cNvPr id="7" name="TextBox 7">
            <a:extLst>
              <a:ext uri="{FF2B5EF4-FFF2-40B4-BE49-F238E27FC236}">
                <a16:creationId xmlns:a16="http://schemas.microsoft.com/office/drawing/2014/main" id="{B0B74D70-11C5-4780-B737-8E75D33B61B5}"/>
              </a:ext>
            </a:extLst>
          </p:cNvPr>
          <p:cNvSpPr txBox="1"/>
          <p:nvPr/>
        </p:nvSpPr>
        <p:spPr>
          <a:xfrm>
            <a:off x="609600" y="1333500"/>
            <a:ext cx="10953750" cy="381000"/>
          </a:xfrm>
        </p:spPr>
        <p:txBody>
          <a:bodyPr wrap="square" rtlCol="0" lIns="0" tIns="0" rIns="0" bIns="0" anchor="t"/>
          <a:lstStyle/>
          <a:p>
            <a:pPr algn="l"/>
            <a:r>
              <a:rPr sz="2000">
                <a:solidFill>
                  <a:srgbClr val="333333"/>
                </a:solidFill>
                <a:latin typeface="Microsoft YaHei"/>
                <a:ea typeface="Microsoft YaHei"/>
              </a:rPr>
              <a:t>k=1 边界贴着每个点；k=5 边界接近一条斜线。</a:t>
            </a:r>
          </a:p>
        </p:txBody>
      </p:sp>
      <p:pic>
        <p:nvPicPr>
          <p:cNvPr id="8" name="Picture 8">
            <a:extLst>
              <a:ext uri="{FF2B5EF4-FFF2-40B4-BE49-F238E27FC236}">
                <a16:creationId xmlns:a16="http://schemas.microsoft.com/office/drawing/2014/main" id="{0498DCCB-1EA6-4C8E-A638-705F3F93A55F}"/>
              </a:ext>
            </a:extLst>
          </p:cNvPr>
          <p:cNvPicPr/>
          <p:nvPr/>
        </p:nvPicPr>
        <p:blipFill>
          <a:blip r:embed="rId2"/>
          <a:stretch>
            <a:fillRect/>
          </a:stretch>
        </p:blipFill>
        <p:spPr>
          <a:xfrm>
            <a:off x="1276350" y="1809750"/>
            <a:ext cx="9639300" cy="4276725"/>
          </a:xfrm>
          <a:prstGeom prst="rect">
            <a:avLst/>
          </a:prstGeom>
        </p:spPr>
      </p:pic>
      <p:sp>
        <p:nvSpPr>
          <p:cNvPr id="9" name="TextBox 9">
            <a:extLst>
              <a:ext uri="{FF2B5EF4-FFF2-40B4-BE49-F238E27FC236}">
                <a16:creationId xmlns:a16="http://schemas.microsoft.com/office/drawing/2014/main" id="{E24AD787-C79A-4A9C-9F5C-18A350D14490}"/>
              </a:ext>
            </a:extLst>
          </p:cNvPr>
          <p:cNvSpPr txBox="1"/>
          <p:nvPr/>
        </p:nvSpPr>
        <p:spPr>
          <a:xfrm>
            <a:off x="762000" y="6238875"/>
            <a:ext cx="10668000" cy="285750"/>
          </a:xfrm>
        </p:spPr>
        <p:txBody>
          <a:bodyPr wrap="square" rtlCol="0" lIns="0" tIns="0" rIns="0" bIns="0" anchor="t"/>
          <a:lstStyle/>
          <a:p>
            <a:pPr algn="l"/>
            <a:r>
              <a:rPr sz="1800">
                <a:solidFill>
                  <a:srgbClr val="333333"/>
                </a:solidFill>
                <a:latin typeface="Microsoft YaHei"/>
                <a:ea typeface="Microsoft YaHei"/>
              </a:rPr>
              <a:t>k 太小像只听一位客户，k 太大像只看全行平均违约率；k 用验证集选。</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a:extLst>
              <a:ext uri="{FF2B5EF4-FFF2-40B4-BE49-F238E27FC236}">
                <a16:creationId xmlns:a16="http://schemas.microsoft.com/office/drawing/2014/main" id="{4AE6A2D7-C51B-4597-BEB1-7E77FFFB6C72}"/>
              </a:ext>
            </a:extLst>
          </p:cNvPr>
          <p:cNvSpPr/>
          <p:nvPr/>
        </p:nvSpPr>
        <p:spPr>
          <a:xfrm>
            <a:off x="0" y="1000125"/>
            <a:ext cx="647700" cy="266700"/>
          </a:xfrm>
          <a:prstGeom prst="rect">
            <a:avLst/>
          </a:prstGeom>
          <a:solidFill>
            <a:srgbClr val="A50021"/>
          </a:solidFill>
        </p:spPr>
        <p:txBody>
          <a:bodyPr wrap="square" rtlCol="0"/>
          <a:lstStyle/>
          <a:p>
            <a:r>
              <a:rPr/>
              <a:t/>
            </a:r>
          </a:p>
        </p:txBody>
      </p:sp>
      <p:sp>
        <p:nvSpPr>
          <p:cNvPr id="4" name="Shape 4">
            <a:extLst>
              <a:ext uri="{FF2B5EF4-FFF2-40B4-BE49-F238E27FC236}">
                <a16:creationId xmlns:a16="http://schemas.microsoft.com/office/drawing/2014/main" id="{1D031E4C-C5F0-4C6C-97FA-A5C7D5661A3B}"/>
              </a:ext>
            </a:extLst>
          </p:cNvPr>
          <p:cNvSpPr/>
          <p:nvPr/>
        </p:nvSpPr>
        <p:spPr>
          <a:xfrm>
            <a:off x="704850" y="1000125"/>
            <a:ext cx="11487150" cy="266700"/>
          </a:xfrm>
          <a:prstGeom prst="rect">
            <a:avLst/>
          </a:prstGeom>
          <a:solidFill>
            <a:srgbClr val="0066CC"/>
          </a:solidFill>
        </p:spPr>
        <p:txBody>
          <a:bodyPr wrap="square" rtlCol="0"/>
          <a:lstStyle/>
          <a:p>
            <a:r>
              <a:rPr/>
              <a:t/>
            </a:r>
          </a:p>
        </p:txBody>
      </p:sp>
      <p:sp>
        <p:nvSpPr>
          <p:cNvPr id="5" name="TextBox 5">
            <a:extLst>
              <a:ext uri="{FF2B5EF4-FFF2-40B4-BE49-F238E27FC236}">
                <a16:creationId xmlns:a16="http://schemas.microsoft.com/office/drawing/2014/main" id="{24A6A8FE-DB49-4E84-821D-044AE404583C}"/>
              </a:ext>
            </a:extLst>
          </p:cNvPr>
          <p:cNvSpPr txBox="1"/>
          <p:nvPr/>
        </p:nvSpPr>
        <p:spPr>
          <a:xfrm>
            <a:off x="9334500" y="1038225"/>
            <a:ext cx="2762250" cy="190500"/>
          </a:xfrm>
        </p:spPr>
        <p:txBody>
          <a:bodyPr wrap="square" rtlCol="0" lIns="0" tIns="0" rIns="0" bIns="0" anchor="ctr"/>
          <a:lstStyle/>
          <a:p>
            <a:pPr algn="r"/>
            <a:r>
              <a:rPr sz="1200" b="1">
                <a:solidFill>
                  <a:srgbClr val="FFFFFF"/>
                </a:solidFill>
                <a:latin typeface="Microsoft YaHei"/>
                <a:ea typeface="Microsoft YaHei"/>
              </a:rPr>
              <a:t>kNN · 图解 3</a:t>
            </a:r>
          </a:p>
        </p:txBody>
      </p:sp>
      <p:sp>
        <p:nvSpPr>
          <p:cNvPr id="6" name="TextBox 6">
            <a:extLst>
              <a:ext uri="{FF2B5EF4-FFF2-40B4-BE49-F238E27FC236}">
                <a16:creationId xmlns:a16="http://schemas.microsoft.com/office/drawing/2014/main" id="{452B7711-7DFF-480F-B446-DDDA50C1CF09}"/>
              </a:ext>
            </a:extLst>
          </p:cNvPr>
          <p:cNvSpPr txBox="1"/>
          <p:nvPr/>
        </p:nvSpPr>
        <p:spPr>
          <a:xfrm>
            <a:off x="295275" y="219075"/>
            <a:ext cx="10953750" cy="619125"/>
          </a:xfrm>
        </p:spPr>
        <p:txBody>
          <a:bodyPr wrap="square" rtlCol="0" lIns="0" tIns="0" rIns="0" bIns="0" anchor="t"/>
          <a:lstStyle/>
          <a:p>
            <a:pPr algn="l"/>
            <a:r>
              <a:rPr sz="3400" b="1">
                <a:solidFill>
                  <a:srgbClr val="000000"/>
                </a:solidFill>
                <a:latin typeface="Microsoft YaHei"/>
                <a:ea typeface="Microsoft YaHei"/>
              </a:rPr>
              <a:t>同一客户，结论随 k 摇摆</a:t>
            </a:r>
          </a:p>
        </p:txBody>
      </p:sp>
      <p:sp>
        <p:nvSpPr>
          <p:cNvPr id="7" name="TextBox 7">
            <a:extLst>
              <a:ext uri="{FF2B5EF4-FFF2-40B4-BE49-F238E27FC236}">
                <a16:creationId xmlns:a16="http://schemas.microsoft.com/office/drawing/2014/main" id="{C582E26B-E6E2-4212-8551-B3EA55762547}"/>
              </a:ext>
            </a:extLst>
          </p:cNvPr>
          <p:cNvSpPr txBox="1"/>
          <p:nvPr/>
        </p:nvSpPr>
        <p:spPr>
          <a:xfrm>
            <a:off x="609600" y="1333500"/>
            <a:ext cx="10953750" cy="381000"/>
          </a:xfrm>
        </p:spPr>
        <p:txBody>
          <a:bodyPr wrap="square" rtlCol="0" lIns="0" tIns="0" rIns="0" bIns="0" anchor="t"/>
          <a:lstStyle/>
          <a:p>
            <a:pPr algn="l"/>
            <a:r>
              <a:rPr sz="2000">
                <a:solidFill>
                  <a:srgbClr val="333333"/>
                </a:solidFill>
                <a:latin typeface="Microsoft YaHei"/>
                <a:ea typeface="Microsoft YaHei"/>
              </a:rPr>
              <a:t>纵轴是邻居中违约者的占比；超过 50% 判违约。</a:t>
            </a:r>
          </a:p>
        </p:txBody>
      </p:sp>
      <p:pic>
        <p:nvPicPr>
          <p:cNvPr id="8" name="Picture 8">
            <a:extLst>
              <a:ext uri="{FF2B5EF4-FFF2-40B4-BE49-F238E27FC236}">
                <a16:creationId xmlns:a16="http://schemas.microsoft.com/office/drawing/2014/main" id="{1E369468-A958-4E7A-888E-4B1E3011F65E}"/>
              </a:ext>
            </a:extLst>
          </p:cNvPr>
          <p:cNvPicPr/>
          <p:nvPr/>
        </p:nvPicPr>
        <p:blipFill>
          <a:blip r:embed="rId2"/>
          <a:stretch>
            <a:fillRect/>
          </a:stretch>
        </p:blipFill>
        <p:spPr>
          <a:xfrm>
            <a:off x="762000" y="1809750"/>
            <a:ext cx="6858000" cy="3838575"/>
          </a:xfrm>
          <a:prstGeom prst="rect">
            <a:avLst/>
          </a:prstGeom>
        </p:spPr>
      </p:pic>
      <p:sp>
        <p:nvSpPr>
          <p:cNvPr id="9" name="TextBox 9">
            <a:extLst>
              <a:ext uri="{FF2B5EF4-FFF2-40B4-BE49-F238E27FC236}">
                <a16:creationId xmlns:a16="http://schemas.microsoft.com/office/drawing/2014/main" id="{8C227959-0B72-4F70-A174-07EA6C70496F}"/>
              </a:ext>
            </a:extLst>
          </p:cNvPr>
          <p:cNvSpPr txBox="1"/>
          <p:nvPr/>
        </p:nvSpPr>
        <p:spPr>
          <a:xfrm>
            <a:off x="7905750" y="1809750"/>
            <a:ext cx="3619500" cy="3905250"/>
          </a:xfrm>
        </p:spPr>
        <p:txBody>
          <a:bodyPr wrap="square" rtlCol="0" lIns="0" tIns="0" rIns="0" bIns="0" anchor="t"/>
          <a:lstStyle/>
          <a:p>
            <a:pPr algn="l">
              <a:lnSpc>
                <a:spcPct val="120000"/>
              </a:lnSpc>
              <a:spcAft>
                <a:spcPts val="1000"/>
              </a:spcAft>
            </a:pPr>
            <a:r>
              <a:rPr sz="2000">
                <a:solidFill>
                  <a:srgbClr val="000000"/>
                </a:solidFill>
                <a:latin typeface="Microsoft YaHei"/>
                <a:ea typeface="Microsoft YaHei"/>
              </a:rPr>
              <a:t>• 原始量纲在 k=5 时低于 50%，标准化后高于 50%。</a:t>
            </a:r>
          </a:p>
          <a:p>
            <a:pPr algn="l">
              <a:lnSpc>
                <a:spcPct val="120000"/>
              </a:lnSpc>
              <a:spcAft>
                <a:spcPts val="1000"/>
              </a:spcAft>
            </a:pPr>
            <a:r>
              <a:rPr sz="2000">
                <a:solidFill>
                  <a:srgbClr val="000000"/>
                </a:solidFill>
                <a:latin typeface="Microsoft YaHei"/>
                <a:ea typeface="Microsoft YaHei"/>
              </a:rPr>
              <a:t>• 两条线在 k≥7 后重合，因为邻居覆盖了大半样本。</a:t>
            </a:r>
          </a:p>
          <a:p>
            <a:pPr algn="l">
              <a:lnSpc>
                <a:spcPct val="120000"/>
              </a:lnSpc>
              <a:spcAft>
                <a:spcPts val="1000"/>
              </a:spcAft>
            </a:pPr>
            <a:r>
              <a:rPr sz="2000">
                <a:solidFill>
                  <a:srgbClr val="000000"/>
                </a:solidFill>
                <a:latin typeface="Microsoft YaHei"/>
                <a:ea typeface="Microsoft YaHei"/>
              </a:rPr>
              <a:t>• 边缘客户的判决会随 k 和尺子来回摇，k 必须用验证集选。</a:t>
            </a:r>
          </a:p>
        </p:txBody>
      </p:sp>
      <p:sp>
        <p:nvSpPr>
          <p:cNvPr id="10" name="TextBox 10">
            <a:extLst>
              <a:ext uri="{FF2B5EF4-FFF2-40B4-BE49-F238E27FC236}">
                <a16:creationId xmlns:a16="http://schemas.microsoft.com/office/drawing/2014/main" id="{BE0F7EF1-B6C5-49D3-90BF-BFAA86BC1449}"/>
              </a:ext>
            </a:extLst>
          </p:cNvPr>
          <p:cNvSpPr txBox="1"/>
          <p:nvPr/>
        </p:nvSpPr>
        <p:spPr>
          <a:xfrm>
            <a:off x="762000" y="6286500"/>
            <a:ext cx="10477500" cy="228600"/>
          </a:xfrm>
        </p:spPr>
        <p:txBody>
          <a:bodyPr wrap="square" rtlCol="0" lIns="0" tIns="0" rIns="0" bIns="0" anchor="t"/>
          <a:lstStyle/>
          <a:p>
            <a:pPr algn="l"/>
            <a:r>
              <a:rPr sz="1400">
                <a:solidFill>
                  <a:srgbClr val="666666"/>
                </a:solidFill>
                <a:latin typeface="Microsoft YaHei"/>
                <a:ea typeface="Microsoft YaHei"/>
              </a:rPr>
              <a:t>蓝线：原始量纲；橙线：标准化后。教学构造数据。</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a:extLst>
              <a:ext uri="{FF2B5EF4-FFF2-40B4-BE49-F238E27FC236}">
                <a16:creationId xmlns:a16="http://schemas.microsoft.com/office/drawing/2014/main" id="{8EC38B84-FEE7-42E7-B200-6C2A56ECC0B2}"/>
              </a:ext>
            </a:extLst>
          </p:cNvPr>
          <p:cNvSpPr/>
          <p:nvPr/>
        </p:nvSpPr>
        <p:spPr>
          <a:xfrm>
            <a:off x="0" y="1000125"/>
            <a:ext cx="647700" cy="266700"/>
          </a:xfrm>
          <a:prstGeom prst="rect">
            <a:avLst/>
          </a:prstGeom>
          <a:solidFill>
            <a:srgbClr val="A50021"/>
          </a:solidFill>
        </p:spPr>
        <p:txBody>
          <a:bodyPr wrap="square" rtlCol="0"/>
          <a:lstStyle/>
          <a:p>
            <a:r>
              <a:rPr/>
              <a:t/>
            </a:r>
          </a:p>
        </p:txBody>
      </p:sp>
      <p:sp>
        <p:nvSpPr>
          <p:cNvPr id="4" name="Shape 4">
            <a:extLst>
              <a:ext uri="{FF2B5EF4-FFF2-40B4-BE49-F238E27FC236}">
                <a16:creationId xmlns:a16="http://schemas.microsoft.com/office/drawing/2014/main" id="{F4EB7D03-AB82-40AA-AD1F-B4CCA4BE7CAB}"/>
              </a:ext>
            </a:extLst>
          </p:cNvPr>
          <p:cNvSpPr/>
          <p:nvPr/>
        </p:nvSpPr>
        <p:spPr>
          <a:xfrm>
            <a:off x="704850" y="1000125"/>
            <a:ext cx="11487150" cy="266700"/>
          </a:xfrm>
          <a:prstGeom prst="rect">
            <a:avLst/>
          </a:prstGeom>
          <a:solidFill>
            <a:srgbClr val="0066CC"/>
          </a:solidFill>
        </p:spPr>
        <p:txBody>
          <a:bodyPr wrap="square" rtlCol="0"/>
          <a:lstStyle/>
          <a:p>
            <a:r>
              <a:rPr/>
              <a:t/>
            </a:r>
          </a:p>
        </p:txBody>
      </p:sp>
      <p:sp>
        <p:nvSpPr>
          <p:cNvPr id="5" name="TextBox 5">
            <a:extLst>
              <a:ext uri="{FF2B5EF4-FFF2-40B4-BE49-F238E27FC236}">
                <a16:creationId xmlns:a16="http://schemas.microsoft.com/office/drawing/2014/main" id="{CE4B1E7C-26E0-4CCE-93AB-AC40F7DC5B57}"/>
              </a:ext>
            </a:extLst>
          </p:cNvPr>
          <p:cNvSpPr txBox="1"/>
          <p:nvPr/>
        </p:nvSpPr>
        <p:spPr>
          <a:xfrm>
            <a:off x="9334500" y="1038225"/>
            <a:ext cx="2762250" cy="190500"/>
          </a:xfrm>
        </p:spPr>
        <p:txBody>
          <a:bodyPr wrap="square" rtlCol="0" lIns="0" tIns="0" rIns="0" bIns="0" anchor="ctr"/>
          <a:lstStyle/>
          <a:p>
            <a:pPr algn="r"/>
            <a:r>
              <a:rPr sz="1200" b="1">
                <a:solidFill>
                  <a:srgbClr val="FFFFFF"/>
                </a:solidFill>
                <a:latin typeface="Microsoft YaHei"/>
                <a:ea typeface="Microsoft YaHei"/>
              </a:rPr>
              <a:t>kNN · 视频</a:t>
            </a:r>
          </a:p>
        </p:txBody>
      </p:sp>
      <p:sp>
        <p:nvSpPr>
          <p:cNvPr id="6" name="TextBox 6">
            <a:extLst>
              <a:ext uri="{FF2B5EF4-FFF2-40B4-BE49-F238E27FC236}">
                <a16:creationId xmlns:a16="http://schemas.microsoft.com/office/drawing/2014/main" id="{0CC4BE53-30B5-4B41-8F18-7BE9EE21F505}"/>
              </a:ext>
            </a:extLst>
          </p:cNvPr>
          <p:cNvSpPr txBox="1"/>
          <p:nvPr/>
        </p:nvSpPr>
        <p:spPr>
          <a:xfrm>
            <a:off x="295275" y="219075"/>
            <a:ext cx="10953750" cy="619125"/>
          </a:xfrm>
        </p:spPr>
        <p:txBody>
          <a:bodyPr wrap="square" rtlCol="0" lIns="0" tIns="0" rIns="0" bIns="0" anchor="t"/>
          <a:lstStyle/>
          <a:p>
            <a:pPr algn="l"/>
            <a:r>
              <a:rPr sz="3400" b="1">
                <a:solidFill>
                  <a:srgbClr val="000000"/>
                </a:solidFill>
                <a:latin typeface="Microsoft YaHei"/>
                <a:ea typeface="Microsoft YaHei"/>
              </a:rPr>
              <a:t>视频：kNN 算法步骤</a:t>
            </a:r>
          </a:p>
        </p:txBody>
      </p:sp>
      <p:sp>
        <p:nvSpPr>
          <p:cNvPr id="7" name="TextBox 7">
            <a:extLst>
              <a:ext uri="{FF2B5EF4-FFF2-40B4-BE49-F238E27FC236}">
                <a16:creationId xmlns:a16="http://schemas.microsoft.com/office/drawing/2014/main" id="{CD97AE1D-F561-4660-AED8-1EB87B196599}"/>
              </a:ext>
            </a:extLst>
          </p:cNvPr>
          <p:cNvSpPr txBox="1"/>
          <p:nvPr/>
        </p:nvSpPr>
        <p:spPr>
          <a:xfrm>
            <a:off x="609600" y="1333500"/>
            <a:ext cx="10953750" cy="381000"/>
          </a:xfrm>
        </p:spPr>
        <p:txBody>
          <a:bodyPr wrap="square" rtlCol="0" lIns="0" tIns="0" rIns="0" bIns="0" anchor="t"/>
          <a:lstStyle/>
          <a:p>
            <a:pPr algn="l"/>
            <a:r>
              <a:rPr sz="2000">
                <a:solidFill>
                  <a:srgbClr val="333333"/>
                </a:solidFill>
                <a:latin typeface="Microsoft YaHei"/>
                <a:ea typeface="Microsoft YaHei"/>
              </a:rPr>
              <a:t>2 分 48 秒；用同一组贷款数据演示五步流程。</a:t>
            </a:r>
          </a:p>
        </p:txBody>
      </p:sp>
      <p:pic>
        <p:nvPicPr>
          <p:cNvPr id="8" name="Picture 8">
            <a:hlinkClick xmlns:r="http://schemas.openxmlformats.org/officeDocument/2006/relationships" r:id="rId5"/>
            <a:extLst>
              <a:ext uri="{FF2B5EF4-FFF2-40B4-BE49-F238E27FC236}">
                <a16:creationId xmlns:a16="http://schemas.microsoft.com/office/drawing/2014/main" id="{DE6E012B-A64B-4E09-A6CB-A618D5D02A6D}"/>
              </a:ext>
            </a:extLst>
          </p:cNvPr>
          <p:cNvPicPr/>
          <p:nvPr/>
        </p:nvPicPr>
        <p:blipFill>
          <a:blip r:embed="rId2"/>
          <a:stretch>
            <a:fillRect/>
          </a:stretch>
        </p:blipFill>
        <p:spPr>
          <a:xfrm>
            <a:off x="762000" y="1809750"/>
            <a:ext cx="6096000" cy="3429000"/>
          </a:xfrm>
          <a:prstGeom prst="rect">
            <a:avLst/>
          </a:prstGeom>
        </p:spPr>
      </p:pic>
      <p:sp>
        <p:nvSpPr>
          <p:cNvPr id="9" name="TextBox 9">
            <a:extLst>
              <a:ext uri="{FF2B5EF4-FFF2-40B4-BE49-F238E27FC236}">
                <a16:creationId xmlns:a16="http://schemas.microsoft.com/office/drawing/2014/main" id="{9E0D6135-3896-4F12-8344-2B02CA94C75B}"/>
              </a:ext>
            </a:extLst>
          </p:cNvPr>
          <p:cNvSpPr txBox="1"/>
          <p:nvPr/>
        </p:nvSpPr>
        <p:spPr>
          <a:xfrm>
            <a:off x="7239000" y="1809750"/>
            <a:ext cx="4191000" cy="3429000"/>
          </a:xfrm>
        </p:spPr>
        <p:txBody>
          <a:bodyPr wrap="square" rtlCol="0" lIns="0" tIns="0" rIns="0" bIns="0" anchor="t"/>
          <a:lstStyle/>
          <a:p>
            <a:pPr algn="l">
              <a:lnSpc>
                <a:spcPct val="120000"/>
              </a:lnSpc>
              <a:spcAft>
                <a:spcPts val="1000"/>
              </a:spcAft>
            </a:pPr>
            <a:r>
              <a:rPr sz="2200" b="1">
                <a:solidFill>
                  <a:srgbClr val="000000"/>
                </a:solidFill>
                <a:latin typeface="Microsoft YaHei"/>
                <a:ea typeface="Microsoft YaHei"/>
              </a:rPr>
              <a:t>五步流程</a:t>
            </a:r>
          </a:p>
          <a:p>
            <a:pPr algn="l">
              <a:lnSpc>
                <a:spcPct val="120000"/>
              </a:lnSpc>
              <a:spcAft>
                <a:spcPts val="1000"/>
              </a:spcAft>
            </a:pPr>
            <a:r>
              <a:rPr sz="2000">
                <a:solidFill>
                  <a:srgbClr val="000000"/>
                </a:solidFill>
                <a:latin typeface="Microsoft YaHei"/>
                <a:ea typeface="Microsoft YaHei"/>
              </a:rPr>
              <a:t>算距离 → 排序 → 取 k 个邻居 → 统计类别 → 多数投票。</a:t>
            </a:r>
          </a:p>
          <a:p>
            <a:pPr algn="l">
              <a:lnSpc>
                <a:spcPct val="120000"/>
              </a:lnSpc>
              <a:spcAft>
                <a:spcPts val="1000"/>
              </a:spcAft>
            </a:pPr>
            <a:r>
              <a:rPr sz="2000">
                <a:solidFill>
                  <a:srgbClr val="000000"/>
                </a:solidFill>
                <a:latin typeface="Microsoft YaHei"/>
                <a:ea typeface="Microsoft YaHei"/>
              </a:rPr>
              <a:t>视频重点：标准化前后，k=5 的邻居和判决发生变化。</a:t>
            </a:r>
          </a:p>
          <a:p>
            <a:pPr algn="l">
              <a:lnSpc>
                <a:spcPct val="120000"/>
              </a:lnSpc>
              <a:spcAft>
                <a:spcPts val="1000"/>
              </a:spcAft>
            </a:pPr>
            <a:r>
              <a:rPr sz="1800">
                <a:solidFill>
                  <a:srgbClr val="0066CC"/>
                </a:solidFill>
                <a:latin typeface="Microsoft YaHei"/>
                <a:ea typeface="Microsoft YaHei"/>
              </a:rPr>
              <a:t>播放：视频文件位于“视频”子文件夹。</a:t>
            </a:r>
          </a:p>
        </p:txBody>
      </p:sp>
      <p:sp>
        <p:nvSpPr>
          <p:cNvPr id="10" name="TextBox 10">
            <a:hlinkClick xmlns:r="http://schemas.openxmlformats.org/officeDocument/2006/relationships" r:id="rId6"/>
            <a:extLst>
              <a:ext uri="{FF2B5EF4-FFF2-40B4-BE49-F238E27FC236}">
                <a16:creationId xmlns:a16="http://schemas.microsoft.com/office/drawing/2014/main" id="{E5E6DAB5-EBCE-4937-9073-D6169E0ACDF1}"/>
              </a:ext>
            </a:extLst>
          </p:cNvPr>
          <p:cNvSpPr txBox="1"/>
          <p:nvPr/>
        </p:nvSpPr>
        <p:spPr>
          <a:xfrm>
            <a:off x="762000" y="5334000"/>
            <a:ext cx="2476500" cy="285750"/>
          </a:xfrm>
        </p:spPr>
        <p:txBody>
          <a:bodyPr wrap="square" rtlCol="0" lIns="0" tIns="0" rIns="0" bIns="0" anchor="t"/>
          <a:lstStyle/>
          <a:p>
            <a:pPr algn="l"/>
            <a:r>
              <a:rPr sz="1800" b="1">
                <a:solidFill>
                  <a:srgbClr val="0066CC"/>
                </a:solidFill>
                <a:latin typeface="Microsoft YaHei"/>
                <a:ea typeface="Microsoft YaHei"/>
              </a:rPr>
              <a:t>播放视频</a:t>
            </a:r>
          </a:p>
        </p:txBody>
      </p:sp>
      <p:sp>
        <p:nvSpPr>
          <p:cNvPr id="11" name="TextBox 11">
            <a:extLst>
              <a:ext uri="{FF2B5EF4-FFF2-40B4-BE49-F238E27FC236}">
                <a16:creationId xmlns:a16="http://schemas.microsoft.com/office/drawing/2014/main" id="{7076CB15-10B2-45D6-81BC-8D05093E7FC1}"/>
              </a:ext>
            </a:extLst>
          </p:cNvPr>
          <p:cNvSpPr txBox="1"/>
          <p:nvPr/>
        </p:nvSpPr>
        <p:spPr>
          <a:xfrm>
            <a:off x="762000" y="6286500"/>
            <a:ext cx="10477500" cy="228600"/>
          </a:xfrm>
        </p:spPr>
        <p:txBody>
          <a:bodyPr wrap="square" rtlCol="0" lIns="0" tIns="0" rIns="0" bIns="0" anchor="t"/>
          <a:lstStyle/>
          <a:p>
            <a:pPr algn="l"/>
            <a:r>
              <a:rPr sz="1400">
                <a:solidFill>
                  <a:srgbClr val="666666"/>
                </a:solidFill>
                <a:latin typeface="Microsoft YaHei"/>
                <a:ea typeface="Microsoft YaHei"/>
              </a:rPr>
              <a:t>视频来源：本地课件配套视频。</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F2DFBB-32F6-444E-976A-1CB8F9E8B5B5}"/>
              </a:ext>
            </a:extLst>
          </p:cNvPr>
          <p:cNvSpPr>
            <a:spLocks noGrp="1"/>
          </p:cNvSpPr>
          <p:nvPr>
            <p:ph type="title"/>
          </p:nvPr>
        </p:nvSpPr>
        <p:spPr/>
        <p:txBody>
          <a:bodyPr/>
          <a:lstStyle/>
          <a:p>
            <a:pPr algn="l"/>
            <a:r>
              <a:rPr/>
              <a:t>3.朴素贝叶斯</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sz="2800" b="1" dirty="0">
                    <a:latin typeface="+mj-ea"/>
                    <a:ea typeface="+mj-ea"/>
                  </a:rPr>
                  <a:t>贝叶斯分类器：</a:t>
                </a:r>
                <a:r>
                  <a:rPr lang="zh-CN" altLang="zh-CN" sz="2800" dirty="0">
                    <a:latin typeface="+mj-ea"/>
                    <a:ea typeface="+mj-ea"/>
                  </a:rPr>
                  <a:t>是在既定概率框架下进行决策的方法。对于一般的分类任务而言，假定相关的概率全部已知，我们可以利用这些概率来判断最优的标签。</a:t>
                </a:r>
                <a:endParaRPr lang="en-US" altLang="zh-CN" sz="2800" dirty="0">
                  <a:latin typeface="+mj-ea"/>
                  <a:ea typeface="+mj-ea"/>
                </a:endParaRPr>
              </a:p>
              <a:p>
                <a:r>
                  <a:rPr lang="zh-CN" altLang="en-US" sz="2800" b="1" dirty="0">
                    <a:latin typeface="+mj-ea"/>
                    <a:ea typeface="+mj-ea"/>
                  </a:rPr>
                  <a:t>先验概率：</a:t>
                </a:r>
                <a:r>
                  <a:rPr lang="zh-CN" altLang="zh-CN" sz="2800" dirty="0">
                    <a:latin typeface="+mj-ea"/>
                    <a:ea typeface="+mj-ea"/>
                  </a:rPr>
                  <a:t>即基于统计的概率，是基于以往历史经验和分析得到的结果，不需要依赖当前发生的条件。</a:t>
                </a:r>
              </a:p>
              <a:p>
                <a:r>
                  <a:rPr lang="zh-CN" altLang="en-US" sz="2800" b="1" dirty="0">
                    <a:latin typeface="+mj-ea"/>
                    <a:ea typeface="+mj-ea"/>
                  </a:rPr>
                  <a:t>后验概率：</a:t>
                </a:r>
                <a:r>
                  <a:rPr lang="zh-CN" altLang="zh-CN" sz="2800" dirty="0">
                    <a:latin typeface="+mj-ea"/>
                    <a:ea typeface="+mj-ea"/>
                  </a:rPr>
                  <a:t>是从条件概率而来，由果溯因，是基于当下发生了事件之后计算的概率，依赖于当前发生的条件。</a:t>
                </a:r>
                <a:endParaRPr lang="en-US" altLang="zh-CN" sz="2800" dirty="0">
                  <a:latin typeface="+mj-ea"/>
                  <a:ea typeface="+mj-ea"/>
                </a:endParaRPr>
              </a:p>
              <a:p>
                <a:r>
                  <a:rPr lang="zh-CN" altLang="zh-CN" sz="2800" b="1" dirty="0">
                    <a:latin typeface="+mj-ea"/>
                    <a:ea typeface="+mj-ea"/>
                  </a:rPr>
                  <a:t>条件概率：</a:t>
                </a:r>
                <a:r>
                  <a:rPr lang="zh-CN" altLang="zh-CN" sz="2800" dirty="0">
                    <a:latin typeface="+mj-ea"/>
                    <a:ea typeface="+mj-ea"/>
                  </a:rPr>
                  <a:t>记事件</a:t>
                </a:r>
                <a14:m>
                  <m:oMath xmlns:m="http://schemas.openxmlformats.org/officeDocument/2006/math">
                    <m:r>
                      <a:rPr lang="en-US" altLang="zh-CN" sz="2800" i="1" dirty="0" smtClean="0">
                        <a:latin typeface="Cambria Math" panose="02040503050406030204" pitchFamily="18" charset="0"/>
                        <a:ea typeface="+mj-ea"/>
                      </a:rPr>
                      <m:t>𝐴</m:t>
                    </m:r>
                  </m:oMath>
                </a14:m>
                <a:r>
                  <a:rPr lang="zh-CN" altLang="zh-CN" sz="2800" dirty="0">
                    <a:latin typeface="+mj-ea"/>
                    <a:ea typeface="+mj-ea"/>
                  </a:rPr>
                  <a:t>发生的概率</a:t>
                </a:r>
                <a14:m>
                  <m:oMath xmlns:m="http://schemas.openxmlformats.org/officeDocument/2006/math">
                    <m:r>
                      <a:rPr lang="en-US" altLang="zh-CN" sz="2800" i="1" dirty="0" smtClean="0">
                        <a:latin typeface="Cambria Math" panose="02040503050406030204" pitchFamily="18" charset="0"/>
                        <a:ea typeface="+mj-ea"/>
                      </a:rPr>
                      <m:t>𝑃</m:t>
                    </m:r>
                    <m:r>
                      <a:rPr lang="en-US" altLang="zh-CN" sz="2800" i="1" dirty="0" smtClean="0">
                        <a:latin typeface="Cambria Math" panose="02040503050406030204" pitchFamily="18" charset="0"/>
                        <a:ea typeface="+mj-ea"/>
                      </a:rPr>
                      <m:t>(</m:t>
                    </m:r>
                    <m:r>
                      <a:rPr lang="en-US" altLang="zh-CN" sz="2800" i="1" dirty="0" smtClean="0">
                        <a:latin typeface="Cambria Math" panose="02040503050406030204" pitchFamily="18" charset="0"/>
                        <a:ea typeface="+mj-ea"/>
                      </a:rPr>
                      <m:t>𝐴</m:t>
                    </m:r>
                    <m:r>
                      <a:rPr lang="en-US" altLang="zh-CN" sz="2800" i="1" dirty="0" smtClean="0">
                        <a:latin typeface="Cambria Math" panose="02040503050406030204" pitchFamily="18" charset="0"/>
                        <a:ea typeface="+mj-ea"/>
                      </a:rPr>
                      <m:t>)</m:t>
                    </m:r>
                  </m:oMath>
                </a14:m>
                <a:r>
                  <a:rPr lang="zh-CN" altLang="zh-CN" sz="2800" dirty="0">
                    <a:latin typeface="+mj-ea"/>
                    <a:ea typeface="+mj-ea"/>
                  </a:rPr>
                  <a:t>，事件</a:t>
                </a:r>
                <a:r>
                  <a:rPr lang="en-US" altLang="zh-CN" sz="2800" dirty="0">
                    <a:latin typeface="+mj-ea"/>
                    <a:ea typeface="+mj-ea"/>
                  </a:rPr>
                  <a:t>B</a:t>
                </a:r>
                <a:r>
                  <a:rPr lang="zh-CN" altLang="zh-CN" sz="2800" dirty="0">
                    <a:latin typeface="+mj-ea"/>
                    <a:ea typeface="+mj-ea"/>
                  </a:rPr>
                  <a:t>发生的概率</a:t>
                </a:r>
                <a14:m>
                  <m:oMath xmlns:m="http://schemas.openxmlformats.org/officeDocument/2006/math">
                    <m:r>
                      <a:rPr lang="en-US" altLang="zh-CN" sz="2800" i="1" dirty="0" smtClean="0">
                        <a:latin typeface="Cambria Math" panose="02040503050406030204" pitchFamily="18" charset="0"/>
                        <a:ea typeface="+mj-ea"/>
                      </a:rPr>
                      <m:t>𝑃</m:t>
                    </m:r>
                    <m:r>
                      <a:rPr lang="en-US" altLang="zh-CN" sz="2800" i="1" dirty="0" smtClean="0">
                        <a:latin typeface="Cambria Math" panose="02040503050406030204" pitchFamily="18" charset="0"/>
                        <a:ea typeface="+mj-ea"/>
                      </a:rPr>
                      <m:t>(</m:t>
                    </m:r>
                    <m:r>
                      <a:rPr lang="en-US" altLang="zh-CN" sz="2800" i="1" dirty="0" smtClean="0">
                        <a:latin typeface="Cambria Math" panose="02040503050406030204" pitchFamily="18" charset="0"/>
                        <a:ea typeface="+mj-ea"/>
                      </a:rPr>
                      <m:t>𝐵</m:t>
                    </m:r>
                    <m:r>
                      <a:rPr lang="en-US" altLang="zh-CN" sz="2800" i="1" dirty="0" smtClean="0">
                        <a:latin typeface="Cambria Math" panose="02040503050406030204" pitchFamily="18" charset="0"/>
                        <a:ea typeface="+mj-ea"/>
                      </a:rPr>
                      <m:t>)</m:t>
                    </m:r>
                  </m:oMath>
                </a14:m>
                <a:r>
                  <a:rPr lang="zh-CN" altLang="zh-CN" sz="2800" dirty="0">
                    <a:latin typeface="+mj-ea"/>
                    <a:ea typeface="+mj-ea"/>
                  </a:rPr>
                  <a:t>，则在事件</a:t>
                </a:r>
                <a14:m>
                  <m:oMath xmlns:m="http://schemas.openxmlformats.org/officeDocument/2006/math">
                    <m:r>
                      <a:rPr lang="en-US" altLang="zh-CN" sz="2800" i="1" dirty="0" smtClean="0">
                        <a:latin typeface="Cambria Math" panose="02040503050406030204" pitchFamily="18" charset="0"/>
                        <a:ea typeface="+mj-ea"/>
                      </a:rPr>
                      <m:t>𝐵</m:t>
                    </m:r>
                  </m:oMath>
                </a14:m>
                <a:r>
                  <a:rPr lang="zh-CN" altLang="zh-CN" sz="2800" dirty="0">
                    <a:latin typeface="+mj-ea"/>
                    <a:ea typeface="+mj-ea"/>
                  </a:rPr>
                  <a:t>发生的前提下，事件</a:t>
                </a:r>
                <a14:m>
                  <m:oMath xmlns:m="http://schemas.openxmlformats.org/officeDocument/2006/math">
                    <m:r>
                      <a:rPr lang="en-US" altLang="zh-CN" sz="2800" i="1" dirty="0" smtClean="0">
                        <a:latin typeface="Cambria Math" panose="02040503050406030204" pitchFamily="18" charset="0"/>
                        <a:ea typeface="+mj-ea"/>
                      </a:rPr>
                      <m:t>𝐴</m:t>
                    </m:r>
                  </m:oMath>
                </a14:m>
                <a:r>
                  <a:rPr lang="zh-CN" altLang="zh-CN" sz="2800" dirty="0">
                    <a:latin typeface="+mj-ea"/>
                    <a:ea typeface="+mj-ea"/>
                  </a:rPr>
                  <a:t>发生的概率即为条件概率</a:t>
                </a:r>
                <a:endParaRPr lang="zh-CN" altLang="en-US" sz="2800" dirty="0">
                  <a:latin typeface="+mj-ea"/>
                  <a:ea typeface="+mj-ea"/>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1278" t="-2291"/>
                </a:stretch>
              </a:blipFill>
            </p:spPr>
            <p:txBody>
              <a:bodyPr/>
              <a:lstStyle/>
              <a:p>
                <a:r>
                  <a:rPr lang="zh-CN" altLang="en-US">
                    <a:noFill/>
                  </a:rPr>
                  <a:t> </a:t>
                </a:r>
              </a:p>
            </p:txBody>
          </p:sp>
        </mc:Fallback>
      </mc:AlternateContent>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mc:AlternateContent xmlns:mc="http://schemas.openxmlformats.org/markup-compatibility/2006" xmlns:a14="http://schemas.microsoft.com/office/drawing/2010/main">
        <mc:Choice Requires="a14">
          <p:sp>
            <p:nvSpPr>
              <p:cNvPr id="6" name="文本框 5"/>
              <p:cNvSpPr txBox="1"/>
              <p:nvPr/>
            </p:nvSpPr>
            <p:spPr>
              <a:xfrm>
                <a:off x="5041201" y="5724779"/>
                <a:ext cx="2664460" cy="962025"/>
              </a:xfrm>
              <a:prstGeom prst="rect">
                <a:avLst/>
              </a:prstGeom>
              <a:noFill/>
            </p:spPr>
            <p:txBody>
              <a:bodyPr wrap="none" rtlCol="0" anchor="t">
                <a:spAutoFit/>
              </a:bodyPr>
              <a:lstStyle/>
              <a:p>
                <a:pPr algn="l"/>
                <a:r>
                  <a:rPr lang="en-US" altLang="zh-CN" sz="3600" i="1" dirty="0">
                    <a:latin typeface="Times New Roman" panose="02020603050405020304" pitchFamily="18" charset="0"/>
                    <a:cs typeface="Times New Roman" panose="02020603050405020304" pitchFamily="18" charset="0"/>
                  </a:rPr>
                  <a:t>P(A|B)=</a:t>
                </a:r>
                <a14:m>
                  <m:oMath xmlns:m="http://schemas.openxmlformats.org/officeDocument/2006/math">
                    <m:f>
                      <m:fPr>
                        <m:ctrlPr>
                          <a:rPr lang="en-US" altLang="zh-CN" sz="3600" i="1">
                            <a:latin typeface="Cambria Math" panose="02040503050406030204" pitchFamily="18" charset="0"/>
                            <a:cs typeface="Cambria Math" panose="02040503050406030204" pitchFamily="18" charset="0"/>
                          </a:rPr>
                        </m:ctrlPr>
                      </m:fPr>
                      <m:num>
                        <m:r>
                          <a:rPr lang="en-US" altLang="zh-CN" sz="3600" i="1">
                            <a:latin typeface="Cambria Math" panose="02040503050406030204" pitchFamily="18" charset="0"/>
                            <a:cs typeface="Cambria Math" panose="02040503050406030204" pitchFamily="18" charset="0"/>
                          </a:rPr>
                          <m:t>𝑃</m:t>
                        </m:r>
                        <m:r>
                          <a:rPr lang="en-US" altLang="zh-CN" sz="3600" i="1">
                            <a:latin typeface="Cambria Math" panose="02040503050406030204" pitchFamily="18" charset="0"/>
                            <a:ea typeface="MS Mincho" charset="0"/>
                            <a:cs typeface="Cambria Math" panose="02040503050406030204" pitchFamily="18" charset="0"/>
                          </a:rPr>
                          <m:t>(</m:t>
                        </m:r>
                        <m:r>
                          <a:rPr lang="en-US" altLang="zh-CN" sz="3600" i="1">
                            <a:latin typeface="Cambria Math" panose="02040503050406030204" pitchFamily="18" charset="0"/>
                            <a:cs typeface="Cambria Math" panose="02040503050406030204" pitchFamily="18" charset="0"/>
                          </a:rPr>
                          <m:t>𝐴𝐵</m:t>
                        </m:r>
                        <m:r>
                          <a:rPr lang="en-US" altLang="zh-CN" sz="3600" i="1">
                            <a:latin typeface="Cambria Math" panose="02040503050406030204" pitchFamily="18" charset="0"/>
                            <a:ea typeface="MS Mincho" charset="0"/>
                            <a:cs typeface="Cambria Math" panose="02040503050406030204" pitchFamily="18" charset="0"/>
                          </a:rPr>
                          <m:t>)</m:t>
                        </m:r>
                      </m:num>
                      <m:den>
                        <m:r>
                          <a:rPr lang="en-US" altLang="zh-CN" sz="3600" i="1">
                            <a:latin typeface="Cambria Math" panose="02040503050406030204" pitchFamily="18" charset="0"/>
                            <a:cs typeface="Cambria Math" panose="02040503050406030204" pitchFamily="18" charset="0"/>
                          </a:rPr>
                          <m:t>𝑃</m:t>
                        </m:r>
                        <m:r>
                          <a:rPr lang="en-US" altLang="zh-CN" sz="3600" i="1">
                            <a:latin typeface="Cambria Math" panose="02040503050406030204" pitchFamily="18" charset="0"/>
                            <a:ea typeface="MS Mincho" charset="0"/>
                            <a:cs typeface="Cambria Math" panose="02040503050406030204" pitchFamily="18" charset="0"/>
                          </a:rPr>
                          <m:t>(</m:t>
                        </m:r>
                        <m:r>
                          <a:rPr lang="en-US" altLang="zh-CN" sz="3600" i="1">
                            <a:latin typeface="Cambria Math" panose="02040503050406030204" pitchFamily="18" charset="0"/>
                            <a:cs typeface="Cambria Math" panose="02040503050406030204" pitchFamily="18" charset="0"/>
                          </a:rPr>
                          <m:t>𝐵</m:t>
                        </m:r>
                        <m:r>
                          <a:rPr lang="en-US" altLang="zh-CN" sz="3600" i="1">
                            <a:latin typeface="Cambria Math" panose="02040503050406030204" pitchFamily="18" charset="0"/>
                            <a:ea typeface="MS Mincho" charset="0"/>
                            <a:cs typeface="Cambria Math" panose="02040503050406030204" pitchFamily="18" charset="0"/>
                          </a:rPr>
                          <m:t>)</m:t>
                        </m:r>
                      </m:den>
                    </m:f>
                  </m:oMath>
                </a14:m>
                <a:endParaRPr lang="en-US" altLang="zh-CN" sz="3600" i="1" dirty="0">
                  <a:latin typeface="Cambria Math" panose="02040503050406030204" pitchFamily="18" charset="0"/>
                  <a:cs typeface="Cambria Math" panose="02040503050406030204" pitchFamily="18" charset="0"/>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5041201" y="5724779"/>
                <a:ext cx="2664460" cy="962025"/>
              </a:xfrm>
              <a:prstGeom prst="rect">
                <a:avLst/>
              </a:prstGeom>
              <a:blipFill rotWithShape="1">
                <a:blip r:embed="rId3"/>
                <a:stretch>
                  <a:fillRect l="-21" t="-26" r="-1313" b="26"/>
                </a:stretch>
              </a:blipFill>
            </p:spPr>
            <p:txBody>
              <a:bodyPr/>
              <a:lstStyle/>
              <a:p>
                <a:r>
                  <a:rPr lang="zh-CN" altLang="en-US">
                    <a:noFill/>
                  </a:rPr>
                  <a:t> </a:t>
                </a:r>
              </a:p>
            </p:txBody>
          </p:sp>
        </mc:Fallback>
      </mc:AlternateContent>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5C78D2-B858-4D3A-B7D3-E3B88F8DE321}"/>
              </a:ext>
            </a:extLst>
          </p:cNvPr>
          <p:cNvSpPr>
            <a:spLocks noGrp="1"/>
          </p:cNvSpPr>
          <p:nvPr>
            <p:ph type="title"/>
          </p:nvPr>
        </p:nvSpPr>
        <p:spPr/>
        <p:txBody>
          <a:bodyPr/>
          <a:lstStyle/>
          <a:p>
            <a:pPr algn="l"/>
            <a:r>
              <a:rPr/>
              <a:t>3.朴素贝叶斯</a:t>
            </a:r>
          </a:p>
        </p:txBody>
      </p:sp>
      <p:sp>
        <p:nvSpPr>
          <p:cNvPr id="3" name="内容占位符 2"/>
          <p:cNvSpPr>
            <a:spLocks noGrp="1"/>
          </p:cNvSpPr>
          <p:nvPr>
            <p:ph idx="1"/>
          </p:nvPr>
        </p:nvSpPr>
        <p:spPr/>
        <p:txBody>
          <a:bodyPr/>
          <a:lstStyle/>
          <a:p>
            <a:r>
              <a:rPr lang="zh-CN" altLang="en-US" b="1" dirty="0">
                <a:latin typeface="+mj-ea"/>
                <a:ea typeface="+mj-ea"/>
              </a:rPr>
              <a:t>贝叶斯公式：</a:t>
            </a:r>
            <a:r>
              <a:rPr lang="zh-CN" altLang="zh-CN" dirty="0"/>
              <a:t>基于条件概率，通过</a:t>
            </a:r>
            <a:r>
              <a:rPr lang="en-US" altLang="zh-CN" dirty="0"/>
              <a:t>P(B|A)</a:t>
            </a:r>
            <a:r>
              <a:rPr lang="zh-CN" altLang="zh-CN" dirty="0"/>
              <a:t>来求取</a:t>
            </a:r>
            <a:r>
              <a:rPr lang="en-US" altLang="zh-CN" dirty="0"/>
              <a:t>P(A|B)</a:t>
            </a:r>
            <a:endParaRPr lang="zh-CN" altLang="zh-CN" dirty="0"/>
          </a:p>
          <a:p>
            <a:endParaRPr lang="en-US" altLang="zh-CN" dirty="0"/>
          </a:p>
          <a:p>
            <a:pPr lvl="1"/>
            <a:endParaRPr lang="en-US" altLang="zh-CN" dirty="0">
              <a:latin typeface="+mj-ea"/>
              <a:ea typeface="+mj-ea"/>
            </a:endParaRPr>
          </a:p>
          <a:p>
            <a:pPr lvl="1"/>
            <a:r>
              <a:rPr lang="zh-CN" altLang="zh-CN" dirty="0">
                <a:latin typeface="+mj-ea"/>
                <a:ea typeface="+mj-ea"/>
              </a:rPr>
              <a:t>将</a:t>
            </a:r>
            <a:r>
              <a:rPr lang="en-US" altLang="zh-CN" dirty="0">
                <a:latin typeface="+mj-ea"/>
                <a:ea typeface="+mj-ea"/>
              </a:rPr>
              <a:t>A</a:t>
            </a:r>
            <a:r>
              <a:rPr lang="zh-CN" altLang="zh-CN" dirty="0">
                <a:latin typeface="+mj-ea"/>
                <a:ea typeface="+mj-ea"/>
              </a:rPr>
              <a:t>看成是“规律”，</a:t>
            </a:r>
            <a:r>
              <a:rPr lang="en-US" altLang="zh-CN" dirty="0">
                <a:latin typeface="+mj-ea"/>
                <a:ea typeface="+mj-ea"/>
              </a:rPr>
              <a:t>B</a:t>
            </a:r>
            <a:r>
              <a:rPr lang="zh-CN" altLang="zh-CN" dirty="0">
                <a:latin typeface="+mj-ea"/>
                <a:ea typeface="+mj-ea"/>
              </a:rPr>
              <a:t>看成是“现象”，那么贝叶斯公式看成</a:t>
            </a:r>
          </a:p>
          <a:p>
            <a:pPr marL="0" indent="0">
              <a:buNone/>
            </a:pPr>
            <a:endParaRPr lang="en-US" altLang="zh-CN" dirty="0"/>
          </a:p>
          <a:p>
            <a:endParaRPr lang="en-US" altLang="zh-CN" b="1" dirty="0">
              <a:latin typeface="+mj-ea"/>
              <a:ea typeface="+mj-ea"/>
            </a:endParaRPr>
          </a:p>
          <a:p>
            <a:r>
              <a:rPr lang="zh-CN" altLang="en-US" b="1" dirty="0">
                <a:latin typeface="+mj-ea"/>
                <a:ea typeface="+mj-ea"/>
              </a:rPr>
              <a:t>全概率公式：</a:t>
            </a:r>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6"/>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mc:AlternateContent xmlns:mc="http://schemas.openxmlformats.org/markup-compatibility/2006" xmlns:a14="http://schemas.microsoft.com/office/drawing/2010/main">
        <mc:Choice Requires="a14">
          <p:sp>
            <p:nvSpPr>
              <p:cNvPr id="10" name="文本框 9"/>
              <p:cNvSpPr txBox="1"/>
              <p:nvPr/>
            </p:nvSpPr>
            <p:spPr>
              <a:xfrm>
                <a:off x="4970716" y="2171954"/>
                <a:ext cx="3456940" cy="962025"/>
              </a:xfrm>
              <a:prstGeom prst="rect">
                <a:avLst/>
              </a:prstGeom>
              <a:noFill/>
            </p:spPr>
            <p:txBody>
              <a:bodyPr wrap="none" rtlCol="0" anchor="t">
                <a:spAutoFit/>
              </a:bodyPr>
              <a:lstStyle/>
              <a:p>
                <a:pPr algn="l"/>
                <a:r>
                  <a:rPr lang="en-US" altLang="zh-CN" sz="3600" i="1">
                    <a:latin typeface="Times New Roman" panose="02020603050405020304" pitchFamily="18" charset="0"/>
                    <a:cs typeface="Times New Roman" panose="02020603050405020304" pitchFamily="18" charset="0"/>
                  </a:rPr>
                  <a:t>P</a:t>
                </a:r>
                <a:r>
                  <a:rPr lang="en-US" altLang="zh-CN" sz="3600">
                    <a:latin typeface="Times New Roman" panose="02020603050405020304" pitchFamily="18" charset="0"/>
                    <a:cs typeface="Times New Roman" panose="02020603050405020304" pitchFamily="18" charset="0"/>
                  </a:rPr>
                  <a:t>(</a:t>
                </a:r>
                <a:r>
                  <a:rPr lang="en-US" altLang="zh-CN" sz="3600" i="1">
                    <a:latin typeface="Times New Roman" panose="02020603050405020304" pitchFamily="18" charset="0"/>
                    <a:cs typeface="Times New Roman" panose="02020603050405020304" pitchFamily="18" charset="0"/>
                  </a:rPr>
                  <a:t>A|B</a:t>
                </a:r>
                <a:r>
                  <a:rPr lang="en-US" altLang="zh-CN" sz="3600">
                    <a:latin typeface="Times New Roman" panose="02020603050405020304" pitchFamily="18" charset="0"/>
                    <a:cs typeface="Times New Roman" panose="02020603050405020304" pitchFamily="18" charset="0"/>
                  </a:rPr>
                  <a:t>)</a:t>
                </a:r>
                <a:r>
                  <a:rPr lang="en-US" altLang="zh-CN" sz="3600" i="1">
                    <a:latin typeface="Times New Roman" panose="02020603050405020304" pitchFamily="18" charset="0"/>
                    <a:cs typeface="Times New Roman" panose="02020603050405020304" pitchFamily="18" charset="0"/>
                  </a:rPr>
                  <a:t>=</a:t>
                </a:r>
                <a14:m>
                  <m:oMath xmlns:m="http://schemas.openxmlformats.org/officeDocument/2006/math">
                    <m:f>
                      <m:fPr>
                        <m:ctrlPr>
                          <a:rPr lang="en-US" altLang="zh-CN" sz="3600" i="1">
                            <a:latin typeface="Cambria Math" panose="02040503050406030204" pitchFamily="18" charset="0"/>
                            <a:cs typeface="Cambria Math" panose="02040503050406030204" pitchFamily="18" charset="0"/>
                          </a:rPr>
                        </m:ctrlPr>
                      </m:fPr>
                      <m:num>
                        <m:r>
                          <a:rPr lang="en-US" altLang="zh-CN" sz="3600" i="1">
                            <a:latin typeface="Cambria Math" panose="02040503050406030204" pitchFamily="18" charset="0"/>
                            <a:cs typeface="Cambria Math" panose="02040503050406030204" pitchFamily="18" charset="0"/>
                          </a:rPr>
                          <m:t>𝑃</m:t>
                        </m:r>
                        <m:r>
                          <a:rPr lang="en-US" altLang="zh-CN" sz="3600" i="1">
                            <a:latin typeface="Cambria Math" panose="02040503050406030204" pitchFamily="18" charset="0"/>
                            <a:ea typeface="MS Mincho" charset="0"/>
                            <a:cs typeface="Cambria Math" panose="02040503050406030204" pitchFamily="18" charset="0"/>
                          </a:rPr>
                          <m:t>(</m:t>
                        </m:r>
                        <m:r>
                          <a:rPr lang="en-US" altLang="zh-CN" sz="3600" i="1">
                            <a:latin typeface="Cambria Math" panose="02040503050406030204" pitchFamily="18" charset="0"/>
                            <a:ea typeface="MS Mincho" charset="0"/>
                            <a:cs typeface="Cambria Math" panose="02040503050406030204" pitchFamily="18" charset="0"/>
                          </a:rPr>
                          <m:t>𝐵</m:t>
                        </m:r>
                        <m:r>
                          <a:rPr lang="en-US" altLang="zh-CN" sz="3600" i="1">
                            <a:latin typeface="Cambria Math" panose="02040503050406030204" pitchFamily="18" charset="0"/>
                            <a:ea typeface="MS Mincho" charset="0"/>
                            <a:cs typeface="Cambria Math" panose="02040503050406030204" pitchFamily="18" charset="0"/>
                          </a:rPr>
                          <m:t>|</m:t>
                        </m:r>
                        <m:r>
                          <a:rPr lang="en-US" altLang="zh-CN" sz="3600" i="1">
                            <a:latin typeface="Cambria Math" panose="02040503050406030204" pitchFamily="18" charset="0"/>
                            <a:ea typeface="MS Mincho" charset="0"/>
                            <a:cs typeface="Cambria Math" panose="02040503050406030204" pitchFamily="18" charset="0"/>
                          </a:rPr>
                          <m:t>𝐴</m:t>
                        </m:r>
                        <m:r>
                          <a:rPr lang="en-US" altLang="zh-CN" sz="3600" i="1">
                            <a:latin typeface="Cambria Math" panose="02040503050406030204" pitchFamily="18" charset="0"/>
                            <a:ea typeface="MS Mincho" charset="0"/>
                            <a:cs typeface="Cambria Math" panose="02040503050406030204" pitchFamily="18" charset="0"/>
                          </a:rPr>
                          <m:t>)</m:t>
                        </m:r>
                        <m:r>
                          <a:rPr lang="en-US" altLang="zh-CN" sz="3600" i="1">
                            <a:latin typeface="Cambria Math" panose="02040503050406030204" pitchFamily="18" charset="0"/>
                            <a:ea typeface="MS Mincho" charset="0"/>
                            <a:cs typeface="Cambria Math" panose="02040503050406030204" pitchFamily="18" charset="0"/>
                          </a:rPr>
                          <m:t>𝑃</m:t>
                        </m:r>
                        <m:r>
                          <a:rPr lang="en-US" altLang="zh-CN" sz="3600" i="1">
                            <a:latin typeface="Cambria Math" panose="02040503050406030204" pitchFamily="18" charset="0"/>
                            <a:ea typeface="MS Mincho" charset="0"/>
                            <a:cs typeface="Cambria Math" panose="02040503050406030204" pitchFamily="18" charset="0"/>
                          </a:rPr>
                          <m:t>(</m:t>
                        </m:r>
                        <m:r>
                          <a:rPr lang="en-US" altLang="zh-CN" sz="3600" i="1">
                            <a:latin typeface="Cambria Math" panose="02040503050406030204" pitchFamily="18" charset="0"/>
                            <a:ea typeface="MS Mincho" charset="0"/>
                            <a:cs typeface="Cambria Math" panose="02040503050406030204" pitchFamily="18" charset="0"/>
                          </a:rPr>
                          <m:t>𝐴</m:t>
                        </m:r>
                        <m:r>
                          <a:rPr lang="en-US" altLang="zh-CN" sz="3600" i="1">
                            <a:latin typeface="Cambria Math" panose="02040503050406030204" pitchFamily="18" charset="0"/>
                            <a:ea typeface="MS Mincho" charset="0"/>
                            <a:cs typeface="Cambria Math" panose="02040503050406030204" pitchFamily="18" charset="0"/>
                          </a:rPr>
                          <m:t>)</m:t>
                        </m:r>
                      </m:num>
                      <m:den>
                        <m:r>
                          <a:rPr lang="en-US" altLang="zh-CN" sz="3600" i="1">
                            <a:latin typeface="Cambria Math" panose="02040503050406030204" pitchFamily="18" charset="0"/>
                            <a:cs typeface="Cambria Math" panose="02040503050406030204" pitchFamily="18" charset="0"/>
                          </a:rPr>
                          <m:t>𝑃</m:t>
                        </m:r>
                        <m:r>
                          <a:rPr lang="en-US" altLang="zh-CN" sz="3600" i="1">
                            <a:latin typeface="Cambria Math" panose="02040503050406030204" pitchFamily="18" charset="0"/>
                            <a:ea typeface="MS Mincho" charset="0"/>
                            <a:cs typeface="Cambria Math" panose="02040503050406030204" pitchFamily="18" charset="0"/>
                          </a:rPr>
                          <m:t>(</m:t>
                        </m:r>
                        <m:r>
                          <a:rPr lang="en-US" altLang="zh-CN" sz="3600" i="1">
                            <a:latin typeface="Cambria Math" panose="02040503050406030204" pitchFamily="18" charset="0"/>
                            <a:cs typeface="Cambria Math" panose="02040503050406030204" pitchFamily="18" charset="0"/>
                          </a:rPr>
                          <m:t>𝐵</m:t>
                        </m:r>
                        <m:r>
                          <a:rPr lang="en-US" altLang="zh-CN" sz="3600" i="1">
                            <a:latin typeface="Cambria Math" panose="02040503050406030204" pitchFamily="18" charset="0"/>
                            <a:ea typeface="MS Mincho" charset="0"/>
                            <a:cs typeface="Cambria Math" panose="02040503050406030204" pitchFamily="18" charset="0"/>
                          </a:rPr>
                          <m:t>)</m:t>
                        </m:r>
                      </m:den>
                    </m:f>
                  </m:oMath>
                </a14:m>
                <a:endParaRPr lang="en-US" altLang="zh-CN" sz="3600" i="1">
                  <a:latin typeface="Cambria Math" panose="02040503050406030204" pitchFamily="18" charset="0"/>
                  <a:cs typeface="Cambria Math" panose="02040503050406030204" pitchFamily="18" charset="0"/>
                </a:endParaRPr>
              </a:p>
            </p:txBody>
          </p:sp>
        </mc:Choice>
        <mc:Fallback xmlns="">
          <p:sp>
            <p:nvSpPr>
              <p:cNvPr id="10" name="文本框 9"/>
              <p:cNvSpPr txBox="1">
                <a:spLocks noRot="1" noChangeAspect="1" noMove="1" noResize="1" noEditPoints="1" noAdjustHandles="1" noChangeArrowheads="1" noChangeShapeType="1" noTextEdit="1"/>
              </p:cNvSpPr>
              <p:nvPr/>
            </p:nvSpPr>
            <p:spPr>
              <a:xfrm>
                <a:off x="4970716" y="2171954"/>
                <a:ext cx="3456940" cy="962025"/>
              </a:xfrm>
              <a:prstGeom prst="rect">
                <a:avLst/>
              </a:prstGeom>
              <a:blipFill rotWithShape="1">
                <a:blip r:embed="rId2"/>
                <a:stretch>
                  <a:fillRect l="-17" t="-26" r="-1012" b="2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p:cNvSpPr txBox="1"/>
              <p:nvPr/>
            </p:nvSpPr>
            <p:spPr>
              <a:xfrm>
                <a:off x="4218876" y="3834384"/>
                <a:ext cx="6176645" cy="1001395"/>
              </a:xfrm>
              <a:prstGeom prst="rect">
                <a:avLst/>
              </a:prstGeom>
              <a:noFill/>
            </p:spPr>
            <p:txBody>
              <a:bodyPr wrap="none" rtlCol="0" anchor="t">
                <a:spAutoFit/>
              </a:bodyPr>
              <a:lstStyle/>
              <a:p>
                <a:pPr algn="l"/>
                <a:r>
                  <a:rPr lang="en-US" altLang="zh-CN" sz="3600" i="1">
                    <a:latin typeface="Times New Roman" panose="02020603050405020304" pitchFamily="18" charset="0"/>
                    <a:cs typeface="Times New Roman" panose="02020603050405020304" pitchFamily="18" charset="0"/>
                  </a:rPr>
                  <a:t>P</a:t>
                </a:r>
                <a:r>
                  <a:rPr lang="en-US" altLang="zh-CN" sz="3600">
                    <a:latin typeface="Times New Roman" panose="02020603050405020304" pitchFamily="18" charset="0"/>
                    <a:cs typeface="Times New Roman" panose="02020603050405020304" pitchFamily="18" charset="0"/>
                  </a:rPr>
                  <a:t>(</a:t>
                </a:r>
                <a:r>
                  <a:rPr lang="zh-CN" altLang="en-US" sz="3600">
                    <a:latin typeface="+mn-ea"/>
                    <a:ea typeface="+mn-ea"/>
                    <a:cs typeface="+mn-ea"/>
                  </a:rPr>
                  <a:t>规律</a:t>
                </a:r>
                <a:r>
                  <a:rPr lang="en-US" altLang="zh-CN" sz="3600">
                    <a:latin typeface="+mn-ea"/>
                    <a:ea typeface="+mn-ea"/>
                    <a:cs typeface="+mn-ea"/>
                  </a:rPr>
                  <a:t>|</a:t>
                </a:r>
                <a:r>
                  <a:rPr lang="zh-CN" altLang="en-US" sz="3600">
                    <a:latin typeface="+mn-ea"/>
                    <a:ea typeface="+mn-ea"/>
                    <a:cs typeface="+mn-ea"/>
                  </a:rPr>
                  <a:t>现象</a:t>
                </a:r>
                <a:r>
                  <a:rPr lang="en-US" altLang="zh-CN" sz="3600">
                    <a:latin typeface="Times New Roman" panose="02020603050405020304" pitchFamily="18" charset="0"/>
                    <a:cs typeface="Times New Roman" panose="02020603050405020304" pitchFamily="18" charset="0"/>
                  </a:rPr>
                  <a:t>)</a:t>
                </a:r>
                <a:r>
                  <a:rPr lang="en-US" altLang="zh-CN" sz="3600" i="1">
                    <a:latin typeface="Times New Roman" panose="02020603050405020304" pitchFamily="18" charset="0"/>
                    <a:cs typeface="Times New Roman" panose="02020603050405020304" pitchFamily="18" charset="0"/>
                  </a:rPr>
                  <a:t>=</a:t>
                </a:r>
                <a14:m>
                  <m:oMath xmlns:m="http://schemas.openxmlformats.org/officeDocument/2006/math">
                    <m:f>
                      <m:fPr>
                        <m:ctrlPr>
                          <a:rPr lang="en-US" altLang="zh-CN" sz="3600" i="1">
                            <a:latin typeface="Cambria Math" panose="02040503050406030204" pitchFamily="18" charset="0"/>
                            <a:cs typeface="Cambria Math" panose="02040503050406030204" pitchFamily="18" charset="0"/>
                          </a:rPr>
                        </m:ctrlPr>
                      </m:fPr>
                      <m:num>
                        <m:r>
                          <a:rPr lang="en-US" altLang="zh-CN" sz="3600" i="1">
                            <a:latin typeface="Cambria Math" panose="02040503050406030204" pitchFamily="18" charset="0"/>
                            <a:cs typeface="Cambria Math" panose="02040503050406030204" pitchFamily="18" charset="0"/>
                          </a:rPr>
                          <m:t>𝑃</m:t>
                        </m:r>
                        <m:r>
                          <a:rPr lang="en-US" altLang="zh-CN" sz="3600" i="1">
                            <a:latin typeface="Cambria Math" panose="02040503050406030204" pitchFamily="18" charset="0"/>
                            <a:ea typeface="MS Mincho" charset="0"/>
                            <a:cs typeface="Cambria Math" panose="02040503050406030204" pitchFamily="18" charset="0"/>
                          </a:rPr>
                          <m:t>(现象|规律)</m:t>
                        </m:r>
                        <m:r>
                          <a:rPr lang="en-US" altLang="zh-CN" sz="3600" i="1">
                            <a:latin typeface="Cambria Math" panose="02040503050406030204" pitchFamily="18" charset="0"/>
                            <a:ea typeface="MS Mincho" charset="0"/>
                            <a:cs typeface="Cambria Math" panose="02040503050406030204" pitchFamily="18" charset="0"/>
                          </a:rPr>
                          <m:t>𝑃</m:t>
                        </m:r>
                        <m:r>
                          <a:rPr lang="en-US" altLang="zh-CN" sz="3600" i="1">
                            <a:latin typeface="Cambria Math" panose="02040503050406030204" pitchFamily="18" charset="0"/>
                            <a:ea typeface="MS Mincho" charset="0"/>
                            <a:cs typeface="Cambria Math" panose="02040503050406030204" pitchFamily="18" charset="0"/>
                          </a:rPr>
                          <m:t>(规律)</m:t>
                        </m:r>
                      </m:num>
                      <m:den>
                        <m:r>
                          <a:rPr lang="en-US" altLang="zh-CN" sz="3600" i="1">
                            <a:latin typeface="Cambria Math" panose="02040503050406030204" pitchFamily="18" charset="0"/>
                            <a:cs typeface="Cambria Math" panose="02040503050406030204" pitchFamily="18" charset="0"/>
                          </a:rPr>
                          <m:t>𝑃</m:t>
                        </m:r>
                        <m:r>
                          <a:rPr lang="en-US" altLang="zh-CN" sz="3600" i="1">
                            <a:latin typeface="Cambria Math" panose="02040503050406030204" pitchFamily="18" charset="0"/>
                            <a:ea typeface="MS Mincho" charset="0"/>
                            <a:cs typeface="Cambria Math" panose="02040503050406030204" pitchFamily="18" charset="0"/>
                          </a:rPr>
                          <m:t>(现象)</m:t>
                        </m:r>
                      </m:den>
                    </m:f>
                  </m:oMath>
                </a14:m>
                <a:endParaRPr lang="en-US" altLang="zh-CN" sz="3600" i="1">
                  <a:latin typeface="Cambria Math" panose="02040503050406030204" pitchFamily="18" charset="0"/>
                  <a:cs typeface="Cambria Math" panose="02040503050406030204" pitchFamily="18" charset="0"/>
                </a:endParaRPr>
              </a:p>
            </p:txBody>
          </p:sp>
        </mc:Choice>
        <mc:Fallback xmlns="">
          <p:sp>
            <p:nvSpPr>
              <p:cNvPr id="11" name="文本框 10"/>
              <p:cNvSpPr txBox="1">
                <a:spLocks noRot="1" noChangeAspect="1" noMove="1" noResize="1" noEditPoints="1" noAdjustHandles="1" noChangeArrowheads="1" noChangeShapeType="1" noTextEdit="1"/>
              </p:cNvSpPr>
              <p:nvPr/>
            </p:nvSpPr>
            <p:spPr>
              <a:xfrm>
                <a:off x="4218876" y="3834384"/>
                <a:ext cx="6176645" cy="1001395"/>
              </a:xfrm>
              <a:prstGeom prst="rect">
                <a:avLst/>
              </a:prstGeom>
              <a:blipFill rotWithShape="1">
                <a:blip r:embed="rId3"/>
                <a:stretch>
                  <a:fillRect l="-9" t="-25" r="-566" b="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p:cNvSpPr txBox="1"/>
              <p:nvPr/>
            </p:nvSpPr>
            <p:spPr>
              <a:xfrm>
                <a:off x="4128706" y="5027549"/>
                <a:ext cx="3508375" cy="1099185"/>
              </a:xfrm>
              <a:prstGeom prst="rect">
                <a:avLst/>
              </a:prstGeom>
              <a:noFill/>
            </p:spPr>
            <p:txBody>
              <a:bodyPr wrap="none" rtlCol="0" anchor="t">
                <a:spAutoFit/>
              </a:bodyPr>
              <a:lstStyle/>
              <a:p>
                <a:pPr algn="l"/>
                <a14:m>
                  <m:oMathPara xmlns:m="http://schemas.openxmlformats.org/officeDocument/2006/math">
                    <m:o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𝐵</m:t>
                      </m:r>
                      <m:r>
                        <a:rPr lang="en-US" altLang="zh-CN" i="1">
                          <a:latin typeface="Cambria Math" panose="02040503050406030204" pitchFamily="18" charset="0"/>
                          <a:cs typeface="Cambria Math" panose="02040503050406030204" pitchFamily="18" charset="0"/>
                        </a:rPr>
                        <m:t>)=</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𝑛</m:t>
                          </m:r>
                        </m:sup>
                        <m:e>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𝐵</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𝐴</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𝐴</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e>
                      </m:nary>
                    </m:oMath>
                  </m:oMathPara>
                </a14:m>
                <a:endParaRPr lang="zh-CN" altLang="en-US"/>
              </a:p>
            </p:txBody>
          </p:sp>
        </mc:Choice>
        <mc:Fallback xmlns="">
          <p:sp>
            <p:nvSpPr>
              <p:cNvPr id="12" name="文本框 11"/>
              <p:cNvSpPr txBox="1">
                <a:spLocks noRot="1" noChangeAspect="1" noMove="1" noResize="1" noEditPoints="1" noAdjustHandles="1" noChangeArrowheads="1" noChangeShapeType="1" noTextEdit="1"/>
              </p:cNvSpPr>
              <p:nvPr/>
            </p:nvSpPr>
            <p:spPr>
              <a:xfrm>
                <a:off x="4128706" y="5027549"/>
                <a:ext cx="3508375" cy="1099185"/>
              </a:xfrm>
              <a:prstGeom prst="rect">
                <a:avLst/>
              </a:prstGeom>
              <a:blipFill rotWithShape="1">
                <a:blip r:embed="rId4"/>
                <a:stretch>
                  <a:fillRect l="-16" t="-23" r="16" b="23"/>
                </a:stretch>
              </a:blipFill>
            </p:spPr>
            <p:txBody>
              <a:bodyPr/>
              <a:lstStyle/>
              <a:p>
                <a:r>
                  <a:rPr lang="zh-CN" altLang="en-US">
                    <a:noFill/>
                  </a:rPr>
                  <a:t> </a:t>
                </a:r>
              </a:p>
            </p:txBody>
          </p:sp>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8B019D-D0B5-4BF7-86E1-40A1553E7A08}"/>
              </a:ext>
            </a:extLst>
          </p:cNvPr>
          <p:cNvSpPr>
            <a:spLocks noGrp="1"/>
          </p:cNvSpPr>
          <p:nvPr>
            <p:ph type="title"/>
          </p:nvPr>
        </p:nvSpPr>
        <p:spPr/>
        <p:txBody>
          <a:bodyPr/>
          <a:lstStyle/>
          <a:p>
            <a:pPr algn="l"/>
            <a:r>
              <a:rPr/>
              <a:t>3.朴素贝叶斯</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zh-CN" b="1" dirty="0">
                    <a:solidFill>
                      <a:srgbClr val="FF0000"/>
                    </a:solidFill>
                    <a:latin typeface="+mj-ea"/>
                    <a:ea typeface="+mj-ea"/>
                  </a:rPr>
                  <a:t>朴素贝叶斯</a:t>
                </a:r>
                <a:r>
                  <a:rPr lang="zh-CN" altLang="zh-CN" dirty="0">
                    <a:latin typeface="+mj-ea"/>
                    <a:ea typeface="+mj-ea"/>
                  </a:rPr>
                  <a:t>（</a:t>
                </a:r>
                <a:r>
                  <a:rPr lang="en-US" altLang="zh-CN" dirty="0">
                    <a:latin typeface="+mj-ea"/>
                    <a:ea typeface="+mj-ea"/>
                  </a:rPr>
                  <a:t>Naïve Bayes</a:t>
                </a:r>
                <a:r>
                  <a:rPr lang="zh-CN" altLang="zh-CN" dirty="0">
                    <a:latin typeface="+mj-ea"/>
                    <a:ea typeface="+mj-ea"/>
                  </a:rPr>
                  <a:t>）是一种经典的分类算法，它的经典案例是用于文本分类。朴素贝叶斯本质上是典型的生成式方法，首先由训练数据学习联合概率分布</a:t>
                </a:r>
                <a14:m>
                  <m:oMath xmlns:m="http://schemas.openxmlformats.org/officeDocument/2006/math">
                    <m:r>
                      <a:rPr lang="en-US" altLang="zh-CN" i="1" dirty="0" smtClean="0">
                        <a:latin typeface="Cambria Math" panose="02040503050406030204" pitchFamily="18" charset="0"/>
                        <a:ea typeface="+mj-ea"/>
                      </a:rPr>
                      <m:t>𝑃</m:t>
                    </m:r>
                    <m:r>
                      <a:rPr lang="en-US" altLang="zh-CN" i="1" dirty="0" smtClean="0">
                        <a:latin typeface="Cambria Math" panose="02040503050406030204" pitchFamily="18" charset="0"/>
                        <a:ea typeface="+mj-ea"/>
                      </a:rPr>
                      <m:t>(</m:t>
                    </m:r>
                    <m:r>
                      <a:rPr lang="en-US" altLang="zh-CN" i="1" dirty="0" smtClean="0">
                        <a:latin typeface="Cambria Math" panose="02040503050406030204" pitchFamily="18" charset="0"/>
                        <a:ea typeface="+mj-ea"/>
                      </a:rPr>
                      <m:t>𝐴</m:t>
                    </m:r>
                    <m:r>
                      <a:rPr lang="en-US" altLang="zh-CN" i="1" dirty="0" smtClean="0">
                        <a:latin typeface="Cambria Math" panose="02040503050406030204" pitchFamily="18" charset="0"/>
                        <a:ea typeface="+mj-ea"/>
                      </a:rPr>
                      <m:t>,</m:t>
                    </m:r>
                    <m:r>
                      <a:rPr lang="en-US" altLang="zh-CN" i="1" dirty="0" smtClean="0">
                        <a:latin typeface="Cambria Math" panose="02040503050406030204" pitchFamily="18" charset="0"/>
                        <a:ea typeface="+mj-ea"/>
                      </a:rPr>
                      <m:t>𝐵</m:t>
                    </m:r>
                    <m:r>
                      <a:rPr lang="en-US" altLang="zh-CN" i="1" dirty="0" smtClean="0">
                        <a:latin typeface="Cambria Math" panose="02040503050406030204" pitchFamily="18" charset="0"/>
                        <a:ea typeface="+mj-ea"/>
                      </a:rPr>
                      <m:t>)</m:t>
                    </m:r>
                  </m:oMath>
                </a14:m>
                <a:r>
                  <a:rPr lang="zh-CN" altLang="zh-CN" dirty="0">
                    <a:latin typeface="+mj-ea"/>
                    <a:ea typeface="+mj-ea"/>
                  </a:rPr>
                  <a:t>，然后求解后验概率分布</a:t>
                </a:r>
                <a14:m>
                  <m:oMath xmlns:m="http://schemas.openxmlformats.org/officeDocument/2006/math">
                    <m:r>
                      <a:rPr lang="en-US" altLang="zh-CN" i="1" dirty="0" smtClean="0">
                        <a:latin typeface="Cambria Math" panose="02040503050406030204" pitchFamily="18" charset="0"/>
                        <a:ea typeface="+mj-ea"/>
                      </a:rPr>
                      <m:t>𝑃</m:t>
                    </m:r>
                    <m:r>
                      <a:rPr lang="en-US" altLang="zh-CN" i="1" dirty="0" smtClean="0">
                        <a:latin typeface="Cambria Math" panose="02040503050406030204" pitchFamily="18" charset="0"/>
                        <a:ea typeface="+mj-ea"/>
                      </a:rPr>
                      <m:t>(</m:t>
                    </m:r>
                    <m:r>
                      <a:rPr lang="en-US" altLang="zh-CN" i="1" dirty="0" smtClean="0">
                        <a:latin typeface="Cambria Math" panose="02040503050406030204" pitchFamily="18" charset="0"/>
                        <a:ea typeface="+mj-ea"/>
                      </a:rPr>
                      <m:t>𝐵</m:t>
                    </m:r>
                    <m:r>
                      <a:rPr lang="en-US" altLang="zh-CN" i="1" dirty="0" smtClean="0">
                        <a:latin typeface="Cambria Math" panose="02040503050406030204" pitchFamily="18" charset="0"/>
                        <a:ea typeface="+mj-ea"/>
                      </a:rPr>
                      <m:t>|</m:t>
                    </m:r>
                    <m:r>
                      <a:rPr lang="en-US" altLang="zh-CN" i="1" dirty="0" smtClean="0">
                        <a:latin typeface="Cambria Math" panose="02040503050406030204" pitchFamily="18" charset="0"/>
                        <a:ea typeface="+mj-ea"/>
                      </a:rPr>
                      <m:t>𝐴</m:t>
                    </m:r>
                    <m:r>
                      <a:rPr lang="en-US" altLang="zh-CN" i="1" dirty="0" smtClean="0">
                        <a:latin typeface="Cambria Math" panose="02040503050406030204" pitchFamily="18" charset="0"/>
                        <a:ea typeface="+mj-ea"/>
                      </a:rPr>
                      <m:t>)</m:t>
                    </m:r>
                  </m:oMath>
                </a14:m>
                <a:endParaRPr lang="en-US" altLang="zh-CN" dirty="0">
                  <a:latin typeface="+mj-ea"/>
                  <a:ea typeface="+mj-ea"/>
                </a:endParaRPr>
              </a:p>
              <a:p>
                <a:r>
                  <a:rPr lang="zh-CN" altLang="zh-CN" dirty="0">
                    <a:latin typeface="+mj-ea"/>
                    <a:ea typeface="+mj-ea"/>
                  </a:rPr>
                  <a:t>朴素贝叶斯方法的基本假设是特征条件假设，即假设每个特征之间没有联系</a:t>
                </a:r>
                <a:endParaRPr lang="en-US" altLang="zh-CN" dirty="0">
                  <a:latin typeface="+mj-ea"/>
                  <a:ea typeface="+mj-ea"/>
                </a:endParaRPr>
              </a:p>
              <a:p>
                <a:pPr marL="0" indent="0">
                  <a:buNone/>
                </a:pPr>
                <a:endParaRPr lang="zh-CN" altLang="en-US" dirty="0">
                  <a:latin typeface="+mj-ea"/>
                  <a:ea typeface="+mj-ea"/>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1667" t="-3100"/>
                </a:stretch>
              </a:blipFill>
            </p:spPr>
            <p:txBody>
              <a:bodyPr/>
              <a:lstStyle/>
              <a:p>
                <a:r>
                  <a:rPr lang="zh-CN" altLang="en-US">
                    <a:noFill/>
                  </a:rPr>
                  <a:t> </a:t>
                </a:r>
              </a:p>
            </p:txBody>
          </p:sp>
        </mc:Fallback>
      </mc:AlternateContent>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TextBox 7"/>
          <p:cNvSpPr txBox="1"/>
          <p:nvPr/>
        </p:nvSpPr>
        <p:spPr>
          <a:xfrm>
            <a:off x="2208811" y="5522762"/>
            <a:ext cx="1415772" cy="461665"/>
          </a:xfrm>
          <a:prstGeom prst="rect">
            <a:avLst/>
          </a:prstGeom>
          <a:noFill/>
        </p:spPr>
        <p:txBody>
          <a:bodyPr wrap="none" rtlCol="0">
            <a:spAutoFit/>
          </a:bodyPr>
          <a:lstStyle/>
          <a:p>
            <a:r>
              <a:rPr lang="zh-CN" altLang="en-US" dirty="0"/>
              <a:t>数据样本</a:t>
            </a:r>
          </a:p>
        </p:txBody>
      </p:sp>
      <p:sp>
        <p:nvSpPr>
          <p:cNvPr id="9" name="TextBox 8"/>
          <p:cNvSpPr txBox="1"/>
          <p:nvPr/>
        </p:nvSpPr>
        <p:spPr>
          <a:xfrm>
            <a:off x="6442364" y="5522762"/>
            <a:ext cx="1107996" cy="461665"/>
          </a:xfrm>
          <a:prstGeom prst="rect">
            <a:avLst/>
          </a:prstGeom>
          <a:noFill/>
        </p:spPr>
        <p:txBody>
          <a:bodyPr wrap="none" rtlCol="0">
            <a:spAutoFit/>
          </a:bodyPr>
          <a:lstStyle/>
          <a:p>
            <a:r>
              <a:rPr lang="zh-CN" altLang="en-US" dirty="0"/>
              <a:t>类标签</a:t>
            </a:r>
          </a:p>
        </p:txBody>
      </p:sp>
      <mc:AlternateContent xmlns:mc="http://schemas.openxmlformats.org/markup-compatibility/2006" xmlns:a14="http://schemas.microsoft.com/office/drawing/2010/main">
        <mc:Choice Requires="a14">
          <p:sp>
            <p:nvSpPr>
              <p:cNvPr id="10" name="文本框 9"/>
              <p:cNvSpPr txBox="1"/>
              <p:nvPr/>
            </p:nvSpPr>
            <p:spPr>
              <a:xfrm>
                <a:off x="1976258" y="4915898"/>
                <a:ext cx="2641557" cy="523220"/>
              </a:xfrm>
              <a:prstGeom prst="rect">
                <a:avLst/>
              </a:prstGeom>
              <a:noFill/>
            </p:spPr>
            <p:txBody>
              <a:bodyPr wrap="none" rtlCol="0" anchor="t">
                <a:spAutoFit/>
              </a:bodyPr>
              <a:lstStyle/>
              <a:p>
                <a:pPr algn="l"/>
                <a14:m>
                  <m:oMathPara xmlns:m="http://schemas.openxmlformats.org/officeDocument/2006/math">
                    <m:oMath>
                      <m:r>
                        <a:rPr lang="en-US" altLang="zh-CN" sz="2800" i="1">
                          <a:latin typeface="Cambria Math" panose="02040503050406030204" pitchFamily="18" charset="0"/>
                          <a:cs typeface="Cambria Math" panose="02040503050406030204" pitchFamily="18" charset="0"/>
                        </a:rPr>
                        <m:t>𝑥</m:t>
                      </m:r>
                      <m:r>
                        <a:rPr lang="en-US" altLang="zh-CN" sz="2800" i="1">
                          <a:latin typeface="Cambria Math" panose="02040503050406030204" pitchFamily="18" charset="0"/>
                          <a:cs typeface="Cambria Math" panose="02040503050406030204" pitchFamily="18" charset="0"/>
                        </a:rPr>
                        <m:t>=(</m:t>
                      </m:r>
                      <m:sSub>
                        <m:sSubPr>
                          <m:ctrlPr>
                            <a:rPr lang="en-US" altLang="zh-CN" sz="2800" i="1">
                              <a:latin typeface="Cambria Math" panose="02040503050406030204" pitchFamily="18" charset="0"/>
                              <a:cs typeface="Cambria Math" panose="02040503050406030204" pitchFamily="18" charset="0"/>
                            </a:rPr>
                          </m:ctrlPr>
                        </m:sSubPr>
                        <m:e>
                          <m:r>
                            <a:rPr lang="en-US" altLang="zh-CN" sz="2800" i="1">
                              <a:latin typeface="Cambria Math" panose="02040503050406030204" pitchFamily="18" charset="0"/>
                              <a:cs typeface="Cambria Math" panose="02040503050406030204" pitchFamily="18" charset="0"/>
                            </a:rPr>
                            <m:t>𝑥</m:t>
                          </m:r>
                        </m:e>
                        <m:sub>
                          <m:r>
                            <a:rPr lang="en-US" altLang="zh-CN" sz="2800" i="1">
                              <a:latin typeface="Cambria Math" panose="02040503050406030204" pitchFamily="18" charset="0"/>
                              <a:cs typeface="Cambria Math" panose="02040503050406030204" pitchFamily="18" charset="0"/>
                            </a:rPr>
                            <m:t>1</m:t>
                          </m:r>
                        </m:sub>
                      </m:sSub>
                      <m:r>
                        <a:rPr lang="en-US" altLang="zh-CN" sz="2800" i="1">
                          <a:latin typeface="Cambria Math" panose="02040503050406030204" pitchFamily="18" charset="0"/>
                          <a:cs typeface="Cambria Math" panose="02040503050406030204" pitchFamily="18" charset="0"/>
                        </a:rPr>
                        <m:t>,...,</m:t>
                      </m:r>
                      <m:sSub>
                        <m:sSubPr>
                          <m:ctrlPr>
                            <a:rPr lang="en-US" altLang="zh-CN" sz="2800" i="1">
                              <a:latin typeface="Cambria Math" panose="02040503050406030204" pitchFamily="18" charset="0"/>
                              <a:cs typeface="Cambria Math" panose="02040503050406030204" pitchFamily="18" charset="0"/>
                            </a:rPr>
                          </m:ctrlPr>
                        </m:sSubPr>
                        <m:e>
                          <m:r>
                            <a:rPr lang="en-US" altLang="zh-CN" sz="2800" i="1">
                              <a:latin typeface="Cambria Math" panose="02040503050406030204" pitchFamily="18" charset="0"/>
                              <a:cs typeface="Cambria Math" panose="02040503050406030204" pitchFamily="18" charset="0"/>
                            </a:rPr>
                            <m:t>𝑥</m:t>
                          </m:r>
                        </m:e>
                        <m:sub>
                          <m:r>
                            <a:rPr lang="en-US" altLang="zh-CN" sz="2800" i="1">
                              <a:latin typeface="Cambria Math" panose="02040503050406030204" pitchFamily="18" charset="0"/>
                              <a:cs typeface="Cambria Math" panose="02040503050406030204" pitchFamily="18" charset="0"/>
                            </a:rPr>
                            <m:t>𝑛</m:t>
                          </m:r>
                        </m:sub>
                      </m:sSub>
                      <m:r>
                        <a:rPr lang="en-US" altLang="zh-CN" sz="2800" i="1">
                          <a:latin typeface="Cambria Math" panose="02040503050406030204" pitchFamily="18" charset="0"/>
                          <a:cs typeface="Cambria Math" panose="02040503050406030204" pitchFamily="18" charset="0"/>
                        </a:rPr>
                        <m:t>)</m:t>
                      </m:r>
                    </m:oMath>
                  </m:oMathPara>
                </a14:m>
                <a:endParaRPr lang="zh-CN" altLang="en-US" sz="2800" dirty="0"/>
              </a:p>
            </p:txBody>
          </p:sp>
        </mc:Choice>
        <mc:Fallback xmlns="">
          <p:sp>
            <p:nvSpPr>
              <p:cNvPr id="10" name="文本框 9"/>
              <p:cNvSpPr txBox="1">
                <a:spLocks noRot="1" noChangeAspect="1" noMove="1" noResize="1" noEditPoints="1" noAdjustHandles="1" noChangeArrowheads="1" noChangeShapeType="1" noTextEdit="1"/>
              </p:cNvSpPr>
              <p:nvPr/>
            </p:nvSpPr>
            <p:spPr>
              <a:xfrm>
                <a:off x="1976258" y="4915898"/>
                <a:ext cx="2641557" cy="523220"/>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p:cNvSpPr txBox="1"/>
              <p:nvPr/>
            </p:nvSpPr>
            <p:spPr>
              <a:xfrm>
                <a:off x="6096000" y="4915898"/>
                <a:ext cx="2546595" cy="523220"/>
              </a:xfrm>
              <a:prstGeom prst="rect">
                <a:avLst/>
              </a:prstGeom>
              <a:noFill/>
            </p:spPr>
            <p:txBody>
              <a:bodyPr wrap="none" rtlCol="0" anchor="t">
                <a:spAutoFit/>
              </a:bodyPr>
              <a:lstStyle/>
              <a:p>
                <a:pPr algn="l"/>
                <a14:m>
                  <m:oMathPara xmlns:m="http://schemas.openxmlformats.org/officeDocument/2006/math">
                    <m:oMath>
                      <m:r>
                        <a:rPr lang="en-US" altLang="zh-CN" sz="2800" i="1">
                          <a:latin typeface="Cambria Math" panose="02040503050406030204" pitchFamily="18" charset="0"/>
                          <a:cs typeface="Cambria Math" panose="02040503050406030204" pitchFamily="18" charset="0"/>
                        </a:rPr>
                        <m:t>𝑐</m:t>
                      </m:r>
                      <m:r>
                        <a:rPr lang="en-US" altLang="zh-CN" sz="2800" i="1">
                          <a:latin typeface="Cambria Math" panose="02040503050406030204" pitchFamily="18" charset="0"/>
                          <a:cs typeface="Cambria Math" panose="02040503050406030204" pitchFamily="18" charset="0"/>
                        </a:rPr>
                        <m:t>=(</m:t>
                      </m:r>
                      <m:sSub>
                        <m:sSubPr>
                          <m:ctrlPr>
                            <a:rPr lang="en-US" altLang="zh-CN" sz="2800" i="1">
                              <a:latin typeface="Cambria Math" panose="02040503050406030204" pitchFamily="18" charset="0"/>
                              <a:cs typeface="Cambria Math" panose="02040503050406030204" pitchFamily="18" charset="0"/>
                            </a:rPr>
                          </m:ctrlPr>
                        </m:sSubPr>
                        <m:e>
                          <m:r>
                            <a:rPr lang="en-US" altLang="zh-CN" sz="2800" i="1">
                              <a:latin typeface="Cambria Math" panose="02040503050406030204" pitchFamily="18" charset="0"/>
                              <a:cs typeface="Cambria Math" panose="02040503050406030204" pitchFamily="18" charset="0"/>
                            </a:rPr>
                            <m:t>𝑐</m:t>
                          </m:r>
                        </m:e>
                        <m:sub>
                          <m:r>
                            <a:rPr lang="en-US" altLang="zh-CN" sz="2800" i="1">
                              <a:latin typeface="Cambria Math" panose="02040503050406030204" pitchFamily="18" charset="0"/>
                              <a:cs typeface="Cambria Math" panose="02040503050406030204" pitchFamily="18" charset="0"/>
                            </a:rPr>
                            <m:t>1</m:t>
                          </m:r>
                        </m:sub>
                      </m:sSub>
                      <m:r>
                        <a:rPr lang="en-US" altLang="zh-CN" sz="2800" i="1">
                          <a:latin typeface="Cambria Math" panose="02040503050406030204" pitchFamily="18" charset="0"/>
                          <a:cs typeface="Cambria Math" panose="02040503050406030204" pitchFamily="18" charset="0"/>
                        </a:rPr>
                        <m:t>,...,</m:t>
                      </m:r>
                      <m:sSub>
                        <m:sSubPr>
                          <m:ctrlPr>
                            <a:rPr lang="en-US" altLang="zh-CN" sz="2800" i="1">
                              <a:latin typeface="Cambria Math" panose="02040503050406030204" pitchFamily="18" charset="0"/>
                              <a:cs typeface="Cambria Math" panose="02040503050406030204" pitchFamily="18" charset="0"/>
                            </a:rPr>
                          </m:ctrlPr>
                        </m:sSubPr>
                        <m:e>
                          <m:r>
                            <a:rPr lang="en-US" altLang="zh-CN" sz="2800" i="1">
                              <a:latin typeface="Cambria Math" panose="02040503050406030204" pitchFamily="18" charset="0"/>
                              <a:cs typeface="Cambria Math" panose="02040503050406030204" pitchFamily="18" charset="0"/>
                            </a:rPr>
                            <m:t>𝑐</m:t>
                          </m:r>
                        </m:e>
                        <m:sub>
                          <m:r>
                            <a:rPr lang="en-US" altLang="zh-CN" sz="2800" i="1">
                              <a:latin typeface="Cambria Math" panose="02040503050406030204" pitchFamily="18" charset="0"/>
                              <a:cs typeface="Cambria Math" panose="02040503050406030204" pitchFamily="18" charset="0"/>
                            </a:rPr>
                            <m:t>𝑘</m:t>
                          </m:r>
                        </m:sub>
                      </m:sSub>
                      <m:r>
                        <a:rPr lang="en-US" altLang="zh-CN" sz="2800" i="1">
                          <a:latin typeface="Cambria Math" panose="02040503050406030204" pitchFamily="18" charset="0"/>
                          <a:cs typeface="Cambria Math" panose="02040503050406030204" pitchFamily="18" charset="0"/>
                        </a:rPr>
                        <m:t>)</m:t>
                      </m:r>
                    </m:oMath>
                  </m:oMathPara>
                </a14:m>
                <a:endParaRPr lang="zh-CN" altLang="en-US" sz="2800" dirty="0"/>
              </a:p>
            </p:txBody>
          </p:sp>
        </mc:Choice>
        <mc:Fallback xmlns="">
          <p:sp>
            <p:nvSpPr>
              <p:cNvPr id="11" name="文本框 10"/>
              <p:cNvSpPr txBox="1">
                <a:spLocks noRot="1" noChangeAspect="1" noMove="1" noResize="1" noEditPoints="1" noAdjustHandles="1" noChangeArrowheads="1" noChangeShapeType="1" noTextEdit="1"/>
              </p:cNvSpPr>
              <p:nvPr/>
            </p:nvSpPr>
            <p:spPr>
              <a:xfrm>
                <a:off x="6096000" y="4915898"/>
                <a:ext cx="2546595" cy="523220"/>
              </a:xfrm>
              <a:prstGeom prst="rect">
                <a:avLst/>
              </a:prstGeom>
              <a:blipFill>
                <a:blip r:embed="rId4"/>
                <a:stretch>
                  <a:fillRect/>
                </a:stretch>
              </a:blipFill>
            </p:spPr>
            <p:txBody>
              <a:bodyPr/>
              <a:lstStyle/>
              <a:p>
                <a:r>
                  <a:rPr lang="zh-CN" altLang="en-US">
                    <a:noFill/>
                  </a:rPr>
                  <a:t> </a:t>
                </a:r>
              </a:p>
            </p:txBody>
          </p:sp>
        </mc:Fallback>
      </mc:AlternateContent>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6F3C5D-A2D4-47BB-BC00-508C38BCE8E4}"/>
              </a:ext>
            </a:extLst>
          </p:cNvPr>
          <p:cNvSpPr>
            <a:spLocks noGrp="1"/>
          </p:cNvSpPr>
          <p:nvPr>
            <p:ph type="title"/>
          </p:nvPr>
        </p:nvSpPr>
        <p:spPr/>
        <p:txBody>
          <a:bodyPr/>
          <a:lstStyle/>
          <a:p>
            <a:pPr algn="l"/>
            <a:r>
              <a:rPr/>
              <a:t>3.朴素贝叶斯</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zh-CN" dirty="0">
                    <a:latin typeface="+mj-ea"/>
                    <a:ea typeface="+mj-ea"/>
                  </a:rPr>
                  <a:t>对于给定的新样本</a:t>
                </a:r>
                <a14:m>
                  <m:oMath xmlns:m="http://schemas.openxmlformats.org/officeDocument/2006/math">
                    <m:r>
                      <a:rPr lang="en-US" altLang="zh-CN" i="1" dirty="0" smtClean="0">
                        <a:latin typeface="Cambria Math" panose="02040503050406030204" pitchFamily="18" charset="0"/>
                        <a:ea typeface="+mj-ea"/>
                      </a:rPr>
                      <m:t>𝑥</m:t>
                    </m:r>
                  </m:oMath>
                </a14:m>
                <a:r>
                  <a:rPr lang="zh-CN" altLang="zh-CN" dirty="0">
                    <a:latin typeface="+mj-ea"/>
                    <a:ea typeface="+mj-ea"/>
                  </a:rPr>
                  <a:t>，判断其属于哪个标记的类别，根据贝叶斯定理，可以得到</a:t>
                </a:r>
                <a14:m>
                  <m:oMath xmlns:m="http://schemas.openxmlformats.org/officeDocument/2006/math">
                    <m:r>
                      <a:rPr lang="en-US" altLang="zh-CN" i="1" dirty="0" smtClean="0">
                        <a:latin typeface="Cambria Math" panose="02040503050406030204" pitchFamily="18" charset="0"/>
                        <a:ea typeface="+mj-ea"/>
                      </a:rPr>
                      <m:t>𝑥</m:t>
                    </m:r>
                  </m:oMath>
                </a14:m>
                <a:r>
                  <a:rPr lang="zh-CN" altLang="zh-CN" dirty="0">
                    <a:latin typeface="+mj-ea"/>
                    <a:ea typeface="+mj-ea"/>
                  </a:rPr>
                  <a:t>属于类别</a:t>
                </a:r>
                <a14:m>
                  <m:oMath xmlns:m="http://schemas.openxmlformats.org/officeDocument/2006/math">
                    <m:r>
                      <a:rPr lang="en-US" altLang="zh-CN" i="1" dirty="0" smtClean="0">
                        <a:latin typeface="Cambria Math" panose="02040503050406030204" pitchFamily="18" charset="0"/>
                        <a:ea typeface="+mj-ea"/>
                      </a:rPr>
                      <m:t>𝑐</m:t>
                    </m:r>
                  </m:oMath>
                </a14:m>
                <a:r>
                  <a:rPr lang="zh-CN" altLang="zh-CN" dirty="0">
                    <a:latin typeface="+mj-ea"/>
                    <a:ea typeface="+mj-ea"/>
                  </a:rPr>
                  <a:t>的概率</a:t>
                </a:r>
                <a:endParaRPr lang="en-US" altLang="zh-CN" dirty="0">
                  <a:latin typeface="+mj-ea"/>
                  <a:ea typeface="+mj-ea"/>
                </a:endParaRPr>
              </a:p>
              <a:p>
                <a:endParaRPr lang="en-US" altLang="zh-CN" dirty="0">
                  <a:latin typeface="+mj-ea"/>
                  <a:ea typeface="+mj-ea"/>
                </a:endParaRPr>
              </a:p>
              <a:p>
                <a:pPr marL="0" indent="0">
                  <a:buNone/>
                </a:pPr>
                <a:endParaRPr lang="en-US" altLang="zh-CN" dirty="0">
                  <a:latin typeface="+mj-ea"/>
                  <a:ea typeface="+mj-ea"/>
                </a:endParaRPr>
              </a:p>
              <a:p>
                <a:r>
                  <a:rPr lang="zh-CN" altLang="zh-CN" b="1" dirty="0">
                    <a:solidFill>
                      <a:srgbClr val="FF0000"/>
                    </a:solidFill>
                    <a:latin typeface="+mj-ea"/>
                    <a:ea typeface="+mj-ea"/>
                  </a:rPr>
                  <a:t>后验概率最大的类别</a:t>
                </a:r>
                <a:r>
                  <a:rPr lang="zh-CN" altLang="zh-CN" dirty="0">
                    <a:latin typeface="+mj-ea"/>
                    <a:ea typeface="+mj-ea"/>
                  </a:rPr>
                  <a:t>记为预测类别</a:t>
                </a:r>
                <a:endParaRPr lang="en-US" altLang="zh-CN" dirty="0">
                  <a:latin typeface="+mj-ea"/>
                  <a:ea typeface="+mj-ea"/>
                </a:endParaRPr>
              </a:p>
              <a:p>
                <a:endParaRPr lang="en-US" altLang="zh-CN" dirty="0">
                  <a:latin typeface="+mj-ea"/>
                  <a:ea typeface="+mj-ea"/>
                </a:endParaRPr>
              </a:p>
              <a:p>
                <a:endParaRPr lang="en-US" altLang="zh-CN" dirty="0">
                  <a:latin typeface="+mj-ea"/>
                  <a:ea typeface="+mj-ea"/>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1667" t="-3100" r="-1000"/>
                </a:stretch>
              </a:blipFill>
            </p:spPr>
            <p:txBody>
              <a:bodyPr/>
              <a:lstStyle/>
              <a:p>
                <a:r>
                  <a:rPr lang="zh-CN" altLang="en-US">
                    <a:noFill/>
                  </a:rPr>
                  <a:t> </a:t>
                </a:r>
              </a:p>
            </p:txBody>
          </p:sp>
        </mc:Fallback>
      </mc:AlternateContent>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mc:AlternateContent xmlns:mc="http://schemas.openxmlformats.org/markup-compatibility/2006" xmlns:a14="http://schemas.microsoft.com/office/drawing/2010/main">
        <mc:Choice Requires="a14">
          <p:sp>
            <p:nvSpPr>
              <p:cNvPr id="10" name="文本框 9"/>
              <p:cNvSpPr txBox="1"/>
              <p:nvPr/>
            </p:nvSpPr>
            <p:spPr>
              <a:xfrm>
                <a:off x="4980876" y="2757424"/>
                <a:ext cx="3149600" cy="962025"/>
              </a:xfrm>
              <a:prstGeom prst="rect">
                <a:avLst/>
              </a:prstGeom>
              <a:noFill/>
            </p:spPr>
            <p:txBody>
              <a:bodyPr wrap="none" rtlCol="0" anchor="t">
                <a:spAutoFit/>
              </a:bodyPr>
              <a:lstStyle/>
              <a:p>
                <a:pPr algn="l"/>
                <a:r>
                  <a:rPr lang="en-US" altLang="zh-CN" sz="3600" i="1" dirty="0">
                    <a:latin typeface="Times New Roman" panose="02020603050405020304" pitchFamily="18" charset="0"/>
                    <a:cs typeface="Times New Roman" panose="02020603050405020304" pitchFamily="18" charset="0"/>
                  </a:rPr>
                  <a:t>P</a:t>
                </a:r>
                <a:r>
                  <a:rPr lang="en-US" altLang="zh-CN" sz="3600" dirty="0">
                    <a:latin typeface="Times New Roman" panose="02020603050405020304" pitchFamily="18" charset="0"/>
                    <a:cs typeface="Times New Roman" panose="02020603050405020304" pitchFamily="18" charset="0"/>
                  </a:rPr>
                  <a:t>(</a:t>
                </a:r>
                <a:r>
                  <a:rPr lang="en-US" altLang="zh-CN" sz="3600" i="1" dirty="0" err="1">
                    <a:latin typeface="Times New Roman" panose="02020603050405020304" pitchFamily="18" charset="0"/>
                    <a:cs typeface="Times New Roman" panose="02020603050405020304" pitchFamily="18" charset="0"/>
                  </a:rPr>
                  <a:t>c|x</a:t>
                </a:r>
                <a:r>
                  <a:rPr lang="en-US" altLang="zh-CN" sz="3600" dirty="0">
                    <a:latin typeface="Times New Roman" panose="02020603050405020304" pitchFamily="18" charset="0"/>
                    <a:cs typeface="Times New Roman" panose="02020603050405020304" pitchFamily="18" charset="0"/>
                  </a:rPr>
                  <a:t>)</a:t>
                </a:r>
                <a:r>
                  <a:rPr lang="en-US" altLang="zh-CN" sz="3600" i="1" dirty="0">
                    <a:latin typeface="Times New Roman" panose="02020603050405020304" pitchFamily="18" charset="0"/>
                    <a:cs typeface="Times New Roman" panose="02020603050405020304" pitchFamily="18" charset="0"/>
                  </a:rPr>
                  <a:t>=</a:t>
                </a:r>
                <a14:m>
                  <m:oMath xmlns:m="http://schemas.openxmlformats.org/officeDocument/2006/math">
                    <m:f>
                      <m:fPr>
                        <m:ctrlPr>
                          <a:rPr lang="en-US" altLang="zh-CN" sz="3600" i="1">
                            <a:latin typeface="Cambria Math" panose="02040503050406030204" pitchFamily="18" charset="0"/>
                            <a:cs typeface="Cambria Math" panose="02040503050406030204" pitchFamily="18" charset="0"/>
                          </a:rPr>
                        </m:ctrlPr>
                      </m:fPr>
                      <m:num>
                        <m:r>
                          <a:rPr lang="en-US" altLang="zh-CN" sz="3600" i="1">
                            <a:latin typeface="Cambria Math" panose="02040503050406030204" pitchFamily="18" charset="0"/>
                            <a:cs typeface="Cambria Math" panose="02040503050406030204" pitchFamily="18" charset="0"/>
                          </a:rPr>
                          <m:t>𝑃</m:t>
                        </m:r>
                        <m:r>
                          <a:rPr lang="en-US" altLang="zh-CN" sz="3600" i="1">
                            <a:latin typeface="Cambria Math" panose="02040503050406030204" pitchFamily="18" charset="0"/>
                            <a:ea typeface="MS Mincho" charset="0"/>
                            <a:cs typeface="Cambria Math" panose="02040503050406030204" pitchFamily="18" charset="0"/>
                          </a:rPr>
                          <m:t>(</m:t>
                        </m:r>
                        <m:r>
                          <a:rPr lang="en-US" altLang="zh-CN" sz="3600" i="1">
                            <a:latin typeface="Cambria Math" panose="02040503050406030204" pitchFamily="18" charset="0"/>
                            <a:ea typeface="MS Mincho" charset="0"/>
                            <a:cs typeface="Cambria Math" panose="02040503050406030204" pitchFamily="18" charset="0"/>
                          </a:rPr>
                          <m:t>𝑥</m:t>
                        </m:r>
                        <m:r>
                          <a:rPr lang="en-US" altLang="zh-CN" sz="3600" i="1">
                            <a:latin typeface="Cambria Math" panose="02040503050406030204" pitchFamily="18" charset="0"/>
                            <a:ea typeface="MS Mincho" charset="0"/>
                            <a:cs typeface="Cambria Math" panose="02040503050406030204" pitchFamily="18" charset="0"/>
                          </a:rPr>
                          <m:t>|</m:t>
                        </m:r>
                        <m:r>
                          <a:rPr lang="en-US" altLang="zh-CN" sz="3600" i="1">
                            <a:latin typeface="Cambria Math" panose="02040503050406030204" pitchFamily="18" charset="0"/>
                            <a:ea typeface="MS Mincho" charset="0"/>
                            <a:cs typeface="Cambria Math" panose="02040503050406030204" pitchFamily="18" charset="0"/>
                          </a:rPr>
                          <m:t>𝑐</m:t>
                        </m:r>
                        <m:r>
                          <a:rPr lang="en-US" altLang="zh-CN" sz="3600" i="1">
                            <a:latin typeface="Cambria Math" panose="02040503050406030204" pitchFamily="18" charset="0"/>
                            <a:ea typeface="MS Mincho" charset="0"/>
                            <a:cs typeface="Cambria Math" panose="02040503050406030204" pitchFamily="18" charset="0"/>
                          </a:rPr>
                          <m:t>)</m:t>
                        </m:r>
                        <m:r>
                          <a:rPr lang="en-US" altLang="zh-CN" sz="3600" i="1">
                            <a:latin typeface="Cambria Math" panose="02040503050406030204" pitchFamily="18" charset="0"/>
                            <a:ea typeface="MS Mincho" charset="0"/>
                            <a:cs typeface="Cambria Math" panose="02040503050406030204" pitchFamily="18" charset="0"/>
                          </a:rPr>
                          <m:t>𝑃</m:t>
                        </m:r>
                        <m:r>
                          <a:rPr lang="en-US" altLang="zh-CN" sz="3600" i="1">
                            <a:latin typeface="Cambria Math" panose="02040503050406030204" pitchFamily="18" charset="0"/>
                            <a:ea typeface="MS Mincho" charset="0"/>
                            <a:cs typeface="Cambria Math" panose="02040503050406030204" pitchFamily="18" charset="0"/>
                          </a:rPr>
                          <m:t>(</m:t>
                        </m:r>
                        <m:r>
                          <a:rPr lang="en-US" altLang="zh-CN" sz="3600" i="1">
                            <a:latin typeface="Cambria Math" panose="02040503050406030204" pitchFamily="18" charset="0"/>
                            <a:ea typeface="MS Mincho" charset="0"/>
                            <a:cs typeface="Cambria Math" panose="02040503050406030204" pitchFamily="18" charset="0"/>
                          </a:rPr>
                          <m:t>𝑐</m:t>
                        </m:r>
                        <m:r>
                          <a:rPr lang="en-US" altLang="zh-CN" sz="3600" i="1">
                            <a:latin typeface="Cambria Math" panose="02040503050406030204" pitchFamily="18" charset="0"/>
                            <a:ea typeface="MS Mincho" charset="0"/>
                            <a:cs typeface="Cambria Math" panose="02040503050406030204" pitchFamily="18" charset="0"/>
                          </a:rPr>
                          <m:t>)</m:t>
                        </m:r>
                      </m:num>
                      <m:den>
                        <m:r>
                          <a:rPr lang="en-US" altLang="zh-CN" sz="3600" i="1">
                            <a:latin typeface="Cambria Math" panose="02040503050406030204" pitchFamily="18" charset="0"/>
                            <a:cs typeface="Cambria Math" panose="02040503050406030204" pitchFamily="18" charset="0"/>
                          </a:rPr>
                          <m:t>𝑃</m:t>
                        </m:r>
                        <m:r>
                          <a:rPr lang="en-US" altLang="zh-CN" sz="3600" i="1">
                            <a:latin typeface="Cambria Math" panose="02040503050406030204" pitchFamily="18" charset="0"/>
                            <a:ea typeface="MS Mincho" charset="0"/>
                            <a:cs typeface="Cambria Math" panose="02040503050406030204" pitchFamily="18" charset="0"/>
                          </a:rPr>
                          <m:t>(</m:t>
                        </m:r>
                        <m:r>
                          <a:rPr lang="en-US" altLang="zh-CN" sz="3600" i="1">
                            <a:latin typeface="Cambria Math" panose="02040503050406030204" pitchFamily="18" charset="0"/>
                            <a:cs typeface="Cambria Math" panose="02040503050406030204" pitchFamily="18" charset="0"/>
                          </a:rPr>
                          <m:t>𝑥</m:t>
                        </m:r>
                        <m:r>
                          <a:rPr lang="en-US" altLang="zh-CN" sz="3600" i="1">
                            <a:latin typeface="Cambria Math" panose="02040503050406030204" pitchFamily="18" charset="0"/>
                            <a:ea typeface="MS Mincho" charset="0"/>
                            <a:cs typeface="Cambria Math" panose="02040503050406030204" pitchFamily="18" charset="0"/>
                          </a:rPr>
                          <m:t>)</m:t>
                        </m:r>
                      </m:den>
                    </m:f>
                  </m:oMath>
                </a14:m>
                <a:endParaRPr lang="en-US" altLang="zh-CN" sz="3600" i="1" dirty="0">
                  <a:latin typeface="Cambria Math" panose="02040503050406030204" pitchFamily="18" charset="0"/>
                  <a:cs typeface="Cambria Math" panose="02040503050406030204" pitchFamily="18" charset="0"/>
                </a:endParaRPr>
              </a:p>
            </p:txBody>
          </p:sp>
        </mc:Choice>
        <mc:Fallback xmlns="">
          <p:sp>
            <p:nvSpPr>
              <p:cNvPr id="10" name="文本框 9"/>
              <p:cNvSpPr txBox="1">
                <a:spLocks noRot="1" noChangeAspect="1" noMove="1" noResize="1" noEditPoints="1" noAdjustHandles="1" noChangeArrowheads="1" noChangeShapeType="1" noTextEdit="1"/>
              </p:cNvSpPr>
              <p:nvPr/>
            </p:nvSpPr>
            <p:spPr>
              <a:xfrm>
                <a:off x="4980876" y="2757424"/>
                <a:ext cx="3149600" cy="962025"/>
              </a:xfrm>
              <a:prstGeom prst="rect">
                <a:avLst/>
              </a:prstGeom>
              <a:blipFill rotWithShape="1">
                <a:blip r:embed="rId3"/>
                <a:stretch>
                  <a:fillRect l="-18" t="-26" r="-1111" b="2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p:cNvSpPr txBox="1"/>
              <p:nvPr/>
            </p:nvSpPr>
            <p:spPr>
              <a:xfrm>
                <a:off x="7513256" y="4250944"/>
                <a:ext cx="2915863" cy="798680"/>
              </a:xfrm>
              <a:prstGeom prst="rect">
                <a:avLst/>
              </a:prstGeom>
              <a:noFill/>
            </p:spPr>
            <p:txBody>
              <a:bodyPr wrap="none" rtlCol="0" anchor="t">
                <a:spAutoFit/>
              </a:bodyPr>
              <a:lstStyle/>
              <a:p>
                <a:pPr algn="l"/>
                <a:fld id="{A014E3AA-ED43-4096-A193-A1A0533394C9}" type="mathplaceholder">
                  <a:rPr lang="en-US" altLang="zh-CN" sz="3200" smtClean="0">
                    <a:latin typeface="Cambria Math" panose="02040503050406030204" pitchFamily="18" charset="0"/>
                    <a:cs typeface="Cambria Math" panose="02040503050406030204" pitchFamily="18" charset="0"/>
                  </a:rPr>
                  <a:t>​</a:t>
                </a:fld>
                <a:r>
                  <a:rPr lang="en-US" altLang="zh-CN" sz="3200" dirty="0" err="1">
                    <a:latin typeface="Cambria Math" panose="02040503050406030204" pitchFamily="18" charset="0"/>
                    <a:cs typeface="Cambria Math" panose="02040503050406030204" pitchFamily="18" charset="0"/>
                  </a:rPr>
                  <a:t>arg</a:t>
                </a:r>
                <a14:m>
                  <m:oMath xmlns:m="http://schemas.openxmlformats.org/officeDocument/2006/math">
                    <m:func>
                      <m:funcPr>
                        <m:ctrlPr>
                          <a:rPr lang="en-US" altLang="zh-CN" sz="3200" i="1">
                            <a:latin typeface="Cambria Math" panose="02040503050406030204" pitchFamily="18" charset="0"/>
                            <a:cs typeface="Cambria Math" panose="02040503050406030204" pitchFamily="18" charset="0"/>
                          </a:rPr>
                        </m:ctrlPr>
                      </m:funcPr>
                      <m:fName>
                        <m:limLow>
                          <m:limLowPr>
                            <m:ctrlPr>
                              <a:rPr lang="en-US" altLang="zh-CN" sz="3200">
                                <a:latin typeface="Cambria Math" panose="02040503050406030204" pitchFamily="18" charset="0"/>
                                <a:cs typeface="Cambria Math" panose="02040503050406030204" pitchFamily="18" charset="0"/>
                              </a:rPr>
                            </m:ctrlPr>
                          </m:limLowPr>
                          <m:e>
                            <m:r>
                              <m:rPr>
                                <m:sty m:val="p"/>
                              </m:rPr>
                              <a:rPr lang="en-US" altLang="zh-CN" sz="3200">
                                <a:latin typeface="Cambria Math" panose="02040503050406030204" pitchFamily="18" charset="0"/>
                                <a:cs typeface="Cambria Math" panose="02040503050406030204" pitchFamily="18" charset="0"/>
                              </a:rPr>
                              <m:t>max</m:t>
                            </m:r>
                          </m:e>
                          <m:lim>
                            <m:sSub>
                              <m:sSubPr>
                                <m:ctrlPr>
                                  <a:rPr lang="en-US" altLang="zh-CN" sz="3200" i="1">
                                    <a:latin typeface="Cambria Math" panose="02040503050406030204" pitchFamily="18" charset="0"/>
                                    <a:cs typeface="Cambria Math" panose="02040503050406030204" pitchFamily="18" charset="0"/>
                                  </a:rPr>
                                </m:ctrlPr>
                              </m:sSubPr>
                              <m:e>
                                <m:r>
                                  <a:rPr lang="en-US" altLang="zh-CN" sz="3200" i="1">
                                    <a:latin typeface="Cambria Math" panose="02040503050406030204" pitchFamily="18" charset="0"/>
                                    <a:cs typeface="Cambria Math" panose="02040503050406030204" pitchFamily="18" charset="0"/>
                                  </a:rPr>
                                  <m:t>𝑐</m:t>
                                </m:r>
                              </m:e>
                              <m:sub>
                                <m:r>
                                  <a:rPr lang="en-US" altLang="zh-CN" sz="3200" i="1">
                                    <a:latin typeface="Cambria Math" panose="02040503050406030204" pitchFamily="18" charset="0"/>
                                    <a:cs typeface="Cambria Math" panose="02040503050406030204" pitchFamily="18" charset="0"/>
                                  </a:rPr>
                                  <m:t>𝑘</m:t>
                                </m:r>
                              </m:sub>
                            </m:sSub>
                          </m:lim>
                        </m:limLow>
                      </m:fName>
                      <m:e>
                        <m:r>
                          <a:rPr lang="en-US" altLang="zh-CN" sz="3200" i="1">
                            <a:latin typeface="Cambria Math" panose="02040503050406030204" pitchFamily="18" charset="0"/>
                            <a:cs typeface="Cambria Math" panose="02040503050406030204" pitchFamily="18" charset="0"/>
                          </a:rPr>
                          <m:t>𝑃</m:t>
                        </m:r>
                        <m:r>
                          <a:rPr lang="en-US" altLang="zh-CN" sz="3200" i="1">
                            <a:latin typeface="Cambria Math" panose="02040503050406030204" pitchFamily="18" charset="0"/>
                            <a:cs typeface="Cambria Math" panose="02040503050406030204" pitchFamily="18" charset="0"/>
                          </a:rPr>
                          <m:t>(</m:t>
                        </m:r>
                        <m:sSub>
                          <m:sSubPr>
                            <m:ctrlPr>
                              <a:rPr lang="en-US" altLang="zh-CN" sz="3200" i="1">
                                <a:latin typeface="Cambria Math" panose="02040503050406030204" pitchFamily="18" charset="0"/>
                                <a:cs typeface="Cambria Math" panose="02040503050406030204" pitchFamily="18" charset="0"/>
                              </a:rPr>
                            </m:ctrlPr>
                          </m:sSubPr>
                          <m:e>
                            <m:r>
                              <a:rPr lang="en-US" altLang="zh-CN" sz="3200" i="1">
                                <a:latin typeface="Cambria Math" panose="02040503050406030204" pitchFamily="18" charset="0"/>
                                <a:cs typeface="Cambria Math" panose="02040503050406030204" pitchFamily="18" charset="0"/>
                              </a:rPr>
                              <m:t>𝑐</m:t>
                            </m:r>
                          </m:e>
                          <m:sub>
                            <m:r>
                              <a:rPr lang="en-US" altLang="zh-CN" sz="3200" i="1">
                                <a:latin typeface="Cambria Math" panose="02040503050406030204" pitchFamily="18" charset="0"/>
                                <a:cs typeface="Cambria Math" panose="02040503050406030204" pitchFamily="18" charset="0"/>
                              </a:rPr>
                              <m:t>𝑘</m:t>
                            </m:r>
                          </m:sub>
                        </m:sSub>
                        <m:r>
                          <a:rPr lang="en-US" altLang="zh-CN" sz="3200" i="1">
                            <a:latin typeface="Cambria Math" panose="02040503050406030204" pitchFamily="18" charset="0"/>
                            <a:cs typeface="Cambria Math" panose="02040503050406030204" pitchFamily="18" charset="0"/>
                          </a:rPr>
                          <m:t>|</m:t>
                        </m:r>
                        <m:r>
                          <a:rPr lang="en-US" altLang="zh-CN" sz="3200" i="1">
                            <a:latin typeface="Cambria Math" panose="02040503050406030204" pitchFamily="18" charset="0"/>
                            <a:cs typeface="Cambria Math" panose="02040503050406030204" pitchFamily="18" charset="0"/>
                          </a:rPr>
                          <m:t>𝑥</m:t>
                        </m:r>
                        <m:r>
                          <a:rPr lang="en-US" altLang="zh-CN" sz="3200" i="1">
                            <a:latin typeface="Cambria Math" panose="02040503050406030204" pitchFamily="18" charset="0"/>
                            <a:cs typeface="Cambria Math" panose="02040503050406030204" pitchFamily="18" charset="0"/>
                          </a:rPr>
                          <m:t>)</m:t>
                        </m:r>
                      </m:e>
                    </m:func>
                  </m:oMath>
                </a14:m>
                <a:endParaRPr lang="en-US" altLang="zh-CN" sz="3200" i="1" dirty="0">
                  <a:latin typeface="Cambria Math" panose="02040503050406030204" pitchFamily="18" charset="0"/>
                  <a:cs typeface="Cambria Math" panose="02040503050406030204" pitchFamily="18" charset="0"/>
                </a:endParaRPr>
              </a:p>
            </p:txBody>
          </p:sp>
        </mc:Choice>
        <mc:Fallback xmlns="">
          <p:sp>
            <p:nvSpPr>
              <p:cNvPr id="9" name="文本框 8"/>
              <p:cNvSpPr txBox="1">
                <a:spLocks noRot="1" noChangeAspect="1" noMove="1" noResize="1" noEditPoints="1" noAdjustHandles="1" noChangeArrowheads="1" noChangeShapeType="1" noTextEdit="1"/>
              </p:cNvSpPr>
              <p:nvPr/>
            </p:nvSpPr>
            <p:spPr>
              <a:xfrm>
                <a:off x="7513256" y="4250944"/>
                <a:ext cx="2915863" cy="798680"/>
              </a:xfrm>
              <a:prstGeom prst="rect">
                <a:avLst/>
              </a:prstGeom>
              <a:blipFill>
                <a:blip r:embed="rId4"/>
                <a:stretch>
                  <a:fillRect l="-5219" t="-10687"/>
                </a:stretch>
              </a:blipFill>
            </p:spPr>
            <p:txBody>
              <a:bodyPr/>
              <a:lstStyle/>
              <a:p>
                <a:r>
                  <a:rPr lang="zh-CN" altLang="en-US">
                    <a:noFill/>
                  </a:rPr>
                  <a:t> </a:t>
                </a:r>
              </a:p>
            </p:txBody>
          </p:sp>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F7A2F5-6D1B-4ECB-BBA1-30E09DFC5E7D}"/>
              </a:ext>
            </a:extLst>
          </p:cNvPr>
          <p:cNvSpPr>
            <a:spLocks noGrp="1"/>
          </p:cNvSpPr>
          <p:nvPr>
            <p:ph type="title"/>
          </p:nvPr>
        </p:nvSpPr>
        <p:spPr/>
        <p:txBody>
          <a:bodyPr/>
          <a:lstStyle/>
          <a:p>
            <a:pPr algn="l"/>
            <a:r>
              <a:rPr/>
              <a:t>3.朴素贝叶斯</a:t>
            </a:r>
          </a:p>
        </p:txBody>
      </p:sp>
      <p:sp>
        <p:nvSpPr>
          <p:cNvPr id="3" name="内容占位符 2">
            <a:extLst>
              <a:ext uri="{FF2B5EF4-FFF2-40B4-BE49-F238E27FC236}">
                <a16:creationId xmlns:a16="http://schemas.microsoft.com/office/drawing/2014/main" id="{82647A28-CD83-4F7B-BF5E-B197C94B7668}"/>
              </a:ext>
            </a:extLst>
          </p:cNvPr>
          <p:cNvSpPr>
            <a:spLocks noGrp="1"/>
          </p:cNvSpPr>
          <p:nvPr>
            <p:ph idx="1"/>
          </p:nvPr>
        </p:nvSpPr>
        <p:spPr/>
        <p:txBody>
          <a:bodyPr/>
          <a:lstStyle/>
          <a:p>
            <a:r>
              <a:rPr sz="3000">
                <a:latin typeface="+mj-ea"/>
                <a:ea typeface="+mj-ea"/>
              </a:rPr>
              <a:t>朴素贝叶斯算法对条件概率分布做出</a:t>
            </a:r>
            <a:r>
              <a:rPr sz="3000" b="1">
                <a:solidFill>
                  <a:srgbClr val="FF0000"/>
                </a:solidFill>
                <a:latin typeface="+mj-ea"/>
                <a:ea typeface="+mj-ea"/>
              </a:rPr>
              <a:t>独立性假设</a:t>
            </a:r>
            <a:r>
              <a:rPr sz="3000">
                <a:latin typeface="+mj-ea"/>
                <a:ea typeface="+mj-ea"/>
              </a:rPr>
              <a:t>，通俗地讲假设各个维度的特征</a:t>
            </a:r>
            <a:r>
              <a:rPr sz="3000">
                <a:latin typeface="+mj-ea"/>
                <a:ea typeface="+mj-ea"/>
              </a:rPr>
              <a:t>相互独立</a:t>
            </a:r>
          </a:p>
          <a:p>
            <a:r>
              <a:rPr sz="3000">
                <a:latin typeface="+mj-ea"/>
                <a:ea typeface="+mj-ea"/>
              </a:rPr>
              <a:t>条件概率可以转换成为</a:t>
            </a:r>
          </a:p>
          <a:p>
            <a:r>
              <a:rPr sz="3000">
                <a:latin typeface="+mj-ea"/>
                <a:ea typeface="+mj-ea"/>
              </a:rPr>
              <a:t/>
            </a:r>
          </a:p>
          <a:p>
            <a:r>
              <a:rPr sz="3000">
                <a:latin typeface="+mj-ea"/>
                <a:ea typeface="+mj-ea"/>
              </a:rPr>
              <a:t/>
            </a:r>
          </a:p>
          <a:p>
            <a:r>
              <a:rPr sz="3000">
                <a:latin typeface="+mj-ea"/>
                <a:ea typeface="+mj-ea"/>
              </a:rPr>
              <a:t>代入贝叶斯公式</a:t>
            </a:r>
          </a:p>
          <a:p>
            <a:pPr marL="0" indent="0">
              <a:buNone/>
            </a:pPr>
            <a:r>
              <a:rPr sz="3000"/>
              <a:t/>
            </a:r>
          </a:p>
          <a:p>
            <a:r>
              <a:rPr sz="3000"/>
              <a:t/>
            </a:r>
          </a:p>
        </p:txBody>
      </p:sp>
      <p:sp>
        <p:nvSpPr>
          <p:cNvPr id="5"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Rectangle 6"/>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mc:AlternateContent xmlns:mc="http://schemas.openxmlformats.org/markup-compatibility/2006" xmlns:a14="http://schemas.microsoft.com/office/drawing/2010/main">
        <mc:Choice Requires="a14">
          <p:sp>
            <p:nvSpPr>
              <p:cNvPr id="4" name="文本框 3"/>
              <p:cNvSpPr txBox="1"/>
              <p:nvPr/>
            </p:nvSpPr>
            <p:spPr>
              <a:xfrm>
                <a:off x="4785296" y="3130804"/>
                <a:ext cx="7041608" cy="938847"/>
              </a:xfrm>
              <a:prstGeom prst="rect">
                <a:avLst/>
              </a:prstGeom>
              <a:noFill/>
            </p:spPr>
            <p:txBody>
              <a:bodyPr wrap="none" rtlCol="0" anchor="t">
                <a:spAutoFit/>
              </a:bodyPr>
              <a:lstStyle/>
              <a:p>
                <a:pPr algn="l"/>
                <a14:m>
                  <m:oMathPara xmlns:m="http://schemas.openxmlformats.org/officeDocument/2006/math">
                    <m:oMath>
                      <m:r>
                        <a:rPr lang="en-US" altLang="zh-CN" sz="2800" i="1">
                          <a:latin typeface="Cambria Math" panose="02040503050406030204" pitchFamily="18" charset="0"/>
                          <a:cs typeface="Cambria Math" panose="02040503050406030204" pitchFamily="18" charset="0"/>
                        </a:rPr>
                        <m:t>𝑃</m:t>
                      </m:r>
                      <m:r>
                        <a:rPr lang="en-US" altLang="zh-CN" sz="2800" i="1">
                          <a:latin typeface="Cambria Math" panose="02040503050406030204" pitchFamily="18" charset="0"/>
                          <a:cs typeface="Cambria Math" panose="02040503050406030204" pitchFamily="18" charset="0"/>
                        </a:rPr>
                        <m:t>(</m:t>
                      </m:r>
                      <m:r>
                        <a:rPr lang="en-US" altLang="zh-CN" sz="2800" i="1">
                          <a:latin typeface="Cambria Math" panose="02040503050406030204" pitchFamily="18" charset="0"/>
                          <a:cs typeface="Cambria Math" panose="02040503050406030204" pitchFamily="18" charset="0"/>
                        </a:rPr>
                        <m:t>𝑥</m:t>
                      </m:r>
                      <m:r>
                        <a:rPr lang="en-US" altLang="zh-CN" sz="2800" i="1">
                          <a:latin typeface="Cambria Math" panose="02040503050406030204" pitchFamily="18" charset="0"/>
                          <a:cs typeface="Cambria Math" panose="02040503050406030204" pitchFamily="18" charset="0"/>
                        </a:rPr>
                        <m:t>|</m:t>
                      </m:r>
                      <m:sSub>
                        <m:sSubPr>
                          <m:ctrlPr>
                            <a:rPr lang="en-US" altLang="zh-CN" sz="2800" i="1">
                              <a:latin typeface="Cambria Math" panose="02040503050406030204" pitchFamily="18" charset="0"/>
                              <a:cs typeface="Cambria Math" panose="02040503050406030204" pitchFamily="18" charset="0"/>
                            </a:rPr>
                          </m:ctrlPr>
                        </m:sSubPr>
                        <m:e>
                          <m:r>
                            <a:rPr lang="en-US" altLang="zh-CN" sz="2800" i="1">
                              <a:latin typeface="Cambria Math" panose="02040503050406030204" pitchFamily="18" charset="0"/>
                              <a:cs typeface="Cambria Math" panose="02040503050406030204" pitchFamily="18" charset="0"/>
                            </a:rPr>
                            <m:t>𝑐</m:t>
                          </m:r>
                        </m:e>
                        <m:sub>
                          <m:r>
                            <a:rPr lang="en-US" altLang="zh-CN" sz="2800" i="1">
                              <a:latin typeface="Cambria Math" panose="02040503050406030204" pitchFamily="18" charset="0"/>
                              <a:cs typeface="Cambria Math" panose="02040503050406030204" pitchFamily="18" charset="0"/>
                            </a:rPr>
                            <m:t>𝑘</m:t>
                          </m:r>
                        </m:sub>
                      </m:sSub>
                      <m:r>
                        <a:rPr lang="en-US" altLang="zh-CN" sz="2800" i="1">
                          <a:latin typeface="Cambria Math" panose="02040503050406030204" pitchFamily="18" charset="0"/>
                          <a:cs typeface="Cambria Math" panose="02040503050406030204" pitchFamily="18" charset="0"/>
                        </a:rPr>
                        <m:t>)=</m:t>
                      </m:r>
                      <m:r>
                        <a:rPr lang="en-US" altLang="zh-CN" sz="2800" i="1">
                          <a:latin typeface="Cambria Math" panose="02040503050406030204" pitchFamily="18" charset="0"/>
                          <a:cs typeface="Cambria Math" panose="02040503050406030204" pitchFamily="18" charset="0"/>
                        </a:rPr>
                        <m:t>𝑃</m:t>
                      </m:r>
                      <m:r>
                        <a:rPr lang="en-US" altLang="zh-CN" sz="2800" i="1">
                          <a:latin typeface="Cambria Math" panose="02040503050406030204" pitchFamily="18" charset="0"/>
                          <a:cs typeface="Cambria Math" panose="02040503050406030204" pitchFamily="18" charset="0"/>
                        </a:rPr>
                        <m:t>(</m:t>
                      </m:r>
                      <m:sSub>
                        <m:sSubPr>
                          <m:ctrlPr>
                            <a:rPr lang="en-US" altLang="zh-CN" sz="2800" i="1">
                              <a:latin typeface="Cambria Math" panose="02040503050406030204" pitchFamily="18" charset="0"/>
                              <a:cs typeface="Cambria Math" panose="02040503050406030204" pitchFamily="18" charset="0"/>
                            </a:rPr>
                          </m:ctrlPr>
                        </m:sSubPr>
                        <m:e>
                          <m:r>
                            <a:rPr lang="en-US" altLang="zh-CN" sz="2800" i="1">
                              <a:latin typeface="Cambria Math" panose="02040503050406030204" pitchFamily="18" charset="0"/>
                              <a:cs typeface="Cambria Math" panose="02040503050406030204" pitchFamily="18" charset="0"/>
                            </a:rPr>
                            <m:t>𝑥</m:t>
                          </m:r>
                        </m:e>
                        <m:sub>
                          <m:r>
                            <a:rPr lang="en-US" altLang="zh-CN" sz="2800" i="1">
                              <a:latin typeface="Cambria Math" panose="02040503050406030204" pitchFamily="18" charset="0"/>
                              <a:cs typeface="Cambria Math" panose="02040503050406030204" pitchFamily="18" charset="0"/>
                            </a:rPr>
                            <m:t>1</m:t>
                          </m:r>
                        </m:sub>
                      </m:sSub>
                      <m:r>
                        <a:rPr lang="en-US" altLang="zh-CN" sz="2800" i="1">
                          <a:latin typeface="Cambria Math" panose="02040503050406030204" pitchFamily="18" charset="0"/>
                          <a:cs typeface="Cambria Math" panose="02040503050406030204" pitchFamily="18" charset="0"/>
                        </a:rPr>
                        <m:t>,...,</m:t>
                      </m:r>
                      <m:sSub>
                        <m:sSubPr>
                          <m:ctrlPr>
                            <a:rPr lang="en-US" altLang="zh-CN" sz="2800" i="1">
                              <a:latin typeface="Cambria Math" panose="02040503050406030204" pitchFamily="18" charset="0"/>
                              <a:cs typeface="Cambria Math" panose="02040503050406030204" pitchFamily="18" charset="0"/>
                            </a:rPr>
                          </m:ctrlPr>
                        </m:sSubPr>
                        <m:e>
                          <m:r>
                            <a:rPr lang="en-US" altLang="zh-CN" sz="2800" i="1">
                              <a:latin typeface="Cambria Math" panose="02040503050406030204" pitchFamily="18" charset="0"/>
                              <a:cs typeface="Cambria Math" panose="02040503050406030204" pitchFamily="18" charset="0"/>
                            </a:rPr>
                            <m:t>𝑥</m:t>
                          </m:r>
                        </m:e>
                        <m:sub>
                          <m:r>
                            <a:rPr lang="en-US" altLang="zh-CN" sz="2800" i="1">
                              <a:latin typeface="Cambria Math" panose="02040503050406030204" pitchFamily="18" charset="0"/>
                              <a:cs typeface="Cambria Math" panose="02040503050406030204" pitchFamily="18" charset="0"/>
                            </a:rPr>
                            <m:t>𝑛</m:t>
                          </m:r>
                        </m:sub>
                      </m:sSub>
                      <m:r>
                        <a:rPr lang="en-US" altLang="zh-CN" sz="2800" i="1">
                          <a:latin typeface="Cambria Math" panose="02040503050406030204" pitchFamily="18" charset="0"/>
                          <a:cs typeface="Cambria Math" panose="02040503050406030204" pitchFamily="18" charset="0"/>
                        </a:rPr>
                        <m:t>|</m:t>
                      </m:r>
                      <m:sSub>
                        <m:sSubPr>
                          <m:ctrlPr>
                            <a:rPr lang="en-US" altLang="zh-CN" sz="2800" i="1">
                              <a:latin typeface="Cambria Math" panose="02040503050406030204" pitchFamily="18" charset="0"/>
                              <a:cs typeface="Cambria Math" panose="02040503050406030204" pitchFamily="18" charset="0"/>
                            </a:rPr>
                          </m:ctrlPr>
                        </m:sSubPr>
                        <m:e>
                          <m:r>
                            <a:rPr lang="en-US" altLang="zh-CN" sz="2800" i="1">
                              <a:latin typeface="Cambria Math" panose="02040503050406030204" pitchFamily="18" charset="0"/>
                              <a:cs typeface="Cambria Math" panose="02040503050406030204" pitchFamily="18" charset="0"/>
                            </a:rPr>
                            <m:t>𝑐</m:t>
                          </m:r>
                        </m:e>
                        <m:sub>
                          <m:r>
                            <a:rPr lang="en-US" altLang="zh-CN" sz="2800" i="1">
                              <a:latin typeface="Cambria Math" panose="02040503050406030204" pitchFamily="18" charset="0"/>
                              <a:cs typeface="Cambria Math" panose="02040503050406030204" pitchFamily="18" charset="0"/>
                            </a:rPr>
                            <m:t>𝑘</m:t>
                          </m:r>
                        </m:sub>
                      </m:sSub>
                      <m:r>
                        <a:rPr lang="en-US" altLang="zh-CN" sz="2800" i="1">
                          <a:latin typeface="Cambria Math" panose="02040503050406030204" pitchFamily="18" charset="0"/>
                          <a:cs typeface="Cambria Math" panose="02040503050406030204" pitchFamily="18" charset="0"/>
                        </a:rPr>
                        <m:t>)=</m:t>
                      </m:r>
                      <m:nary>
                        <m:naryPr>
                          <m:chr m:val="∏"/>
                          <m:limLoc m:val="subSup"/>
                          <m:ctrlPr>
                            <a:rPr lang="en-US" altLang="zh-CN" sz="2800" i="1">
                              <a:latin typeface="Cambria Math" panose="02040503050406030204" pitchFamily="18" charset="0"/>
                              <a:cs typeface="Cambria Math" panose="02040503050406030204" pitchFamily="18" charset="0"/>
                            </a:rPr>
                          </m:ctrlPr>
                        </m:naryPr>
                        <m:sub>
                          <m:r>
                            <a:rPr lang="en-US" altLang="zh-CN" sz="2800" i="1">
                              <a:latin typeface="Cambria Math" panose="02040503050406030204" pitchFamily="18" charset="0"/>
                              <a:cs typeface="Cambria Math" panose="02040503050406030204" pitchFamily="18" charset="0"/>
                            </a:rPr>
                            <m:t>𝑖</m:t>
                          </m:r>
                          <m:r>
                            <a:rPr lang="en-US" altLang="zh-CN" sz="2800" i="1">
                              <a:latin typeface="Cambria Math" panose="02040503050406030204" pitchFamily="18" charset="0"/>
                              <a:cs typeface="Cambria Math" panose="02040503050406030204" pitchFamily="18" charset="0"/>
                            </a:rPr>
                            <m:t>=1</m:t>
                          </m:r>
                        </m:sub>
                        <m:sup>
                          <m:r>
                            <a:rPr lang="en-US" altLang="zh-CN" sz="2800" i="1">
                              <a:latin typeface="Cambria Math" panose="02040503050406030204" pitchFamily="18" charset="0"/>
                              <a:cs typeface="Cambria Math" panose="02040503050406030204" pitchFamily="18" charset="0"/>
                            </a:rPr>
                            <m:t>𝑛</m:t>
                          </m:r>
                        </m:sup>
                        <m:e>
                          <m:r>
                            <a:rPr lang="en-US" altLang="zh-CN" sz="2800" i="1">
                              <a:latin typeface="Cambria Math" panose="02040503050406030204" pitchFamily="18" charset="0"/>
                              <a:cs typeface="Cambria Math" panose="02040503050406030204" pitchFamily="18" charset="0"/>
                            </a:rPr>
                            <m:t>𝑃</m:t>
                          </m:r>
                          <m:r>
                            <a:rPr lang="en-US" altLang="zh-CN" sz="2800" i="1">
                              <a:latin typeface="Cambria Math" panose="02040503050406030204" pitchFamily="18" charset="0"/>
                              <a:cs typeface="Cambria Math" panose="02040503050406030204" pitchFamily="18" charset="0"/>
                            </a:rPr>
                            <m:t>(</m:t>
                          </m:r>
                          <m:sSub>
                            <m:sSubPr>
                              <m:ctrlPr>
                                <a:rPr lang="en-US" altLang="zh-CN" sz="2800" i="1">
                                  <a:latin typeface="Cambria Math" panose="02040503050406030204" pitchFamily="18" charset="0"/>
                                  <a:cs typeface="Cambria Math" panose="02040503050406030204" pitchFamily="18" charset="0"/>
                                </a:rPr>
                              </m:ctrlPr>
                            </m:sSubPr>
                            <m:e>
                              <m:r>
                                <a:rPr lang="en-US" altLang="zh-CN" sz="2800" i="1">
                                  <a:latin typeface="Cambria Math" panose="02040503050406030204" pitchFamily="18" charset="0"/>
                                  <a:cs typeface="Cambria Math" panose="02040503050406030204" pitchFamily="18" charset="0"/>
                                </a:rPr>
                                <m:t>𝑥</m:t>
                              </m:r>
                            </m:e>
                            <m:sub>
                              <m:r>
                                <a:rPr lang="en-US" altLang="zh-CN" sz="2800" i="1">
                                  <a:latin typeface="Cambria Math" panose="02040503050406030204" pitchFamily="18" charset="0"/>
                                  <a:cs typeface="Cambria Math" panose="02040503050406030204" pitchFamily="18" charset="0"/>
                                </a:rPr>
                                <m:t>𝑖</m:t>
                              </m:r>
                            </m:sub>
                          </m:sSub>
                          <m:r>
                            <a:rPr lang="en-US" altLang="zh-CN" sz="2800" i="1">
                              <a:latin typeface="Cambria Math" panose="02040503050406030204" pitchFamily="18" charset="0"/>
                              <a:cs typeface="Cambria Math" panose="02040503050406030204" pitchFamily="18" charset="0"/>
                            </a:rPr>
                            <m:t>|</m:t>
                          </m:r>
                          <m:sSub>
                            <m:sSubPr>
                              <m:ctrlPr>
                                <a:rPr lang="en-US" altLang="zh-CN" sz="2800" i="1">
                                  <a:latin typeface="Cambria Math" panose="02040503050406030204" pitchFamily="18" charset="0"/>
                                  <a:cs typeface="Cambria Math" panose="02040503050406030204" pitchFamily="18" charset="0"/>
                                </a:rPr>
                              </m:ctrlPr>
                            </m:sSubPr>
                            <m:e>
                              <m:r>
                                <a:rPr lang="en-US" altLang="zh-CN" sz="2800" i="1">
                                  <a:latin typeface="Cambria Math" panose="02040503050406030204" pitchFamily="18" charset="0"/>
                                  <a:cs typeface="Cambria Math" panose="02040503050406030204" pitchFamily="18" charset="0"/>
                                </a:rPr>
                                <m:t>𝑐</m:t>
                              </m:r>
                            </m:e>
                            <m:sub>
                              <m:r>
                                <a:rPr lang="en-US" altLang="zh-CN" sz="2800" i="1">
                                  <a:latin typeface="Cambria Math" panose="02040503050406030204" pitchFamily="18" charset="0"/>
                                  <a:cs typeface="Cambria Math" panose="02040503050406030204" pitchFamily="18" charset="0"/>
                                </a:rPr>
                                <m:t>𝑘</m:t>
                              </m:r>
                            </m:sub>
                          </m:sSub>
                          <m:r>
                            <a:rPr lang="en-US" altLang="zh-CN" sz="2800" i="1">
                              <a:latin typeface="Cambria Math" panose="02040503050406030204" pitchFamily="18" charset="0"/>
                              <a:cs typeface="Cambria Math" panose="02040503050406030204" pitchFamily="18" charset="0"/>
                            </a:rPr>
                            <m:t>)</m:t>
                          </m:r>
                        </m:e>
                      </m:nary>
                    </m:oMath>
                  </m:oMathPara>
                </a14:m>
                <a:endParaRPr lang="zh-CN" altLang="en-US" dirty="0"/>
              </a:p>
            </p:txBody>
          </p:sp>
        </mc:Choice>
        <mc:Fallback xmlns="">
          <p:sp>
            <p:nvSpPr>
              <p:cNvPr id="4" name="文本框 3"/>
              <p:cNvSpPr txBox="1">
                <a:spLocks noRot="1" noChangeAspect="1" noMove="1" noResize="1" noEditPoints="1" noAdjustHandles="1" noChangeArrowheads="1" noChangeShapeType="1" noTextEdit="1"/>
              </p:cNvSpPr>
              <p:nvPr/>
            </p:nvSpPr>
            <p:spPr>
              <a:xfrm>
                <a:off x="4785296" y="3130804"/>
                <a:ext cx="7041608" cy="938847"/>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p:cNvSpPr txBox="1"/>
              <p:nvPr/>
            </p:nvSpPr>
            <p:spPr>
              <a:xfrm>
                <a:off x="4178871" y="4565269"/>
                <a:ext cx="5776390" cy="1037528"/>
              </a:xfrm>
              <a:prstGeom prst="rect">
                <a:avLst/>
              </a:prstGeom>
              <a:noFill/>
            </p:spPr>
            <p:txBody>
              <a:bodyPr wrap="none" rtlCol="0" anchor="t">
                <a:spAutoFit/>
              </a:bodyPr>
              <a:lstStyle/>
              <a:p>
                <a:pPr algn="l"/>
                <a14:m>
                  <m:oMathPara xmlns:m="http://schemas.openxmlformats.org/officeDocument/2006/math">
                    <m:oMath>
                      <m:r>
                        <a:rPr lang="en-US" altLang="zh-CN" sz="2800" i="1">
                          <a:latin typeface="Cambria Math" panose="02040503050406030204" pitchFamily="18" charset="0"/>
                          <a:cs typeface="Cambria Math" panose="02040503050406030204" pitchFamily="18" charset="0"/>
                        </a:rPr>
                        <m:t>𝑃</m:t>
                      </m:r>
                      <m:r>
                        <a:rPr lang="en-US" altLang="zh-CN" sz="2800" i="1">
                          <a:latin typeface="Cambria Math" panose="02040503050406030204" pitchFamily="18" charset="0"/>
                          <a:cs typeface="Cambria Math" panose="02040503050406030204" pitchFamily="18" charset="0"/>
                        </a:rPr>
                        <m:t>(</m:t>
                      </m:r>
                      <m:sSub>
                        <m:sSubPr>
                          <m:ctrlPr>
                            <a:rPr lang="en-US" altLang="zh-CN" sz="2800" i="1">
                              <a:latin typeface="Cambria Math" panose="02040503050406030204" pitchFamily="18" charset="0"/>
                              <a:cs typeface="Cambria Math" panose="02040503050406030204" pitchFamily="18" charset="0"/>
                            </a:rPr>
                          </m:ctrlPr>
                        </m:sSubPr>
                        <m:e>
                          <m:r>
                            <a:rPr lang="en-US" altLang="zh-CN" sz="2800" i="1">
                              <a:latin typeface="Cambria Math" panose="02040503050406030204" pitchFamily="18" charset="0"/>
                              <a:cs typeface="Cambria Math" panose="02040503050406030204" pitchFamily="18" charset="0"/>
                            </a:rPr>
                            <m:t>𝑐</m:t>
                          </m:r>
                        </m:e>
                        <m:sub>
                          <m:r>
                            <a:rPr lang="en-US" altLang="zh-CN" sz="2800" i="1">
                              <a:latin typeface="Cambria Math" panose="02040503050406030204" pitchFamily="18" charset="0"/>
                              <a:cs typeface="Cambria Math" panose="02040503050406030204" pitchFamily="18" charset="0"/>
                            </a:rPr>
                            <m:t>𝑘</m:t>
                          </m:r>
                        </m:sub>
                      </m:sSub>
                      <m:r>
                        <a:rPr lang="en-US" altLang="zh-CN" sz="2800" i="1">
                          <a:latin typeface="Cambria Math" panose="02040503050406030204" pitchFamily="18" charset="0"/>
                          <a:cs typeface="Cambria Math" panose="02040503050406030204" pitchFamily="18" charset="0"/>
                        </a:rPr>
                        <m:t>|</m:t>
                      </m:r>
                      <m:r>
                        <a:rPr lang="en-US" altLang="zh-CN" sz="2800" i="1">
                          <a:latin typeface="Cambria Math" panose="02040503050406030204" pitchFamily="18" charset="0"/>
                          <a:cs typeface="Cambria Math" panose="02040503050406030204" pitchFamily="18" charset="0"/>
                        </a:rPr>
                        <m:t>𝑥</m:t>
                      </m:r>
                      <m:r>
                        <a:rPr lang="en-US" altLang="zh-CN" sz="2800" i="1">
                          <a:latin typeface="Cambria Math" panose="02040503050406030204" pitchFamily="18" charset="0"/>
                          <a:cs typeface="Cambria Math" panose="02040503050406030204" pitchFamily="18" charset="0"/>
                        </a:rPr>
                        <m:t>)=</m:t>
                      </m:r>
                      <m:f>
                        <m:fPr>
                          <m:ctrlPr>
                            <a:rPr lang="en-US" altLang="zh-CN" sz="2800" i="1">
                              <a:latin typeface="Cambria Math" panose="02040503050406030204" pitchFamily="18" charset="0"/>
                              <a:cs typeface="Cambria Math" panose="02040503050406030204" pitchFamily="18" charset="0"/>
                            </a:rPr>
                          </m:ctrlPr>
                        </m:fPr>
                        <m:num>
                          <m:r>
                            <a:rPr lang="en-US" altLang="zh-CN" sz="2800" i="1">
                              <a:latin typeface="Cambria Math" panose="02040503050406030204" pitchFamily="18" charset="0"/>
                              <a:cs typeface="Cambria Math" panose="02040503050406030204" pitchFamily="18" charset="0"/>
                            </a:rPr>
                            <m:t>𝑃</m:t>
                          </m:r>
                          <m:r>
                            <a:rPr lang="en-US" altLang="zh-CN" sz="2800" i="1">
                              <a:latin typeface="Cambria Math" panose="02040503050406030204" pitchFamily="18" charset="0"/>
                              <a:cs typeface="Cambria Math" panose="02040503050406030204" pitchFamily="18" charset="0"/>
                            </a:rPr>
                            <m:t>(</m:t>
                          </m:r>
                          <m:sSub>
                            <m:sSubPr>
                              <m:ctrlPr>
                                <a:rPr lang="en-US" altLang="zh-CN" sz="2800" i="1">
                                  <a:latin typeface="Cambria Math" panose="02040503050406030204" pitchFamily="18" charset="0"/>
                                  <a:cs typeface="Cambria Math" panose="02040503050406030204" pitchFamily="18" charset="0"/>
                                </a:rPr>
                              </m:ctrlPr>
                            </m:sSubPr>
                            <m:e>
                              <m:r>
                                <a:rPr lang="en-US" altLang="zh-CN" sz="2800" i="1">
                                  <a:latin typeface="Cambria Math" panose="02040503050406030204" pitchFamily="18" charset="0"/>
                                  <a:cs typeface="Cambria Math" panose="02040503050406030204" pitchFamily="18" charset="0"/>
                                </a:rPr>
                                <m:t>𝑐</m:t>
                              </m:r>
                            </m:e>
                            <m:sub>
                              <m:r>
                                <a:rPr lang="en-US" altLang="zh-CN" sz="2800" i="1">
                                  <a:latin typeface="Cambria Math" panose="02040503050406030204" pitchFamily="18" charset="0"/>
                                  <a:cs typeface="Cambria Math" panose="02040503050406030204" pitchFamily="18" charset="0"/>
                                </a:rPr>
                                <m:t>𝑘</m:t>
                              </m:r>
                            </m:sub>
                          </m:sSub>
                          <m:r>
                            <a:rPr lang="en-US" altLang="zh-CN" sz="2800" i="1">
                              <a:latin typeface="Cambria Math" panose="02040503050406030204" pitchFamily="18" charset="0"/>
                              <a:cs typeface="Cambria Math" panose="02040503050406030204" pitchFamily="18" charset="0"/>
                            </a:rPr>
                            <m:t>)×</m:t>
                          </m:r>
                          <m:nary>
                            <m:naryPr>
                              <m:chr m:val="∏"/>
                              <m:limLoc m:val="subSup"/>
                              <m:ctrlPr>
                                <a:rPr lang="en-US" altLang="zh-CN" sz="2800" i="1">
                                  <a:latin typeface="Cambria Math" panose="02040503050406030204" pitchFamily="18" charset="0"/>
                                  <a:cs typeface="Cambria Math" panose="02040503050406030204" pitchFamily="18" charset="0"/>
                                </a:rPr>
                              </m:ctrlPr>
                            </m:naryPr>
                            <m:sub>
                              <m:r>
                                <a:rPr lang="en-US" altLang="zh-CN" sz="2800" i="1">
                                  <a:latin typeface="Cambria Math" panose="02040503050406030204" pitchFamily="18" charset="0"/>
                                  <a:cs typeface="Cambria Math" panose="02040503050406030204" pitchFamily="18" charset="0"/>
                                </a:rPr>
                                <m:t>𝑖</m:t>
                              </m:r>
                              <m:r>
                                <a:rPr lang="en-US" altLang="zh-CN" sz="2800" i="1">
                                  <a:latin typeface="Cambria Math" panose="02040503050406030204" pitchFamily="18" charset="0"/>
                                  <a:cs typeface="Cambria Math" panose="02040503050406030204" pitchFamily="18" charset="0"/>
                                </a:rPr>
                                <m:t>=1</m:t>
                              </m:r>
                            </m:sub>
                            <m:sup>
                              <m:r>
                                <a:rPr lang="en-US" altLang="zh-CN" sz="2800" i="1">
                                  <a:latin typeface="Cambria Math" panose="02040503050406030204" pitchFamily="18" charset="0"/>
                                  <a:cs typeface="Cambria Math" panose="02040503050406030204" pitchFamily="18" charset="0"/>
                                </a:rPr>
                                <m:t>𝑛</m:t>
                              </m:r>
                            </m:sup>
                            <m:e>
                              <m:r>
                                <a:rPr lang="en-US" altLang="zh-CN" sz="2800" i="1">
                                  <a:latin typeface="Cambria Math" panose="02040503050406030204" pitchFamily="18" charset="0"/>
                                  <a:cs typeface="Cambria Math" panose="02040503050406030204" pitchFamily="18" charset="0"/>
                                </a:rPr>
                                <m:t>𝑃</m:t>
                              </m:r>
                              <m:r>
                                <a:rPr lang="en-US" altLang="zh-CN" sz="2800" i="1">
                                  <a:latin typeface="Cambria Math" panose="02040503050406030204" pitchFamily="18" charset="0"/>
                                  <a:cs typeface="Cambria Math" panose="02040503050406030204" pitchFamily="18" charset="0"/>
                                </a:rPr>
                                <m:t>(</m:t>
                              </m:r>
                              <m:sSub>
                                <m:sSubPr>
                                  <m:ctrlPr>
                                    <a:rPr lang="en-US" altLang="zh-CN" sz="2800" i="1">
                                      <a:latin typeface="Cambria Math" panose="02040503050406030204" pitchFamily="18" charset="0"/>
                                      <a:cs typeface="Cambria Math" panose="02040503050406030204" pitchFamily="18" charset="0"/>
                                    </a:rPr>
                                  </m:ctrlPr>
                                </m:sSubPr>
                                <m:e>
                                  <m:r>
                                    <a:rPr lang="en-US" altLang="zh-CN" sz="2800" i="1">
                                      <a:latin typeface="Cambria Math" panose="02040503050406030204" pitchFamily="18" charset="0"/>
                                      <a:cs typeface="Cambria Math" panose="02040503050406030204" pitchFamily="18" charset="0"/>
                                    </a:rPr>
                                    <m:t>𝑥</m:t>
                                  </m:r>
                                </m:e>
                                <m:sub>
                                  <m:r>
                                    <a:rPr lang="en-US" altLang="zh-CN" sz="2800" i="1">
                                      <a:latin typeface="Cambria Math" panose="02040503050406030204" pitchFamily="18" charset="0"/>
                                      <a:cs typeface="Cambria Math" panose="02040503050406030204" pitchFamily="18" charset="0"/>
                                    </a:rPr>
                                    <m:t>𝑖</m:t>
                                  </m:r>
                                </m:sub>
                              </m:sSub>
                              <m:r>
                                <a:rPr lang="en-US" altLang="zh-CN" sz="2800" i="1">
                                  <a:latin typeface="Cambria Math" panose="02040503050406030204" pitchFamily="18" charset="0"/>
                                  <a:cs typeface="Cambria Math" panose="02040503050406030204" pitchFamily="18" charset="0"/>
                                </a:rPr>
                                <m:t>|</m:t>
                              </m:r>
                              <m:sSub>
                                <m:sSubPr>
                                  <m:ctrlPr>
                                    <a:rPr lang="en-US" altLang="zh-CN" sz="2800" i="1">
                                      <a:latin typeface="Cambria Math" panose="02040503050406030204" pitchFamily="18" charset="0"/>
                                      <a:cs typeface="Cambria Math" panose="02040503050406030204" pitchFamily="18" charset="0"/>
                                    </a:rPr>
                                  </m:ctrlPr>
                                </m:sSubPr>
                                <m:e>
                                  <m:r>
                                    <a:rPr lang="en-US" altLang="zh-CN" sz="2800" i="1">
                                      <a:latin typeface="Cambria Math" panose="02040503050406030204" pitchFamily="18" charset="0"/>
                                      <a:cs typeface="Cambria Math" panose="02040503050406030204" pitchFamily="18" charset="0"/>
                                    </a:rPr>
                                    <m:t>𝑐</m:t>
                                  </m:r>
                                </m:e>
                                <m:sub>
                                  <m:r>
                                    <a:rPr lang="en-US" altLang="zh-CN" sz="2800" i="1">
                                      <a:latin typeface="Cambria Math" panose="02040503050406030204" pitchFamily="18" charset="0"/>
                                      <a:cs typeface="Cambria Math" panose="02040503050406030204" pitchFamily="18" charset="0"/>
                                    </a:rPr>
                                    <m:t>𝑘</m:t>
                                  </m:r>
                                </m:sub>
                              </m:sSub>
                              <m:r>
                                <a:rPr lang="en-US" altLang="zh-CN" sz="2800" i="1">
                                  <a:latin typeface="Cambria Math" panose="02040503050406030204" pitchFamily="18" charset="0"/>
                                  <a:cs typeface="Cambria Math" panose="02040503050406030204" pitchFamily="18" charset="0"/>
                                </a:rPr>
                                <m:t>)</m:t>
                              </m:r>
                            </m:e>
                          </m:nary>
                        </m:num>
                        <m:den>
                          <m:nary>
                            <m:naryPr>
                              <m:chr m:val="∑"/>
                              <m:limLoc m:val="subSup"/>
                              <m:supHide m:val="on"/>
                              <m:ctrlPr>
                                <a:rPr lang="en-US" altLang="zh-CN" sz="2800" i="1">
                                  <a:latin typeface="Cambria Math" panose="02040503050406030204" pitchFamily="18" charset="0"/>
                                  <a:cs typeface="Cambria Math" panose="02040503050406030204" pitchFamily="18" charset="0"/>
                                </a:rPr>
                              </m:ctrlPr>
                            </m:naryPr>
                            <m:sub>
                              <m:r>
                                <a:rPr lang="en-US" altLang="zh-CN" sz="2800" i="1">
                                  <a:latin typeface="Cambria Math" panose="02040503050406030204" pitchFamily="18" charset="0"/>
                                  <a:cs typeface="Cambria Math" panose="02040503050406030204" pitchFamily="18" charset="0"/>
                                </a:rPr>
                                <m:t>𝑘</m:t>
                              </m:r>
                            </m:sub>
                            <m:sup/>
                            <m:e>
                              <m:r>
                                <a:rPr lang="en-US" altLang="zh-CN" sz="2800" i="1">
                                  <a:latin typeface="Cambria Math" panose="02040503050406030204" pitchFamily="18" charset="0"/>
                                  <a:cs typeface="Cambria Math" panose="02040503050406030204" pitchFamily="18" charset="0"/>
                                </a:rPr>
                                <m:t>𝑃</m:t>
                              </m:r>
                              <m:r>
                                <a:rPr lang="en-US" altLang="zh-CN" sz="2800" i="1">
                                  <a:latin typeface="Cambria Math" panose="02040503050406030204" pitchFamily="18" charset="0"/>
                                  <a:cs typeface="Cambria Math" panose="02040503050406030204" pitchFamily="18" charset="0"/>
                                </a:rPr>
                                <m:t>(</m:t>
                              </m:r>
                              <m:sSub>
                                <m:sSubPr>
                                  <m:ctrlPr>
                                    <a:rPr lang="en-US" altLang="zh-CN" sz="2800" i="1">
                                      <a:latin typeface="Cambria Math" panose="02040503050406030204" pitchFamily="18" charset="0"/>
                                      <a:cs typeface="Cambria Math" panose="02040503050406030204" pitchFamily="18" charset="0"/>
                                    </a:rPr>
                                  </m:ctrlPr>
                                </m:sSubPr>
                                <m:e>
                                  <m:r>
                                    <a:rPr lang="en-US" altLang="zh-CN" sz="2800" i="1">
                                      <a:latin typeface="Cambria Math" panose="02040503050406030204" pitchFamily="18" charset="0"/>
                                      <a:cs typeface="Cambria Math" panose="02040503050406030204" pitchFamily="18" charset="0"/>
                                    </a:rPr>
                                    <m:t>𝑐</m:t>
                                  </m:r>
                                </m:e>
                                <m:sub>
                                  <m:r>
                                    <a:rPr lang="en-US" altLang="zh-CN" sz="2800" i="1">
                                      <a:latin typeface="Cambria Math" panose="02040503050406030204" pitchFamily="18" charset="0"/>
                                      <a:cs typeface="Cambria Math" panose="02040503050406030204" pitchFamily="18" charset="0"/>
                                    </a:rPr>
                                    <m:t>𝑘</m:t>
                                  </m:r>
                                </m:sub>
                              </m:sSub>
                              <m:r>
                                <a:rPr lang="en-US" altLang="zh-CN" sz="2800" i="1">
                                  <a:latin typeface="Cambria Math" panose="02040503050406030204" pitchFamily="18" charset="0"/>
                                  <a:cs typeface="Cambria Math" panose="02040503050406030204" pitchFamily="18" charset="0"/>
                                </a:rPr>
                                <m:t>)×</m:t>
                              </m:r>
                              <m:nary>
                                <m:naryPr>
                                  <m:chr m:val="∏"/>
                                  <m:limLoc m:val="subSup"/>
                                  <m:ctrlPr>
                                    <a:rPr lang="en-US" altLang="zh-CN" sz="2800" i="1">
                                      <a:latin typeface="Cambria Math" panose="02040503050406030204" pitchFamily="18" charset="0"/>
                                      <a:cs typeface="Cambria Math" panose="02040503050406030204" pitchFamily="18" charset="0"/>
                                    </a:rPr>
                                  </m:ctrlPr>
                                </m:naryPr>
                                <m:sub>
                                  <m:r>
                                    <a:rPr lang="en-US" altLang="zh-CN" sz="2800" i="1">
                                      <a:latin typeface="Cambria Math" panose="02040503050406030204" pitchFamily="18" charset="0"/>
                                      <a:cs typeface="Cambria Math" panose="02040503050406030204" pitchFamily="18" charset="0"/>
                                    </a:rPr>
                                    <m:t>𝑖</m:t>
                                  </m:r>
                                  <m:r>
                                    <a:rPr lang="en-US" altLang="zh-CN" sz="2800" i="1">
                                      <a:latin typeface="Cambria Math" panose="02040503050406030204" pitchFamily="18" charset="0"/>
                                      <a:cs typeface="Cambria Math" panose="02040503050406030204" pitchFamily="18" charset="0"/>
                                    </a:rPr>
                                    <m:t>=1</m:t>
                                  </m:r>
                                </m:sub>
                                <m:sup>
                                  <m:r>
                                    <a:rPr lang="en-US" altLang="zh-CN" sz="2800" i="1">
                                      <a:latin typeface="Cambria Math" panose="02040503050406030204" pitchFamily="18" charset="0"/>
                                      <a:cs typeface="Cambria Math" panose="02040503050406030204" pitchFamily="18" charset="0"/>
                                    </a:rPr>
                                    <m:t>𝑛</m:t>
                                  </m:r>
                                </m:sup>
                                <m:e>
                                  <m:r>
                                    <a:rPr lang="en-US" altLang="zh-CN" sz="2800" i="1">
                                      <a:latin typeface="Cambria Math" panose="02040503050406030204" pitchFamily="18" charset="0"/>
                                      <a:cs typeface="Cambria Math" panose="02040503050406030204" pitchFamily="18" charset="0"/>
                                    </a:rPr>
                                    <m:t>𝑃</m:t>
                                  </m:r>
                                  <m:r>
                                    <a:rPr lang="en-US" altLang="zh-CN" sz="2800" i="1">
                                      <a:latin typeface="Cambria Math" panose="02040503050406030204" pitchFamily="18" charset="0"/>
                                      <a:cs typeface="Cambria Math" panose="02040503050406030204" pitchFamily="18" charset="0"/>
                                    </a:rPr>
                                    <m:t>(</m:t>
                                  </m:r>
                                  <m:sSub>
                                    <m:sSubPr>
                                      <m:ctrlPr>
                                        <a:rPr lang="en-US" altLang="zh-CN" sz="2800" i="1">
                                          <a:latin typeface="Cambria Math" panose="02040503050406030204" pitchFamily="18" charset="0"/>
                                          <a:cs typeface="Cambria Math" panose="02040503050406030204" pitchFamily="18" charset="0"/>
                                        </a:rPr>
                                      </m:ctrlPr>
                                    </m:sSubPr>
                                    <m:e>
                                      <m:r>
                                        <a:rPr lang="en-US" altLang="zh-CN" sz="2800" i="1">
                                          <a:latin typeface="Cambria Math" panose="02040503050406030204" pitchFamily="18" charset="0"/>
                                          <a:cs typeface="Cambria Math" panose="02040503050406030204" pitchFamily="18" charset="0"/>
                                        </a:rPr>
                                        <m:t>𝑥</m:t>
                                      </m:r>
                                    </m:e>
                                    <m:sub>
                                      <m:r>
                                        <a:rPr lang="en-US" altLang="zh-CN" sz="2800" i="1">
                                          <a:latin typeface="Cambria Math" panose="02040503050406030204" pitchFamily="18" charset="0"/>
                                          <a:cs typeface="Cambria Math" panose="02040503050406030204" pitchFamily="18" charset="0"/>
                                        </a:rPr>
                                        <m:t>𝑖</m:t>
                                      </m:r>
                                    </m:sub>
                                  </m:sSub>
                                  <m:r>
                                    <a:rPr lang="en-US" altLang="zh-CN" sz="2800" i="1">
                                      <a:latin typeface="Cambria Math" panose="02040503050406030204" pitchFamily="18" charset="0"/>
                                      <a:cs typeface="Cambria Math" panose="02040503050406030204" pitchFamily="18" charset="0"/>
                                    </a:rPr>
                                    <m:t>|</m:t>
                                  </m:r>
                                  <m:sSub>
                                    <m:sSubPr>
                                      <m:ctrlPr>
                                        <a:rPr lang="en-US" altLang="zh-CN" sz="2800" i="1">
                                          <a:latin typeface="Cambria Math" panose="02040503050406030204" pitchFamily="18" charset="0"/>
                                          <a:cs typeface="Cambria Math" panose="02040503050406030204" pitchFamily="18" charset="0"/>
                                        </a:rPr>
                                      </m:ctrlPr>
                                    </m:sSubPr>
                                    <m:e>
                                      <m:r>
                                        <a:rPr lang="en-US" altLang="zh-CN" sz="2800" i="1">
                                          <a:latin typeface="Cambria Math" panose="02040503050406030204" pitchFamily="18" charset="0"/>
                                          <a:cs typeface="Cambria Math" panose="02040503050406030204" pitchFamily="18" charset="0"/>
                                        </a:rPr>
                                        <m:t>𝑐</m:t>
                                      </m:r>
                                    </m:e>
                                    <m:sub>
                                      <m:r>
                                        <a:rPr lang="en-US" altLang="zh-CN" sz="2800" i="1">
                                          <a:latin typeface="Cambria Math" panose="02040503050406030204" pitchFamily="18" charset="0"/>
                                          <a:cs typeface="Cambria Math" panose="02040503050406030204" pitchFamily="18" charset="0"/>
                                        </a:rPr>
                                        <m:t>𝑘</m:t>
                                      </m:r>
                                    </m:sub>
                                  </m:sSub>
                                  <m:r>
                                    <a:rPr lang="en-US" altLang="zh-CN" sz="2800" i="1">
                                      <a:latin typeface="Cambria Math" panose="02040503050406030204" pitchFamily="18" charset="0"/>
                                      <a:cs typeface="Cambria Math" panose="02040503050406030204" pitchFamily="18" charset="0"/>
                                    </a:rPr>
                                    <m:t>)</m:t>
                                  </m:r>
                                </m:e>
                              </m:nary>
                            </m:e>
                          </m:nary>
                        </m:den>
                      </m:f>
                    </m:oMath>
                  </m:oMathPara>
                </a14:m>
                <a:endParaRPr lang="zh-CN" altLang="en-US" dirty="0"/>
              </a:p>
            </p:txBody>
          </p:sp>
        </mc:Choice>
        <mc:Fallback xmlns="">
          <p:sp>
            <p:nvSpPr>
              <p:cNvPr id="9" name="文本框 8"/>
              <p:cNvSpPr txBox="1">
                <a:spLocks noRot="1" noChangeAspect="1" noMove="1" noResize="1" noEditPoints="1" noAdjustHandles="1" noChangeArrowheads="1" noChangeShapeType="1" noTextEdit="1"/>
              </p:cNvSpPr>
              <p:nvPr/>
            </p:nvSpPr>
            <p:spPr>
              <a:xfrm>
                <a:off x="4178871" y="4565269"/>
                <a:ext cx="5776390" cy="1037528"/>
              </a:xfrm>
              <a:prstGeom prst="rect">
                <a:avLst/>
              </a:prstGeom>
              <a:blipFill>
                <a:blip r:embed="rId3"/>
                <a:stretch>
                  <a:fillRect/>
                </a:stretch>
              </a:blipFill>
            </p:spPr>
            <p:txBody>
              <a:bodyPr/>
              <a:lstStyle/>
              <a:p>
                <a:r>
                  <a:rPr lang="zh-CN" altLang="en-US">
                    <a:noFill/>
                  </a:rPr>
                  <a:t> </a:t>
                </a:r>
              </a:p>
            </p:txBody>
          </p:sp>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97852E-4D77-431A-9741-B442EA0D8A88}"/>
              </a:ext>
            </a:extLst>
          </p:cNvPr>
          <p:cNvSpPr>
            <a:spLocks noGrp="1"/>
          </p:cNvSpPr>
          <p:nvPr>
            <p:ph type="title"/>
          </p:nvPr>
        </p:nvSpPr>
        <p:spPr/>
        <p:txBody>
          <a:bodyPr/>
          <a:lstStyle/>
          <a:p>
            <a:pPr algn="l"/>
            <a:r>
              <a:rPr/>
              <a:t>3.朴素贝叶斯</a:t>
            </a:r>
          </a:p>
        </p:txBody>
      </p:sp>
      <p:sp>
        <p:nvSpPr>
          <p:cNvPr id="3" name="内容占位符 2"/>
          <p:cNvSpPr>
            <a:spLocks noGrp="1"/>
          </p:cNvSpPr>
          <p:nvPr>
            <p:ph idx="1"/>
          </p:nvPr>
        </p:nvSpPr>
        <p:spPr/>
        <p:txBody>
          <a:bodyPr/>
          <a:lstStyle/>
          <a:p>
            <a:r>
              <a:rPr lang="zh-CN" altLang="zh-CN" b="1" dirty="0">
                <a:solidFill>
                  <a:srgbClr val="FF0000"/>
                </a:solidFill>
                <a:latin typeface="+mj-ea"/>
                <a:ea typeface="+mj-ea"/>
              </a:rPr>
              <a:t>朴素贝叶斯分类器</a:t>
            </a:r>
            <a:r>
              <a:rPr lang="zh-CN" altLang="zh-CN" dirty="0">
                <a:latin typeface="+mj-ea"/>
                <a:ea typeface="+mj-ea"/>
              </a:rPr>
              <a:t>可以被表示为</a:t>
            </a:r>
            <a:endParaRPr lang="en-US" altLang="zh-CN" dirty="0">
              <a:latin typeface="+mj-ea"/>
              <a:ea typeface="+mj-ea"/>
            </a:endParaRPr>
          </a:p>
          <a:p>
            <a:endParaRPr lang="en-US" altLang="zh-CN" dirty="0">
              <a:latin typeface="+mj-ea"/>
              <a:ea typeface="+mj-ea"/>
            </a:endParaRPr>
          </a:p>
          <a:p>
            <a:endParaRPr lang="en-US" altLang="zh-CN" dirty="0">
              <a:latin typeface="+mj-ea"/>
              <a:ea typeface="+mj-ea"/>
            </a:endParaRPr>
          </a:p>
          <a:p>
            <a:endParaRPr lang="en-US" altLang="zh-CN" dirty="0">
              <a:latin typeface="+mj-ea"/>
              <a:ea typeface="+mj-ea"/>
            </a:endParaRPr>
          </a:p>
          <a:p>
            <a:r>
              <a:rPr lang="zh-CN" altLang="zh-CN" dirty="0">
                <a:latin typeface="+mj-ea"/>
                <a:ea typeface="+mj-ea"/>
              </a:rPr>
              <a:t>对所有的类别，上式中的分母的值是一样的</a:t>
            </a:r>
            <a:r>
              <a:rPr lang="zh-CN" altLang="en-US" dirty="0">
                <a:latin typeface="+mj-ea"/>
                <a:ea typeface="+mj-ea"/>
              </a:rPr>
              <a:t>，所以</a:t>
            </a:r>
            <a:r>
              <a:rPr lang="zh-CN" altLang="en-US" b="1" dirty="0">
                <a:solidFill>
                  <a:srgbClr val="FF0000"/>
                </a:solidFill>
                <a:latin typeface="+mj-ea"/>
                <a:ea typeface="+mj-ea"/>
              </a:rPr>
              <a:t>忽略分母</a:t>
            </a:r>
          </a:p>
        </p:txBody>
      </p:sp>
      <p:sp>
        <p:nvSpPr>
          <p:cNvPr id="5"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mc:AlternateContent xmlns:mc="http://schemas.openxmlformats.org/markup-compatibility/2006" xmlns:a14="http://schemas.microsoft.com/office/drawing/2010/main">
        <mc:Choice Requires="a14">
          <p:sp>
            <p:nvSpPr>
              <p:cNvPr id="9" name="文本框 8"/>
              <p:cNvSpPr txBox="1"/>
              <p:nvPr/>
            </p:nvSpPr>
            <p:spPr>
              <a:xfrm>
                <a:off x="1720973" y="2325736"/>
                <a:ext cx="9485930" cy="1037528"/>
              </a:xfrm>
              <a:prstGeom prst="rect">
                <a:avLst/>
              </a:prstGeom>
              <a:noFill/>
            </p:spPr>
            <p:txBody>
              <a:bodyPr wrap="none" rtlCol="0" anchor="t">
                <a:spAutoFit/>
              </a:bodyPr>
              <a:lstStyle/>
              <a:p>
                <a:pPr algn="l"/>
                <a14:m>
                  <m:oMathPara xmlns:m="http://schemas.openxmlformats.org/officeDocument/2006/math">
                    <m:oMath>
                      <m:r>
                        <a:rPr lang="en-US" altLang="zh-CN" sz="2800" i="1">
                          <a:latin typeface="Cambria Math" panose="02040503050406030204" pitchFamily="18" charset="0"/>
                          <a:cs typeface="Cambria Math" panose="02040503050406030204" pitchFamily="18" charset="0"/>
                        </a:rPr>
                        <m:t>𝑓</m:t>
                      </m:r>
                      <m:r>
                        <a:rPr lang="en-US" altLang="zh-CN" sz="2800" i="1">
                          <a:latin typeface="Cambria Math" panose="02040503050406030204" pitchFamily="18" charset="0"/>
                          <a:cs typeface="Cambria Math" panose="02040503050406030204" pitchFamily="18" charset="0"/>
                        </a:rPr>
                        <m:t>(</m:t>
                      </m:r>
                      <m:r>
                        <a:rPr lang="en-US" altLang="zh-CN" sz="2800" i="1">
                          <a:latin typeface="Cambria Math" panose="02040503050406030204" pitchFamily="18" charset="0"/>
                          <a:cs typeface="Cambria Math" panose="02040503050406030204" pitchFamily="18" charset="0"/>
                        </a:rPr>
                        <m:t>𝑥</m:t>
                      </m:r>
                      <m:r>
                        <a:rPr lang="en-US" altLang="zh-CN" sz="2800" i="1">
                          <a:latin typeface="Cambria Math" panose="02040503050406030204" pitchFamily="18" charset="0"/>
                          <a:cs typeface="Cambria Math" panose="02040503050406030204" pitchFamily="18" charset="0"/>
                        </a:rPr>
                        <m:t>)=</m:t>
                      </m:r>
                      <m:r>
                        <m:rPr>
                          <m:sty m:val="p"/>
                        </m:rPr>
                        <a:rPr lang="en-US" altLang="zh-CN" sz="2800">
                          <a:latin typeface="Cambria Math" panose="02040503050406030204" pitchFamily="18" charset="0"/>
                          <a:cs typeface="Cambria Math" panose="02040503050406030204" pitchFamily="18" charset="0"/>
                        </a:rPr>
                        <m:t>arg</m:t>
                      </m:r>
                      <m:func>
                        <m:funcPr>
                          <m:ctrlPr>
                            <a:rPr lang="en-US" altLang="zh-CN" sz="2800" i="1">
                              <a:latin typeface="Cambria Math" panose="02040503050406030204" pitchFamily="18" charset="0"/>
                              <a:cs typeface="Cambria Math" panose="02040503050406030204" pitchFamily="18" charset="0"/>
                            </a:rPr>
                          </m:ctrlPr>
                        </m:funcPr>
                        <m:fName>
                          <m:limLow>
                            <m:limLowPr>
                              <m:ctrlPr>
                                <a:rPr lang="en-US" altLang="zh-CN" sz="2800">
                                  <a:latin typeface="Cambria Math" panose="02040503050406030204" pitchFamily="18" charset="0"/>
                                  <a:cs typeface="Cambria Math" panose="02040503050406030204" pitchFamily="18" charset="0"/>
                                </a:rPr>
                              </m:ctrlPr>
                            </m:limLowPr>
                            <m:e>
                              <m:r>
                                <m:rPr>
                                  <m:sty m:val="p"/>
                                </m:rPr>
                                <a:rPr lang="en-US" altLang="zh-CN" sz="2800">
                                  <a:latin typeface="Cambria Math" panose="02040503050406030204" pitchFamily="18" charset="0"/>
                                  <a:cs typeface="Cambria Math" panose="02040503050406030204" pitchFamily="18" charset="0"/>
                                </a:rPr>
                                <m:t>max</m:t>
                              </m:r>
                            </m:e>
                            <m:lim>
                              <m:sSub>
                                <m:sSubPr>
                                  <m:ctrlPr>
                                    <a:rPr lang="en-US" altLang="zh-CN" sz="2800" i="1">
                                      <a:latin typeface="Cambria Math" panose="02040503050406030204" pitchFamily="18" charset="0"/>
                                      <a:cs typeface="Cambria Math" panose="02040503050406030204" pitchFamily="18" charset="0"/>
                                    </a:rPr>
                                  </m:ctrlPr>
                                </m:sSubPr>
                                <m:e>
                                  <m:r>
                                    <a:rPr lang="en-US" altLang="zh-CN" sz="2800" i="1">
                                      <a:latin typeface="Cambria Math" panose="02040503050406030204" pitchFamily="18" charset="0"/>
                                      <a:cs typeface="Cambria Math" panose="02040503050406030204" pitchFamily="18" charset="0"/>
                                    </a:rPr>
                                    <m:t>𝑐</m:t>
                                  </m:r>
                                </m:e>
                                <m:sub>
                                  <m:r>
                                    <a:rPr lang="en-US" altLang="zh-CN" sz="2800" i="1">
                                      <a:latin typeface="Cambria Math" panose="02040503050406030204" pitchFamily="18" charset="0"/>
                                      <a:cs typeface="Cambria Math" panose="02040503050406030204" pitchFamily="18" charset="0"/>
                                    </a:rPr>
                                    <m:t>𝑘</m:t>
                                  </m:r>
                                </m:sub>
                              </m:sSub>
                            </m:lim>
                          </m:limLow>
                        </m:fName>
                        <m:e>
                          <m:r>
                            <a:rPr lang="en-US" altLang="zh-CN" sz="2800" i="1">
                              <a:latin typeface="Cambria Math" panose="02040503050406030204" pitchFamily="18" charset="0"/>
                              <a:cs typeface="Cambria Math" panose="02040503050406030204" pitchFamily="18" charset="0"/>
                            </a:rPr>
                            <m:t>𝑃</m:t>
                          </m:r>
                          <m:r>
                            <a:rPr lang="en-US" altLang="zh-CN" sz="2800" i="1">
                              <a:latin typeface="Cambria Math" panose="02040503050406030204" pitchFamily="18" charset="0"/>
                              <a:cs typeface="Cambria Math" panose="02040503050406030204" pitchFamily="18" charset="0"/>
                            </a:rPr>
                            <m:t>(</m:t>
                          </m:r>
                          <m:sSub>
                            <m:sSubPr>
                              <m:ctrlPr>
                                <a:rPr lang="en-US" altLang="zh-CN" sz="2800" i="1">
                                  <a:latin typeface="Cambria Math" panose="02040503050406030204" pitchFamily="18" charset="0"/>
                                  <a:cs typeface="Cambria Math" panose="02040503050406030204" pitchFamily="18" charset="0"/>
                                </a:rPr>
                              </m:ctrlPr>
                            </m:sSubPr>
                            <m:e>
                              <m:r>
                                <a:rPr lang="en-US" altLang="zh-CN" sz="2800" i="1">
                                  <a:latin typeface="Cambria Math" panose="02040503050406030204" pitchFamily="18" charset="0"/>
                                  <a:cs typeface="Cambria Math" panose="02040503050406030204" pitchFamily="18" charset="0"/>
                                </a:rPr>
                                <m:t>𝑐</m:t>
                              </m:r>
                            </m:e>
                            <m:sub>
                              <m:r>
                                <a:rPr lang="en-US" altLang="zh-CN" sz="2800" i="1">
                                  <a:latin typeface="Cambria Math" panose="02040503050406030204" pitchFamily="18" charset="0"/>
                                  <a:cs typeface="Cambria Math" panose="02040503050406030204" pitchFamily="18" charset="0"/>
                                </a:rPr>
                                <m:t>𝑘</m:t>
                              </m:r>
                            </m:sub>
                          </m:sSub>
                          <m:r>
                            <a:rPr lang="en-US" altLang="zh-CN" sz="2800" i="1">
                              <a:latin typeface="Cambria Math" panose="02040503050406030204" pitchFamily="18" charset="0"/>
                              <a:cs typeface="Cambria Math" panose="02040503050406030204" pitchFamily="18" charset="0"/>
                            </a:rPr>
                            <m:t>|</m:t>
                          </m:r>
                          <m:r>
                            <a:rPr lang="en-US" altLang="zh-CN" sz="2800" i="1">
                              <a:latin typeface="Cambria Math" panose="02040503050406030204" pitchFamily="18" charset="0"/>
                              <a:cs typeface="Cambria Math" panose="02040503050406030204" pitchFamily="18" charset="0"/>
                            </a:rPr>
                            <m:t>𝑥</m:t>
                          </m:r>
                          <m:r>
                            <a:rPr lang="en-US" altLang="zh-CN" sz="2800" i="1">
                              <a:latin typeface="Cambria Math" panose="02040503050406030204" pitchFamily="18" charset="0"/>
                              <a:cs typeface="Cambria Math" panose="02040503050406030204" pitchFamily="18" charset="0"/>
                            </a:rPr>
                            <m:t>)</m:t>
                          </m:r>
                        </m:e>
                      </m:func>
                      <m:r>
                        <a:rPr lang="en-US" altLang="zh-CN" sz="2800" i="1">
                          <a:latin typeface="Cambria Math" panose="02040503050406030204" pitchFamily="18" charset="0"/>
                          <a:cs typeface="Cambria Math" panose="02040503050406030204" pitchFamily="18" charset="0"/>
                        </a:rPr>
                        <m:t>=</m:t>
                      </m:r>
                      <m:r>
                        <m:rPr>
                          <m:sty m:val="p"/>
                        </m:rPr>
                        <a:rPr lang="en-US" altLang="zh-CN" sz="2800">
                          <a:latin typeface="Cambria Math" panose="02040503050406030204" pitchFamily="18" charset="0"/>
                          <a:cs typeface="Cambria Math" panose="02040503050406030204" pitchFamily="18" charset="0"/>
                        </a:rPr>
                        <m:t>arg</m:t>
                      </m:r>
                      <m:func>
                        <m:funcPr>
                          <m:ctrlPr>
                            <a:rPr lang="en-US" altLang="zh-CN" sz="2800" i="1">
                              <a:latin typeface="Cambria Math" panose="02040503050406030204" pitchFamily="18" charset="0"/>
                              <a:cs typeface="Cambria Math" panose="02040503050406030204" pitchFamily="18" charset="0"/>
                            </a:rPr>
                          </m:ctrlPr>
                        </m:funcPr>
                        <m:fName>
                          <m:limLow>
                            <m:limLowPr>
                              <m:ctrlPr>
                                <a:rPr lang="en-US" altLang="zh-CN" sz="2800">
                                  <a:latin typeface="Cambria Math" panose="02040503050406030204" pitchFamily="18" charset="0"/>
                                  <a:cs typeface="Cambria Math" panose="02040503050406030204" pitchFamily="18" charset="0"/>
                                </a:rPr>
                              </m:ctrlPr>
                            </m:limLowPr>
                            <m:e>
                              <m:r>
                                <m:rPr>
                                  <m:sty m:val="p"/>
                                </m:rPr>
                                <a:rPr lang="en-US" altLang="zh-CN" sz="2800">
                                  <a:latin typeface="Cambria Math" panose="02040503050406030204" pitchFamily="18" charset="0"/>
                                  <a:cs typeface="Cambria Math" panose="02040503050406030204" pitchFamily="18" charset="0"/>
                                </a:rPr>
                                <m:t>max</m:t>
                              </m:r>
                            </m:e>
                            <m:lim>
                              <m:sSub>
                                <m:sSubPr>
                                  <m:ctrlPr>
                                    <a:rPr lang="en-US" altLang="zh-CN" sz="2800" i="1">
                                      <a:latin typeface="Cambria Math" panose="02040503050406030204" pitchFamily="18" charset="0"/>
                                      <a:cs typeface="Cambria Math" panose="02040503050406030204" pitchFamily="18" charset="0"/>
                                    </a:rPr>
                                  </m:ctrlPr>
                                </m:sSubPr>
                                <m:e>
                                  <m:r>
                                    <a:rPr lang="en-US" altLang="zh-CN" sz="2800" i="1">
                                      <a:latin typeface="Cambria Math" panose="02040503050406030204" pitchFamily="18" charset="0"/>
                                      <a:cs typeface="Cambria Math" panose="02040503050406030204" pitchFamily="18" charset="0"/>
                                    </a:rPr>
                                    <m:t>𝑐</m:t>
                                  </m:r>
                                </m:e>
                                <m:sub>
                                  <m:r>
                                    <a:rPr lang="en-US" altLang="zh-CN" sz="2800" i="1">
                                      <a:latin typeface="Cambria Math" panose="02040503050406030204" pitchFamily="18" charset="0"/>
                                      <a:cs typeface="Cambria Math" panose="02040503050406030204" pitchFamily="18" charset="0"/>
                                    </a:rPr>
                                    <m:t>𝑘</m:t>
                                  </m:r>
                                </m:sub>
                              </m:sSub>
                            </m:lim>
                          </m:limLow>
                        </m:fName>
                        <m:e>
                          <m:f>
                            <m:fPr>
                              <m:ctrlPr>
                                <a:rPr lang="en-US" altLang="zh-CN" sz="2800" i="1">
                                  <a:latin typeface="Cambria Math" panose="02040503050406030204" pitchFamily="18" charset="0"/>
                                  <a:cs typeface="Cambria Math" panose="02040503050406030204" pitchFamily="18" charset="0"/>
                                </a:rPr>
                              </m:ctrlPr>
                            </m:fPr>
                            <m:num>
                              <m:r>
                                <a:rPr lang="en-US" altLang="zh-CN" sz="2800" i="1">
                                  <a:latin typeface="Cambria Math" panose="02040503050406030204" pitchFamily="18" charset="0"/>
                                  <a:cs typeface="Cambria Math" panose="02040503050406030204" pitchFamily="18" charset="0"/>
                                </a:rPr>
                                <m:t>𝑃</m:t>
                              </m:r>
                              <m:r>
                                <a:rPr lang="en-US" altLang="zh-CN" sz="2800" i="1">
                                  <a:latin typeface="Cambria Math" panose="02040503050406030204" pitchFamily="18" charset="0"/>
                                  <a:cs typeface="Cambria Math" panose="02040503050406030204" pitchFamily="18" charset="0"/>
                                </a:rPr>
                                <m:t>(</m:t>
                              </m:r>
                              <m:sSub>
                                <m:sSubPr>
                                  <m:ctrlPr>
                                    <a:rPr lang="en-US" altLang="zh-CN" sz="2800" i="1">
                                      <a:latin typeface="Cambria Math" panose="02040503050406030204" pitchFamily="18" charset="0"/>
                                      <a:cs typeface="Cambria Math" panose="02040503050406030204" pitchFamily="18" charset="0"/>
                                    </a:rPr>
                                  </m:ctrlPr>
                                </m:sSubPr>
                                <m:e>
                                  <m:r>
                                    <a:rPr lang="en-US" altLang="zh-CN" sz="2800" i="1">
                                      <a:latin typeface="Cambria Math" panose="02040503050406030204" pitchFamily="18" charset="0"/>
                                      <a:cs typeface="Cambria Math" panose="02040503050406030204" pitchFamily="18" charset="0"/>
                                    </a:rPr>
                                    <m:t>𝑐</m:t>
                                  </m:r>
                                </m:e>
                                <m:sub>
                                  <m:r>
                                    <a:rPr lang="en-US" altLang="zh-CN" sz="2800" i="1">
                                      <a:latin typeface="Cambria Math" panose="02040503050406030204" pitchFamily="18" charset="0"/>
                                      <a:cs typeface="Cambria Math" panose="02040503050406030204" pitchFamily="18" charset="0"/>
                                    </a:rPr>
                                    <m:t>𝑘</m:t>
                                  </m:r>
                                </m:sub>
                              </m:sSub>
                              <m:r>
                                <a:rPr lang="en-US" altLang="zh-CN" sz="2800" i="1">
                                  <a:latin typeface="Cambria Math" panose="02040503050406030204" pitchFamily="18" charset="0"/>
                                  <a:cs typeface="Cambria Math" panose="02040503050406030204" pitchFamily="18" charset="0"/>
                                </a:rPr>
                                <m:t>)×</m:t>
                              </m:r>
                              <m:nary>
                                <m:naryPr>
                                  <m:chr m:val="∏"/>
                                  <m:limLoc m:val="subSup"/>
                                  <m:ctrlPr>
                                    <a:rPr lang="en-US" altLang="zh-CN" sz="2800" i="1">
                                      <a:latin typeface="Cambria Math" panose="02040503050406030204" pitchFamily="18" charset="0"/>
                                      <a:cs typeface="Cambria Math" panose="02040503050406030204" pitchFamily="18" charset="0"/>
                                    </a:rPr>
                                  </m:ctrlPr>
                                </m:naryPr>
                                <m:sub>
                                  <m:r>
                                    <a:rPr lang="en-US" altLang="zh-CN" sz="2800" i="1">
                                      <a:latin typeface="Cambria Math" panose="02040503050406030204" pitchFamily="18" charset="0"/>
                                      <a:cs typeface="Cambria Math" panose="02040503050406030204" pitchFamily="18" charset="0"/>
                                    </a:rPr>
                                    <m:t>𝑖</m:t>
                                  </m:r>
                                  <m:r>
                                    <a:rPr lang="en-US" altLang="zh-CN" sz="2800" i="1">
                                      <a:latin typeface="Cambria Math" panose="02040503050406030204" pitchFamily="18" charset="0"/>
                                      <a:cs typeface="Cambria Math" panose="02040503050406030204" pitchFamily="18" charset="0"/>
                                    </a:rPr>
                                    <m:t>=1</m:t>
                                  </m:r>
                                </m:sub>
                                <m:sup>
                                  <m:r>
                                    <a:rPr lang="en-US" altLang="zh-CN" sz="2800" i="1">
                                      <a:latin typeface="Cambria Math" panose="02040503050406030204" pitchFamily="18" charset="0"/>
                                      <a:cs typeface="Cambria Math" panose="02040503050406030204" pitchFamily="18" charset="0"/>
                                    </a:rPr>
                                    <m:t>𝑛</m:t>
                                  </m:r>
                                </m:sup>
                                <m:e>
                                  <m:r>
                                    <a:rPr lang="en-US" altLang="zh-CN" sz="2800" i="1">
                                      <a:latin typeface="Cambria Math" panose="02040503050406030204" pitchFamily="18" charset="0"/>
                                      <a:cs typeface="Cambria Math" panose="02040503050406030204" pitchFamily="18" charset="0"/>
                                    </a:rPr>
                                    <m:t>𝑃</m:t>
                                  </m:r>
                                  <m:r>
                                    <a:rPr lang="en-US" altLang="zh-CN" sz="2800" i="1">
                                      <a:latin typeface="Cambria Math" panose="02040503050406030204" pitchFamily="18" charset="0"/>
                                      <a:cs typeface="Cambria Math" panose="02040503050406030204" pitchFamily="18" charset="0"/>
                                    </a:rPr>
                                    <m:t>(</m:t>
                                  </m:r>
                                  <m:sSub>
                                    <m:sSubPr>
                                      <m:ctrlPr>
                                        <a:rPr lang="en-US" altLang="zh-CN" sz="2800" i="1">
                                          <a:latin typeface="Cambria Math" panose="02040503050406030204" pitchFamily="18" charset="0"/>
                                          <a:cs typeface="Cambria Math" panose="02040503050406030204" pitchFamily="18" charset="0"/>
                                        </a:rPr>
                                      </m:ctrlPr>
                                    </m:sSubPr>
                                    <m:e>
                                      <m:r>
                                        <a:rPr lang="en-US" altLang="zh-CN" sz="2800" i="1">
                                          <a:latin typeface="Cambria Math" panose="02040503050406030204" pitchFamily="18" charset="0"/>
                                          <a:cs typeface="Cambria Math" panose="02040503050406030204" pitchFamily="18" charset="0"/>
                                        </a:rPr>
                                        <m:t>𝑥</m:t>
                                      </m:r>
                                    </m:e>
                                    <m:sub>
                                      <m:r>
                                        <a:rPr lang="en-US" altLang="zh-CN" sz="2800" i="1">
                                          <a:latin typeface="Cambria Math" panose="02040503050406030204" pitchFamily="18" charset="0"/>
                                          <a:cs typeface="Cambria Math" panose="02040503050406030204" pitchFamily="18" charset="0"/>
                                        </a:rPr>
                                        <m:t>𝑖</m:t>
                                      </m:r>
                                    </m:sub>
                                  </m:sSub>
                                  <m:r>
                                    <a:rPr lang="en-US" altLang="zh-CN" sz="2800" i="1">
                                      <a:latin typeface="Cambria Math" panose="02040503050406030204" pitchFamily="18" charset="0"/>
                                      <a:cs typeface="Cambria Math" panose="02040503050406030204" pitchFamily="18" charset="0"/>
                                    </a:rPr>
                                    <m:t>|</m:t>
                                  </m:r>
                                  <m:sSub>
                                    <m:sSubPr>
                                      <m:ctrlPr>
                                        <a:rPr lang="en-US" altLang="zh-CN" sz="2800" i="1">
                                          <a:latin typeface="Cambria Math" panose="02040503050406030204" pitchFamily="18" charset="0"/>
                                          <a:cs typeface="Cambria Math" panose="02040503050406030204" pitchFamily="18" charset="0"/>
                                        </a:rPr>
                                      </m:ctrlPr>
                                    </m:sSubPr>
                                    <m:e>
                                      <m:r>
                                        <a:rPr lang="en-US" altLang="zh-CN" sz="2800" i="1">
                                          <a:latin typeface="Cambria Math" panose="02040503050406030204" pitchFamily="18" charset="0"/>
                                          <a:cs typeface="Cambria Math" panose="02040503050406030204" pitchFamily="18" charset="0"/>
                                        </a:rPr>
                                        <m:t>𝑐</m:t>
                                      </m:r>
                                    </m:e>
                                    <m:sub>
                                      <m:r>
                                        <a:rPr lang="en-US" altLang="zh-CN" sz="2800" i="1">
                                          <a:latin typeface="Cambria Math" panose="02040503050406030204" pitchFamily="18" charset="0"/>
                                          <a:cs typeface="Cambria Math" panose="02040503050406030204" pitchFamily="18" charset="0"/>
                                        </a:rPr>
                                        <m:t>𝑘</m:t>
                                      </m:r>
                                    </m:sub>
                                  </m:sSub>
                                  <m:r>
                                    <a:rPr lang="en-US" altLang="zh-CN" sz="2800" i="1">
                                      <a:latin typeface="Cambria Math" panose="02040503050406030204" pitchFamily="18" charset="0"/>
                                      <a:cs typeface="Cambria Math" panose="02040503050406030204" pitchFamily="18" charset="0"/>
                                    </a:rPr>
                                    <m:t>)</m:t>
                                  </m:r>
                                </m:e>
                              </m:nary>
                            </m:num>
                            <m:den>
                              <m:nary>
                                <m:naryPr>
                                  <m:chr m:val="∑"/>
                                  <m:limLoc m:val="subSup"/>
                                  <m:supHide m:val="on"/>
                                  <m:ctrlPr>
                                    <a:rPr lang="en-US" altLang="zh-CN" sz="2800" i="1">
                                      <a:latin typeface="Cambria Math" panose="02040503050406030204" pitchFamily="18" charset="0"/>
                                      <a:cs typeface="Cambria Math" panose="02040503050406030204" pitchFamily="18" charset="0"/>
                                    </a:rPr>
                                  </m:ctrlPr>
                                </m:naryPr>
                                <m:sub>
                                  <m:r>
                                    <a:rPr lang="en-US" altLang="zh-CN" sz="2800" i="1">
                                      <a:latin typeface="Cambria Math" panose="02040503050406030204" pitchFamily="18" charset="0"/>
                                      <a:cs typeface="Cambria Math" panose="02040503050406030204" pitchFamily="18" charset="0"/>
                                    </a:rPr>
                                    <m:t>𝑘</m:t>
                                  </m:r>
                                </m:sub>
                                <m:sup/>
                                <m:e>
                                  <m:r>
                                    <a:rPr lang="en-US" altLang="zh-CN" sz="2800" i="1">
                                      <a:latin typeface="Cambria Math" panose="02040503050406030204" pitchFamily="18" charset="0"/>
                                      <a:cs typeface="Cambria Math" panose="02040503050406030204" pitchFamily="18" charset="0"/>
                                    </a:rPr>
                                    <m:t>𝑃</m:t>
                                  </m:r>
                                  <m:r>
                                    <a:rPr lang="en-US" altLang="zh-CN" sz="2800" i="1">
                                      <a:latin typeface="Cambria Math" panose="02040503050406030204" pitchFamily="18" charset="0"/>
                                      <a:cs typeface="Cambria Math" panose="02040503050406030204" pitchFamily="18" charset="0"/>
                                    </a:rPr>
                                    <m:t>(</m:t>
                                  </m:r>
                                  <m:sSub>
                                    <m:sSubPr>
                                      <m:ctrlPr>
                                        <a:rPr lang="en-US" altLang="zh-CN" sz="2800" i="1">
                                          <a:latin typeface="Cambria Math" panose="02040503050406030204" pitchFamily="18" charset="0"/>
                                          <a:cs typeface="Cambria Math" panose="02040503050406030204" pitchFamily="18" charset="0"/>
                                        </a:rPr>
                                      </m:ctrlPr>
                                    </m:sSubPr>
                                    <m:e>
                                      <m:r>
                                        <a:rPr lang="en-US" altLang="zh-CN" sz="2800" i="1">
                                          <a:latin typeface="Cambria Math" panose="02040503050406030204" pitchFamily="18" charset="0"/>
                                          <a:cs typeface="Cambria Math" panose="02040503050406030204" pitchFamily="18" charset="0"/>
                                        </a:rPr>
                                        <m:t>𝑐</m:t>
                                      </m:r>
                                    </m:e>
                                    <m:sub>
                                      <m:r>
                                        <a:rPr lang="en-US" altLang="zh-CN" sz="2800" i="1">
                                          <a:latin typeface="Cambria Math" panose="02040503050406030204" pitchFamily="18" charset="0"/>
                                          <a:cs typeface="Cambria Math" panose="02040503050406030204" pitchFamily="18" charset="0"/>
                                        </a:rPr>
                                        <m:t>𝑘</m:t>
                                      </m:r>
                                    </m:sub>
                                  </m:sSub>
                                  <m:r>
                                    <a:rPr lang="en-US" altLang="zh-CN" sz="2800" i="1">
                                      <a:latin typeface="Cambria Math" panose="02040503050406030204" pitchFamily="18" charset="0"/>
                                      <a:cs typeface="Cambria Math" panose="02040503050406030204" pitchFamily="18" charset="0"/>
                                    </a:rPr>
                                    <m:t>)×</m:t>
                                  </m:r>
                                  <m:nary>
                                    <m:naryPr>
                                      <m:chr m:val="∏"/>
                                      <m:limLoc m:val="subSup"/>
                                      <m:ctrlPr>
                                        <a:rPr lang="en-US" altLang="zh-CN" sz="2800" i="1">
                                          <a:latin typeface="Cambria Math" panose="02040503050406030204" pitchFamily="18" charset="0"/>
                                          <a:cs typeface="Cambria Math" panose="02040503050406030204" pitchFamily="18" charset="0"/>
                                        </a:rPr>
                                      </m:ctrlPr>
                                    </m:naryPr>
                                    <m:sub>
                                      <m:r>
                                        <a:rPr lang="en-US" altLang="zh-CN" sz="2800" i="1">
                                          <a:latin typeface="Cambria Math" panose="02040503050406030204" pitchFamily="18" charset="0"/>
                                          <a:cs typeface="Cambria Math" panose="02040503050406030204" pitchFamily="18" charset="0"/>
                                        </a:rPr>
                                        <m:t>𝑖</m:t>
                                      </m:r>
                                      <m:r>
                                        <a:rPr lang="en-US" altLang="zh-CN" sz="2800" i="1">
                                          <a:latin typeface="Cambria Math" panose="02040503050406030204" pitchFamily="18" charset="0"/>
                                          <a:cs typeface="Cambria Math" panose="02040503050406030204" pitchFamily="18" charset="0"/>
                                        </a:rPr>
                                        <m:t>=1</m:t>
                                      </m:r>
                                    </m:sub>
                                    <m:sup>
                                      <m:r>
                                        <a:rPr lang="en-US" altLang="zh-CN" sz="2800" i="1">
                                          <a:latin typeface="Cambria Math" panose="02040503050406030204" pitchFamily="18" charset="0"/>
                                          <a:cs typeface="Cambria Math" panose="02040503050406030204" pitchFamily="18" charset="0"/>
                                        </a:rPr>
                                        <m:t>𝑛</m:t>
                                      </m:r>
                                    </m:sup>
                                    <m:e>
                                      <m:r>
                                        <a:rPr lang="en-US" altLang="zh-CN" sz="2800" i="1">
                                          <a:latin typeface="Cambria Math" panose="02040503050406030204" pitchFamily="18" charset="0"/>
                                          <a:cs typeface="Cambria Math" panose="02040503050406030204" pitchFamily="18" charset="0"/>
                                        </a:rPr>
                                        <m:t>𝑃</m:t>
                                      </m:r>
                                      <m:r>
                                        <a:rPr lang="en-US" altLang="zh-CN" sz="2800" i="1">
                                          <a:latin typeface="Cambria Math" panose="02040503050406030204" pitchFamily="18" charset="0"/>
                                          <a:cs typeface="Cambria Math" panose="02040503050406030204" pitchFamily="18" charset="0"/>
                                        </a:rPr>
                                        <m:t>(</m:t>
                                      </m:r>
                                      <m:sSub>
                                        <m:sSubPr>
                                          <m:ctrlPr>
                                            <a:rPr lang="en-US" altLang="zh-CN" sz="2800" i="1">
                                              <a:latin typeface="Cambria Math" panose="02040503050406030204" pitchFamily="18" charset="0"/>
                                              <a:cs typeface="Cambria Math" panose="02040503050406030204" pitchFamily="18" charset="0"/>
                                            </a:rPr>
                                          </m:ctrlPr>
                                        </m:sSubPr>
                                        <m:e>
                                          <m:r>
                                            <a:rPr lang="en-US" altLang="zh-CN" sz="2800" i="1">
                                              <a:latin typeface="Cambria Math" panose="02040503050406030204" pitchFamily="18" charset="0"/>
                                              <a:cs typeface="Cambria Math" panose="02040503050406030204" pitchFamily="18" charset="0"/>
                                            </a:rPr>
                                            <m:t>𝑥</m:t>
                                          </m:r>
                                        </m:e>
                                        <m:sub>
                                          <m:r>
                                            <a:rPr lang="en-US" altLang="zh-CN" sz="2800" i="1">
                                              <a:latin typeface="Cambria Math" panose="02040503050406030204" pitchFamily="18" charset="0"/>
                                              <a:cs typeface="Cambria Math" panose="02040503050406030204" pitchFamily="18" charset="0"/>
                                            </a:rPr>
                                            <m:t>𝑖</m:t>
                                          </m:r>
                                        </m:sub>
                                      </m:sSub>
                                      <m:r>
                                        <a:rPr lang="en-US" altLang="zh-CN" sz="2800" i="1">
                                          <a:latin typeface="Cambria Math" panose="02040503050406030204" pitchFamily="18" charset="0"/>
                                          <a:cs typeface="Cambria Math" panose="02040503050406030204" pitchFamily="18" charset="0"/>
                                        </a:rPr>
                                        <m:t>|</m:t>
                                      </m:r>
                                      <m:sSub>
                                        <m:sSubPr>
                                          <m:ctrlPr>
                                            <a:rPr lang="en-US" altLang="zh-CN" sz="2800" i="1">
                                              <a:latin typeface="Cambria Math" panose="02040503050406030204" pitchFamily="18" charset="0"/>
                                              <a:cs typeface="Cambria Math" panose="02040503050406030204" pitchFamily="18" charset="0"/>
                                            </a:rPr>
                                          </m:ctrlPr>
                                        </m:sSubPr>
                                        <m:e>
                                          <m:r>
                                            <a:rPr lang="en-US" altLang="zh-CN" sz="2800" i="1">
                                              <a:latin typeface="Cambria Math" panose="02040503050406030204" pitchFamily="18" charset="0"/>
                                              <a:cs typeface="Cambria Math" panose="02040503050406030204" pitchFamily="18" charset="0"/>
                                            </a:rPr>
                                            <m:t>𝑐</m:t>
                                          </m:r>
                                        </m:e>
                                        <m:sub>
                                          <m:r>
                                            <a:rPr lang="en-US" altLang="zh-CN" sz="2800" i="1">
                                              <a:latin typeface="Cambria Math" panose="02040503050406030204" pitchFamily="18" charset="0"/>
                                              <a:cs typeface="Cambria Math" panose="02040503050406030204" pitchFamily="18" charset="0"/>
                                            </a:rPr>
                                            <m:t>𝑘</m:t>
                                          </m:r>
                                        </m:sub>
                                      </m:sSub>
                                      <m:r>
                                        <a:rPr lang="en-US" altLang="zh-CN" sz="2800" i="1">
                                          <a:latin typeface="Cambria Math" panose="02040503050406030204" pitchFamily="18" charset="0"/>
                                          <a:cs typeface="Cambria Math" panose="02040503050406030204" pitchFamily="18" charset="0"/>
                                        </a:rPr>
                                        <m:t>)</m:t>
                                      </m:r>
                                    </m:e>
                                  </m:nary>
                                </m:e>
                              </m:nary>
                            </m:den>
                          </m:f>
                        </m:e>
                      </m:func>
                    </m:oMath>
                  </m:oMathPara>
                </a14:m>
                <a:endParaRPr lang="zh-CN" altLang="en-US" dirty="0"/>
              </a:p>
            </p:txBody>
          </p:sp>
        </mc:Choice>
        <mc:Fallback xmlns="">
          <p:sp>
            <p:nvSpPr>
              <p:cNvPr id="9" name="文本框 8"/>
              <p:cNvSpPr txBox="1">
                <a:spLocks noRot="1" noChangeAspect="1" noMove="1" noResize="1" noEditPoints="1" noAdjustHandles="1" noChangeArrowheads="1" noChangeShapeType="1" noTextEdit="1"/>
              </p:cNvSpPr>
              <p:nvPr/>
            </p:nvSpPr>
            <p:spPr>
              <a:xfrm>
                <a:off x="1720973" y="2325736"/>
                <a:ext cx="9485930" cy="1037528"/>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p:cNvSpPr txBox="1"/>
              <p:nvPr/>
            </p:nvSpPr>
            <p:spPr>
              <a:xfrm>
                <a:off x="2724785" y="4850130"/>
                <a:ext cx="7172250" cy="938847"/>
              </a:xfrm>
              <a:prstGeom prst="rect">
                <a:avLst/>
              </a:prstGeom>
              <a:noFill/>
            </p:spPr>
            <p:txBody>
              <a:bodyPr wrap="square" rtlCol="0" anchor="t">
                <a:spAutoFit/>
              </a:bodyPr>
              <a:lstStyle/>
              <a:p>
                <a:pPr/>
                <a14:m>
                  <m:oMathPara xmlns:m="http://schemas.openxmlformats.org/officeDocument/2006/math">
                    <m:oMath>
                      <m:r>
                        <a:rPr lang="en-US" altLang="zh-CN" sz="2800" i="1">
                          <a:latin typeface="Cambria Math" panose="02040503050406030204" pitchFamily="18" charset="0"/>
                          <a:cs typeface="Cambria Math" panose="02040503050406030204" pitchFamily="18" charset="0"/>
                        </a:rPr>
                        <m:t>𝑓</m:t>
                      </m:r>
                      <m:r>
                        <a:rPr lang="en-US" altLang="zh-CN" sz="2800" i="1">
                          <a:latin typeface="Cambria Math" panose="02040503050406030204" pitchFamily="18" charset="0"/>
                          <a:cs typeface="Cambria Math" panose="02040503050406030204" pitchFamily="18" charset="0"/>
                        </a:rPr>
                        <m:t>(</m:t>
                      </m:r>
                      <m:r>
                        <a:rPr lang="en-US" altLang="zh-CN" sz="2800" i="1">
                          <a:latin typeface="Cambria Math" panose="02040503050406030204" pitchFamily="18" charset="0"/>
                          <a:cs typeface="Cambria Math" panose="02040503050406030204" pitchFamily="18" charset="0"/>
                        </a:rPr>
                        <m:t>𝑥</m:t>
                      </m:r>
                      <m:r>
                        <a:rPr lang="en-US" altLang="zh-CN" sz="2800" i="1">
                          <a:latin typeface="Cambria Math" panose="02040503050406030204" pitchFamily="18" charset="0"/>
                          <a:cs typeface="Cambria Math" panose="02040503050406030204" pitchFamily="18" charset="0"/>
                        </a:rPr>
                        <m:t>)=</m:t>
                      </m:r>
                      <m:r>
                        <m:rPr>
                          <m:sty m:val="p"/>
                        </m:rPr>
                        <a:rPr lang="en-US" altLang="zh-CN" sz="2800">
                          <a:latin typeface="Cambria Math" panose="02040503050406030204" pitchFamily="18" charset="0"/>
                          <a:cs typeface="Cambria Math" panose="02040503050406030204" pitchFamily="18" charset="0"/>
                        </a:rPr>
                        <m:t>arg</m:t>
                      </m:r>
                      <m:func>
                        <m:funcPr>
                          <m:ctrlPr>
                            <a:rPr lang="en-US" altLang="zh-CN" sz="2800" i="1">
                              <a:latin typeface="Cambria Math" panose="02040503050406030204" pitchFamily="18" charset="0"/>
                              <a:cs typeface="Cambria Math" panose="02040503050406030204" pitchFamily="18" charset="0"/>
                            </a:rPr>
                          </m:ctrlPr>
                        </m:funcPr>
                        <m:fName>
                          <m:limLow>
                            <m:limLowPr>
                              <m:ctrlPr>
                                <a:rPr lang="en-US" altLang="zh-CN" sz="2800">
                                  <a:latin typeface="Cambria Math" panose="02040503050406030204" pitchFamily="18" charset="0"/>
                                  <a:cs typeface="Cambria Math" panose="02040503050406030204" pitchFamily="18" charset="0"/>
                                </a:rPr>
                              </m:ctrlPr>
                            </m:limLowPr>
                            <m:e>
                              <m:r>
                                <m:rPr>
                                  <m:sty m:val="p"/>
                                </m:rPr>
                                <a:rPr lang="en-US" altLang="zh-CN" sz="2800">
                                  <a:latin typeface="Cambria Math" panose="02040503050406030204" pitchFamily="18" charset="0"/>
                                  <a:cs typeface="Cambria Math" panose="02040503050406030204" pitchFamily="18" charset="0"/>
                                </a:rPr>
                                <m:t>max</m:t>
                              </m:r>
                            </m:e>
                            <m:lim>
                              <m:sSub>
                                <m:sSubPr>
                                  <m:ctrlPr>
                                    <a:rPr lang="en-US" altLang="zh-CN" sz="2800" i="1">
                                      <a:latin typeface="Cambria Math" panose="02040503050406030204" pitchFamily="18" charset="0"/>
                                      <a:cs typeface="Cambria Math" panose="02040503050406030204" pitchFamily="18" charset="0"/>
                                    </a:rPr>
                                  </m:ctrlPr>
                                </m:sSubPr>
                                <m:e>
                                  <m:r>
                                    <a:rPr lang="en-US" altLang="zh-CN" sz="2800" i="1">
                                      <a:latin typeface="Cambria Math" panose="02040503050406030204" pitchFamily="18" charset="0"/>
                                      <a:cs typeface="Cambria Math" panose="02040503050406030204" pitchFamily="18" charset="0"/>
                                    </a:rPr>
                                    <m:t>𝑐</m:t>
                                  </m:r>
                                </m:e>
                                <m:sub>
                                  <m:r>
                                    <a:rPr lang="en-US" altLang="zh-CN" sz="2800" i="1">
                                      <a:latin typeface="Cambria Math" panose="02040503050406030204" pitchFamily="18" charset="0"/>
                                      <a:cs typeface="Cambria Math" panose="02040503050406030204" pitchFamily="18" charset="0"/>
                                    </a:rPr>
                                    <m:t>𝑘</m:t>
                                  </m:r>
                                </m:sub>
                              </m:sSub>
                            </m:lim>
                          </m:limLow>
                        </m:fName>
                        <m:e>
                          <m:r>
                            <a:rPr lang="en-US" altLang="zh-CN" sz="2800" i="1">
                              <a:latin typeface="Cambria Math" panose="02040503050406030204" pitchFamily="18" charset="0"/>
                              <a:cs typeface="Cambria Math" panose="02040503050406030204" pitchFamily="18" charset="0"/>
                            </a:rPr>
                            <m:t>𝑃</m:t>
                          </m:r>
                          <m:r>
                            <a:rPr lang="en-US" altLang="zh-CN" sz="2800" i="1">
                              <a:latin typeface="Cambria Math" panose="02040503050406030204" pitchFamily="18" charset="0"/>
                              <a:cs typeface="Cambria Math" panose="02040503050406030204" pitchFamily="18" charset="0"/>
                            </a:rPr>
                            <m:t>(</m:t>
                          </m:r>
                          <m:sSub>
                            <m:sSubPr>
                              <m:ctrlPr>
                                <a:rPr lang="en-US" altLang="zh-CN" sz="2800" i="1">
                                  <a:latin typeface="Cambria Math" panose="02040503050406030204" pitchFamily="18" charset="0"/>
                                  <a:cs typeface="Cambria Math" panose="02040503050406030204" pitchFamily="18" charset="0"/>
                                </a:rPr>
                              </m:ctrlPr>
                            </m:sSubPr>
                            <m:e>
                              <m:r>
                                <a:rPr lang="en-US" altLang="zh-CN" sz="2800" i="1">
                                  <a:latin typeface="Cambria Math" panose="02040503050406030204" pitchFamily="18" charset="0"/>
                                  <a:cs typeface="Cambria Math" panose="02040503050406030204" pitchFamily="18" charset="0"/>
                                </a:rPr>
                                <m:t>𝑐</m:t>
                              </m:r>
                            </m:e>
                            <m:sub>
                              <m:r>
                                <a:rPr lang="en-US" altLang="zh-CN" sz="2800" i="1">
                                  <a:latin typeface="Cambria Math" panose="02040503050406030204" pitchFamily="18" charset="0"/>
                                  <a:cs typeface="Cambria Math" panose="02040503050406030204" pitchFamily="18" charset="0"/>
                                </a:rPr>
                                <m:t>𝑘</m:t>
                              </m:r>
                            </m:sub>
                          </m:sSub>
                          <m:r>
                            <a:rPr lang="en-US" altLang="zh-CN" sz="2800" i="1">
                              <a:latin typeface="Cambria Math" panose="02040503050406030204" pitchFamily="18" charset="0"/>
                              <a:cs typeface="Cambria Math" panose="02040503050406030204" pitchFamily="18" charset="0"/>
                            </a:rPr>
                            <m:t>)×</m:t>
                          </m:r>
                          <m:nary>
                            <m:naryPr>
                              <m:chr m:val="∏"/>
                              <m:limLoc m:val="subSup"/>
                              <m:ctrlPr>
                                <a:rPr lang="en-US" altLang="zh-CN" sz="2800" i="1">
                                  <a:latin typeface="Cambria Math" panose="02040503050406030204" pitchFamily="18" charset="0"/>
                                  <a:cs typeface="Cambria Math" panose="02040503050406030204" pitchFamily="18" charset="0"/>
                                </a:rPr>
                              </m:ctrlPr>
                            </m:naryPr>
                            <m:sub>
                              <m:r>
                                <a:rPr lang="en-US" altLang="zh-CN" sz="2800" i="1">
                                  <a:latin typeface="Cambria Math" panose="02040503050406030204" pitchFamily="18" charset="0"/>
                                  <a:cs typeface="Cambria Math" panose="02040503050406030204" pitchFamily="18" charset="0"/>
                                </a:rPr>
                                <m:t>𝑖</m:t>
                              </m:r>
                              <m:r>
                                <a:rPr lang="en-US" altLang="zh-CN" sz="2800" i="1">
                                  <a:latin typeface="Cambria Math" panose="02040503050406030204" pitchFamily="18" charset="0"/>
                                  <a:cs typeface="Cambria Math" panose="02040503050406030204" pitchFamily="18" charset="0"/>
                                </a:rPr>
                                <m:t>=1</m:t>
                              </m:r>
                            </m:sub>
                            <m:sup>
                              <m:r>
                                <a:rPr lang="en-US" altLang="zh-CN" sz="2800" i="1">
                                  <a:latin typeface="Cambria Math" panose="02040503050406030204" pitchFamily="18" charset="0"/>
                                  <a:cs typeface="Cambria Math" panose="02040503050406030204" pitchFamily="18" charset="0"/>
                                </a:rPr>
                                <m:t>𝑛</m:t>
                              </m:r>
                            </m:sup>
                            <m:e>
                              <m:r>
                                <a:rPr lang="en-US" altLang="zh-CN" sz="2800" i="1">
                                  <a:latin typeface="Cambria Math" panose="02040503050406030204" pitchFamily="18" charset="0"/>
                                  <a:cs typeface="Cambria Math" panose="02040503050406030204" pitchFamily="18" charset="0"/>
                                </a:rPr>
                                <m:t>𝑃</m:t>
                              </m:r>
                              <m:r>
                                <a:rPr lang="en-US" altLang="zh-CN" sz="2800" i="1">
                                  <a:latin typeface="Cambria Math" panose="02040503050406030204" pitchFamily="18" charset="0"/>
                                  <a:cs typeface="Cambria Math" panose="02040503050406030204" pitchFamily="18" charset="0"/>
                                </a:rPr>
                                <m:t>(</m:t>
                              </m:r>
                              <m:sSub>
                                <m:sSubPr>
                                  <m:ctrlPr>
                                    <a:rPr lang="en-US" altLang="zh-CN" sz="2800" i="1">
                                      <a:latin typeface="Cambria Math" panose="02040503050406030204" pitchFamily="18" charset="0"/>
                                      <a:cs typeface="Cambria Math" panose="02040503050406030204" pitchFamily="18" charset="0"/>
                                    </a:rPr>
                                  </m:ctrlPr>
                                </m:sSubPr>
                                <m:e>
                                  <m:r>
                                    <a:rPr lang="en-US" altLang="zh-CN" sz="2800" i="1">
                                      <a:latin typeface="Cambria Math" panose="02040503050406030204" pitchFamily="18" charset="0"/>
                                      <a:cs typeface="Cambria Math" panose="02040503050406030204" pitchFamily="18" charset="0"/>
                                    </a:rPr>
                                    <m:t>𝑥</m:t>
                                  </m:r>
                                </m:e>
                                <m:sub>
                                  <m:r>
                                    <a:rPr lang="en-US" altLang="zh-CN" sz="2800" i="1">
                                      <a:latin typeface="Cambria Math" panose="02040503050406030204" pitchFamily="18" charset="0"/>
                                      <a:cs typeface="Cambria Math" panose="02040503050406030204" pitchFamily="18" charset="0"/>
                                    </a:rPr>
                                    <m:t>𝑖</m:t>
                                  </m:r>
                                </m:sub>
                              </m:sSub>
                              <m:r>
                                <a:rPr lang="en-US" altLang="zh-CN" sz="2800" i="1">
                                  <a:latin typeface="Cambria Math" panose="02040503050406030204" pitchFamily="18" charset="0"/>
                                  <a:cs typeface="Cambria Math" panose="02040503050406030204" pitchFamily="18" charset="0"/>
                                </a:rPr>
                                <m:t>|</m:t>
                              </m:r>
                              <m:sSub>
                                <m:sSubPr>
                                  <m:ctrlPr>
                                    <a:rPr lang="en-US" altLang="zh-CN" sz="2800" i="1">
                                      <a:latin typeface="Cambria Math" panose="02040503050406030204" pitchFamily="18" charset="0"/>
                                      <a:cs typeface="Cambria Math" panose="02040503050406030204" pitchFamily="18" charset="0"/>
                                    </a:rPr>
                                  </m:ctrlPr>
                                </m:sSubPr>
                                <m:e>
                                  <m:r>
                                    <a:rPr lang="en-US" altLang="zh-CN" sz="2800" i="1">
                                      <a:latin typeface="Cambria Math" panose="02040503050406030204" pitchFamily="18" charset="0"/>
                                      <a:cs typeface="Cambria Math" panose="02040503050406030204" pitchFamily="18" charset="0"/>
                                    </a:rPr>
                                    <m:t>𝑐</m:t>
                                  </m:r>
                                </m:e>
                                <m:sub>
                                  <m:r>
                                    <a:rPr lang="en-US" altLang="zh-CN" sz="2800" i="1">
                                      <a:latin typeface="Cambria Math" panose="02040503050406030204" pitchFamily="18" charset="0"/>
                                      <a:cs typeface="Cambria Math" panose="02040503050406030204" pitchFamily="18" charset="0"/>
                                    </a:rPr>
                                    <m:t>𝑘</m:t>
                                  </m:r>
                                </m:sub>
                              </m:sSub>
                              <m:r>
                                <a:rPr lang="en-US" altLang="zh-CN" sz="2800" i="1">
                                  <a:latin typeface="Cambria Math" panose="02040503050406030204" pitchFamily="18" charset="0"/>
                                  <a:cs typeface="Cambria Math" panose="02040503050406030204" pitchFamily="18" charset="0"/>
                                </a:rPr>
                                <m:t>)</m:t>
                              </m:r>
                            </m:e>
                          </m:nary>
                        </m:e>
                      </m:func>
                    </m:oMath>
                  </m:oMathPara>
                </a14:m>
                <a:endParaRPr lang="en-US" altLang="zh-CN" i="1" dirty="0">
                  <a:latin typeface="Cambria Math" panose="02040503050406030204" pitchFamily="18" charset="0"/>
                  <a:cs typeface="Cambria Math" panose="02040503050406030204" pitchFamily="18" charset="0"/>
                </a:endParaRPr>
              </a:p>
            </p:txBody>
          </p:sp>
        </mc:Choice>
        <mc:Fallback xmlns="">
          <p:sp>
            <p:nvSpPr>
              <p:cNvPr id="7" name="文本框 6"/>
              <p:cNvSpPr txBox="1">
                <a:spLocks noRot="1" noChangeAspect="1" noMove="1" noResize="1" noEditPoints="1" noAdjustHandles="1" noChangeArrowheads="1" noChangeShapeType="1" noTextEdit="1"/>
              </p:cNvSpPr>
              <p:nvPr/>
            </p:nvSpPr>
            <p:spPr>
              <a:xfrm>
                <a:off x="2724785" y="4850130"/>
                <a:ext cx="7172250" cy="938847"/>
              </a:xfrm>
              <a:prstGeom prst="rect">
                <a:avLst/>
              </a:prstGeom>
              <a:blipFill>
                <a:blip r:embed="rId3"/>
                <a:stretch>
                  <a:fillRect/>
                </a:stretch>
              </a:blipFill>
            </p:spPr>
            <p:txBody>
              <a:bodyPr/>
              <a:lstStyle/>
              <a:p>
                <a:r>
                  <a:rPr lang="zh-CN" altLang="en-US">
                    <a:noFill/>
                  </a:rPr>
                  <a:t> </a:t>
                </a:r>
              </a:p>
            </p:txBody>
          </p:sp>
        </mc:Fallback>
      </mc:AlternateContent>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AC1DCF-DE12-4F87-B940-C645BA86F06C}"/>
              </a:ext>
            </a:extLst>
          </p:cNvPr>
          <p:cNvSpPr>
            <a:spLocks noGrp="1"/>
          </p:cNvSpPr>
          <p:nvPr>
            <p:ph type="title"/>
          </p:nvPr>
        </p:nvSpPr>
        <p:spPr/>
        <p:txBody>
          <a:bodyPr/>
          <a:lstStyle/>
          <a:p>
            <a:pPr algn="l"/>
            <a:r>
              <a:rPr/>
              <a:t>3.朴素贝叶斯</a:t>
            </a:r>
          </a:p>
        </p:txBody>
      </p:sp>
      <p:sp>
        <p:nvSpPr>
          <p:cNvPr id="3" name="内容占位符 2">
            <a:extLst>
              <a:ext uri="{FF2B5EF4-FFF2-40B4-BE49-F238E27FC236}">
                <a16:creationId xmlns:a16="http://schemas.microsoft.com/office/drawing/2014/main" id="{991DCE84-BA5F-4C1D-9E32-A48CDBF12C81}"/>
              </a:ext>
            </a:extLst>
          </p:cNvPr>
          <p:cNvSpPr>
            <a:spLocks noGrp="1"/>
          </p:cNvSpPr>
          <p:nvPr>
            <p:ph idx="1"/>
          </p:nvPr>
        </p:nvSpPr>
        <p:spPr>
          <a:xfrm>
            <a:off x="579912" y="1178628"/>
            <a:ext cx="10972800" cy="501729"/>
          </a:xfrm>
        </p:spPr>
        <p:txBody>
          <a:bodyPr>
            <a:normAutofit/>
          </a:bodyPr>
          <a:lstStyle/>
          <a:p>
            <a:r>
              <a:rPr sz="2600" lang="zh-CN" altLang="en-US" b="1" dirty="0">
                <a:latin typeface="+mj-ea"/>
                <a:ea typeface="+mj-ea"/>
              </a:rPr>
              <a:t>案例：西瓜数据集</a:t>
            </a:r>
            <a:r>
              <a:rPr sz="2600" lang="en-US" altLang="zh-CN" b="1" dirty="0">
                <a:latin typeface="+mj-ea"/>
                <a:ea typeface="+mj-ea"/>
              </a:rPr>
              <a:t>-</a:t>
            </a:r>
            <a:r>
              <a:rPr sz="2600" lang="zh-CN" altLang="en-US" b="1" dirty="0">
                <a:latin typeface="+mj-ea"/>
                <a:ea typeface="+mj-ea"/>
              </a:rPr>
              <a:t>训练集</a:t>
            </a:r>
          </a:p>
        </p:txBody>
      </p:sp>
      <p:graphicFrame>
        <p:nvGraphicFramePr>
          <p:cNvPr id="4" name="表格 3"/>
          <p:cNvGraphicFramePr>
            <a:graphicFrameLocks noGrp="1"/>
          </p:cNvGraphicFramePr>
          <p:nvPr>
            <p:extLst>
              <p:ext uri="{D42A27DB-BD31-4B8C-83A1-F6EECF244321}">
                <p14:modId xmlns:p14="http://schemas.microsoft.com/office/powerpoint/2010/main" val="1857223724"/>
              </p:ext>
            </p:extLst>
          </p:nvPr>
        </p:nvGraphicFramePr>
        <p:xfrm>
          <a:off x="1175658" y="1802068"/>
          <a:ext cx="9810589" cy="4746654"/>
        </p:xfrm>
        <a:graphic>
          <a:graphicData uri="http://schemas.openxmlformats.org/drawingml/2006/table">
            <a:tbl>
              <a:tblPr firstRow="1" firstCol="1" bandRow="1">
                <a:tableStyleId>{5C22544A-7EE6-4342-B048-85BDC9FD1C3A}</a:tableStyleId>
              </a:tblPr>
              <a:tblGrid>
                <a:gridCol w="1213010">
                  <a:extLst>
                    <a:ext uri="{9D8B030D-6E8A-4147-A177-3AD203B41FA5}">
                      <a16:colId xmlns:a16="http://schemas.microsoft.com/office/drawing/2014/main" val="20000"/>
                    </a:ext>
                  </a:extLst>
                </a:gridCol>
                <a:gridCol w="1226027">
                  <a:extLst>
                    <a:ext uri="{9D8B030D-6E8A-4147-A177-3AD203B41FA5}">
                      <a16:colId xmlns:a16="http://schemas.microsoft.com/office/drawing/2014/main" val="20001"/>
                    </a:ext>
                  </a:extLst>
                </a:gridCol>
                <a:gridCol w="1239046">
                  <a:extLst>
                    <a:ext uri="{9D8B030D-6E8A-4147-A177-3AD203B41FA5}">
                      <a16:colId xmlns:a16="http://schemas.microsoft.com/office/drawing/2014/main" val="20002"/>
                    </a:ext>
                  </a:extLst>
                </a:gridCol>
                <a:gridCol w="1226027">
                  <a:extLst>
                    <a:ext uri="{9D8B030D-6E8A-4147-A177-3AD203B41FA5}">
                      <a16:colId xmlns:a16="http://schemas.microsoft.com/office/drawing/2014/main" val="20003"/>
                    </a:ext>
                  </a:extLst>
                </a:gridCol>
                <a:gridCol w="1239046">
                  <a:extLst>
                    <a:ext uri="{9D8B030D-6E8A-4147-A177-3AD203B41FA5}">
                      <a16:colId xmlns:a16="http://schemas.microsoft.com/office/drawing/2014/main" val="20004"/>
                    </a:ext>
                  </a:extLst>
                </a:gridCol>
                <a:gridCol w="1239046">
                  <a:extLst>
                    <a:ext uri="{9D8B030D-6E8A-4147-A177-3AD203B41FA5}">
                      <a16:colId xmlns:a16="http://schemas.microsoft.com/office/drawing/2014/main" val="20005"/>
                    </a:ext>
                  </a:extLst>
                </a:gridCol>
                <a:gridCol w="1239046">
                  <a:extLst>
                    <a:ext uri="{9D8B030D-6E8A-4147-A177-3AD203B41FA5}">
                      <a16:colId xmlns:a16="http://schemas.microsoft.com/office/drawing/2014/main" val="20006"/>
                    </a:ext>
                  </a:extLst>
                </a:gridCol>
                <a:gridCol w="1189341">
                  <a:extLst>
                    <a:ext uri="{9D8B030D-6E8A-4147-A177-3AD203B41FA5}">
                      <a16:colId xmlns:a16="http://schemas.microsoft.com/office/drawing/2014/main" val="20007"/>
                    </a:ext>
                  </a:extLst>
                </a:gridCol>
              </a:tblGrid>
              <a:tr h="263703">
                <a:tc>
                  <a:txBody>
                    <a:bodyPr/>
                    <a:lstStyle/>
                    <a:p>
                      <a:pPr algn="ctr">
                        <a:spcAft>
                          <a:spcPts val="0"/>
                        </a:spcAft>
                      </a:pPr>
                      <a:r>
                        <a:rPr lang="zh-CN" sz="1400" kern="100" dirty="0">
                          <a:solidFill>
                            <a:srgbClr val="FF0000"/>
                          </a:solidFill>
                          <a:effectLst/>
                        </a:rPr>
                        <a:t>编号</a:t>
                      </a:r>
                      <a:endParaRPr lang="zh-CN" sz="1400" kern="100" dirty="0">
                        <a:solidFill>
                          <a:srgbClr val="FF0000"/>
                        </a:solidFill>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kern="100" dirty="0">
                          <a:solidFill>
                            <a:srgbClr val="FF0000"/>
                          </a:solidFill>
                          <a:effectLst/>
                        </a:rPr>
                        <a:t>色泽</a:t>
                      </a:r>
                      <a:endParaRPr lang="zh-CN" sz="1400" kern="100" dirty="0">
                        <a:solidFill>
                          <a:srgbClr val="FF0000"/>
                        </a:solidFill>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kern="100">
                          <a:solidFill>
                            <a:srgbClr val="FF0000"/>
                          </a:solidFill>
                          <a:effectLst/>
                        </a:rPr>
                        <a:t>根蒂</a:t>
                      </a:r>
                      <a:endParaRPr lang="zh-CN" sz="1400" kern="100">
                        <a:solidFill>
                          <a:srgbClr val="FF0000"/>
                        </a:solidFill>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kern="100">
                          <a:solidFill>
                            <a:srgbClr val="FF0000"/>
                          </a:solidFill>
                          <a:effectLst/>
                        </a:rPr>
                        <a:t>敲声</a:t>
                      </a:r>
                      <a:endParaRPr lang="zh-CN" sz="1400" kern="100">
                        <a:solidFill>
                          <a:srgbClr val="FF0000"/>
                        </a:solidFill>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kern="100">
                          <a:solidFill>
                            <a:srgbClr val="FF0000"/>
                          </a:solidFill>
                          <a:effectLst/>
                        </a:rPr>
                        <a:t>纹理</a:t>
                      </a:r>
                      <a:endParaRPr lang="zh-CN" sz="1400" kern="100">
                        <a:solidFill>
                          <a:srgbClr val="FF0000"/>
                        </a:solidFill>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kern="100">
                          <a:solidFill>
                            <a:srgbClr val="FF0000"/>
                          </a:solidFill>
                          <a:effectLst/>
                        </a:rPr>
                        <a:t>脐部</a:t>
                      </a:r>
                      <a:endParaRPr lang="zh-CN" sz="1400" kern="100">
                        <a:solidFill>
                          <a:srgbClr val="FF0000"/>
                        </a:solidFill>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kern="100">
                          <a:solidFill>
                            <a:srgbClr val="FF0000"/>
                          </a:solidFill>
                          <a:effectLst/>
                        </a:rPr>
                        <a:t>触感</a:t>
                      </a:r>
                      <a:endParaRPr lang="zh-CN" sz="1400" kern="100">
                        <a:solidFill>
                          <a:srgbClr val="FF0000"/>
                        </a:solidFill>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kern="100" dirty="0">
                          <a:solidFill>
                            <a:srgbClr val="FF0000"/>
                          </a:solidFill>
                          <a:effectLst/>
                        </a:rPr>
                        <a:t>好瓜</a:t>
                      </a:r>
                      <a:endParaRPr lang="zh-CN" sz="1400" kern="100" dirty="0">
                        <a:solidFill>
                          <a:srgbClr val="FF0000"/>
                        </a:solidFill>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extLst>
                  <a:ext uri="{0D108BD9-81ED-4DB2-BD59-A6C34878D82A}">
                    <a16:rowId xmlns:a16="http://schemas.microsoft.com/office/drawing/2014/main" val="10000"/>
                  </a:ext>
                </a:extLst>
              </a:tr>
              <a:tr h="263703">
                <a:tc>
                  <a:txBody>
                    <a:bodyPr/>
                    <a:lstStyle/>
                    <a:p>
                      <a:pPr algn="ctr">
                        <a:spcAft>
                          <a:spcPts val="0"/>
                        </a:spcAft>
                      </a:pPr>
                      <a:r>
                        <a:rPr lang="en-US" sz="1400" kern="100" dirty="0">
                          <a:solidFill>
                            <a:srgbClr val="FF0000"/>
                          </a:solidFill>
                          <a:effectLst/>
                        </a:rPr>
                        <a:t>1</a:t>
                      </a:r>
                      <a:endParaRPr lang="zh-CN" sz="1400" kern="100" dirty="0">
                        <a:solidFill>
                          <a:srgbClr val="FF0000"/>
                        </a:solidFill>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dirty="0">
                          <a:effectLst/>
                        </a:rPr>
                        <a:t>青绿</a:t>
                      </a:r>
                      <a:endParaRPr lang="zh-CN" sz="1400" b="1" kern="100" dirty="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dirty="0">
                          <a:effectLst/>
                        </a:rPr>
                        <a:t>蜷缩</a:t>
                      </a:r>
                      <a:endParaRPr lang="zh-CN" sz="1400" b="1" kern="100" dirty="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dirty="0">
                          <a:effectLst/>
                        </a:rPr>
                        <a:t>浊响</a:t>
                      </a:r>
                      <a:endParaRPr lang="zh-CN" sz="1400" b="1" kern="100" dirty="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dirty="0">
                          <a:effectLst/>
                        </a:rPr>
                        <a:t>清晰</a:t>
                      </a:r>
                      <a:endParaRPr lang="zh-CN" sz="1400" b="1" kern="100" dirty="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dirty="0">
                          <a:effectLst/>
                        </a:rPr>
                        <a:t>凹陷</a:t>
                      </a:r>
                      <a:endParaRPr lang="zh-CN" sz="1400" b="1" kern="100" dirty="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dirty="0">
                          <a:effectLst/>
                        </a:rPr>
                        <a:t>硬滑</a:t>
                      </a:r>
                      <a:endParaRPr lang="zh-CN" sz="1400" b="1" kern="100" dirty="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dirty="0">
                          <a:effectLst/>
                        </a:rPr>
                        <a:t>是</a:t>
                      </a:r>
                      <a:endParaRPr lang="zh-CN" sz="1400" b="1" kern="100" dirty="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extLst>
                  <a:ext uri="{0D108BD9-81ED-4DB2-BD59-A6C34878D82A}">
                    <a16:rowId xmlns:a16="http://schemas.microsoft.com/office/drawing/2014/main" val="10001"/>
                  </a:ext>
                </a:extLst>
              </a:tr>
              <a:tr h="263703">
                <a:tc>
                  <a:txBody>
                    <a:bodyPr/>
                    <a:lstStyle/>
                    <a:p>
                      <a:pPr algn="ctr">
                        <a:spcAft>
                          <a:spcPts val="0"/>
                        </a:spcAft>
                      </a:pPr>
                      <a:r>
                        <a:rPr lang="en-US" sz="1400" kern="100" dirty="0">
                          <a:solidFill>
                            <a:srgbClr val="FF0000"/>
                          </a:solidFill>
                          <a:effectLst/>
                        </a:rPr>
                        <a:t>2</a:t>
                      </a:r>
                      <a:endParaRPr lang="zh-CN" sz="1400" kern="100" dirty="0">
                        <a:solidFill>
                          <a:srgbClr val="FF0000"/>
                        </a:solidFill>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dirty="0">
                          <a:effectLst/>
                        </a:rPr>
                        <a:t>乌黑</a:t>
                      </a:r>
                      <a:endParaRPr lang="zh-CN" sz="1400" b="1" kern="100" dirty="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蜷缩</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沉闷</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清晰</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凹陷</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硬滑</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是</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extLst>
                  <a:ext uri="{0D108BD9-81ED-4DB2-BD59-A6C34878D82A}">
                    <a16:rowId xmlns:a16="http://schemas.microsoft.com/office/drawing/2014/main" val="10002"/>
                  </a:ext>
                </a:extLst>
              </a:tr>
              <a:tr h="263703">
                <a:tc>
                  <a:txBody>
                    <a:bodyPr/>
                    <a:lstStyle/>
                    <a:p>
                      <a:pPr algn="ctr">
                        <a:spcAft>
                          <a:spcPts val="0"/>
                        </a:spcAft>
                      </a:pPr>
                      <a:r>
                        <a:rPr lang="en-US" sz="1400" kern="100" dirty="0">
                          <a:solidFill>
                            <a:srgbClr val="FF0000"/>
                          </a:solidFill>
                          <a:effectLst/>
                        </a:rPr>
                        <a:t>3</a:t>
                      </a:r>
                      <a:endParaRPr lang="zh-CN" sz="1400" kern="100" dirty="0">
                        <a:solidFill>
                          <a:srgbClr val="FF0000"/>
                        </a:solidFill>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dirty="0">
                          <a:effectLst/>
                        </a:rPr>
                        <a:t>乌黑</a:t>
                      </a:r>
                      <a:endParaRPr lang="zh-CN" sz="1400" b="1" kern="100" dirty="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dirty="0">
                          <a:effectLst/>
                        </a:rPr>
                        <a:t>蜷缩</a:t>
                      </a:r>
                      <a:endParaRPr lang="zh-CN" sz="1400" b="1" kern="100" dirty="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浊响</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清晰</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凹陷</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硬滑</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是</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extLst>
                  <a:ext uri="{0D108BD9-81ED-4DB2-BD59-A6C34878D82A}">
                    <a16:rowId xmlns:a16="http://schemas.microsoft.com/office/drawing/2014/main" val="10003"/>
                  </a:ext>
                </a:extLst>
              </a:tr>
              <a:tr h="263703">
                <a:tc>
                  <a:txBody>
                    <a:bodyPr/>
                    <a:lstStyle/>
                    <a:p>
                      <a:pPr algn="ctr">
                        <a:spcAft>
                          <a:spcPts val="0"/>
                        </a:spcAft>
                      </a:pPr>
                      <a:r>
                        <a:rPr lang="en-US" sz="1400" kern="100" dirty="0">
                          <a:solidFill>
                            <a:srgbClr val="FF0000"/>
                          </a:solidFill>
                          <a:effectLst/>
                        </a:rPr>
                        <a:t>4</a:t>
                      </a:r>
                      <a:endParaRPr lang="zh-CN" sz="1400" kern="100" dirty="0">
                        <a:solidFill>
                          <a:srgbClr val="FF0000"/>
                        </a:solidFill>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青绿</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dirty="0">
                          <a:effectLst/>
                        </a:rPr>
                        <a:t>蜷缩</a:t>
                      </a:r>
                      <a:endParaRPr lang="zh-CN" sz="1400" b="1" kern="100" dirty="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沉闷</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清晰</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凹陷</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硬滑</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是</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extLst>
                  <a:ext uri="{0D108BD9-81ED-4DB2-BD59-A6C34878D82A}">
                    <a16:rowId xmlns:a16="http://schemas.microsoft.com/office/drawing/2014/main" val="10004"/>
                  </a:ext>
                </a:extLst>
              </a:tr>
              <a:tr h="263703">
                <a:tc>
                  <a:txBody>
                    <a:bodyPr/>
                    <a:lstStyle/>
                    <a:p>
                      <a:pPr algn="ctr">
                        <a:spcAft>
                          <a:spcPts val="0"/>
                        </a:spcAft>
                      </a:pPr>
                      <a:r>
                        <a:rPr lang="en-US" sz="1400" kern="100" dirty="0">
                          <a:solidFill>
                            <a:srgbClr val="FF0000"/>
                          </a:solidFill>
                          <a:effectLst/>
                        </a:rPr>
                        <a:t>5</a:t>
                      </a:r>
                      <a:endParaRPr lang="zh-CN" sz="1400" kern="100" dirty="0">
                        <a:solidFill>
                          <a:srgbClr val="FF0000"/>
                        </a:solidFill>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浅白</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dirty="0">
                          <a:effectLst/>
                        </a:rPr>
                        <a:t>蜷缩</a:t>
                      </a:r>
                      <a:endParaRPr lang="zh-CN" sz="1400" b="1" kern="100" dirty="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dirty="0">
                          <a:effectLst/>
                        </a:rPr>
                        <a:t>浊响</a:t>
                      </a:r>
                      <a:endParaRPr lang="zh-CN" sz="1400" b="1" kern="100" dirty="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dirty="0">
                          <a:effectLst/>
                        </a:rPr>
                        <a:t>清晰</a:t>
                      </a:r>
                      <a:endParaRPr lang="zh-CN" sz="1400" b="1" kern="100" dirty="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凹陷</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硬滑</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是</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extLst>
                  <a:ext uri="{0D108BD9-81ED-4DB2-BD59-A6C34878D82A}">
                    <a16:rowId xmlns:a16="http://schemas.microsoft.com/office/drawing/2014/main" val="10005"/>
                  </a:ext>
                </a:extLst>
              </a:tr>
              <a:tr h="263703">
                <a:tc>
                  <a:txBody>
                    <a:bodyPr/>
                    <a:lstStyle/>
                    <a:p>
                      <a:pPr algn="ctr">
                        <a:spcAft>
                          <a:spcPts val="0"/>
                        </a:spcAft>
                      </a:pPr>
                      <a:r>
                        <a:rPr lang="en-US" sz="1400" kern="100" dirty="0">
                          <a:solidFill>
                            <a:srgbClr val="FF0000"/>
                          </a:solidFill>
                          <a:effectLst/>
                        </a:rPr>
                        <a:t>6</a:t>
                      </a:r>
                      <a:endParaRPr lang="zh-CN" sz="1400" kern="100" dirty="0">
                        <a:solidFill>
                          <a:srgbClr val="FF0000"/>
                        </a:solidFill>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青绿</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稍蜷</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dirty="0">
                          <a:effectLst/>
                        </a:rPr>
                        <a:t>浊响</a:t>
                      </a:r>
                      <a:endParaRPr lang="zh-CN" sz="1400" b="1" kern="100" dirty="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清晰</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稍凹</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软粘</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是</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extLst>
                  <a:ext uri="{0D108BD9-81ED-4DB2-BD59-A6C34878D82A}">
                    <a16:rowId xmlns:a16="http://schemas.microsoft.com/office/drawing/2014/main" val="10006"/>
                  </a:ext>
                </a:extLst>
              </a:tr>
              <a:tr h="263703">
                <a:tc>
                  <a:txBody>
                    <a:bodyPr/>
                    <a:lstStyle/>
                    <a:p>
                      <a:pPr algn="ctr">
                        <a:spcAft>
                          <a:spcPts val="0"/>
                        </a:spcAft>
                      </a:pPr>
                      <a:r>
                        <a:rPr lang="en-US" sz="1400" kern="100" dirty="0">
                          <a:solidFill>
                            <a:srgbClr val="FF0000"/>
                          </a:solidFill>
                          <a:effectLst/>
                        </a:rPr>
                        <a:t>7</a:t>
                      </a:r>
                      <a:endParaRPr lang="zh-CN" sz="1400" kern="100" dirty="0">
                        <a:solidFill>
                          <a:srgbClr val="FF0000"/>
                        </a:solidFill>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乌黑</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稍蜷</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dirty="0">
                          <a:effectLst/>
                        </a:rPr>
                        <a:t>浊响</a:t>
                      </a:r>
                      <a:endParaRPr lang="zh-CN" sz="1400" b="1" kern="100" dirty="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稍糊</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稍凹</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软粘</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是</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extLst>
                  <a:ext uri="{0D108BD9-81ED-4DB2-BD59-A6C34878D82A}">
                    <a16:rowId xmlns:a16="http://schemas.microsoft.com/office/drawing/2014/main" val="10007"/>
                  </a:ext>
                </a:extLst>
              </a:tr>
              <a:tr h="263703">
                <a:tc>
                  <a:txBody>
                    <a:bodyPr/>
                    <a:lstStyle/>
                    <a:p>
                      <a:pPr algn="ctr">
                        <a:spcAft>
                          <a:spcPts val="0"/>
                        </a:spcAft>
                      </a:pPr>
                      <a:r>
                        <a:rPr lang="en-US" sz="1400" kern="100" dirty="0">
                          <a:solidFill>
                            <a:srgbClr val="FF0000"/>
                          </a:solidFill>
                          <a:effectLst/>
                        </a:rPr>
                        <a:t>8</a:t>
                      </a:r>
                      <a:endParaRPr lang="zh-CN" sz="1400" kern="100" dirty="0">
                        <a:solidFill>
                          <a:srgbClr val="FF0000"/>
                        </a:solidFill>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乌黑</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稍蜷</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dirty="0">
                          <a:effectLst/>
                        </a:rPr>
                        <a:t>浊响</a:t>
                      </a:r>
                      <a:endParaRPr lang="zh-CN" sz="1400" b="1" kern="100" dirty="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dirty="0">
                          <a:effectLst/>
                        </a:rPr>
                        <a:t>清晰</a:t>
                      </a:r>
                      <a:endParaRPr lang="zh-CN" sz="1400" b="1" kern="100" dirty="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稍凹</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硬滑</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是</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extLst>
                  <a:ext uri="{0D108BD9-81ED-4DB2-BD59-A6C34878D82A}">
                    <a16:rowId xmlns:a16="http://schemas.microsoft.com/office/drawing/2014/main" val="10008"/>
                  </a:ext>
                </a:extLst>
              </a:tr>
              <a:tr h="263703">
                <a:tc>
                  <a:txBody>
                    <a:bodyPr/>
                    <a:lstStyle/>
                    <a:p>
                      <a:pPr algn="ctr">
                        <a:spcAft>
                          <a:spcPts val="0"/>
                        </a:spcAft>
                      </a:pPr>
                      <a:r>
                        <a:rPr lang="en-US" sz="1400" kern="100" dirty="0">
                          <a:solidFill>
                            <a:srgbClr val="FF0000"/>
                          </a:solidFill>
                          <a:effectLst/>
                        </a:rPr>
                        <a:t>9</a:t>
                      </a:r>
                      <a:endParaRPr lang="zh-CN" sz="1400" kern="100" dirty="0">
                        <a:solidFill>
                          <a:srgbClr val="FF0000"/>
                        </a:solidFill>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乌黑</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稍蜷</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沉闷</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稍糊</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dirty="0">
                          <a:effectLst/>
                        </a:rPr>
                        <a:t>稍凹</a:t>
                      </a:r>
                      <a:endParaRPr lang="zh-CN" sz="1400" b="1" kern="100" dirty="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dirty="0">
                          <a:effectLst/>
                        </a:rPr>
                        <a:t>硬滑</a:t>
                      </a:r>
                      <a:endParaRPr lang="zh-CN" sz="1400" b="1" kern="100" dirty="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否</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extLst>
                  <a:ext uri="{0D108BD9-81ED-4DB2-BD59-A6C34878D82A}">
                    <a16:rowId xmlns:a16="http://schemas.microsoft.com/office/drawing/2014/main" val="10013"/>
                  </a:ext>
                </a:extLst>
              </a:tr>
              <a:tr h="263703">
                <a:tc>
                  <a:txBody>
                    <a:bodyPr/>
                    <a:lstStyle/>
                    <a:p>
                      <a:pPr algn="ctr">
                        <a:spcAft>
                          <a:spcPts val="0"/>
                        </a:spcAft>
                      </a:pPr>
                      <a:r>
                        <a:rPr lang="en-US" sz="1400" kern="100" dirty="0">
                          <a:solidFill>
                            <a:srgbClr val="FF0000"/>
                          </a:solidFill>
                          <a:effectLst/>
                        </a:rPr>
                        <a:t>10</a:t>
                      </a:r>
                      <a:endParaRPr lang="zh-CN" sz="1400" kern="100" dirty="0">
                        <a:solidFill>
                          <a:srgbClr val="FF0000"/>
                        </a:solidFill>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青绿</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硬挺</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清脆</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dirty="0">
                          <a:effectLst/>
                        </a:rPr>
                        <a:t>清晰</a:t>
                      </a:r>
                      <a:endParaRPr lang="zh-CN" sz="1400" b="1" kern="100" dirty="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平坦</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dirty="0">
                          <a:effectLst/>
                        </a:rPr>
                        <a:t>软粘</a:t>
                      </a:r>
                      <a:endParaRPr lang="zh-CN" sz="1400" b="1" kern="100" dirty="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否</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extLst>
                  <a:ext uri="{0D108BD9-81ED-4DB2-BD59-A6C34878D82A}">
                    <a16:rowId xmlns:a16="http://schemas.microsoft.com/office/drawing/2014/main" val="10010"/>
                  </a:ext>
                </a:extLst>
              </a:tr>
              <a:tr h="263703">
                <a:tc>
                  <a:txBody>
                    <a:bodyPr/>
                    <a:lstStyle/>
                    <a:p>
                      <a:pPr algn="ctr">
                        <a:spcAft>
                          <a:spcPts val="0"/>
                        </a:spcAft>
                      </a:pPr>
                      <a:r>
                        <a:rPr lang="en-US" sz="1400" kern="100" dirty="0">
                          <a:solidFill>
                            <a:srgbClr val="FF0000"/>
                          </a:solidFill>
                          <a:effectLst/>
                        </a:rPr>
                        <a:t>11</a:t>
                      </a:r>
                      <a:endParaRPr lang="zh-CN" sz="1400" kern="100" dirty="0">
                        <a:solidFill>
                          <a:srgbClr val="FF0000"/>
                        </a:solidFill>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浅白</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硬挺</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清脆</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模糊</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dirty="0">
                          <a:effectLst/>
                        </a:rPr>
                        <a:t>平坦</a:t>
                      </a:r>
                      <a:endParaRPr lang="zh-CN" sz="1400" b="1" kern="100" dirty="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硬滑</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否</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extLst>
                  <a:ext uri="{0D108BD9-81ED-4DB2-BD59-A6C34878D82A}">
                    <a16:rowId xmlns:a16="http://schemas.microsoft.com/office/drawing/2014/main" val="10011"/>
                  </a:ext>
                </a:extLst>
              </a:tr>
              <a:tr h="263703">
                <a:tc>
                  <a:txBody>
                    <a:bodyPr/>
                    <a:lstStyle/>
                    <a:p>
                      <a:pPr algn="ctr">
                        <a:spcAft>
                          <a:spcPts val="0"/>
                        </a:spcAft>
                      </a:pPr>
                      <a:r>
                        <a:rPr lang="en-US" sz="1400" kern="100" dirty="0">
                          <a:solidFill>
                            <a:srgbClr val="FF0000"/>
                          </a:solidFill>
                          <a:effectLst/>
                        </a:rPr>
                        <a:t>12</a:t>
                      </a:r>
                      <a:endParaRPr lang="zh-CN" sz="1400" kern="100" dirty="0">
                        <a:solidFill>
                          <a:srgbClr val="FF0000"/>
                        </a:solidFill>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浅白</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蜷缩</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浊响</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模糊</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dirty="0">
                          <a:effectLst/>
                        </a:rPr>
                        <a:t>平坦</a:t>
                      </a:r>
                      <a:endParaRPr lang="zh-CN" sz="1400" b="1" kern="100" dirty="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软粘</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否</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extLst>
                  <a:ext uri="{0D108BD9-81ED-4DB2-BD59-A6C34878D82A}">
                    <a16:rowId xmlns:a16="http://schemas.microsoft.com/office/drawing/2014/main" val="10012"/>
                  </a:ext>
                </a:extLst>
              </a:tr>
              <a:tr h="263703">
                <a:tc>
                  <a:txBody>
                    <a:bodyPr/>
                    <a:lstStyle/>
                    <a:p>
                      <a:pPr algn="ctr">
                        <a:spcAft>
                          <a:spcPts val="0"/>
                        </a:spcAft>
                      </a:pPr>
                      <a:r>
                        <a:rPr lang="en-US" sz="1400" kern="100" dirty="0">
                          <a:solidFill>
                            <a:srgbClr val="FF0000"/>
                          </a:solidFill>
                          <a:effectLst/>
                        </a:rPr>
                        <a:t>13</a:t>
                      </a:r>
                      <a:endParaRPr lang="zh-CN" sz="1400" kern="100" dirty="0">
                        <a:solidFill>
                          <a:srgbClr val="FF0000"/>
                        </a:solidFill>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青绿</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稍蜷</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浊响</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dirty="0">
                          <a:effectLst/>
                        </a:rPr>
                        <a:t>稍糊</a:t>
                      </a:r>
                      <a:endParaRPr lang="zh-CN" sz="1400" b="1" kern="100" dirty="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凹陷</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硬滑</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否</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extLst>
                  <a:ext uri="{0D108BD9-81ED-4DB2-BD59-A6C34878D82A}">
                    <a16:rowId xmlns:a16="http://schemas.microsoft.com/office/drawing/2014/main" val="10009"/>
                  </a:ext>
                </a:extLst>
              </a:tr>
              <a:tr h="263703">
                <a:tc>
                  <a:txBody>
                    <a:bodyPr/>
                    <a:lstStyle/>
                    <a:p>
                      <a:pPr algn="ctr">
                        <a:spcAft>
                          <a:spcPts val="0"/>
                        </a:spcAft>
                      </a:pPr>
                      <a:r>
                        <a:rPr lang="en-US" sz="1400" kern="100" dirty="0">
                          <a:solidFill>
                            <a:srgbClr val="FF0000"/>
                          </a:solidFill>
                          <a:effectLst/>
                        </a:rPr>
                        <a:t>14</a:t>
                      </a:r>
                      <a:endParaRPr lang="zh-CN" sz="1400" kern="100" dirty="0">
                        <a:solidFill>
                          <a:srgbClr val="FF0000"/>
                        </a:solidFill>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浅白</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稍蜷</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沉闷</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稍糊</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凹陷</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dirty="0">
                          <a:effectLst/>
                        </a:rPr>
                        <a:t>硬滑</a:t>
                      </a:r>
                      <a:endParaRPr lang="zh-CN" sz="1400" b="1" kern="100" dirty="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否</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extLst>
                  <a:ext uri="{0D108BD9-81ED-4DB2-BD59-A6C34878D82A}">
                    <a16:rowId xmlns:a16="http://schemas.microsoft.com/office/drawing/2014/main" val="10014"/>
                  </a:ext>
                </a:extLst>
              </a:tr>
              <a:tr h="263703">
                <a:tc>
                  <a:txBody>
                    <a:bodyPr/>
                    <a:lstStyle/>
                    <a:p>
                      <a:pPr algn="ctr">
                        <a:spcAft>
                          <a:spcPts val="0"/>
                        </a:spcAft>
                      </a:pPr>
                      <a:r>
                        <a:rPr lang="en-US" sz="1400" kern="100" dirty="0">
                          <a:solidFill>
                            <a:srgbClr val="FF0000"/>
                          </a:solidFill>
                          <a:effectLst/>
                        </a:rPr>
                        <a:t>15</a:t>
                      </a:r>
                      <a:endParaRPr lang="zh-CN" sz="1400" kern="100" dirty="0">
                        <a:solidFill>
                          <a:srgbClr val="FF0000"/>
                        </a:solidFill>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乌黑</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稍蜷</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浊响</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清晰</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稍凹</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dirty="0">
                          <a:effectLst/>
                        </a:rPr>
                        <a:t>软粘</a:t>
                      </a:r>
                      <a:endParaRPr lang="zh-CN" sz="1400" b="1" kern="100" dirty="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dirty="0">
                          <a:effectLst/>
                        </a:rPr>
                        <a:t>否</a:t>
                      </a:r>
                      <a:endParaRPr lang="zh-CN" sz="1400" b="1" kern="100" dirty="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extLst>
                  <a:ext uri="{0D108BD9-81ED-4DB2-BD59-A6C34878D82A}">
                    <a16:rowId xmlns:a16="http://schemas.microsoft.com/office/drawing/2014/main" val="10015"/>
                  </a:ext>
                </a:extLst>
              </a:tr>
              <a:tr h="263703">
                <a:tc>
                  <a:txBody>
                    <a:bodyPr/>
                    <a:lstStyle/>
                    <a:p>
                      <a:pPr algn="ctr">
                        <a:spcAft>
                          <a:spcPts val="0"/>
                        </a:spcAft>
                      </a:pPr>
                      <a:r>
                        <a:rPr lang="en-US" sz="1400" kern="100" dirty="0">
                          <a:solidFill>
                            <a:srgbClr val="FF0000"/>
                          </a:solidFill>
                          <a:effectLst/>
                        </a:rPr>
                        <a:t>16</a:t>
                      </a:r>
                      <a:endParaRPr lang="zh-CN" sz="1400" kern="100" dirty="0">
                        <a:solidFill>
                          <a:srgbClr val="FF0000"/>
                        </a:solidFill>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浅白</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蜷缩</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浊响</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模糊</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平坦</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硬滑</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dirty="0">
                          <a:effectLst/>
                        </a:rPr>
                        <a:t>否</a:t>
                      </a:r>
                      <a:endParaRPr lang="zh-CN" sz="1400" b="1" kern="100" dirty="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extLst>
                  <a:ext uri="{0D108BD9-81ED-4DB2-BD59-A6C34878D82A}">
                    <a16:rowId xmlns:a16="http://schemas.microsoft.com/office/drawing/2014/main" val="10016"/>
                  </a:ext>
                </a:extLst>
              </a:tr>
              <a:tr h="263703">
                <a:tc>
                  <a:txBody>
                    <a:bodyPr/>
                    <a:lstStyle/>
                    <a:p>
                      <a:pPr algn="ctr">
                        <a:spcAft>
                          <a:spcPts val="0"/>
                        </a:spcAft>
                      </a:pPr>
                      <a:r>
                        <a:rPr lang="en-US" sz="1400" kern="100" dirty="0">
                          <a:solidFill>
                            <a:srgbClr val="FF0000"/>
                          </a:solidFill>
                          <a:effectLst/>
                        </a:rPr>
                        <a:t>17</a:t>
                      </a:r>
                      <a:endParaRPr lang="zh-CN" sz="1400" kern="100" dirty="0">
                        <a:solidFill>
                          <a:srgbClr val="FF0000"/>
                        </a:solidFill>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青绿</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蜷缩</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沉闷</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稍糊</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稍凹</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a:effectLst/>
                        </a:rPr>
                        <a:t>硬滑</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tc>
                  <a:txBody>
                    <a:bodyPr/>
                    <a:lstStyle/>
                    <a:p>
                      <a:pPr algn="ctr">
                        <a:spcAft>
                          <a:spcPts val="0"/>
                        </a:spcAft>
                      </a:pPr>
                      <a:r>
                        <a:rPr lang="zh-CN" sz="1400" b="1" kern="100" dirty="0">
                          <a:effectLst/>
                        </a:rPr>
                        <a:t>否</a:t>
                      </a:r>
                      <a:endParaRPr lang="zh-CN" sz="1400" b="1" kern="100" dirty="0">
                        <a:effectLst/>
                        <a:latin typeface="Times New Roman" panose="02020603050405020304"/>
                        <a:ea typeface="宋体" panose="02010600030101010101" pitchFamily="2" charset="-122"/>
                        <a:cs typeface="宋体" panose="02010600030101010101" pitchFamily="2" charset="-122"/>
                      </a:endParaRPr>
                    </a:p>
                  </a:txBody>
                  <a:tcPr marL="9500" marR="9500" marT="9500" marB="9500" anchor="ctr"/>
                </a:tc>
                <a:extLst>
                  <a:ext uri="{0D108BD9-81ED-4DB2-BD59-A6C34878D82A}">
                    <a16:rowId xmlns:a16="http://schemas.microsoft.com/office/drawing/2014/main" val="10017"/>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669388-A1E3-4D50-9851-7EFD9066115C}"/>
              </a:ext>
            </a:extLst>
          </p:cNvPr>
          <p:cNvSpPr>
            <a:spLocks noGrp="1"/>
          </p:cNvSpPr>
          <p:nvPr>
            <p:ph type="title"/>
          </p:nvPr>
        </p:nvSpPr>
        <p:spPr/>
        <p:txBody>
          <a:bodyPr/>
          <a:lstStyle/>
          <a:p>
            <a:pPr algn="l"/>
            <a:r>
              <a:rPr/>
              <a:t>3.朴素贝叶斯</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528452" y="1540826"/>
                <a:ext cx="11249891" cy="4525963"/>
              </a:xfrm>
            </p:spPr>
            <p:txBody>
              <a:bodyPr/>
              <a:lstStyle/>
              <a:p>
                <a:r>
                  <a:rPr lang="zh-CN" altLang="zh-CN" dirty="0">
                    <a:latin typeface="+mj-ea"/>
                    <a:ea typeface="+mj-ea"/>
                  </a:rPr>
                  <a:t>首先评估</a:t>
                </a:r>
                <a:r>
                  <a:rPr lang="zh-CN" altLang="zh-CN" b="1" dirty="0">
                    <a:latin typeface="+mj-ea"/>
                    <a:ea typeface="+mj-ea"/>
                  </a:rPr>
                  <a:t>先验概率</a:t>
                </a:r>
                <a14:m>
                  <m:oMath xmlns:m="http://schemas.openxmlformats.org/officeDocument/2006/math">
                    <m:r>
                      <a:rPr lang="en-US" altLang="zh-CN" b="1" i="1" dirty="0" smtClean="0">
                        <a:latin typeface="Cambria Math" panose="02040503050406030204" pitchFamily="18" charset="0"/>
                        <a:ea typeface="+mj-ea"/>
                      </a:rPr>
                      <m:t>𝑷</m:t>
                    </m:r>
                    <m:r>
                      <a:rPr lang="en-US" altLang="zh-CN" b="1" i="1" dirty="0" smtClean="0">
                        <a:latin typeface="Cambria Math" panose="02040503050406030204" pitchFamily="18" charset="0"/>
                        <a:ea typeface="+mj-ea"/>
                      </a:rPr>
                      <m:t>(</m:t>
                    </m:r>
                    <m:r>
                      <a:rPr lang="en-US" altLang="zh-CN" b="1" i="1" dirty="0" smtClean="0">
                        <a:latin typeface="Cambria Math" panose="02040503050406030204" pitchFamily="18" charset="0"/>
                        <a:ea typeface="+mj-ea"/>
                      </a:rPr>
                      <m:t>𝒄</m:t>
                    </m:r>
                    <m:r>
                      <a:rPr lang="en-US" altLang="zh-CN" b="1" i="1" dirty="0" smtClean="0">
                        <a:latin typeface="Cambria Math" panose="02040503050406030204" pitchFamily="18" charset="0"/>
                        <a:ea typeface="+mj-ea"/>
                      </a:rPr>
                      <m:t>)</m:t>
                    </m:r>
                  </m:oMath>
                </a14:m>
                <a:r>
                  <a:rPr lang="zh-CN" altLang="zh-CN" dirty="0">
                    <a:latin typeface="+mj-ea"/>
                    <a:ea typeface="+mj-ea"/>
                  </a:rPr>
                  <a:t>，可知</a:t>
                </a:r>
                <a:r>
                  <a:rPr lang="en-US" altLang="zh-CN" dirty="0">
                    <a:latin typeface="+mj-ea"/>
                    <a:ea typeface="+mj-ea"/>
                  </a:rPr>
                  <a:t>P(</a:t>
                </a:r>
                <a:r>
                  <a:rPr lang="zh-CN" altLang="en-US" dirty="0">
                    <a:latin typeface="+mj-ea"/>
                    <a:ea typeface="+mj-ea"/>
                  </a:rPr>
                  <a:t>好瓜</a:t>
                </a:r>
                <a:r>
                  <a:rPr lang="en-US" altLang="zh-CN" dirty="0">
                    <a:latin typeface="+mj-ea"/>
                    <a:ea typeface="+mj-ea"/>
                  </a:rPr>
                  <a:t>)=8/17</a:t>
                </a:r>
                <a:r>
                  <a:rPr lang="zh-CN" altLang="zh-CN" dirty="0">
                    <a:latin typeface="+mj-ea"/>
                    <a:ea typeface="+mj-ea"/>
                  </a:rPr>
                  <a:t>和</a:t>
                </a:r>
                <a:r>
                  <a:rPr lang="en-US" altLang="zh-CN" dirty="0">
                    <a:latin typeface="+mj-ea"/>
                    <a:ea typeface="+mj-ea"/>
                  </a:rPr>
                  <a:t>P(</a:t>
                </a:r>
                <a:r>
                  <a:rPr lang="zh-CN" altLang="en-US" dirty="0">
                    <a:latin typeface="+mj-ea"/>
                    <a:ea typeface="+mj-ea"/>
                  </a:rPr>
                  <a:t>坏瓜</a:t>
                </a:r>
                <a:r>
                  <a:rPr lang="en-US" altLang="zh-CN" dirty="0">
                    <a:latin typeface="+mj-ea"/>
                    <a:ea typeface="+mj-ea"/>
                  </a:rPr>
                  <a:t>)=9/17</a:t>
                </a:r>
                <a:r>
                  <a:rPr lang="zh-CN" altLang="en-US" dirty="0">
                    <a:latin typeface="+mj-ea"/>
                    <a:ea typeface="+mj-ea"/>
                  </a:rPr>
                  <a:t>，然后估计</a:t>
                </a:r>
                <a:r>
                  <a:rPr lang="zh-CN" altLang="zh-CN" dirty="0">
                    <a:latin typeface="+mj-ea"/>
                    <a:ea typeface="+mj-ea"/>
                  </a:rPr>
                  <a:t>每个属性取值的</a:t>
                </a:r>
                <a:r>
                  <a:rPr lang="zh-CN" altLang="zh-CN" b="1" dirty="0">
                    <a:latin typeface="+mj-ea"/>
                    <a:ea typeface="+mj-ea"/>
                  </a:rPr>
                  <a:t>条件概率</a:t>
                </a:r>
                <a14:m>
                  <m:oMath xmlns:m="http://schemas.openxmlformats.org/officeDocument/2006/math">
                    <m:r>
                      <a:rPr lang="en-US" altLang="zh-CN" b="1" i="1" dirty="0" smtClean="0">
                        <a:latin typeface="Cambria Math" panose="02040503050406030204" pitchFamily="18" charset="0"/>
                        <a:ea typeface="+mj-ea"/>
                      </a:rPr>
                      <m:t>𝑷</m:t>
                    </m:r>
                    <m:r>
                      <a:rPr lang="en-US" altLang="zh-CN" b="1" i="1" dirty="0" smtClean="0">
                        <a:latin typeface="Cambria Math" panose="02040503050406030204" pitchFamily="18" charset="0"/>
                        <a:ea typeface="+mj-ea"/>
                      </a:rPr>
                      <m:t>(</m:t>
                    </m:r>
                    <m:r>
                      <a:rPr lang="en-US" altLang="zh-CN" b="1" i="1" dirty="0" err="1" smtClean="0">
                        <a:latin typeface="Cambria Math" panose="02040503050406030204" pitchFamily="18" charset="0"/>
                        <a:ea typeface="+mj-ea"/>
                      </a:rPr>
                      <m:t>𝒙</m:t>
                    </m:r>
                    <m:r>
                      <a:rPr lang="en-US" altLang="zh-CN" b="1" i="1" dirty="0" err="1" smtClean="0">
                        <a:latin typeface="Cambria Math" panose="02040503050406030204" pitchFamily="18" charset="0"/>
                        <a:ea typeface="+mj-ea"/>
                      </a:rPr>
                      <m:t>|</m:t>
                    </m:r>
                    <m:r>
                      <a:rPr lang="en-US" altLang="zh-CN" b="1" i="1" dirty="0" err="1" smtClean="0">
                        <a:latin typeface="Cambria Math" panose="02040503050406030204" pitchFamily="18" charset="0"/>
                        <a:ea typeface="+mj-ea"/>
                      </a:rPr>
                      <m:t>𝒄</m:t>
                    </m:r>
                    <m:r>
                      <a:rPr lang="en-US" altLang="zh-CN" b="1" i="1" dirty="0" smtClean="0">
                        <a:latin typeface="Cambria Math" panose="02040503050406030204" pitchFamily="18" charset="0"/>
                        <a:ea typeface="+mj-ea"/>
                      </a:rPr>
                      <m:t>)</m:t>
                    </m:r>
                  </m:oMath>
                </a14:m>
                <a:endParaRPr lang="zh-CN" altLang="en-US" b="1" dirty="0">
                  <a:latin typeface="+mj-ea"/>
                  <a:ea typeface="+mj-ea"/>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528452" y="1540826"/>
                <a:ext cx="11249891" cy="4525963"/>
              </a:xfrm>
              <a:blipFill>
                <a:blip r:embed="rId2"/>
                <a:stretch>
                  <a:fillRect l="-1626" t="-2965"/>
                </a:stretch>
              </a:blipFill>
            </p:spPr>
            <p:txBody>
              <a:bodyPr/>
              <a:lstStyle/>
              <a:p>
                <a:r>
                  <a:rPr lang="zh-CN" altLang="en-US">
                    <a:noFill/>
                  </a:rPr>
                  <a:t> </a:t>
                </a:r>
              </a:p>
            </p:txBody>
          </p:sp>
        </mc:Fallback>
      </mc:AlternateContent>
      <p:sp>
        <p:nvSpPr>
          <p:cNvPr id="28" name="Rectangle 26"/>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0" name="Rectangle 2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2" name="Rectangle 30"/>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4" name="Rectangle 3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6" name="Rectangle 3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8" name="Rectangle 36"/>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0" name="Rectangle 3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2" name="Rectangle 40"/>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4" name="Rectangle 4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6" name="Rectangle 4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8" name="Rectangle 46"/>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0" name="Rectangle 4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2" name="Rectangle 50"/>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mc:AlternateContent xmlns:mc="http://schemas.openxmlformats.org/markup-compatibility/2006" xmlns:a14="http://schemas.microsoft.com/office/drawing/2010/main">
        <mc:Choice Requires="a14">
          <p:sp>
            <p:nvSpPr>
              <p:cNvPr id="4" name="文本框 3"/>
              <p:cNvSpPr txBox="1"/>
              <p:nvPr/>
            </p:nvSpPr>
            <p:spPr>
              <a:xfrm>
                <a:off x="528256" y="2852674"/>
                <a:ext cx="3848100" cy="549910"/>
              </a:xfrm>
              <a:prstGeom prst="rect">
                <a:avLst/>
              </a:prstGeom>
              <a:noFill/>
            </p:spPr>
            <p:txBody>
              <a:bodyPr wrap="none" rtlCol="0" anchor="t">
                <a:spAutoFit/>
              </a:bodyPr>
              <a:lstStyle/>
              <a:p>
                <a:pPr algn="l"/>
                <a14:m>
                  <m:oMathPara xmlns:m="http://schemas.openxmlformats.org/officeDocument/2006/math">
                    <m:oMath>
                      <m:sSub>
                        <m:sSubPr>
                          <m:ctrlPr>
                            <a:rPr lang="en-US" altLang="zh-CN" sz="1600" i="1">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𝑃</m:t>
                          </m:r>
                        </m:e>
                        <m:sub>
                          <m:r>
                            <a:rPr lang="en-US" altLang="zh-CN" sz="1600" i="1">
                              <a:latin typeface="Cambria Math" panose="02040503050406030204" pitchFamily="18" charset="0"/>
                              <a:cs typeface="Cambria Math" panose="02040503050406030204" pitchFamily="18" charset="0"/>
                            </a:rPr>
                            <m:t>青绿|好瓜</m:t>
                          </m:r>
                        </m:sub>
                      </m:sSub>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𝑃</m:t>
                      </m:r>
                      <m:r>
                        <a:rPr lang="en-US" altLang="zh-CN" sz="1600" i="1">
                          <a:latin typeface="Cambria Math" panose="02040503050406030204" pitchFamily="18" charset="0"/>
                          <a:cs typeface="Cambria Math" panose="02040503050406030204" pitchFamily="18" charset="0"/>
                        </a:rPr>
                        <m:t>(色泽=青绿|好瓜)=</m:t>
                      </m:r>
                      <m:f>
                        <m:fPr>
                          <m:ctrlPr>
                            <a:rPr lang="en-US" altLang="zh-CN" sz="1600" i="1">
                              <a:latin typeface="Cambria Math" panose="02040503050406030204" pitchFamily="18" charset="0"/>
                              <a:cs typeface="Cambria Math" panose="02040503050406030204" pitchFamily="18" charset="0"/>
                            </a:rPr>
                          </m:ctrlPr>
                        </m:fPr>
                        <m:num>
                          <m:r>
                            <a:rPr lang="en-US" altLang="zh-CN" sz="1600" i="1">
                              <a:latin typeface="Cambria Math" panose="02040503050406030204" pitchFamily="18" charset="0"/>
                              <a:cs typeface="Cambria Math" panose="02040503050406030204" pitchFamily="18" charset="0"/>
                            </a:rPr>
                            <m:t>3</m:t>
                          </m:r>
                        </m:num>
                        <m:den>
                          <m:r>
                            <a:rPr lang="en-US" altLang="zh-CN" sz="1600" i="1">
                              <a:latin typeface="Cambria Math" panose="02040503050406030204" pitchFamily="18" charset="0"/>
                              <a:cs typeface="Cambria Math" panose="02040503050406030204" pitchFamily="18" charset="0"/>
                            </a:rPr>
                            <m:t>8</m:t>
                          </m:r>
                        </m:den>
                      </m:f>
                    </m:oMath>
                  </m:oMathPara>
                </a14:m>
                <a:endParaRPr lang="en-US" altLang="zh-CN" sz="1600" i="1">
                  <a:latin typeface="Cambria Math" panose="02040503050406030204" pitchFamily="18" charset="0"/>
                  <a:cs typeface="Cambria Math" panose="02040503050406030204" pitchFamily="18" charset="0"/>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528256" y="2852674"/>
                <a:ext cx="3848100" cy="549910"/>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p:cNvSpPr txBox="1"/>
              <p:nvPr/>
            </p:nvSpPr>
            <p:spPr>
              <a:xfrm>
                <a:off x="4383341" y="2878709"/>
                <a:ext cx="3466465" cy="549910"/>
              </a:xfrm>
              <a:prstGeom prst="rect">
                <a:avLst/>
              </a:prstGeom>
              <a:noFill/>
            </p:spPr>
            <p:txBody>
              <a:bodyPr wrap="none" rtlCol="0" anchor="t">
                <a:spAutoFit/>
              </a:bodyPr>
              <a:lstStyle/>
              <a:p>
                <a:pPr algn="l"/>
                <a14:m>
                  <m:oMathPara xmlns:m="http://schemas.openxmlformats.org/officeDocument/2006/math">
                    <m:oMath>
                      <m:sSub>
                        <m:sSubPr>
                          <m:ctrlPr>
                            <a:rPr lang="en-US" altLang="zh-CN" sz="1600" i="1">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𝑃</m:t>
                          </m:r>
                        </m:e>
                        <m:sub>
                          <m:r>
                            <a:rPr lang="en-US" altLang="zh-CN" sz="1600" i="1">
                              <a:latin typeface="Cambria Math" panose="02040503050406030204" pitchFamily="18" charset="0"/>
                              <a:cs typeface="Cambria Math" panose="02040503050406030204" pitchFamily="18" charset="0"/>
                            </a:rPr>
                            <m:t>青绿|坏瓜</m:t>
                          </m:r>
                        </m:sub>
                      </m:sSub>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𝑃</m:t>
                      </m:r>
                      <m:r>
                        <a:rPr lang="en-US" altLang="zh-CN" sz="1600" i="1">
                          <a:latin typeface="Cambria Math" panose="02040503050406030204" pitchFamily="18" charset="0"/>
                          <a:cs typeface="Cambria Math" panose="02040503050406030204" pitchFamily="18" charset="0"/>
                        </a:rPr>
                        <m:t>(色泽=青绿|坏瓜)=</m:t>
                      </m:r>
                      <m:f>
                        <m:fPr>
                          <m:ctrlPr>
                            <a:rPr lang="en-US" altLang="zh-CN" sz="1600" i="1">
                              <a:latin typeface="Cambria Math" panose="02040503050406030204" pitchFamily="18" charset="0"/>
                              <a:cs typeface="Cambria Math" panose="02040503050406030204" pitchFamily="18" charset="0"/>
                            </a:rPr>
                          </m:ctrlPr>
                        </m:fPr>
                        <m:num>
                          <m:r>
                            <a:rPr lang="en-US" altLang="zh-CN" sz="1600" i="1">
                              <a:latin typeface="Cambria Math" panose="02040503050406030204" pitchFamily="18" charset="0"/>
                              <a:cs typeface="Cambria Math" panose="02040503050406030204" pitchFamily="18" charset="0"/>
                            </a:rPr>
                            <m:t>3</m:t>
                          </m:r>
                        </m:num>
                        <m:den>
                          <m:r>
                            <a:rPr lang="en-US" altLang="zh-CN" sz="1600" i="1">
                              <a:latin typeface="Cambria Math" panose="02040503050406030204" pitchFamily="18" charset="0"/>
                              <a:cs typeface="Cambria Math" panose="02040503050406030204" pitchFamily="18" charset="0"/>
                            </a:rPr>
                            <m:t>9</m:t>
                          </m:r>
                        </m:den>
                      </m:f>
                    </m:oMath>
                  </m:oMathPara>
                </a14:m>
                <a:endParaRPr lang="en-US" altLang="zh-CN" sz="1600" i="1">
                  <a:latin typeface="Cambria Math" panose="02040503050406030204" pitchFamily="18" charset="0"/>
                  <a:cs typeface="Cambria Math" panose="02040503050406030204" pitchFamily="18" charset="0"/>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4383341" y="2878709"/>
                <a:ext cx="3466465" cy="549910"/>
              </a:xfrm>
              <a:prstGeom prst="rect">
                <a:avLst/>
              </a:prstGeom>
              <a:blipFill>
                <a:blip r:embed="rId4"/>
                <a:stretch>
                  <a:fillRect r="-369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8122856" y="2787269"/>
                <a:ext cx="3430270" cy="554990"/>
              </a:xfrm>
              <a:prstGeom prst="rect">
                <a:avLst/>
              </a:prstGeom>
              <a:noFill/>
            </p:spPr>
            <p:txBody>
              <a:bodyPr wrap="none" rtlCol="0" anchor="t">
                <a:spAutoFit/>
              </a:bodyPr>
              <a:lstStyle/>
              <a:p>
                <a:pPr algn="l"/>
                <a14:m>
                  <m:oMathPara xmlns:m="http://schemas.openxmlformats.org/officeDocument/2006/math">
                    <m:oMath>
                      <m:sSub>
                        <m:sSubPr>
                          <m:ctrlPr>
                            <a:rPr lang="en-US" altLang="zh-CN" sz="1600" i="1">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𝑃</m:t>
                          </m:r>
                        </m:e>
                        <m:sub>
                          <m:r>
                            <a:rPr lang="en-US" altLang="zh-CN" sz="1600" i="1">
                              <a:latin typeface="Cambria Math" panose="02040503050406030204" pitchFamily="18" charset="0"/>
                              <a:cs typeface="Cambria Math" panose="02040503050406030204" pitchFamily="18" charset="0"/>
                            </a:rPr>
                            <m:t>蜷缩|好瓜</m:t>
                          </m:r>
                        </m:sub>
                      </m:sSub>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𝑃</m:t>
                      </m:r>
                      <m:r>
                        <a:rPr lang="en-US" altLang="zh-CN" sz="1600" i="1">
                          <a:latin typeface="Cambria Math" panose="02040503050406030204" pitchFamily="18" charset="0"/>
                          <a:cs typeface="Cambria Math" panose="02040503050406030204" pitchFamily="18" charset="0"/>
                        </a:rPr>
                        <m:t>(根蒂=蜷缩|好瓜)=</m:t>
                      </m:r>
                      <m:f>
                        <m:fPr>
                          <m:ctrlPr>
                            <a:rPr lang="en-US" altLang="zh-CN" sz="1600" i="1">
                              <a:latin typeface="Cambria Math" panose="02040503050406030204" pitchFamily="18" charset="0"/>
                              <a:cs typeface="Cambria Math" panose="02040503050406030204" pitchFamily="18" charset="0"/>
                            </a:rPr>
                          </m:ctrlPr>
                        </m:fPr>
                        <m:num>
                          <m:r>
                            <a:rPr lang="en-US" altLang="zh-CN" sz="1600" i="1">
                              <a:latin typeface="Cambria Math" panose="02040503050406030204" pitchFamily="18" charset="0"/>
                              <a:cs typeface="Cambria Math" panose="02040503050406030204" pitchFamily="18" charset="0"/>
                            </a:rPr>
                            <m:t>5</m:t>
                          </m:r>
                        </m:num>
                        <m:den>
                          <m:r>
                            <a:rPr lang="en-US" altLang="zh-CN" sz="1600" i="1">
                              <a:latin typeface="Cambria Math" panose="02040503050406030204" pitchFamily="18" charset="0"/>
                              <a:cs typeface="Cambria Math" panose="02040503050406030204" pitchFamily="18" charset="0"/>
                            </a:rPr>
                            <m:t>8</m:t>
                          </m:r>
                        </m:den>
                      </m:f>
                    </m:oMath>
                  </m:oMathPara>
                </a14:m>
                <a:endParaRPr lang="en-US" altLang="zh-CN" sz="1600" i="1">
                  <a:latin typeface="Cambria Math" panose="02040503050406030204" pitchFamily="18" charset="0"/>
                  <a:cs typeface="Cambria Math" panose="02040503050406030204" pitchFamily="18" charset="0"/>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8122856" y="2787269"/>
                <a:ext cx="3430270" cy="554990"/>
              </a:xfrm>
              <a:prstGeom prst="rect">
                <a:avLst/>
              </a:prstGeom>
              <a:blipFill>
                <a:blip r:embed="rId5"/>
                <a:stretch>
                  <a:fillRect r="-479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p:cNvSpPr txBox="1"/>
              <p:nvPr/>
            </p:nvSpPr>
            <p:spPr>
              <a:xfrm>
                <a:off x="737171" y="3550539"/>
                <a:ext cx="3448050" cy="549910"/>
              </a:xfrm>
              <a:prstGeom prst="rect">
                <a:avLst/>
              </a:prstGeom>
              <a:noFill/>
            </p:spPr>
            <p:txBody>
              <a:bodyPr wrap="none" rtlCol="0" anchor="t">
                <a:spAutoFit/>
              </a:bodyPr>
              <a:lstStyle/>
              <a:p>
                <a:pPr algn="l"/>
                <a14:m>
                  <m:oMathPara xmlns:m="http://schemas.openxmlformats.org/officeDocument/2006/math">
                    <m:oMath>
                      <m:sSub>
                        <m:sSubPr>
                          <m:ctrlPr>
                            <a:rPr lang="en-US" altLang="zh-CN" sz="1600" i="1">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𝑃</m:t>
                          </m:r>
                        </m:e>
                        <m:sub>
                          <m:r>
                            <a:rPr lang="en-US" altLang="zh-CN" sz="1600" i="1">
                              <a:latin typeface="Cambria Math" panose="02040503050406030204" pitchFamily="18" charset="0"/>
                              <a:cs typeface="Cambria Math" panose="02040503050406030204" pitchFamily="18" charset="0"/>
                            </a:rPr>
                            <m:t>蜷缩|坏瓜</m:t>
                          </m:r>
                        </m:sub>
                      </m:sSub>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𝑃</m:t>
                      </m:r>
                      <m:r>
                        <a:rPr lang="en-US" altLang="zh-CN" sz="1600" i="1">
                          <a:latin typeface="Cambria Math" panose="02040503050406030204" pitchFamily="18" charset="0"/>
                          <a:cs typeface="Cambria Math" panose="02040503050406030204" pitchFamily="18" charset="0"/>
                        </a:rPr>
                        <m:t>(根蒂=蜷缩|坏瓜)=</m:t>
                      </m:r>
                      <m:f>
                        <m:fPr>
                          <m:ctrlPr>
                            <a:rPr lang="en-US" altLang="zh-CN" sz="1600" i="1">
                              <a:latin typeface="Cambria Math" panose="02040503050406030204" pitchFamily="18" charset="0"/>
                              <a:cs typeface="Cambria Math" panose="02040503050406030204" pitchFamily="18" charset="0"/>
                            </a:rPr>
                          </m:ctrlPr>
                        </m:fPr>
                        <m:num>
                          <m:r>
                            <a:rPr lang="en-US" altLang="zh-CN" sz="1600" i="1">
                              <a:latin typeface="Cambria Math" panose="02040503050406030204" pitchFamily="18" charset="0"/>
                              <a:cs typeface="Cambria Math" panose="02040503050406030204" pitchFamily="18" charset="0"/>
                            </a:rPr>
                            <m:t>3</m:t>
                          </m:r>
                        </m:num>
                        <m:den>
                          <m:r>
                            <a:rPr lang="en-US" altLang="zh-CN" sz="1600" i="1">
                              <a:latin typeface="Cambria Math" panose="02040503050406030204" pitchFamily="18" charset="0"/>
                              <a:cs typeface="Cambria Math" panose="02040503050406030204" pitchFamily="18" charset="0"/>
                            </a:rPr>
                            <m:t>9</m:t>
                          </m:r>
                        </m:den>
                      </m:f>
                    </m:oMath>
                  </m:oMathPara>
                </a14:m>
                <a:endParaRPr lang="en-US" altLang="zh-CN" sz="1600" i="1">
                  <a:latin typeface="Cambria Math" panose="02040503050406030204" pitchFamily="18" charset="0"/>
                  <a:cs typeface="Cambria Math" panose="02040503050406030204" pitchFamily="18" charset="0"/>
                </a:endParaRPr>
              </a:p>
            </p:txBody>
          </p:sp>
        </mc:Choice>
        <mc:Fallback xmlns="">
          <p:sp>
            <p:nvSpPr>
              <p:cNvPr id="7" name="文本框 6"/>
              <p:cNvSpPr txBox="1">
                <a:spLocks noRot="1" noChangeAspect="1" noMove="1" noResize="1" noEditPoints="1" noAdjustHandles="1" noChangeArrowheads="1" noChangeShapeType="1" noTextEdit="1"/>
              </p:cNvSpPr>
              <p:nvPr/>
            </p:nvSpPr>
            <p:spPr>
              <a:xfrm>
                <a:off x="737171" y="3550539"/>
                <a:ext cx="3448050" cy="549910"/>
              </a:xfrm>
              <a:prstGeom prst="rect">
                <a:avLst/>
              </a:prstGeom>
              <a:blipFill>
                <a:blip r:embed="rId6"/>
                <a:stretch>
                  <a:fillRect r="-406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p:cNvSpPr txBox="1"/>
              <p:nvPr/>
            </p:nvSpPr>
            <p:spPr>
              <a:xfrm>
                <a:off x="4450016" y="3647059"/>
                <a:ext cx="3466465" cy="549910"/>
              </a:xfrm>
              <a:prstGeom prst="rect">
                <a:avLst/>
              </a:prstGeom>
              <a:noFill/>
            </p:spPr>
            <p:txBody>
              <a:bodyPr wrap="none" rtlCol="0" anchor="t">
                <a:spAutoFit/>
              </a:bodyPr>
              <a:lstStyle/>
              <a:p>
                <a:pPr algn="l"/>
                <a14:m>
                  <m:oMathPara xmlns:m="http://schemas.openxmlformats.org/officeDocument/2006/math">
                    <m:oMath>
                      <m:sSub>
                        <m:sSubPr>
                          <m:ctrlPr>
                            <a:rPr lang="en-US" altLang="zh-CN" sz="1600" i="1">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𝑃</m:t>
                          </m:r>
                        </m:e>
                        <m:sub>
                          <m:r>
                            <a:rPr lang="en-US" altLang="zh-CN" sz="1600" i="1">
                              <a:latin typeface="Cambria Math" panose="02040503050406030204" pitchFamily="18" charset="0"/>
                              <a:cs typeface="Cambria Math" panose="02040503050406030204" pitchFamily="18" charset="0"/>
                            </a:rPr>
                            <m:t>浊响|好瓜</m:t>
                          </m:r>
                        </m:sub>
                      </m:sSub>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𝑃</m:t>
                      </m:r>
                      <m:r>
                        <a:rPr lang="en-US" altLang="zh-CN" sz="1600" i="1">
                          <a:latin typeface="Cambria Math" panose="02040503050406030204" pitchFamily="18" charset="0"/>
                          <a:cs typeface="Cambria Math" panose="02040503050406030204" pitchFamily="18" charset="0"/>
                        </a:rPr>
                        <m:t>(敲声=浊响|好瓜)=</m:t>
                      </m:r>
                      <m:f>
                        <m:fPr>
                          <m:ctrlPr>
                            <a:rPr lang="en-US" altLang="zh-CN" sz="1600" i="1">
                              <a:latin typeface="Cambria Math" panose="02040503050406030204" pitchFamily="18" charset="0"/>
                              <a:cs typeface="Cambria Math" panose="02040503050406030204" pitchFamily="18" charset="0"/>
                            </a:rPr>
                          </m:ctrlPr>
                        </m:fPr>
                        <m:num>
                          <m:r>
                            <a:rPr lang="en-US" altLang="zh-CN" sz="1600" i="1">
                              <a:latin typeface="Cambria Math" panose="02040503050406030204" pitchFamily="18" charset="0"/>
                              <a:cs typeface="Cambria Math" panose="02040503050406030204" pitchFamily="18" charset="0"/>
                            </a:rPr>
                            <m:t>6</m:t>
                          </m:r>
                        </m:num>
                        <m:den>
                          <m:r>
                            <a:rPr lang="en-US" altLang="zh-CN" sz="1600" i="1">
                              <a:latin typeface="Cambria Math" panose="02040503050406030204" pitchFamily="18" charset="0"/>
                              <a:cs typeface="Cambria Math" panose="02040503050406030204" pitchFamily="18" charset="0"/>
                            </a:rPr>
                            <m:t>8</m:t>
                          </m:r>
                        </m:den>
                      </m:f>
                    </m:oMath>
                  </m:oMathPara>
                </a14:m>
                <a:endParaRPr lang="en-US" altLang="zh-CN" sz="1600" i="1">
                  <a:latin typeface="Cambria Math" panose="02040503050406030204" pitchFamily="18" charset="0"/>
                  <a:cs typeface="Cambria Math" panose="02040503050406030204" pitchFamily="18" charset="0"/>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450016" y="3647059"/>
                <a:ext cx="3466465" cy="549910"/>
              </a:xfrm>
              <a:prstGeom prst="rect">
                <a:avLst/>
              </a:prstGeom>
              <a:blipFill>
                <a:blip r:embed="rId7"/>
                <a:stretch>
                  <a:fillRect r="-35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p:cNvSpPr txBox="1"/>
              <p:nvPr/>
            </p:nvSpPr>
            <p:spPr>
              <a:xfrm>
                <a:off x="8181276" y="3550539"/>
                <a:ext cx="3466465" cy="548005"/>
              </a:xfrm>
              <a:prstGeom prst="rect">
                <a:avLst/>
              </a:prstGeom>
              <a:noFill/>
            </p:spPr>
            <p:txBody>
              <a:bodyPr wrap="none" rtlCol="0" anchor="t">
                <a:spAutoFit/>
              </a:bodyPr>
              <a:lstStyle/>
              <a:p>
                <a:pPr algn="l"/>
                <a14:m>
                  <m:oMathPara xmlns:m="http://schemas.openxmlformats.org/officeDocument/2006/math">
                    <m:oMath>
                      <m:sSub>
                        <m:sSubPr>
                          <m:ctrlPr>
                            <a:rPr lang="en-US" altLang="zh-CN" sz="1600" i="1">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𝑃</m:t>
                          </m:r>
                        </m:e>
                        <m:sub>
                          <m:r>
                            <a:rPr lang="en-US" altLang="zh-CN" sz="1600" i="1">
                              <a:latin typeface="Cambria Math" panose="02040503050406030204" pitchFamily="18" charset="0"/>
                              <a:cs typeface="Cambria Math" panose="02040503050406030204" pitchFamily="18" charset="0"/>
                            </a:rPr>
                            <m:t>浊响|坏瓜</m:t>
                          </m:r>
                        </m:sub>
                      </m:sSub>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𝑃</m:t>
                      </m:r>
                      <m:r>
                        <a:rPr lang="en-US" altLang="zh-CN" sz="1600" i="1">
                          <a:latin typeface="Cambria Math" panose="02040503050406030204" pitchFamily="18" charset="0"/>
                          <a:cs typeface="Cambria Math" panose="02040503050406030204" pitchFamily="18" charset="0"/>
                        </a:rPr>
                        <m:t>(敲声=浊响|坏瓜)=</m:t>
                      </m:r>
                      <m:f>
                        <m:fPr>
                          <m:ctrlPr>
                            <a:rPr lang="en-US" altLang="zh-CN" sz="1600" i="1">
                              <a:latin typeface="Cambria Math" panose="02040503050406030204" pitchFamily="18" charset="0"/>
                              <a:cs typeface="Cambria Math" panose="02040503050406030204" pitchFamily="18" charset="0"/>
                            </a:rPr>
                          </m:ctrlPr>
                        </m:fPr>
                        <m:num>
                          <m:r>
                            <a:rPr lang="en-US" altLang="zh-CN" sz="1600" i="1">
                              <a:latin typeface="Cambria Math" panose="02040503050406030204" pitchFamily="18" charset="0"/>
                              <a:cs typeface="Cambria Math" panose="02040503050406030204" pitchFamily="18" charset="0"/>
                            </a:rPr>
                            <m:t>4</m:t>
                          </m:r>
                        </m:num>
                        <m:den>
                          <m:r>
                            <a:rPr lang="en-US" altLang="zh-CN" sz="1600" i="1">
                              <a:latin typeface="Cambria Math" panose="02040503050406030204" pitchFamily="18" charset="0"/>
                              <a:cs typeface="Cambria Math" panose="02040503050406030204" pitchFamily="18" charset="0"/>
                            </a:rPr>
                            <m:t>9</m:t>
                          </m:r>
                        </m:den>
                      </m:f>
                    </m:oMath>
                  </m:oMathPara>
                </a14:m>
                <a:endParaRPr lang="en-US" altLang="zh-CN" sz="1600" i="1">
                  <a:latin typeface="Cambria Math" panose="02040503050406030204" pitchFamily="18" charset="0"/>
                  <a:cs typeface="Cambria Math" panose="02040503050406030204" pitchFamily="18" charset="0"/>
                </a:endParaRPr>
              </a:p>
            </p:txBody>
          </p:sp>
        </mc:Choice>
        <mc:Fallback xmlns="">
          <p:sp>
            <p:nvSpPr>
              <p:cNvPr id="9" name="文本框 8"/>
              <p:cNvSpPr txBox="1">
                <a:spLocks noRot="1" noChangeAspect="1" noMove="1" noResize="1" noEditPoints="1" noAdjustHandles="1" noChangeArrowheads="1" noChangeShapeType="1" noTextEdit="1"/>
              </p:cNvSpPr>
              <p:nvPr/>
            </p:nvSpPr>
            <p:spPr>
              <a:xfrm>
                <a:off x="8181276" y="3550539"/>
                <a:ext cx="3466465" cy="548005"/>
              </a:xfrm>
              <a:prstGeom prst="rect">
                <a:avLst/>
              </a:prstGeom>
              <a:blipFill>
                <a:blip r:embed="rId8"/>
                <a:stretch>
                  <a:fillRect r="-369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p:cNvSpPr txBox="1"/>
              <p:nvPr/>
            </p:nvSpPr>
            <p:spPr>
              <a:xfrm>
                <a:off x="826071" y="4323969"/>
                <a:ext cx="3466465" cy="547370"/>
              </a:xfrm>
              <a:prstGeom prst="rect">
                <a:avLst/>
              </a:prstGeom>
              <a:noFill/>
            </p:spPr>
            <p:txBody>
              <a:bodyPr wrap="none" rtlCol="0" anchor="t">
                <a:spAutoFit/>
              </a:bodyPr>
              <a:lstStyle/>
              <a:p>
                <a:pPr algn="l"/>
                <a14:m>
                  <m:oMathPara xmlns:m="http://schemas.openxmlformats.org/officeDocument/2006/math">
                    <m:oMath>
                      <m:sSub>
                        <m:sSubPr>
                          <m:ctrlPr>
                            <a:rPr lang="en-US" altLang="zh-CN" sz="1600" i="1">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𝑃</m:t>
                          </m:r>
                        </m:e>
                        <m:sub>
                          <m:r>
                            <a:rPr lang="en-US" altLang="zh-CN" sz="1600" i="1">
                              <a:latin typeface="Cambria Math" panose="02040503050406030204" pitchFamily="18" charset="0"/>
                              <a:cs typeface="Cambria Math" panose="02040503050406030204" pitchFamily="18" charset="0"/>
                            </a:rPr>
                            <m:t>清晰|好瓜</m:t>
                          </m:r>
                        </m:sub>
                      </m:sSub>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𝑃</m:t>
                      </m:r>
                      <m:r>
                        <a:rPr lang="en-US" altLang="zh-CN" sz="1600" i="1">
                          <a:latin typeface="Cambria Math" panose="02040503050406030204" pitchFamily="18" charset="0"/>
                          <a:cs typeface="Cambria Math" panose="02040503050406030204" pitchFamily="18" charset="0"/>
                        </a:rPr>
                        <m:t>(纹理=清晰|好瓜)=</m:t>
                      </m:r>
                      <m:f>
                        <m:fPr>
                          <m:ctrlPr>
                            <a:rPr lang="en-US" altLang="zh-CN" sz="1600" i="1">
                              <a:latin typeface="Cambria Math" panose="02040503050406030204" pitchFamily="18" charset="0"/>
                              <a:cs typeface="Cambria Math" panose="02040503050406030204" pitchFamily="18" charset="0"/>
                            </a:rPr>
                          </m:ctrlPr>
                        </m:fPr>
                        <m:num>
                          <m:r>
                            <a:rPr lang="en-US" altLang="zh-CN" sz="1600" i="1">
                              <a:latin typeface="Cambria Math" panose="02040503050406030204" pitchFamily="18" charset="0"/>
                              <a:cs typeface="Cambria Math" panose="02040503050406030204" pitchFamily="18" charset="0"/>
                            </a:rPr>
                            <m:t>7</m:t>
                          </m:r>
                        </m:num>
                        <m:den>
                          <m:r>
                            <a:rPr lang="en-US" altLang="zh-CN" sz="1600" i="1">
                              <a:latin typeface="Cambria Math" panose="02040503050406030204" pitchFamily="18" charset="0"/>
                              <a:cs typeface="Cambria Math" panose="02040503050406030204" pitchFamily="18" charset="0"/>
                            </a:rPr>
                            <m:t>8</m:t>
                          </m:r>
                        </m:den>
                      </m:f>
                    </m:oMath>
                  </m:oMathPara>
                </a14:m>
                <a:endParaRPr lang="en-US" altLang="zh-CN" sz="1600" i="1">
                  <a:latin typeface="Cambria Math" panose="02040503050406030204" pitchFamily="18" charset="0"/>
                  <a:cs typeface="Cambria Math" panose="02040503050406030204" pitchFamily="18" charset="0"/>
                </a:endParaRPr>
              </a:p>
            </p:txBody>
          </p:sp>
        </mc:Choice>
        <mc:Fallback xmlns="">
          <p:sp>
            <p:nvSpPr>
              <p:cNvPr id="10" name="文本框 9"/>
              <p:cNvSpPr txBox="1">
                <a:spLocks noRot="1" noChangeAspect="1" noMove="1" noResize="1" noEditPoints="1" noAdjustHandles="1" noChangeArrowheads="1" noChangeShapeType="1" noTextEdit="1"/>
              </p:cNvSpPr>
              <p:nvPr/>
            </p:nvSpPr>
            <p:spPr>
              <a:xfrm>
                <a:off x="826071" y="4323969"/>
                <a:ext cx="3466465" cy="547370"/>
              </a:xfrm>
              <a:prstGeom prst="rect">
                <a:avLst/>
              </a:prstGeom>
              <a:blipFill>
                <a:blip r:embed="rId9"/>
                <a:stretch>
                  <a:fillRect r="-387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p:cNvSpPr txBox="1"/>
              <p:nvPr/>
            </p:nvSpPr>
            <p:spPr>
              <a:xfrm>
                <a:off x="4427791" y="4370324"/>
                <a:ext cx="3466465" cy="548640"/>
              </a:xfrm>
              <a:prstGeom prst="rect">
                <a:avLst/>
              </a:prstGeom>
              <a:noFill/>
            </p:spPr>
            <p:txBody>
              <a:bodyPr wrap="none" rtlCol="0" anchor="t">
                <a:spAutoFit/>
              </a:bodyPr>
              <a:lstStyle/>
              <a:p>
                <a:pPr algn="l"/>
                <a14:m>
                  <m:oMathPara xmlns:m="http://schemas.openxmlformats.org/officeDocument/2006/math">
                    <m:oMath>
                      <m:sSub>
                        <m:sSubPr>
                          <m:ctrlPr>
                            <a:rPr lang="en-US" altLang="zh-CN" sz="1600" i="1">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𝑃</m:t>
                          </m:r>
                        </m:e>
                        <m:sub>
                          <m:r>
                            <a:rPr lang="en-US" altLang="zh-CN" sz="1600" i="1">
                              <a:latin typeface="Cambria Math" panose="02040503050406030204" pitchFamily="18" charset="0"/>
                              <a:cs typeface="Cambria Math" panose="02040503050406030204" pitchFamily="18" charset="0"/>
                            </a:rPr>
                            <m:t>清晰|坏瓜</m:t>
                          </m:r>
                        </m:sub>
                      </m:sSub>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𝑃</m:t>
                      </m:r>
                      <m:r>
                        <a:rPr lang="en-US" altLang="zh-CN" sz="1600" i="1">
                          <a:latin typeface="Cambria Math" panose="02040503050406030204" pitchFamily="18" charset="0"/>
                          <a:cs typeface="Cambria Math" panose="02040503050406030204" pitchFamily="18" charset="0"/>
                        </a:rPr>
                        <m:t>(纹理=清晰|坏瓜)=</m:t>
                      </m:r>
                      <m:f>
                        <m:fPr>
                          <m:ctrlPr>
                            <a:rPr lang="en-US" altLang="zh-CN" sz="1600" i="1">
                              <a:latin typeface="Cambria Math" panose="02040503050406030204" pitchFamily="18" charset="0"/>
                              <a:cs typeface="Cambria Math" panose="02040503050406030204" pitchFamily="18" charset="0"/>
                            </a:rPr>
                          </m:ctrlPr>
                        </m:fPr>
                        <m:num>
                          <m:r>
                            <a:rPr lang="en-US" altLang="zh-CN" sz="1600" i="1">
                              <a:latin typeface="Cambria Math" panose="02040503050406030204" pitchFamily="18" charset="0"/>
                              <a:cs typeface="Cambria Math" panose="02040503050406030204" pitchFamily="18" charset="0"/>
                            </a:rPr>
                            <m:t>2</m:t>
                          </m:r>
                        </m:num>
                        <m:den>
                          <m:r>
                            <a:rPr lang="en-US" altLang="zh-CN" sz="1600" i="1">
                              <a:latin typeface="Cambria Math" panose="02040503050406030204" pitchFamily="18" charset="0"/>
                              <a:cs typeface="Cambria Math" panose="02040503050406030204" pitchFamily="18" charset="0"/>
                            </a:rPr>
                            <m:t>9</m:t>
                          </m:r>
                        </m:den>
                      </m:f>
                    </m:oMath>
                  </m:oMathPara>
                </a14:m>
                <a:endParaRPr lang="en-US" altLang="zh-CN" sz="1600" i="1" dirty="0">
                  <a:latin typeface="Cambria Math" panose="02040503050406030204" pitchFamily="18" charset="0"/>
                  <a:cs typeface="Cambria Math" panose="02040503050406030204" pitchFamily="18" charset="0"/>
                </a:endParaRPr>
              </a:p>
            </p:txBody>
          </p:sp>
        </mc:Choice>
        <mc:Fallback xmlns="">
          <p:sp>
            <p:nvSpPr>
              <p:cNvPr id="11" name="文本框 10"/>
              <p:cNvSpPr txBox="1">
                <a:spLocks noRot="1" noChangeAspect="1" noMove="1" noResize="1" noEditPoints="1" noAdjustHandles="1" noChangeArrowheads="1" noChangeShapeType="1" noTextEdit="1"/>
              </p:cNvSpPr>
              <p:nvPr/>
            </p:nvSpPr>
            <p:spPr>
              <a:xfrm>
                <a:off x="4427791" y="4370324"/>
                <a:ext cx="3466465" cy="548640"/>
              </a:xfrm>
              <a:prstGeom prst="rect">
                <a:avLst/>
              </a:prstGeom>
              <a:blipFill>
                <a:blip r:embed="rId10"/>
                <a:stretch>
                  <a:fillRect r="-386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p:cNvSpPr txBox="1"/>
              <p:nvPr/>
            </p:nvSpPr>
            <p:spPr>
              <a:xfrm>
                <a:off x="8094916" y="4359529"/>
                <a:ext cx="3466465" cy="549910"/>
              </a:xfrm>
              <a:prstGeom prst="rect">
                <a:avLst/>
              </a:prstGeom>
              <a:noFill/>
            </p:spPr>
            <p:txBody>
              <a:bodyPr wrap="none" rtlCol="0" anchor="t">
                <a:spAutoFit/>
              </a:bodyPr>
              <a:lstStyle/>
              <a:p>
                <a:pPr algn="l"/>
                <a14:m>
                  <m:oMathPara xmlns:m="http://schemas.openxmlformats.org/officeDocument/2006/math">
                    <m:oMath>
                      <m:sSub>
                        <m:sSubPr>
                          <m:ctrlPr>
                            <a:rPr lang="en-US" altLang="zh-CN" sz="1600" i="1">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𝑃</m:t>
                          </m:r>
                        </m:e>
                        <m:sub>
                          <m:r>
                            <a:rPr lang="en-US" altLang="zh-CN" sz="1600" i="1">
                              <a:latin typeface="Cambria Math" panose="02040503050406030204" pitchFamily="18" charset="0"/>
                              <a:cs typeface="Cambria Math" panose="02040503050406030204" pitchFamily="18" charset="0"/>
                            </a:rPr>
                            <m:t>凹陷|好瓜</m:t>
                          </m:r>
                        </m:sub>
                      </m:sSub>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𝑃</m:t>
                      </m:r>
                      <m:r>
                        <a:rPr lang="en-US" altLang="zh-CN" sz="1600" i="1">
                          <a:latin typeface="Cambria Math" panose="02040503050406030204" pitchFamily="18" charset="0"/>
                          <a:cs typeface="Cambria Math" panose="02040503050406030204" pitchFamily="18" charset="0"/>
                        </a:rPr>
                        <m:t>(脐部=凹陷|好瓜)=</m:t>
                      </m:r>
                      <m:f>
                        <m:fPr>
                          <m:ctrlPr>
                            <a:rPr lang="en-US" altLang="zh-CN" sz="1600" i="1">
                              <a:latin typeface="Cambria Math" panose="02040503050406030204" pitchFamily="18" charset="0"/>
                              <a:cs typeface="Cambria Math" panose="02040503050406030204" pitchFamily="18" charset="0"/>
                            </a:rPr>
                          </m:ctrlPr>
                        </m:fPr>
                        <m:num>
                          <m:r>
                            <a:rPr lang="en-US" altLang="zh-CN" sz="1600" i="1">
                              <a:latin typeface="Cambria Math" panose="02040503050406030204" pitchFamily="18" charset="0"/>
                              <a:cs typeface="Cambria Math" panose="02040503050406030204" pitchFamily="18" charset="0"/>
                            </a:rPr>
                            <m:t>5</m:t>
                          </m:r>
                        </m:num>
                        <m:den>
                          <m:r>
                            <a:rPr lang="en-US" altLang="zh-CN" sz="1600" i="1">
                              <a:latin typeface="Cambria Math" panose="02040503050406030204" pitchFamily="18" charset="0"/>
                              <a:cs typeface="Cambria Math" panose="02040503050406030204" pitchFamily="18" charset="0"/>
                            </a:rPr>
                            <m:t>8</m:t>
                          </m:r>
                        </m:den>
                      </m:f>
                    </m:oMath>
                  </m:oMathPara>
                </a14:m>
                <a:endParaRPr lang="en-US" altLang="zh-CN" sz="1600" i="1">
                  <a:latin typeface="Cambria Math" panose="02040503050406030204" pitchFamily="18" charset="0"/>
                  <a:cs typeface="Cambria Math" panose="02040503050406030204" pitchFamily="18" charset="0"/>
                </a:endParaRPr>
              </a:p>
            </p:txBody>
          </p:sp>
        </mc:Choice>
        <mc:Fallback xmlns="">
          <p:sp>
            <p:nvSpPr>
              <p:cNvPr id="12" name="文本框 11"/>
              <p:cNvSpPr txBox="1">
                <a:spLocks noRot="1" noChangeAspect="1" noMove="1" noResize="1" noEditPoints="1" noAdjustHandles="1" noChangeArrowheads="1" noChangeShapeType="1" noTextEdit="1"/>
              </p:cNvSpPr>
              <p:nvPr/>
            </p:nvSpPr>
            <p:spPr>
              <a:xfrm>
                <a:off x="8094916" y="4359529"/>
                <a:ext cx="3466465" cy="549910"/>
              </a:xfrm>
              <a:prstGeom prst="rect">
                <a:avLst/>
              </a:prstGeom>
              <a:blipFill>
                <a:blip r:embed="rId11"/>
                <a:stretch>
                  <a:fillRect r="-35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p:cNvSpPr txBox="1"/>
              <p:nvPr/>
            </p:nvSpPr>
            <p:spPr>
              <a:xfrm>
                <a:off x="803846" y="5094859"/>
                <a:ext cx="3466465" cy="548640"/>
              </a:xfrm>
              <a:prstGeom prst="rect">
                <a:avLst/>
              </a:prstGeom>
              <a:noFill/>
            </p:spPr>
            <p:txBody>
              <a:bodyPr wrap="none" rtlCol="0" anchor="t">
                <a:spAutoFit/>
              </a:bodyPr>
              <a:lstStyle/>
              <a:p>
                <a:pPr algn="l"/>
                <a14:m>
                  <m:oMathPara xmlns:m="http://schemas.openxmlformats.org/officeDocument/2006/math">
                    <m:oMath>
                      <m:sSub>
                        <m:sSubPr>
                          <m:ctrlPr>
                            <a:rPr lang="en-US" altLang="zh-CN" sz="1600" i="1">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𝑃</m:t>
                          </m:r>
                        </m:e>
                        <m:sub>
                          <m:r>
                            <a:rPr lang="en-US" altLang="zh-CN" sz="1600" i="1">
                              <a:latin typeface="Cambria Math" panose="02040503050406030204" pitchFamily="18" charset="0"/>
                              <a:cs typeface="Cambria Math" panose="02040503050406030204" pitchFamily="18" charset="0"/>
                            </a:rPr>
                            <m:t>凹陷|坏瓜</m:t>
                          </m:r>
                        </m:sub>
                      </m:sSub>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𝑃</m:t>
                      </m:r>
                      <m:r>
                        <a:rPr lang="en-US" altLang="zh-CN" sz="1600" i="1">
                          <a:latin typeface="Cambria Math" panose="02040503050406030204" pitchFamily="18" charset="0"/>
                          <a:cs typeface="Cambria Math" panose="02040503050406030204" pitchFamily="18" charset="0"/>
                        </a:rPr>
                        <m:t>(脐部=凹陷|坏瓜)=</m:t>
                      </m:r>
                      <m:f>
                        <m:fPr>
                          <m:ctrlPr>
                            <a:rPr lang="en-US" altLang="zh-CN" sz="1600" i="1">
                              <a:latin typeface="Cambria Math" panose="02040503050406030204" pitchFamily="18" charset="0"/>
                              <a:cs typeface="Cambria Math" panose="02040503050406030204" pitchFamily="18" charset="0"/>
                            </a:rPr>
                          </m:ctrlPr>
                        </m:fPr>
                        <m:num>
                          <m:r>
                            <a:rPr lang="en-US" altLang="zh-CN" sz="1600" i="1">
                              <a:latin typeface="Cambria Math" panose="02040503050406030204" pitchFamily="18" charset="0"/>
                              <a:cs typeface="Cambria Math" panose="02040503050406030204" pitchFamily="18" charset="0"/>
                            </a:rPr>
                            <m:t>2</m:t>
                          </m:r>
                        </m:num>
                        <m:den>
                          <m:r>
                            <a:rPr lang="en-US" altLang="zh-CN" sz="1600" i="1">
                              <a:latin typeface="Cambria Math" panose="02040503050406030204" pitchFamily="18" charset="0"/>
                              <a:cs typeface="Cambria Math" panose="02040503050406030204" pitchFamily="18" charset="0"/>
                            </a:rPr>
                            <m:t>9</m:t>
                          </m:r>
                        </m:den>
                      </m:f>
                    </m:oMath>
                  </m:oMathPara>
                </a14:m>
                <a:endParaRPr lang="en-US" altLang="zh-CN" sz="1600" i="1" dirty="0">
                  <a:latin typeface="Cambria Math" panose="02040503050406030204" pitchFamily="18" charset="0"/>
                  <a:cs typeface="Cambria Math" panose="02040503050406030204" pitchFamily="18" charset="0"/>
                </a:endParaRPr>
              </a:p>
            </p:txBody>
          </p:sp>
        </mc:Choice>
        <mc:Fallback xmlns="">
          <p:sp>
            <p:nvSpPr>
              <p:cNvPr id="13" name="文本框 12"/>
              <p:cNvSpPr txBox="1">
                <a:spLocks noRot="1" noChangeAspect="1" noMove="1" noResize="1" noEditPoints="1" noAdjustHandles="1" noChangeArrowheads="1" noChangeShapeType="1" noTextEdit="1"/>
              </p:cNvSpPr>
              <p:nvPr/>
            </p:nvSpPr>
            <p:spPr>
              <a:xfrm>
                <a:off x="803846" y="5094859"/>
                <a:ext cx="3466465" cy="548640"/>
              </a:xfrm>
              <a:prstGeom prst="rect">
                <a:avLst/>
              </a:prstGeom>
              <a:blipFill>
                <a:blip r:embed="rId12"/>
                <a:stretch>
                  <a:fillRect r="-35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p:cNvSpPr txBox="1"/>
              <p:nvPr/>
            </p:nvSpPr>
            <p:spPr>
              <a:xfrm>
                <a:off x="4383341" y="5140579"/>
                <a:ext cx="3466465" cy="549910"/>
              </a:xfrm>
              <a:prstGeom prst="rect">
                <a:avLst/>
              </a:prstGeom>
              <a:noFill/>
            </p:spPr>
            <p:txBody>
              <a:bodyPr wrap="none" rtlCol="0" anchor="t">
                <a:spAutoFit/>
              </a:bodyPr>
              <a:lstStyle/>
              <a:p>
                <a:pPr algn="l"/>
                <a14:m>
                  <m:oMathPara xmlns:m="http://schemas.openxmlformats.org/officeDocument/2006/math">
                    <m:oMath>
                      <m:sSub>
                        <m:sSubPr>
                          <m:ctrlPr>
                            <a:rPr lang="en-US" altLang="zh-CN" sz="1600" i="1">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𝑃</m:t>
                          </m:r>
                        </m:e>
                        <m:sub>
                          <m:r>
                            <a:rPr lang="en-US" altLang="zh-CN" sz="1600" i="1">
                              <a:latin typeface="Cambria Math" panose="02040503050406030204" pitchFamily="18" charset="0"/>
                              <a:cs typeface="Cambria Math" panose="02040503050406030204" pitchFamily="18" charset="0"/>
                            </a:rPr>
                            <m:t>硬滑|好瓜</m:t>
                          </m:r>
                        </m:sub>
                      </m:sSub>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𝑃</m:t>
                      </m:r>
                      <m:r>
                        <a:rPr lang="en-US" altLang="zh-CN" sz="1600" i="1">
                          <a:latin typeface="Cambria Math" panose="02040503050406030204" pitchFamily="18" charset="0"/>
                          <a:cs typeface="Cambria Math" panose="02040503050406030204" pitchFamily="18" charset="0"/>
                        </a:rPr>
                        <m:t>(触感=硬滑|好瓜)=</m:t>
                      </m:r>
                      <m:f>
                        <m:fPr>
                          <m:ctrlPr>
                            <a:rPr lang="en-US" altLang="zh-CN" sz="1600" i="1">
                              <a:latin typeface="Cambria Math" panose="02040503050406030204" pitchFamily="18" charset="0"/>
                              <a:cs typeface="Cambria Math" panose="02040503050406030204" pitchFamily="18" charset="0"/>
                            </a:rPr>
                          </m:ctrlPr>
                        </m:fPr>
                        <m:num>
                          <m:r>
                            <a:rPr lang="en-US" altLang="zh-CN" sz="1600" i="1">
                              <a:latin typeface="Cambria Math" panose="02040503050406030204" pitchFamily="18" charset="0"/>
                              <a:cs typeface="Cambria Math" panose="02040503050406030204" pitchFamily="18" charset="0"/>
                            </a:rPr>
                            <m:t>6</m:t>
                          </m:r>
                        </m:num>
                        <m:den>
                          <m:r>
                            <a:rPr lang="en-US" altLang="zh-CN" sz="1600" i="1">
                              <a:latin typeface="Cambria Math" panose="02040503050406030204" pitchFamily="18" charset="0"/>
                              <a:cs typeface="Cambria Math" panose="02040503050406030204" pitchFamily="18" charset="0"/>
                            </a:rPr>
                            <m:t>8</m:t>
                          </m:r>
                        </m:den>
                      </m:f>
                    </m:oMath>
                  </m:oMathPara>
                </a14:m>
                <a:endParaRPr lang="en-US" altLang="zh-CN" sz="1600" i="1" dirty="0">
                  <a:latin typeface="Cambria Math" panose="02040503050406030204" pitchFamily="18" charset="0"/>
                  <a:cs typeface="Cambria Math" panose="02040503050406030204" pitchFamily="18" charset="0"/>
                </a:endParaRPr>
              </a:p>
            </p:txBody>
          </p:sp>
        </mc:Choice>
        <mc:Fallback xmlns="">
          <p:sp>
            <p:nvSpPr>
              <p:cNvPr id="14" name="文本框 13"/>
              <p:cNvSpPr txBox="1">
                <a:spLocks noRot="1" noChangeAspect="1" noMove="1" noResize="1" noEditPoints="1" noAdjustHandles="1" noChangeArrowheads="1" noChangeShapeType="1" noTextEdit="1"/>
              </p:cNvSpPr>
              <p:nvPr/>
            </p:nvSpPr>
            <p:spPr>
              <a:xfrm>
                <a:off x="4383341" y="5140579"/>
                <a:ext cx="3466465" cy="549910"/>
              </a:xfrm>
              <a:prstGeom prst="rect">
                <a:avLst/>
              </a:prstGeom>
              <a:blipFill>
                <a:blip r:embed="rId13"/>
                <a:stretch>
                  <a:fillRect r="-369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p:cNvSpPr txBox="1"/>
              <p:nvPr/>
            </p:nvSpPr>
            <p:spPr>
              <a:xfrm>
                <a:off x="8167306" y="5170424"/>
                <a:ext cx="3466465" cy="549910"/>
              </a:xfrm>
              <a:prstGeom prst="rect">
                <a:avLst/>
              </a:prstGeom>
              <a:noFill/>
            </p:spPr>
            <p:txBody>
              <a:bodyPr wrap="none" rtlCol="0" anchor="t">
                <a:spAutoFit/>
              </a:bodyPr>
              <a:lstStyle/>
              <a:p>
                <a:pPr algn="l"/>
                <a14:m>
                  <m:oMathPara xmlns:m="http://schemas.openxmlformats.org/officeDocument/2006/math">
                    <m:oMath>
                      <m:sSub>
                        <m:sSubPr>
                          <m:ctrlPr>
                            <a:rPr lang="en-US" altLang="zh-CN" sz="1600" i="1">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𝑃</m:t>
                          </m:r>
                        </m:e>
                        <m:sub>
                          <m:r>
                            <a:rPr lang="en-US" altLang="zh-CN" sz="1600" i="1">
                              <a:latin typeface="Cambria Math" panose="02040503050406030204" pitchFamily="18" charset="0"/>
                              <a:cs typeface="Cambria Math" panose="02040503050406030204" pitchFamily="18" charset="0"/>
                            </a:rPr>
                            <m:t>硬滑|坏瓜</m:t>
                          </m:r>
                        </m:sub>
                      </m:sSub>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𝑃</m:t>
                      </m:r>
                      <m:r>
                        <a:rPr lang="en-US" altLang="zh-CN" sz="1600" i="1">
                          <a:latin typeface="Cambria Math" panose="02040503050406030204" pitchFamily="18" charset="0"/>
                          <a:cs typeface="Cambria Math" panose="02040503050406030204" pitchFamily="18" charset="0"/>
                        </a:rPr>
                        <m:t>(触感=硬滑|坏瓜)=</m:t>
                      </m:r>
                      <m:f>
                        <m:fPr>
                          <m:ctrlPr>
                            <a:rPr lang="en-US" altLang="zh-CN" sz="1600" i="1">
                              <a:latin typeface="Cambria Math" panose="02040503050406030204" pitchFamily="18" charset="0"/>
                              <a:cs typeface="Cambria Math" panose="02040503050406030204" pitchFamily="18" charset="0"/>
                            </a:rPr>
                          </m:ctrlPr>
                        </m:fPr>
                        <m:num>
                          <m:r>
                            <a:rPr lang="en-US" altLang="zh-CN" sz="1600" i="1">
                              <a:latin typeface="Cambria Math" panose="02040503050406030204" pitchFamily="18" charset="0"/>
                              <a:cs typeface="Cambria Math" panose="02040503050406030204" pitchFamily="18" charset="0"/>
                            </a:rPr>
                            <m:t>6</m:t>
                          </m:r>
                        </m:num>
                        <m:den>
                          <m:r>
                            <a:rPr lang="en-US" altLang="zh-CN" sz="1600" i="1">
                              <a:latin typeface="Cambria Math" panose="02040503050406030204" pitchFamily="18" charset="0"/>
                              <a:cs typeface="Cambria Math" panose="02040503050406030204" pitchFamily="18" charset="0"/>
                            </a:rPr>
                            <m:t>9</m:t>
                          </m:r>
                        </m:den>
                      </m:f>
                    </m:oMath>
                  </m:oMathPara>
                </a14:m>
                <a:endParaRPr lang="en-US" altLang="zh-CN" sz="1600" i="1">
                  <a:latin typeface="Cambria Math" panose="02040503050406030204" pitchFamily="18" charset="0"/>
                  <a:cs typeface="Cambria Math" panose="02040503050406030204" pitchFamily="18" charset="0"/>
                </a:endParaRPr>
              </a:p>
            </p:txBody>
          </p:sp>
        </mc:Choice>
        <mc:Fallback xmlns="">
          <p:sp>
            <p:nvSpPr>
              <p:cNvPr id="15" name="文本框 14"/>
              <p:cNvSpPr txBox="1">
                <a:spLocks noRot="1" noChangeAspect="1" noMove="1" noResize="1" noEditPoints="1" noAdjustHandles="1" noChangeArrowheads="1" noChangeShapeType="1" noTextEdit="1"/>
              </p:cNvSpPr>
              <p:nvPr/>
            </p:nvSpPr>
            <p:spPr>
              <a:xfrm>
                <a:off x="8167306" y="5170424"/>
                <a:ext cx="3466465" cy="549910"/>
              </a:xfrm>
              <a:prstGeom prst="rect">
                <a:avLst/>
              </a:prstGeom>
              <a:blipFill>
                <a:blip r:embed="rId14"/>
                <a:stretch>
                  <a:fillRect r="-3697"/>
                </a:stretch>
              </a:blipFill>
            </p:spPr>
            <p:txBody>
              <a:bodyPr/>
              <a:lstStyle/>
              <a:p>
                <a:r>
                  <a:rPr lang="zh-CN" altLang="en-US">
                    <a:noFill/>
                  </a:rPr>
                  <a:t> </a:t>
                </a:r>
              </a:p>
            </p:txBody>
          </p:sp>
        </mc:Fallback>
      </mc:AlternateContent>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1C227B-133B-4CF1-B03E-EAF95834816D}"/>
              </a:ext>
            </a:extLst>
          </p:cNvPr>
          <p:cNvSpPr>
            <a:spLocks noGrp="1"/>
          </p:cNvSpPr>
          <p:nvPr>
            <p:ph type="title"/>
          </p:nvPr>
        </p:nvSpPr>
        <p:spPr/>
        <p:txBody>
          <a:bodyPr/>
          <a:lstStyle/>
          <a:p>
            <a:pPr algn="l"/>
            <a:r>
              <a:rPr/>
              <a:t>3.朴素贝叶斯</a:t>
            </a:r>
          </a:p>
        </p:txBody>
      </p:sp>
      <p:sp>
        <p:nvSpPr>
          <p:cNvPr id="3" name="内容占位符 2">
            <a:extLst>
              <a:ext uri="{FF2B5EF4-FFF2-40B4-BE49-F238E27FC236}">
                <a16:creationId xmlns:a16="http://schemas.microsoft.com/office/drawing/2014/main" id="{9C9E403B-E26C-4680-9E02-00F9E69C6E3E}"/>
              </a:ext>
            </a:extLst>
          </p:cNvPr>
          <p:cNvSpPr>
            <a:spLocks noGrp="1"/>
          </p:cNvSpPr>
          <p:nvPr>
            <p:ph idx="1"/>
          </p:nvPr>
        </p:nvSpPr>
        <p:spPr>
          <a:xfrm>
            <a:off x="609600" y="1600200"/>
            <a:ext cx="10972800" cy="1238250"/>
          </a:xfrm>
        </p:spPr>
        <p:txBody>
          <a:bodyPr>
            <a:normAutofit fontScale="47500" lnSpcReduction="20000"/>
          </a:bodyPr>
          <a:lstStyle/>
          <a:p>
            <a:r>
              <a:rPr sz="1800">
                <a:latin typeface="+mj-ea"/>
                <a:ea typeface="+mj-ea"/>
              </a:rPr>
              <a:t>假定每个属性与其他属性无关，即</a:t>
            </a:r>
            <a:r>
              <a:rPr sz="1800" b="1">
                <a:latin typeface="+mj-ea"/>
                <a:ea typeface="+mj-ea"/>
              </a:rPr>
              <a:t>属性独立</a:t>
            </a:r>
            <a:r>
              <a:rPr sz="1800">
                <a:latin typeface="+mj-ea"/>
                <a:ea typeface="+mj-ea"/>
              </a:rPr>
              <a:t>。</a:t>
            </a:r>
          </a:p>
          <a:p>
            <a:r>
              <a:rPr sz="1800" b="1">
                <a:latin typeface="+mj-ea"/>
                <a:ea typeface="+mj-ea"/>
              </a:rPr>
              <a:t>西瓜数据集</a:t>
            </a:r>
            <a:r>
              <a:rPr sz="1800" b="1">
                <a:latin typeface="+mj-ea"/>
                <a:ea typeface="+mj-ea"/>
              </a:rPr>
              <a:t>-</a:t>
            </a:r>
            <a:r>
              <a:rPr sz="1800" b="1">
                <a:latin typeface="+mj-ea"/>
                <a:ea typeface="+mj-ea"/>
              </a:rPr>
              <a:t>测试集</a:t>
            </a:r>
          </a:p>
          <a:p>
            <a:pPr marL="0" indent="0">
              <a:buNone/>
            </a:pPr>
            <a:r>
              <a:rPr sz="1800">
                <a:latin typeface="+mj-ea"/>
                <a:ea typeface="+mj-ea"/>
              </a:rPr>
              <a:t/>
            </a:r>
          </a:p>
          <a:p>
            <a:r>
              <a:rPr sz="1800">
                <a:latin typeface="+mj-ea"/>
                <a:ea typeface="+mj-ea"/>
              </a:rPr>
              <a:t>对测试数据计算未归一化分类得分（先验概率 8/17、9/17），可得</a:t>
            </a:r>
          </a:p>
          <a:p>
            <a:r>
              <a:rPr sz="1800">
                <a:latin typeface="+mj-ea"/>
                <a:ea typeface="+mj-ea"/>
              </a:rPr>
              <a:t/>
            </a:r>
          </a:p>
          <a:p>
            <a:r>
              <a:rPr sz="1800">
                <a:latin typeface="+mj-ea"/>
                <a:ea typeface="+mj-ea"/>
              </a:rPr>
              <a:t/>
            </a:r>
          </a:p>
          <a:p>
            <a:pPr marL="0" indent="0">
              <a:buNone/>
            </a:pPr>
            <a:r>
              <a:rPr sz="1800"/>
              <a:t/>
            </a:r>
          </a:p>
          <a:p>
            <a:r>
              <a:rPr sz="1800">
                <a:latin typeface="+mj-ea"/>
                <a:ea typeface="+mj-ea"/>
              </a:rPr>
              <a:t>朴素贝叶斯分类器可以将测试样本划分为</a:t>
            </a:r>
            <a:r>
              <a:rPr sz="1800" b="1">
                <a:solidFill>
                  <a:srgbClr val="FF0000"/>
                </a:solidFill>
                <a:latin typeface="+mj-ea"/>
                <a:ea typeface="+mj-ea"/>
              </a:rPr>
              <a:t>好瓜</a:t>
            </a:r>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8" name="表格 7"/>
          <p:cNvGraphicFramePr>
            <a:graphicFrameLocks noGrp="1"/>
          </p:cNvGraphicFramePr>
          <p:nvPr/>
        </p:nvGraphicFramePr>
        <p:xfrm>
          <a:off x="2072246" y="2885705"/>
          <a:ext cx="7392100" cy="379064"/>
        </p:xfrm>
        <a:graphic>
          <a:graphicData uri="http://schemas.openxmlformats.org/drawingml/2006/table">
            <a:tbl>
              <a:tblPr firstRow="1" firstCol="1" bandRow="1">
                <a:tableStyleId>{5C22544A-7EE6-4342-B048-85BDC9FD1C3A}</a:tableStyleId>
              </a:tblPr>
              <a:tblGrid>
                <a:gridCol w="913981">
                  <a:extLst>
                    <a:ext uri="{9D8B030D-6E8A-4147-A177-3AD203B41FA5}">
                      <a16:colId xmlns:a16="http://schemas.microsoft.com/office/drawing/2014/main" val="20000"/>
                    </a:ext>
                  </a:extLst>
                </a:gridCol>
                <a:gridCol w="923790">
                  <a:extLst>
                    <a:ext uri="{9D8B030D-6E8A-4147-A177-3AD203B41FA5}">
                      <a16:colId xmlns:a16="http://schemas.microsoft.com/office/drawing/2014/main" val="20001"/>
                    </a:ext>
                  </a:extLst>
                </a:gridCol>
                <a:gridCol w="933598">
                  <a:extLst>
                    <a:ext uri="{9D8B030D-6E8A-4147-A177-3AD203B41FA5}">
                      <a16:colId xmlns:a16="http://schemas.microsoft.com/office/drawing/2014/main" val="20002"/>
                    </a:ext>
                  </a:extLst>
                </a:gridCol>
                <a:gridCol w="923790">
                  <a:extLst>
                    <a:ext uri="{9D8B030D-6E8A-4147-A177-3AD203B41FA5}">
                      <a16:colId xmlns:a16="http://schemas.microsoft.com/office/drawing/2014/main" val="20003"/>
                    </a:ext>
                  </a:extLst>
                </a:gridCol>
                <a:gridCol w="933598">
                  <a:extLst>
                    <a:ext uri="{9D8B030D-6E8A-4147-A177-3AD203B41FA5}">
                      <a16:colId xmlns:a16="http://schemas.microsoft.com/office/drawing/2014/main" val="20004"/>
                    </a:ext>
                  </a:extLst>
                </a:gridCol>
                <a:gridCol w="933598">
                  <a:extLst>
                    <a:ext uri="{9D8B030D-6E8A-4147-A177-3AD203B41FA5}">
                      <a16:colId xmlns:a16="http://schemas.microsoft.com/office/drawing/2014/main" val="20005"/>
                    </a:ext>
                  </a:extLst>
                </a:gridCol>
                <a:gridCol w="933598">
                  <a:extLst>
                    <a:ext uri="{9D8B030D-6E8A-4147-A177-3AD203B41FA5}">
                      <a16:colId xmlns:a16="http://schemas.microsoft.com/office/drawing/2014/main" val="20006"/>
                    </a:ext>
                  </a:extLst>
                </a:gridCol>
                <a:gridCol w="896147">
                  <a:extLst>
                    <a:ext uri="{9D8B030D-6E8A-4147-A177-3AD203B41FA5}">
                      <a16:colId xmlns:a16="http://schemas.microsoft.com/office/drawing/2014/main" val="20007"/>
                    </a:ext>
                  </a:extLst>
                </a:gridCol>
              </a:tblGrid>
              <a:tr h="379064">
                <a:tc>
                  <a:txBody>
                    <a:bodyPr/>
                    <a:lstStyle/>
                    <a:p>
                      <a:pPr algn="ctr">
                        <a:spcAft>
                          <a:spcPts val="0"/>
                        </a:spcAft>
                      </a:pPr>
                      <a:r>
                        <a:rPr lang="zh-CN" sz="1400" kern="100" dirty="0">
                          <a:solidFill>
                            <a:srgbClr val="FF0000"/>
                          </a:solidFill>
                          <a:effectLst/>
                        </a:rPr>
                        <a:t>测试样本</a:t>
                      </a:r>
                      <a:r>
                        <a:rPr lang="en-US" sz="1400" kern="100" dirty="0">
                          <a:solidFill>
                            <a:srgbClr val="FF0000"/>
                          </a:solidFill>
                          <a:effectLst/>
                        </a:rPr>
                        <a:t>1</a:t>
                      </a:r>
                      <a:endParaRPr lang="zh-CN" sz="1400" kern="100" dirty="0">
                        <a:solidFill>
                          <a:srgbClr val="FF0000"/>
                        </a:solidFill>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kern="100" dirty="0">
                          <a:solidFill>
                            <a:schemeClr val="tx1"/>
                          </a:solidFill>
                          <a:effectLst/>
                        </a:rPr>
                        <a:t>青绿</a:t>
                      </a:r>
                      <a:endParaRPr lang="zh-CN" sz="1400" kern="100" dirty="0">
                        <a:solidFill>
                          <a:schemeClr val="tx1"/>
                        </a:solidFill>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kern="100" dirty="0">
                          <a:solidFill>
                            <a:schemeClr val="tx1"/>
                          </a:solidFill>
                          <a:effectLst/>
                        </a:rPr>
                        <a:t>蜷缩</a:t>
                      </a:r>
                      <a:endParaRPr lang="zh-CN" sz="1400" kern="100" dirty="0">
                        <a:solidFill>
                          <a:schemeClr val="tx1"/>
                        </a:solidFill>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kern="100" dirty="0">
                          <a:solidFill>
                            <a:schemeClr val="tx1"/>
                          </a:solidFill>
                          <a:effectLst/>
                        </a:rPr>
                        <a:t>浊响</a:t>
                      </a:r>
                      <a:endParaRPr lang="zh-CN" sz="1400" kern="100" dirty="0">
                        <a:solidFill>
                          <a:schemeClr val="tx1"/>
                        </a:solidFill>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kern="100" dirty="0">
                          <a:solidFill>
                            <a:schemeClr val="tx1"/>
                          </a:solidFill>
                          <a:effectLst/>
                        </a:rPr>
                        <a:t>清晰</a:t>
                      </a:r>
                      <a:endParaRPr lang="zh-CN" sz="1400" kern="100" dirty="0">
                        <a:solidFill>
                          <a:schemeClr val="tx1"/>
                        </a:solidFill>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kern="100" dirty="0">
                          <a:solidFill>
                            <a:schemeClr val="tx1"/>
                          </a:solidFill>
                          <a:effectLst/>
                        </a:rPr>
                        <a:t>凹陷</a:t>
                      </a:r>
                      <a:endParaRPr lang="zh-CN" sz="1400" kern="100" dirty="0">
                        <a:solidFill>
                          <a:schemeClr val="tx1"/>
                        </a:solidFill>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kern="100" dirty="0">
                          <a:solidFill>
                            <a:schemeClr val="tx1"/>
                          </a:solidFill>
                          <a:effectLst/>
                        </a:rPr>
                        <a:t>硬滑</a:t>
                      </a:r>
                      <a:endParaRPr lang="zh-CN" sz="1400" kern="100" dirty="0">
                        <a:solidFill>
                          <a:schemeClr val="tx1"/>
                        </a:solidFill>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kern="100" dirty="0">
                          <a:solidFill>
                            <a:schemeClr val="tx1"/>
                          </a:solidFill>
                          <a:effectLst/>
                        </a:rPr>
                        <a:t>？</a:t>
                      </a:r>
                      <a:endParaRPr lang="zh-CN" sz="1400" kern="100" dirty="0">
                        <a:solidFill>
                          <a:schemeClr val="tx1"/>
                        </a:solidFill>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extLst>
                  <a:ext uri="{0D108BD9-81ED-4DB2-BD59-A6C34878D82A}">
                    <a16:rowId xmlns:a16="http://schemas.microsoft.com/office/drawing/2014/main" val="10000"/>
                  </a:ext>
                </a:extLst>
              </a:tr>
            </a:tbl>
          </a:graphicData>
        </a:graphic>
      </p:graphicFrame>
      <mc:AlternateContent xmlns:mc="http://schemas.openxmlformats.org/markup-compatibility/2006" xmlns:a14="http://schemas.microsoft.com/office/drawing/2010/main">
        <mc:Choice Requires="a14">
          <p:sp>
            <p:nvSpPr>
              <p:cNvPr id="5" name="文本框 4"/>
              <p:cNvSpPr txBox="1"/>
              <p:nvPr/>
            </p:nvSpPr>
            <p:spPr>
              <a:xfrm>
                <a:off x="446341" y="4049649"/>
                <a:ext cx="10422255" cy="436245"/>
              </a:xfrm>
              <a:prstGeom prst="rect">
                <a:avLst/>
              </a:prstGeom>
              <a:noFill/>
            </p:spPr>
            <p:txBody>
              <a:bodyPr wrap="none" rtlCol="0" anchor="t">
                <a:spAutoFit/>
              </a:bodyPr>
              <a:lstStyle/>
              <a:p>
                <a:pPr algn="l"/>
                <a14:m>
                  <m:oMathPara xmlns:m="http://schemas.openxmlformats.org/officeDocument/2006/math">
                    <m:oMath>
                      <m:r>
                        <a:rPr lang="en-US" altLang="zh-CN" sz="1800" i="1">
                          <a:latin typeface="Cambria Math" panose="02040503050406030204" pitchFamily="18" charset="0"/>
                          <a:cs typeface="Cambria Math" panose="02040503050406030204" pitchFamily="18" charset="0"/>
                        </a:rPr>
                        <m:t>得分</m:t>
                      </m:r>
                      <m:r>
                        <a:rPr lang="en-US" altLang="zh-CN" sz="1800" i="1">
                          <a:latin typeface="Cambria Math" panose="02040503050406030204" pitchFamily="18" charset="0"/>
                          <a:cs typeface="Cambria Math" panose="02040503050406030204" pitchFamily="18" charset="0"/>
                        </a:rPr>
                        <m:t>(好瓜)=</m:t>
                      </m:r>
                      <m:r>
                        <a:rPr lang="en-US" altLang="zh-CN" sz="1800" i="0">
                          <a:latin typeface="Cambria Math" panose="02040503050406030204" pitchFamily="18" charset="0"/>
                          <a:cs typeface="Cambria Math" panose="02040503050406030204" pitchFamily="18" charset="0"/>
                        </a:rPr>
                        <m:t>8/17</m:t>
                      </m:r>
                      <m:r>
                        <a:rPr lang="en-US" altLang="zh-CN" sz="1800" i="1">
                          <a:latin typeface="Cambria Math" panose="02040503050406030204" pitchFamily="18" charset="0"/>
                          <a:cs typeface="Cambria Math" panose="02040503050406030204" pitchFamily="18" charset="0"/>
                        </a:rPr>
                        <m:t>×</m:t>
                      </m:r>
                      <m:sSub>
                        <m:sSubPr>
                          <m:ctrlPr>
                            <a:rPr lang="en-US" altLang="zh-CN" sz="1800" i="1">
                              <a:latin typeface="Cambria Math" panose="02040503050406030204" pitchFamily="18" charset="0"/>
                              <a:cs typeface="Cambria Math" panose="02040503050406030204" pitchFamily="18" charset="0"/>
                            </a:rPr>
                          </m:ctrlPr>
                        </m:sSubPr>
                        <m:e>
                          <m:r>
                            <a:rPr lang="en-US" altLang="zh-CN" sz="1800" i="1">
                              <a:latin typeface="Cambria Math" panose="02040503050406030204" pitchFamily="18" charset="0"/>
                              <a:cs typeface="Cambria Math" panose="02040503050406030204" pitchFamily="18" charset="0"/>
                            </a:rPr>
                            <m:t>𝑃</m:t>
                          </m:r>
                        </m:e>
                        <m:sub>
                          <m:r>
                            <a:rPr lang="en-US" altLang="zh-CN" sz="1800" i="1">
                              <a:latin typeface="Cambria Math" panose="02040503050406030204" pitchFamily="18" charset="0"/>
                              <a:cs typeface="Cambria Math" panose="02040503050406030204" pitchFamily="18" charset="0"/>
                            </a:rPr>
                            <m:t>青绿|好瓜</m:t>
                          </m:r>
                        </m:sub>
                      </m:sSub>
                      <m:sSub>
                        <m:sSubPr>
                          <m:ctrlPr>
                            <a:rPr lang="en-US" altLang="zh-CN" sz="1800" i="1">
                              <a:latin typeface="Cambria Math" panose="02040503050406030204" pitchFamily="18" charset="0"/>
                              <a:cs typeface="Cambria Math" panose="02040503050406030204" pitchFamily="18" charset="0"/>
                            </a:rPr>
                          </m:ctrlPr>
                        </m:sSubPr>
                        <m:e>
                          <m:r>
                            <a:rPr lang="en-US" altLang="zh-CN" sz="1800" i="1">
                              <a:latin typeface="Cambria Math" panose="02040503050406030204" pitchFamily="18" charset="0"/>
                              <a:cs typeface="Cambria Math" panose="02040503050406030204" pitchFamily="18" charset="0"/>
                            </a:rPr>
                            <m:t>×</m:t>
                          </m:r>
                          <m:r>
                            <a:rPr lang="en-US" altLang="zh-CN" sz="1800" i="1">
                              <a:latin typeface="Cambria Math" panose="02040503050406030204" pitchFamily="18" charset="0"/>
                              <a:cs typeface="Cambria Math" panose="02040503050406030204" pitchFamily="18" charset="0"/>
                            </a:rPr>
                            <m:t>𝑃</m:t>
                          </m:r>
                        </m:e>
                        <m:sub>
                          <m:r>
                            <a:rPr lang="en-US" altLang="zh-CN" sz="1800" i="1">
                              <a:latin typeface="Cambria Math" panose="02040503050406030204" pitchFamily="18" charset="0"/>
                              <a:cs typeface="Cambria Math" panose="02040503050406030204" pitchFamily="18" charset="0"/>
                            </a:rPr>
                            <m:t>蜷缩|好瓜</m:t>
                          </m:r>
                        </m:sub>
                      </m:sSub>
                      <m:r>
                        <a:rPr lang="en-US" altLang="zh-CN" sz="1800" i="1">
                          <a:latin typeface="Cambria Math" panose="02040503050406030204" pitchFamily="18" charset="0"/>
                          <a:cs typeface="Cambria Math" panose="02040503050406030204" pitchFamily="18" charset="0"/>
                        </a:rPr>
                        <m:t>×</m:t>
                      </m:r>
                      <m:sSub>
                        <m:sSubPr>
                          <m:ctrlPr>
                            <a:rPr lang="en-US" altLang="zh-CN" sz="1800" i="1">
                              <a:latin typeface="Cambria Math" panose="02040503050406030204" pitchFamily="18" charset="0"/>
                              <a:cs typeface="Cambria Math" panose="02040503050406030204" pitchFamily="18" charset="0"/>
                            </a:rPr>
                          </m:ctrlPr>
                        </m:sSubPr>
                        <m:e>
                          <m:r>
                            <a:rPr lang="en-US" altLang="zh-CN" sz="1800" i="1">
                              <a:latin typeface="Cambria Math" panose="02040503050406030204" pitchFamily="18" charset="0"/>
                              <a:cs typeface="Cambria Math" panose="02040503050406030204" pitchFamily="18" charset="0"/>
                            </a:rPr>
                            <m:t>𝑃</m:t>
                          </m:r>
                        </m:e>
                        <m:sub>
                          <m:r>
                            <a:rPr lang="en-US" altLang="zh-CN" sz="1800" i="1">
                              <a:latin typeface="Cambria Math" panose="02040503050406030204" pitchFamily="18" charset="0"/>
                              <a:cs typeface="Cambria Math" panose="02040503050406030204" pitchFamily="18" charset="0"/>
                            </a:rPr>
                            <m:t>浊响|好瓜</m:t>
                          </m:r>
                        </m:sub>
                      </m:sSub>
                      <m:sSub>
                        <m:sSubPr>
                          <m:ctrlPr>
                            <a:rPr lang="en-US" altLang="zh-CN" sz="1800" i="1">
                              <a:latin typeface="Cambria Math" panose="02040503050406030204" pitchFamily="18" charset="0"/>
                              <a:cs typeface="Cambria Math" panose="02040503050406030204" pitchFamily="18" charset="0"/>
                            </a:rPr>
                          </m:ctrlPr>
                        </m:sSubPr>
                        <m:e>
                          <m:r>
                            <a:rPr lang="en-US" altLang="zh-CN" sz="1800" i="1">
                              <a:latin typeface="Cambria Math" panose="02040503050406030204" pitchFamily="18" charset="0"/>
                              <a:cs typeface="Cambria Math" panose="02040503050406030204" pitchFamily="18" charset="0"/>
                            </a:rPr>
                            <m:t>×</m:t>
                          </m:r>
                          <m:r>
                            <a:rPr lang="en-US" altLang="zh-CN" sz="1800" i="1">
                              <a:latin typeface="Cambria Math" panose="02040503050406030204" pitchFamily="18" charset="0"/>
                              <a:cs typeface="Cambria Math" panose="02040503050406030204" pitchFamily="18" charset="0"/>
                            </a:rPr>
                            <m:t>𝑃</m:t>
                          </m:r>
                        </m:e>
                        <m:sub>
                          <m:r>
                            <a:rPr lang="en-US" altLang="zh-CN" sz="1800" i="1">
                              <a:latin typeface="Cambria Math" panose="02040503050406030204" pitchFamily="18" charset="0"/>
                              <a:cs typeface="Cambria Math" panose="02040503050406030204" pitchFamily="18" charset="0"/>
                            </a:rPr>
                            <m:t>清晰|好瓜</m:t>
                          </m:r>
                        </m:sub>
                      </m:sSub>
                      <m:r>
                        <a:rPr lang="en-US" altLang="zh-CN" sz="1800" i="1">
                          <a:latin typeface="Cambria Math" panose="02040503050406030204" pitchFamily="18" charset="0"/>
                          <a:cs typeface="Cambria Math" panose="02040503050406030204" pitchFamily="18" charset="0"/>
                        </a:rPr>
                        <m:t>×</m:t>
                      </m:r>
                      <m:sSub>
                        <m:sSubPr>
                          <m:ctrlPr>
                            <a:rPr lang="en-US" altLang="zh-CN" sz="1800" i="1">
                              <a:latin typeface="Cambria Math" panose="02040503050406030204" pitchFamily="18" charset="0"/>
                              <a:cs typeface="Cambria Math" panose="02040503050406030204" pitchFamily="18" charset="0"/>
                            </a:rPr>
                          </m:ctrlPr>
                        </m:sSubPr>
                        <m:e>
                          <m:r>
                            <a:rPr lang="en-US" altLang="zh-CN" sz="1800" i="1">
                              <a:latin typeface="Cambria Math" panose="02040503050406030204" pitchFamily="18" charset="0"/>
                              <a:cs typeface="Cambria Math" panose="02040503050406030204" pitchFamily="18" charset="0"/>
                            </a:rPr>
                            <m:t>𝑃</m:t>
                          </m:r>
                        </m:e>
                        <m:sub>
                          <m:r>
                            <a:rPr lang="en-US" altLang="zh-CN" sz="1800" i="1">
                              <a:latin typeface="Cambria Math" panose="02040503050406030204" pitchFamily="18" charset="0"/>
                              <a:cs typeface="Cambria Math" panose="02040503050406030204" pitchFamily="18" charset="0"/>
                            </a:rPr>
                            <m:t>凹陷|好瓜</m:t>
                          </m:r>
                        </m:sub>
                      </m:sSub>
                      <m:r>
                        <a:rPr lang="en-US" altLang="zh-CN" sz="1800" i="1">
                          <a:latin typeface="Cambria Math" panose="02040503050406030204" pitchFamily="18" charset="0"/>
                          <a:cs typeface="Cambria Math" panose="02040503050406030204" pitchFamily="18" charset="0"/>
                        </a:rPr>
                        <m:t>×</m:t>
                      </m:r>
                      <m:sSub>
                        <m:sSubPr>
                          <m:ctrlPr>
                            <a:rPr lang="en-US" altLang="zh-CN" sz="1800" i="1">
                              <a:latin typeface="Cambria Math" panose="02040503050406030204" pitchFamily="18" charset="0"/>
                              <a:cs typeface="Cambria Math" panose="02040503050406030204" pitchFamily="18" charset="0"/>
                            </a:rPr>
                          </m:ctrlPr>
                        </m:sSubPr>
                        <m:e>
                          <m:r>
                            <a:rPr lang="en-US" altLang="zh-CN" sz="1800" i="1">
                              <a:latin typeface="Cambria Math" panose="02040503050406030204" pitchFamily="18" charset="0"/>
                              <a:cs typeface="Cambria Math" panose="02040503050406030204" pitchFamily="18" charset="0"/>
                            </a:rPr>
                            <m:t>𝑃</m:t>
                          </m:r>
                        </m:e>
                        <m:sub>
                          <m:r>
                            <a:rPr lang="en-US" altLang="zh-CN" sz="1800" i="1">
                              <a:latin typeface="Cambria Math" panose="02040503050406030204" pitchFamily="18" charset="0"/>
                              <a:cs typeface="Cambria Math" panose="02040503050406030204" pitchFamily="18" charset="0"/>
                            </a:rPr>
                            <m:t>硬滑|好瓜</m:t>
                          </m:r>
                        </m:sub>
                      </m:sSub>
                      <m:r>
                        <a:rPr lang="en-US" altLang="zh-CN" sz="1800" i="1">
                          <a:latin typeface="Cambria Math" panose="02040503050406030204" pitchFamily="18" charset="0"/>
                          <a:cs typeface="Cambria Math" panose="02040503050406030204" pitchFamily="18" charset="0"/>
                        </a:rPr>
                        <m:t>=0.</m:t>
                      </m:r>
                      <m:r>
                        <a:rPr lang="en-US" altLang="zh-CN" sz="1800" i="1">
                          <a:latin typeface="Cambria Math" panose="02040503050406030204" pitchFamily="18" charset="0"/>
                          <a:ea typeface="MS Mincho" charset="0"/>
                          <a:cs typeface="Cambria Math" panose="02040503050406030204" pitchFamily="18" charset="0"/>
                        </a:rPr>
                        <m:t>0339</m:t>
                      </m:r>
                    </m:oMath>
                  </m:oMathPara>
                </a14:m>
                <a:endParaRPr lang="en-US" altLang="zh-CN" sz="1800" i="1">
                  <a:latin typeface="Cambria Math" panose="02040503050406030204" pitchFamily="18" charset="0"/>
                  <a:cs typeface="Cambria Math" panose="02040503050406030204" pitchFamily="18" charset="0"/>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446341" y="4049649"/>
                <a:ext cx="10422255" cy="436245"/>
              </a:xfrm>
              <a:prstGeom prst="rect">
                <a:avLst/>
              </a:prstGeom>
              <a:blipFill rotWithShape="1">
                <a:blip r:embed="rId2"/>
                <a:stretch>
                  <a:fillRect l="-5" t="-58" r="5" b="5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p:cNvSpPr txBox="1"/>
              <p:nvPr/>
            </p:nvSpPr>
            <p:spPr>
              <a:xfrm>
                <a:off x="293941" y="4894199"/>
                <a:ext cx="11179175" cy="434340"/>
              </a:xfrm>
              <a:prstGeom prst="rect">
                <a:avLst/>
              </a:prstGeom>
              <a:noFill/>
            </p:spPr>
            <p:txBody>
              <a:bodyPr wrap="none" rtlCol="0" anchor="t">
                <a:spAutoFit/>
              </a:bodyPr>
              <a:lstStyle/>
              <a:p>
                <a:pPr algn="l"/>
                <a14:m>
                  <m:oMathPara xmlns:m="http://schemas.openxmlformats.org/officeDocument/2006/math">
                    <m:oMath>
                      <m:r>
                        <a:rPr lang="en-US" altLang="zh-CN" sz="1800" i="1">
                          <a:latin typeface="Cambria Math" panose="02040503050406030204" pitchFamily="18" charset="0"/>
                          <a:cs typeface="Cambria Math" panose="02040503050406030204" pitchFamily="18" charset="0"/>
                        </a:rPr>
                        <m:t>得分</m:t>
                      </m:r>
                      <m:r>
                        <a:rPr lang="en-US" altLang="zh-CN" sz="1800" i="1">
                          <a:latin typeface="Cambria Math" panose="02040503050406030204" pitchFamily="18" charset="0"/>
                          <a:cs typeface="Cambria Math" panose="02040503050406030204" pitchFamily="18" charset="0"/>
                        </a:rPr>
                        <m:t>(坏瓜)=</m:t>
                      </m:r>
                      <m:r>
                        <a:rPr lang="en-US" altLang="zh-CN" sz="1800" i="0">
                          <a:latin typeface="Cambria Math" panose="02040503050406030204" pitchFamily="18" charset="0"/>
                          <a:cs typeface="Cambria Math" panose="02040503050406030204" pitchFamily="18" charset="0"/>
                        </a:rPr>
                        <m:t>9/17</m:t>
                      </m:r>
                      <m:r>
                        <a:rPr lang="en-US" altLang="zh-CN" sz="1800" i="1">
                          <a:latin typeface="Cambria Math" panose="02040503050406030204" pitchFamily="18" charset="0"/>
                          <a:cs typeface="Cambria Math" panose="02040503050406030204" pitchFamily="18" charset="0"/>
                        </a:rPr>
                        <m:t>×</m:t>
                      </m:r>
                      <m:sSub>
                        <m:sSubPr>
                          <m:ctrlPr>
                            <a:rPr lang="en-US" altLang="zh-CN" sz="1800" i="1">
                              <a:latin typeface="Cambria Math" panose="02040503050406030204" pitchFamily="18" charset="0"/>
                              <a:cs typeface="Cambria Math" panose="02040503050406030204" pitchFamily="18" charset="0"/>
                            </a:rPr>
                          </m:ctrlPr>
                        </m:sSubPr>
                        <m:e>
                          <m:r>
                            <a:rPr lang="en-US" altLang="zh-CN" sz="1800" i="1">
                              <a:latin typeface="Cambria Math" panose="02040503050406030204" pitchFamily="18" charset="0"/>
                              <a:cs typeface="Cambria Math" panose="02040503050406030204" pitchFamily="18" charset="0"/>
                            </a:rPr>
                            <m:t>𝑃</m:t>
                          </m:r>
                        </m:e>
                        <m:sub>
                          <m:r>
                            <a:rPr lang="en-US" altLang="zh-CN" sz="1800" i="1">
                              <a:latin typeface="Cambria Math" panose="02040503050406030204" pitchFamily="18" charset="0"/>
                              <a:cs typeface="Cambria Math" panose="02040503050406030204" pitchFamily="18" charset="0"/>
                            </a:rPr>
                            <m:t>青绿|坏瓜</m:t>
                          </m:r>
                        </m:sub>
                      </m:sSub>
                      <m:sSub>
                        <m:sSubPr>
                          <m:ctrlPr>
                            <a:rPr lang="en-US" altLang="zh-CN" sz="1800" i="1">
                              <a:latin typeface="Cambria Math" panose="02040503050406030204" pitchFamily="18" charset="0"/>
                              <a:cs typeface="Cambria Math" panose="02040503050406030204" pitchFamily="18" charset="0"/>
                            </a:rPr>
                          </m:ctrlPr>
                        </m:sSubPr>
                        <m:e>
                          <m:r>
                            <a:rPr lang="en-US" altLang="zh-CN" sz="1800" i="1">
                              <a:latin typeface="Cambria Math" panose="02040503050406030204" pitchFamily="18" charset="0"/>
                              <a:cs typeface="Cambria Math" panose="02040503050406030204" pitchFamily="18" charset="0"/>
                            </a:rPr>
                            <m:t>×</m:t>
                          </m:r>
                          <m:r>
                            <a:rPr lang="en-US" altLang="zh-CN" sz="1800" i="1">
                              <a:latin typeface="Cambria Math" panose="02040503050406030204" pitchFamily="18" charset="0"/>
                              <a:cs typeface="Cambria Math" panose="02040503050406030204" pitchFamily="18" charset="0"/>
                            </a:rPr>
                            <m:t>𝑃</m:t>
                          </m:r>
                        </m:e>
                        <m:sub>
                          <m:r>
                            <a:rPr lang="en-US" altLang="zh-CN" sz="1800" i="1">
                              <a:latin typeface="Cambria Math" panose="02040503050406030204" pitchFamily="18" charset="0"/>
                              <a:cs typeface="Cambria Math" panose="02040503050406030204" pitchFamily="18" charset="0"/>
                            </a:rPr>
                            <m:t>蜷缩|坏瓜</m:t>
                          </m:r>
                        </m:sub>
                      </m:sSub>
                      <m:r>
                        <a:rPr lang="en-US" altLang="zh-CN" sz="1800" i="1">
                          <a:latin typeface="Cambria Math" panose="02040503050406030204" pitchFamily="18" charset="0"/>
                          <a:cs typeface="Cambria Math" panose="02040503050406030204" pitchFamily="18" charset="0"/>
                        </a:rPr>
                        <m:t>×</m:t>
                      </m:r>
                      <m:sSub>
                        <m:sSubPr>
                          <m:ctrlPr>
                            <a:rPr lang="en-US" altLang="zh-CN" sz="1800" i="1">
                              <a:latin typeface="Cambria Math" panose="02040503050406030204" pitchFamily="18" charset="0"/>
                              <a:cs typeface="Cambria Math" panose="02040503050406030204" pitchFamily="18" charset="0"/>
                            </a:rPr>
                          </m:ctrlPr>
                        </m:sSubPr>
                        <m:e>
                          <m:r>
                            <a:rPr lang="en-US" altLang="zh-CN" sz="1800" i="1">
                              <a:latin typeface="Cambria Math" panose="02040503050406030204" pitchFamily="18" charset="0"/>
                              <a:cs typeface="Cambria Math" panose="02040503050406030204" pitchFamily="18" charset="0"/>
                            </a:rPr>
                            <m:t>𝑃</m:t>
                          </m:r>
                        </m:e>
                        <m:sub>
                          <m:r>
                            <a:rPr lang="en-US" altLang="zh-CN" sz="1800" i="1">
                              <a:latin typeface="Cambria Math" panose="02040503050406030204" pitchFamily="18" charset="0"/>
                              <a:cs typeface="Cambria Math" panose="02040503050406030204" pitchFamily="18" charset="0"/>
                            </a:rPr>
                            <m:t>浊响|坏瓜</m:t>
                          </m:r>
                        </m:sub>
                      </m:sSub>
                      <m:sSub>
                        <m:sSubPr>
                          <m:ctrlPr>
                            <a:rPr lang="en-US" altLang="zh-CN" sz="1800" i="1">
                              <a:latin typeface="Cambria Math" panose="02040503050406030204" pitchFamily="18" charset="0"/>
                              <a:cs typeface="Cambria Math" panose="02040503050406030204" pitchFamily="18" charset="0"/>
                            </a:rPr>
                          </m:ctrlPr>
                        </m:sSubPr>
                        <m:e>
                          <m:r>
                            <a:rPr lang="en-US" altLang="zh-CN" sz="1800" i="1">
                              <a:latin typeface="Cambria Math" panose="02040503050406030204" pitchFamily="18" charset="0"/>
                              <a:cs typeface="Cambria Math" panose="02040503050406030204" pitchFamily="18" charset="0"/>
                            </a:rPr>
                            <m:t>×</m:t>
                          </m:r>
                          <m:r>
                            <a:rPr lang="en-US" altLang="zh-CN" sz="1800" i="1">
                              <a:latin typeface="Cambria Math" panose="02040503050406030204" pitchFamily="18" charset="0"/>
                              <a:cs typeface="Cambria Math" panose="02040503050406030204" pitchFamily="18" charset="0"/>
                            </a:rPr>
                            <m:t>𝑃</m:t>
                          </m:r>
                        </m:e>
                        <m:sub>
                          <m:r>
                            <a:rPr lang="en-US" altLang="zh-CN" sz="1800" i="1">
                              <a:latin typeface="Cambria Math" panose="02040503050406030204" pitchFamily="18" charset="0"/>
                              <a:cs typeface="Cambria Math" panose="02040503050406030204" pitchFamily="18" charset="0"/>
                            </a:rPr>
                            <m:t>清晰|坏瓜</m:t>
                          </m:r>
                        </m:sub>
                      </m:sSub>
                      <m:r>
                        <a:rPr lang="en-US" altLang="zh-CN" sz="1800" i="1">
                          <a:latin typeface="Cambria Math" panose="02040503050406030204" pitchFamily="18" charset="0"/>
                          <a:cs typeface="Cambria Math" panose="02040503050406030204" pitchFamily="18" charset="0"/>
                        </a:rPr>
                        <m:t>×</m:t>
                      </m:r>
                      <m:sSub>
                        <m:sSubPr>
                          <m:ctrlPr>
                            <a:rPr lang="en-US" altLang="zh-CN" sz="1800" i="1">
                              <a:latin typeface="Cambria Math" panose="02040503050406030204" pitchFamily="18" charset="0"/>
                              <a:cs typeface="Cambria Math" panose="02040503050406030204" pitchFamily="18" charset="0"/>
                            </a:rPr>
                          </m:ctrlPr>
                        </m:sSubPr>
                        <m:e>
                          <m:r>
                            <a:rPr lang="en-US" altLang="zh-CN" sz="1800" i="1">
                              <a:latin typeface="Cambria Math" panose="02040503050406030204" pitchFamily="18" charset="0"/>
                              <a:cs typeface="Cambria Math" panose="02040503050406030204" pitchFamily="18" charset="0"/>
                            </a:rPr>
                            <m:t>𝑃</m:t>
                          </m:r>
                        </m:e>
                        <m:sub>
                          <m:r>
                            <a:rPr lang="en-US" altLang="zh-CN" sz="1800" i="1">
                              <a:latin typeface="Cambria Math" panose="02040503050406030204" pitchFamily="18" charset="0"/>
                              <a:cs typeface="Cambria Math" panose="02040503050406030204" pitchFamily="18" charset="0"/>
                            </a:rPr>
                            <m:t>凹陷|坏瓜</m:t>
                          </m:r>
                        </m:sub>
                      </m:sSub>
                      <m:r>
                        <a:rPr lang="en-US" altLang="zh-CN" sz="1800" i="1">
                          <a:latin typeface="Cambria Math" panose="02040503050406030204" pitchFamily="18" charset="0"/>
                          <a:cs typeface="Cambria Math" panose="02040503050406030204" pitchFamily="18" charset="0"/>
                        </a:rPr>
                        <m:t>×</m:t>
                      </m:r>
                      <m:sSub>
                        <m:sSubPr>
                          <m:ctrlPr>
                            <a:rPr lang="en-US" altLang="zh-CN" sz="1800" i="1">
                              <a:latin typeface="Cambria Math" panose="02040503050406030204" pitchFamily="18" charset="0"/>
                              <a:cs typeface="Cambria Math" panose="02040503050406030204" pitchFamily="18" charset="0"/>
                            </a:rPr>
                          </m:ctrlPr>
                        </m:sSubPr>
                        <m:e>
                          <m:r>
                            <a:rPr lang="en-US" altLang="zh-CN" sz="1800" i="1">
                              <a:latin typeface="Cambria Math" panose="02040503050406030204" pitchFamily="18" charset="0"/>
                              <a:cs typeface="Cambria Math" panose="02040503050406030204" pitchFamily="18" charset="0"/>
                            </a:rPr>
                            <m:t>𝑃</m:t>
                          </m:r>
                        </m:e>
                        <m:sub>
                          <m:r>
                            <a:rPr lang="en-US" altLang="zh-CN" sz="1800" i="1">
                              <a:latin typeface="Cambria Math" panose="02040503050406030204" pitchFamily="18" charset="0"/>
                              <a:cs typeface="Cambria Math" panose="02040503050406030204" pitchFamily="18" charset="0"/>
                            </a:rPr>
                            <m:t>硬滑|坏瓜</m:t>
                          </m:r>
                        </m:sub>
                      </m:sSub>
                      <m:r>
                        <a:rPr lang="en-US" altLang="zh-CN" sz="1800" i="1">
                          <a:latin typeface="Cambria Math" panose="02040503050406030204" pitchFamily="18" charset="0"/>
                          <a:cs typeface="Cambria Math" panose="02040503050406030204" pitchFamily="18" charset="0"/>
                        </a:rPr>
                        <m:t>=8.61×</m:t>
                      </m:r>
                      <m:sSup>
                        <m:sSupPr>
                          <m:ctrlPr>
                            <a:rPr lang="en-US" altLang="zh-CN" sz="1800" i="1">
                              <a:latin typeface="Cambria Math" panose="02040503050406030204" pitchFamily="18" charset="0"/>
                              <a:cs typeface="Cambria Math" panose="02040503050406030204" pitchFamily="18" charset="0"/>
                            </a:rPr>
                          </m:ctrlPr>
                        </m:sSupPr>
                        <m:e>
                          <m:r>
                            <a:rPr lang="en-US" altLang="zh-CN" sz="1800" i="1">
                              <a:latin typeface="Cambria Math" panose="02040503050406030204" pitchFamily="18" charset="0"/>
                              <a:cs typeface="Cambria Math" panose="02040503050406030204" pitchFamily="18" charset="0"/>
                            </a:rPr>
                            <m:t>10</m:t>
                          </m:r>
                        </m:e>
                        <m:sup>
                          <m:r>
                            <a:rPr lang="en-US" altLang="zh-CN" sz="1800" i="1">
                              <a:latin typeface="Cambria Math" panose="02040503050406030204" pitchFamily="18" charset="0"/>
                              <a:cs typeface="Cambria Math" panose="02040503050406030204" pitchFamily="18" charset="0"/>
                            </a:rPr>
                            <m:t>−4</m:t>
                          </m:r>
                        </m:sup>
                      </m:sSup>
                    </m:oMath>
                  </m:oMathPara>
                </a14:m>
                <a:endParaRPr lang="en-US" altLang="zh-CN" sz="1800" i="1">
                  <a:latin typeface="Cambria Math" panose="02040503050406030204" pitchFamily="18" charset="0"/>
                  <a:cs typeface="Cambria Math" panose="02040503050406030204" pitchFamily="18" charset="0"/>
                </a:endParaRPr>
              </a:p>
            </p:txBody>
          </p:sp>
        </mc:Choice>
        <mc:Fallback xmlns="">
          <p:sp>
            <p:nvSpPr>
              <p:cNvPr id="9" name="文本框 8"/>
              <p:cNvSpPr txBox="1">
                <a:spLocks noRot="1" noChangeAspect="1" noMove="1" noResize="1" noEditPoints="1" noAdjustHandles="1" noChangeArrowheads="1" noChangeShapeType="1" noTextEdit="1"/>
              </p:cNvSpPr>
              <p:nvPr/>
            </p:nvSpPr>
            <p:spPr>
              <a:xfrm>
                <a:off x="293941" y="4894199"/>
                <a:ext cx="11179175" cy="434340"/>
              </a:xfrm>
              <a:prstGeom prst="rect">
                <a:avLst/>
              </a:prstGeom>
              <a:blipFill rotWithShape="1">
                <a:blip r:embed="rId3"/>
                <a:stretch>
                  <a:fillRect l="-5" t="-58" r="5" b="58"/>
                </a:stretch>
              </a:blipFill>
            </p:spPr>
            <p:txBody>
              <a:bodyPr/>
              <a:lstStyle/>
              <a:p>
                <a:r>
                  <a:rPr lang="zh-CN" altLang="en-US">
                    <a:noFill/>
                  </a:rPr>
                  <a:t> </a:t>
                </a:r>
              </a:p>
            </p:txBody>
          </p:sp>
        </mc:Fallback>
      </mc:AlternateContent>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246660-F779-496E-9A46-4BA8E78EDD38}"/>
              </a:ext>
            </a:extLst>
          </p:cNvPr>
          <p:cNvSpPr>
            <a:spLocks noGrp="1"/>
          </p:cNvSpPr>
          <p:nvPr>
            <p:ph type="title"/>
          </p:nvPr>
        </p:nvSpPr>
        <p:spPr/>
        <p:txBody>
          <a:bodyPr/>
          <a:lstStyle/>
          <a:p>
            <a:pPr algn="l"/>
            <a:r>
              <a:rPr/>
              <a:t>3.朴素贝叶斯</a:t>
            </a:r>
          </a:p>
        </p:txBody>
      </p:sp>
      <p:sp>
        <p:nvSpPr>
          <p:cNvPr id="3" name="内容占位符 2">
            <a:extLst>
              <a:ext uri="{FF2B5EF4-FFF2-40B4-BE49-F238E27FC236}">
                <a16:creationId xmlns:a16="http://schemas.microsoft.com/office/drawing/2014/main" id="{7D37B5C3-B4A1-4BB7-B648-8AF9A2D39DC1}"/>
              </a:ext>
            </a:extLst>
          </p:cNvPr>
          <p:cNvSpPr>
            <a:spLocks noGrp="1"/>
          </p:cNvSpPr>
          <p:nvPr>
            <p:ph idx="1"/>
          </p:nvPr>
        </p:nvSpPr>
        <p:spPr/>
        <p:txBody>
          <a:bodyPr/>
          <a:lstStyle/>
          <a:p>
            <a:r>
              <a:rPr sz="2800">
                <a:latin typeface="+mj-ea"/>
                <a:ea typeface="+mj-ea"/>
              </a:rPr>
              <a:t>若某个属性值在训练集中没有与某个类同时出现过，这个时候上述判别方法会出现问题。例如，在使用上述西瓜数据集训练分类器问题时，对于一个“</a:t>
            </a:r>
            <a:r>
              <a:rPr sz="2800" b="1">
                <a:solidFill>
                  <a:srgbClr val="FF0000"/>
                </a:solidFill>
                <a:latin typeface="+mj-ea"/>
                <a:ea typeface="+mj-ea"/>
              </a:rPr>
              <a:t>敲声</a:t>
            </a:r>
            <a:r>
              <a:rPr sz="2800" b="1">
                <a:solidFill>
                  <a:srgbClr val="FF0000"/>
                </a:solidFill>
                <a:latin typeface="+mj-ea"/>
                <a:ea typeface="+mj-ea"/>
              </a:rPr>
              <a:t>=</a:t>
            </a:r>
            <a:r>
              <a:rPr sz="2800" b="1">
                <a:solidFill>
                  <a:srgbClr val="FF0000"/>
                </a:solidFill>
                <a:latin typeface="+mj-ea"/>
                <a:ea typeface="+mj-ea"/>
              </a:rPr>
              <a:t>清脆</a:t>
            </a:r>
            <a:r>
              <a:rPr sz="2800">
                <a:latin typeface="+mj-ea"/>
                <a:ea typeface="+mj-ea"/>
              </a:rPr>
              <a:t>”的测试样本时，计算得到概率是</a:t>
            </a:r>
          </a:p>
          <a:p>
            <a:r>
              <a:rPr sz="2800">
                <a:latin typeface="+mj-ea"/>
                <a:ea typeface="+mj-ea"/>
              </a:rPr>
              <a:t/>
            </a:r>
          </a:p>
          <a:p>
            <a:r>
              <a:rPr sz="2800">
                <a:latin typeface="+mj-ea"/>
                <a:ea typeface="+mj-ea"/>
              </a:rPr>
              <a:t>有了上述的值，不论该样本的其他属性是什么，哪怕其他的属性上明显是好瓜，分类的结果都会是“坏瓜”，</a:t>
            </a:r>
            <a:r>
              <a:rPr sz="2800" b="1">
                <a:solidFill>
                  <a:srgbClr val="FF0000"/>
                </a:solidFill>
                <a:latin typeface="+mj-ea"/>
                <a:ea typeface="+mj-ea"/>
              </a:rPr>
              <a:t>这显然有问题</a:t>
            </a:r>
            <a:r>
              <a:rPr sz="2800">
                <a:latin typeface="+mj-ea"/>
                <a:ea typeface="+mj-ea"/>
              </a:rPr>
              <a:t>。</a:t>
            </a:r>
          </a:p>
          <a:p>
            <a:r>
              <a:rPr sz="2800">
                <a:latin typeface="+mj-ea"/>
                <a:ea typeface="+mj-ea"/>
              </a:rPr>
              <a:t/>
            </a:r>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mc:AlternateContent xmlns:mc="http://schemas.openxmlformats.org/markup-compatibility/2006" xmlns:a14="http://schemas.microsoft.com/office/drawing/2010/main">
        <mc:Choice Requires="a14">
          <p:sp>
            <p:nvSpPr>
              <p:cNvPr id="6" name="文本框 5"/>
              <p:cNvSpPr txBox="1"/>
              <p:nvPr/>
            </p:nvSpPr>
            <p:spPr>
              <a:xfrm>
                <a:off x="5653976" y="3353054"/>
                <a:ext cx="5128895" cy="779145"/>
              </a:xfrm>
              <a:prstGeom prst="rect">
                <a:avLst/>
              </a:prstGeom>
              <a:noFill/>
            </p:spPr>
            <p:txBody>
              <a:bodyPr wrap="none" rtlCol="0" anchor="t">
                <a:spAutoFit/>
              </a:bodyPr>
              <a:lstStyle/>
              <a:p>
                <a:pPr algn="l"/>
                <a14:m>
                  <m:oMathPara xmlns:m="http://schemas.openxmlformats.org/officeDocument/2006/math">
                    <m:o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𝑃</m:t>
                          </m:r>
                        </m:e>
                        <m:sub>
                          <m:r>
                            <a:rPr lang="en-US" altLang="zh-CN" i="1">
                              <a:latin typeface="Cambria Math" panose="02040503050406030204" pitchFamily="18" charset="0"/>
                              <a:cs typeface="Cambria Math" panose="02040503050406030204" pitchFamily="18" charset="0"/>
                            </a:rPr>
                            <m:t>清脆|好瓜</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(敲声=清脆|好瓜)=</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0</m:t>
                          </m:r>
                        </m:num>
                        <m:den>
                          <m:r>
                            <a:rPr lang="en-US" altLang="zh-CN" i="1">
                              <a:latin typeface="Cambria Math" panose="02040503050406030204" pitchFamily="18" charset="0"/>
                              <a:cs typeface="Cambria Math" panose="02040503050406030204" pitchFamily="18" charset="0"/>
                            </a:rPr>
                            <m:t>8</m:t>
                          </m:r>
                        </m:den>
                      </m:f>
                    </m:oMath>
                  </m:oMathPara>
                </a14:m>
                <a:endParaRPr lang="zh-CN" altLang="en-US" dirty="0"/>
              </a:p>
            </p:txBody>
          </p:sp>
        </mc:Choice>
        <mc:Fallback xmlns="">
          <p:sp>
            <p:nvSpPr>
              <p:cNvPr id="6" name="文本框 5"/>
              <p:cNvSpPr txBox="1">
                <a:spLocks noRot="1" noChangeAspect="1" noMove="1" noResize="1" noEditPoints="1" noAdjustHandles="1" noChangeArrowheads="1" noChangeShapeType="1" noTextEdit="1"/>
              </p:cNvSpPr>
              <p:nvPr/>
            </p:nvSpPr>
            <p:spPr>
              <a:xfrm>
                <a:off x="5653976" y="3353054"/>
                <a:ext cx="5128895" cy="779145"/>
              </a:xfrm>
              <a:prstGeom prst="rect">
                <a:avLst/>
              </a:prstGeom>
              <a:blipFill>
                <a:blip r:embed="rId2"/>
                <a:stretch>
                  <a:fillRect r="-4157"/>
                </a:stretch>
              </a:blipFill>
            </p:spPr>
            <p:txBody>
              <a:bodyPr/>
              <a:lstStyle/>
              <a:p>
                <a:r>
                  <a:rPr lang="zh-CN" altLang="en-US">
                    <a:noFill/>
                  </a:rPr>
                  <a:t> </a:t>
                </a:r>
              </a:p>
            </p:txBody>
          </p:sp>
        </mc:Fallback>
      </mc:AlternateContent>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4DBDFB-14B1-462A-A51D-45986B8F3BA3}"/>
              </a:ext>
            </a:extLst>
          </p:cNvPr>
          <p:cNvSpPr>
            <a:spLocks noGrp="1"/>
          </p:cNvSpPr>
          <p:nvPr>
            <p:ph type="title"/>
          </p:nvPr>
        </p:nvSpPr>
        <p:spPr/>
        <p:txBody>
          <a:bodyPr/>
          <a:lstStyle/>
          <a:p>
            <a:pPr algn="l"/>
            <a:r>
              <a:rPr/>
              <a:t>3.朴素贝叶斯</a:t>
            </a:r>
          </a:p>
        </p:txBody>
      </p:sp>
      <p:sp>
        <p:nvSpPr>
          <p:cNvPr id="3" name="内容占位符 2"/>
          <p:cNvSpPr>
            <a:spLocks noGrp="1"/>
          </p:cNvSpPr>
          <p:nvPr>
            <p:ph idx="1"/>
          </p:nvPr>
        </p:nvSpPr>
        <p:spPr/>
        <p:txBody>
          <a:bodyPr/>
          <a:lstStyle/>
          <a:p>
            <a:r>
              <a:rPr lang="zh-CN" altLang="zh-CN" b="1" dirty="0">
                <a:latin typeface="+mj-ea"/>
                <a:ea typeface="+mj-ea"/>
              </a:rPr>
              <a:t>拉普拉斯平滑：</a:t>
            </a:r>
            <a:endParaRPr lang="zh-CN" altLang="zh-CN" dirty="0">
              <a:latin typeface="+mj-ea"/>
              <a:ea typeface="+mj-ea"/>
            </a:endParaRPr>
          </a:p>
          <a:p>
            <a:r>
              <a:rPr lang="zh-CN" altLang="zh-CN" dirty="0">
                <a:latin typeface="+mj-ea"/>
                <a:ea typeface="+mj-ea"/>
              </a:rPr>
              <a:t>为了解决零概率的问题，法国数学家拉普拉斯最早提出用</a:t>
            </a:r>
            <a:r>
              <a:rPr lang="zh-CN" altLang="zh-CN" b="1" dirty="0">
                <a:solidFill>
                  <a:srgbClr val="FF0000"/>
                </a:solidFill>
                <a:latin typeface="+mj-ea"/>
                <a:ea typeface="+mj-ea"/>
              </a:rPr>
              <a:t>加</a:t>
            </a:r>
            <a:r>
              <a:rPr lang="en-US" altLang="zh-CN" b="1" dirty="0">
                <a:solidFill>
                  <a:srgbClr val="FF0000"/>
                </a:solidFill>
                <a:latin typeface="+mj-ea"/>
                <a:ea typeface="+mj-ea"/>
              </a:rPr>
              <a:t>1</a:t>
            </a:r>
            <a:r>
              <a:rPr lang="zh-CN" altLang="zh-CN" dirty="0">
                <a:latin typeface="+mj-ea"/>
                <a:ea typeface="+mj-ea"/>
              </a:rPr>
              <a:t>的方法估计没有出现过的现象的概率</a:t>
            </a:r>
            <a:endParaRPr lang="zh-CN" altLang="en-US" dirty="0">
              <a:latin typeface="+mj-ea"/>
              <a:ea typeface="+mj-ea"/>
            </a:endParaRPr>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mc:AlternateContent xmlns:mc="http://schemas.openxmlformats.org/markup-compatibility/2006" xmlns:a14="http://schemas.microsoft.com/office/drawing/2010/main">
        <mc:Choice Requires="a14">
          <p:sp>
            <p:nvSpPr>
              <p:cNvPr id="5" name="对象 4"/>
              <p:cNvSpPr txBox="1"/>
              <p:nvPr/>
            </p:nvSpPr>
            <p:spPr bwMode="auto">
              <a:xfrm>
                <a:off x="3857882" y="3372868"/>
                <a:ext cx="4062436" cy="1411371"/>
              </a:xfrm>
              <a:prstGeom prst="rect">
                <a:avLst/>
              </a:prstGeom>
              <a:noFill/>
            </p:spPr>
            <p:txBody>
              <a:bodyPr>
                <a:normAutofit fontScale="70000" lnSpcReduction="20000"/>
              </a:bodyPr>
              <a:lstStyle/>
              <a:p>
                <a:pPr/>
                <a14:m>
                  <m:oMathPara xmlns:m="http://schemas.openxmlformats.org/officeDocument/2006/math">
                    <m:oMathParaPr>
                      <m:jc m:val="left"/>
                    </m:oMathParaPr>
                    <m:oMath>
                      <m:r>
                        <a:rPr lang="zh-CN" altLang="en-US" sz="4400" i="1">
                          <a:solidFill>
                            <a:srgbClr val="000000"/>
                          </a:solidFill>
                          <a:latin typeface="Cambria Math" panose="02040503050406030204" pitchFamily="18" charset="0"/>
                        </a:rPr>
                        <m:t>𝑃</m:t>
                      </m:r>
                      <m:r>
                        <a:rPr lang="zh-CN" altLang="en-US" sz="4400" i="1">
                          <a:solidFill>
                            <a:srgbClr val="000000"/>
                          </a:solidFill>
                          <a:latin typeface="Cambria Math" panose="02040503050406030204" pitchFamily="18" charset="0"/>
                        </a:rPr>
                        <m:t>(</m:t>
                      </m:r>
                      <m:sSub>
                        <m:sSubPr>
                          <m:ctrlPr>
                            <a:rPr lang="zh-CN" altLang="en-US" sz="4400" i="1">
                              <a:solidFill>
                                <a:srgbClr val="000000"/>
                              </a:solidFill>
                              <a:latin typeface="Cambria Math" panose="02040503050406030204" pitchFamily="18" charset="0"/>
                            </a:rPr>
                          </m:ctrlPr>
                        </m:sSubPr>
                        <m:e>
                          <m:r>
                            <a:rPr lang="zh-CN" altLang="en-US" sz="4400" i="1">
                              <a:solidFill>
                                <a:srgbClr val="000000"/>
                              </a:solidFill>
                              <a:latin typeface="Cambria Math" panose="02040503050406030204" pitchFamily="18" charset="0"/>
                            </a:rPr>
                            <m:t>𝑥</m:t>
                          </m:r>
                        </m:e>
                        <m:sub>
                          <m:r>
                            <a:rPr lang="zh-CN" altLang="en-US" sz="4400" i="1">
                              <a:solidFill>
                                <a:srgbClr val="000000"/>
                              </a:solidFill>
                              <a:latin typeface="Cambria Math" panose="02040503050406030204" pitchFamily="18" charset="0"/>
                            </a:rPr>
                            <m:t>𝑖</m:t>
                          </m:r>
                        </m:sub>
                      </m:sSub>
                      <m:r>
                        <a:rPr lang="zh-CN" altLang="en-US" sz="4400" i="1">
                          <a:solidFill>
                            <a:srgbClr val="000000"/>
                          </a:solidFill>
                          <a:latin typeface="Cambria Math" panose="02040503050406030204" pitchFamily="18" charset="0"/>
                        </a:rPr>
                        <m:t>|</m:t>
                      </m:r>
                      <m:sSub>
                        <m:sSubPr>
                          <m:ctrlPr>
                            <a:rPr lang="zh-CN" altLang="en-US" sz="4400" i="1">
                              <a:solidFill>
                                <a:srgbClr val="000000"/>
                              </a:solidFill>
                              <a:latin typeface="Cambria Math" panose="02040503050406030204" pitchFamily="18" charset="0"/>
                            </a:rPr>
                          </m:ctrlPr>
                        </m:sSubPr>
                        <m:e>
                          <m:r>
                            <a:rPr lang="zh-CN" altLang="en-US" sz="4400" i="1">
                              <a:solidFill>
                                <a:srgbClr val="000000"/>
                              </a:solidFill>
                              <a:latin typeface="Cambria Math" panose="02040503050406030204" pitchFamily="18" charset="0"/>
                            </a:rPr>
                            <m:t>𝐷</m:t>
                          </m:r>
                        </m:e>
                        <m:sub>
                          <m:r>
                            <a:rPr lang="zh-CN" altLang="en-US" sz="4400" i="1">
                              <a:solidFill>
                                <a:srgbClr val="000000"/>
                              </a:solidFill>
                              <a:latin typeface="Cambria Math" panose="02040503050406030204" pitchFamily="18" charset="0"/>
                            </a:rPr>
                            <m:t>𝑐</m:t>
                          </m:r>
                        </m:sub>
                      </m:sSub>
                      <m:r>
                        <a:rPr lang="zh-CN" altLang="en-US" sz="4400" i="1">
                          <a:solidFill>
                            <a:srgbClr val="000000"/>
                          </a:solidFill>
                          <a:latin typeface="Cambria Math" panose="02040503050406030204" pitchFamily="18" charset="0"/>
                        </a:rPr>
                        <m:t>)=</m:t>
                      </m:r>
                      <m:f>
                        <m:fPr>
                          <m:ctrlPr>
                            <a:rPr lang="zh-CN" altLang="en-US" sz="4400" i="1">
                              <a:solidFill>
                                <a:srgbClr val="000000"/>
                              </a:solidFill>
                              <a:latin typeface="Cambria Math" panose="02040503050406030204" pitchFamily="18" charset="0"/>
                            </a:rPr>
                          </m:ctrlPr>
                        </m:fPr>
                        <m:num>
                          <m:r>
                            <a:rPr lang="zh-CN" altLang="en-US" sz="4400" i="1">
                              <a:solidFill>
                                <a:srgbClr val="000000"/>
                              </a:solidFill>
                              <a:latin typeface="Cambria Math" panose="02040503050406030204" pitchFamily="18" charset="0"/>
                            </a:rPr>
                            <m:t>|</m:t>
                          </m:r>
                          <m:sSub>
                            <m:sSubPr>
                              <m:ctrlPr>
                                <a:rPr lang="zh-CN" altLang="en-US" sz="4400" i="1">
                                  <a:solidFill>
                                    <a:srgbClr val="000000"/>
                                  </a:solidFill>
                                  <a:latin typeface="Cambria Math" panose="02040503050406030204" pitchFamily="18" charset="0"/>
                                </a:rPr>
                              </m:ctrlPr>
                            </m:sSubPr>
                            <m:e>
                              <m:r>
                                <a:rPr lang="zh-CN" altLang="en-US" sz="4400" i="1">
                                  <a:solidFill>
                                    <a:srgbClr val="000000"/>
                                  </a:solidFill>
                                  <a:latin typeface="Cambria Math" panose="02040503050406030204" pitchFamily="18" charset="0"/>
                                </a:rPr>
                                <m:t>𝐷</m:t>
                              </m:r>
                            </m:e>
                            <m:sub>
                              <m:r>
                                <a:rPr lang="zh-CN" altLang="en-US" sz="4400" i="1">
                                  <a:solidFill>
                                    <a:srgbClr val="000000"/>
                                  </a:solidFill>
                                  <a:latin typeface="Cambria Math" panose="02040503050406030204" pitchFamily="18" charset="0"/>
                                </a:rPr>
                                <m:t>𝑐</m:t>
                              </m:r>
                              <m:r>
                                <a:rPr lang="zh-CN" altLang="en-US" sz="4400" i="1">
                                  <a:solidFill>
                                    <a:srgbClr val="000000"/>
                                  </a:solidFill>
                                  <a:latin typeface="Cambria Math" panose="02040503050406030204" pitchFamily="18" charset="0"/>
                                </a:rPr>
                                <m:t>,</m:t>
                              </m:r>
                              <m:sSub>
                                <m:sSubPr>
                                  <m:ctrlPr>
                                    <a:rPr lang="zh-CN" altLang="en-US" sz="4400" i="1">
                                      <a:solidFill>
                                        <a:srgbClr val="000000"/>
                                      </a:solidFill>
                                      <a:latin typeface="Cambria Math" panose="02040503050406030204" pitchFamily="18" charset="0"/>
                                    </a:rPr>
                                  </m:ctrlPr>
                                </m:sSubPr>
                                <m:e>
                                  <m:r>
                                    <a:rPr lang="zh-CN" altLang="en-US" sz="4400" i="1">
                                      <a:solidFill>
                                        <a:srgbClr val="000000"/>
                                      </a:solidFill>
                                      <a:latin typeface="Cambria Math" panose="02040503050406030204" pitchFamily="18" charset="0"/>
                                    </a:rPr>
                                    <m:t>𝑥</m:t>
                                  </m:r>
                                </m:e>
                                <m:sub>
                                  <m:r>
                                    <a:rPr lang="zh-CN" altLang="en-US" sz="4400" i="1">
                                      <a:solidFill>
                                        <a:srgbClr val="000000"/>
                                      </a:solidFill>
                                      <a:latin typeface="Cambria Math" panose="02040503050406030204" pitchFamily="18" charset="0"/>
                                    </a:rPr>
                                    <m:t>𝑖</m:t>
                                  </m:r>
                                </m:sub>
                              </m:sSub>
                            </m:sub>
                          </m:sSub>
                          <m:r>
                            <a:rPr lang="zh-CN" altLang="en-US" sz="4400" i="1">
                              <a:solidFill>
                                <a:srgbClr val="000000"/>
                              </a:solidFill>
                              <a:latin typeface="Cambria Math" panose="02040503050406030204" pitchFamily="18" charset="0"/>
                            </a:rPr>
                            <m:t>|+1</m:t>
                          </m:r>
                        </m:num>
                        <m:den>
                          <m:r>
                            <a:rPr lang="zh-CN" altLang="en-US" sz="4400" i="1">
                              <a:solidFill>
                                <a:srgbClr val="000000"/>
                              </a:solidFill>
                              <a:latin typeface="Cambria Math" panose="02040503050406030204" pitchFamily="18" charset="0"/>
                            </a:rPr>
                            <m:t>|</m:t>
                          </m:r>
                          <m:sSub>
                            <m:sSubPr>
                              <m:ctrlPr>
                                <a:rPr lang="zh-CN" altLang="en-US" sz="4400" i="1">
                                  <a:solidFill>
                                    <a:srgbClr val="000000"/>
                                  </a:solidFill>
                                  <a:latin typeface="Cambria Math" panose="02040503050406030204" pitchFamily="18" charset="0"/>
                                </a:rPr>
                              </m:ctrlPr>
                            </m:sSubPr>
                            <m:e>
                              <m:r>
                                <a:rPr lang="zh-CN" altLang="en-US" sz="4400" i="1">
                                  <a:solidFill>
                                    <a:srgbClr val="000000"/>
                                  </a:solidFill>
                                  <a:latin typeface="Cambria Math" panose="02040503050406030204" pitchFamily="18" charset="0"/>
                                </a:rPr>
                                <m:t>𝐷</m:t>
                              </m:r>
                            </m:e>
                            <m:sub>
                              <m:r>
                                <a:rPr lang="zh-CN" altLang="en-US" sz="4400" i="1">
                                  <a:solidFill>
                                    <a:srgbClr val="000000"/>
                                  </a:solidFill>
                                  <a:latin typeface="Cambria Math" panose="02040503050406030204" pitchFamily="18" charset="0"/>
                                </a:rPr>
                                <m:t>𝑐</m:t>
                              </m:r>
                            </m:sub>
                          </m:sSub>
                          <m:r>
                            <a:rPr lang="zh-CN" altLang="en-US" sz="4400" i="1">
                              <a:solidFill>
                                <a:srgbClr val="000000"/>
                              </a:solidFill>
                              <a:latin typeface="Cambria Math" panose="02040503050406030204" pitchFamily="18" charset="0"/>
                            </a:rPr>
                            <m:t>|+</m:t>
                          </m:r>
                          <m:sSub>
                            <m:sSubPr>
                              <m:ctrlPr>
                                <a:rPr lang="zh-CN" altLang="en-US" sz="4400" i="1">
                                  <a:solidFill>
                                    <a:srgbClr val="000000"/>
                                  </a:solidFill>
                                  <a:latin typeface="Cambria Math" panose="02040503050406030204" pitchFamily="18" charset="0"/>
                                </a:rPr>
                              </m:ctrlPr>
                            </m:sSubPr>
                            <m:e>
                              <m:r>
                                <a:rPr lang="zh-CN" altLang="en-US" sz="4400" i="1">
                                  <a:solidFill>
                                    <a:srgbClr val="000000"/>
                                  </a:solidFill>
                                  <a:latin typeface="Cambria Math" panose="02040503050406030204" pitchFamily="18" charset="0"/>
                                </a:rPr>
                                <m:t>𝑁</m:t>
                              </m:r>
                            </m:e>
                            <m:sub>
                              <m:r>
                                <a:rPr lang="zh-CN" altLang="en-US" sz="4400" i="1">
                                  <a:solidFill>
                                    <a:srgbClr val="000000"/>
                                  </a:solidFill>
                                  <a:latin typeface="Cambria Math" panose="02040503050406030204" pitchFamily="18" charset="0"/>
                                </a:rPr>
                                <m:t>𝑖</m:t>
                              </m:r>
                            </m:sub>
                          </m:sSub>
                        </m:den>
                      </m:f>
                    </m:oMath>
                  </m:oMathPara>
                </a14:m>
                <a:endParaRPr lang="zh-CN" altLang="en-US" dirty="0"/>
              </a:p>
            </p:txBody>
          </p:sp>
        </mc:Choice>
        <mc:Fallback xmlns="">
          <p:sp>
            <p:nvSpPr>
              <p:cNvPr id="5" name="对象 4"/>
              <p:cNvSpPr txBox="1">
                <a:spLocks noRot="1" noChangeAspect="1" noMove="1" noResize="1" noEditPoints="1" noAdjustHandles="1" noChangeArrowheads="1" noChangeShapeType="1" noTextEdit="1"/>
              </p:cNvSpPr>
              <p:nvPr/>
            </p:nvSpPr>
            <p:spPr bwMode="auto">
              <a:xfrm>
                <a:off x="3857882" y="3372868"/>
                <a:ext cx="4062436" cy="1411371"/>
              </a:xfrm>
              <a:prstGeom prst="rect">
                <a:avLst/>
              </a:prstGeom>
              <a:blipFill>
                <a:blip r:embed="rId2"/>
                <a:stretch>
                  <a:fillRect/>
                </a:stretch>
              </a:blipFill>
            </p:spPr>
            <p:txBody>
              <a:bodyPr/>
              <a:lstStyle/>
              <a:p>
                <a:r>
                  <a:rPr lang="zh-CN" altLang="en-US">
                    <a:noFill/>
                  </a:rPr>
                  <a:t> </a:t>
                </a:r>
              </a:p>
            </p:txBody>
          </p:sp>
        </mc:Fallback>
      </mc:AlternateContent>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mc:AlternateContent xmlns:mc="http://schemas.openxmlformats.org/markup-compatibility/2006" xmlns:a14="http://schemas.microsoft.com/office/drawing/2010/main">
        <mc:Choice Requires="a14">
          <p:sp>
            <p:nvSpPr>
              <p:cNvPr id="7" name="对象 6"/>
              <p:cNvSpPr txBox="1"/>
              <p:nvPr/>
            </p:nvSpPr>
            <p:spPr bwMode="auto">
              <a:xfrm>
                <a:off x="2315688" y="4482417"/>
                <a:ext cx="926275" cy="542989"/>
              </a:xfrm>
              <a:prstGeom prst="rect">
                <a:avLst/>
              </a:prstGeom>
              <a:noFill/>
            </p:spPr>
            <p:txBody>
              <a:bodyPr>
                <a:normAutofit/>
              </a:bodyPr>
              <a:lstStyle/>
              <a:p>
                <a:pPr/>
                <a14:m>
                  <m:oMathPara xmlns:m="http://schemas.openxmlformats.org/officeDocument/2006/math">
                    <m:oMathParaPr>
                      <m:jc m:val="left"/>
                    </m:oMathParaPr>
                    <m:oMath>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𝐷</m:t>
                          </m:r>
                        </m:e>
                        <m:sub>
                          <m:r>
                            <a:rPr lang="zh-CN" altLang="en-US" i="1">
                              <a:solidFill>
                                <a:srgbClr val="000000"/>
                              </a:solidFill>
                              <a:latin typeface="Cambria Math" panose="02040503050406030204" pitchFamily="18" charset="0"/>
                            </a:rPr>
                            <m:t>𝑐</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𝑖</m:t>
                              </m:r>
                            </m:sub>
                          </m:sSub>
                        </m:sub>
                      </m:sSub>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7" name="对象 6"/>
              <p:cNvSpPr txBox="1">
                <a:spLocks noRot="1" noChangeAspect="1" noMove="1" noResize="1" noEditPoints="1" noAdjustHandles="1" noChangeArrowheads="1" noChangeShapeType="1" noTextEdit="1"/>
              </p:cNvSpPr>
              <p:nvPr/>
            </p:nvSpPr>
            <p:spPr bwMode="auto">
              <a:xfrm>
                <a:off x="2315688" y="4482417"/>
                <a:ext cx="926275" cy="542989"/>
              </a:xfrm>
              <a:prstGeom prst="rect">
                <a:avLst/>
              </a:prstGeom>
              <a:blipFill>
                <a:blip r:embed="rId3"/>
                <a:stretch>
                  <a:fillRect l="-5921" r="-8553" b="-112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1939332" y="5039705"/>
                <a:ext cx="1627833" cy="830997"/>
              </a:xfrm>
              <a:prstGeom prst="rect">
                <a:avLst/>
              </a:prstGeom>
              <a:noFill/>
            </p:spPr>
            <p:txBody>
              <a:bodyPr wrap="square" rtlCol="0">
                <a:spAutoFit/>
              </a:bodyPr>
              <a:lstStyle/>
              <a:p>
                <a:r>
                  <a:rPr lang="zh-CN" altLang="en-US" dirty="0"/>
                  <a:t>类别</a:t>
                </a:r>
                <a14:m>
                  <m:oMath xmlns:m="http://schemas.openxmlformats.org/officeDocument/2006/math">
                    <m:r>
                      <a:rPr lang="en-US" altLang="zh-CN" i="1" dirty="0" smtClean="0">
                        <a:latin typeface="Cambria Math" panose="02040503050406030204" pitchFamily="18" charset="0"/>
                      </a:rPr>
                      <m:t>𝑐</m:t>
                    </m:r>
                  </m:oMath>
                </a14:m>
                <a:r>
                  <a:rPr lang="zh-CN" altLang="en-US" dirty="0"/>
                  <a:t>属性</a:t>
                </a:r>
                <a14:m>
                  <m:oMath xmlns:m="http://schemas.openxmlformats.org/officeDocument/2006/math">
                    <m:r>
                      <a:rPr lang="en-US" altLang="zh-CN" i="1" dirty="0" smtClean="0">
                        <a:latin typeface="Cambria Math" panose="02040503050406030204" pitchFamily="18" charset="0"/>
                      </a:rPr>
                      <m:t>𝑖</m:t>
                    </m:r>
                  </m:oMath>
                </a14:m>
                <a:r>
                  <a:rPr lang="zh-CN" altLang="en-US" dirty="0"/>
                  <a:t>的样本数</a:t>
                </a:r>
              </a:p>
            </p:txBody>
          </p:sp>
        </mc:Choice>
        <mc:Fallback xmlns="">
          <p:sp>
            <p:nvSpPr>
              <p:cNvPr id="8" name="TextBox 7"/>
              <p:cNvSpPr txBox="1">
                <a:spLocks noRot="1" noChangeAspect="1" noMove="1" noResize="1" noEditPoints="1" noAdjustHandles="1" noChangeArrowheads="1" noChangeShapeType="1" noTextEdit="1"/>
              </p:cNvSpPr>
              <p:nvPr/>
            </p:nvSpPr>
            <p:spPr>
              <a:xfrm>
                <a:off x="1939332" y="5039705"/>
                <a:ext cx="1627833" cy="830997"/>
              </a:xfrm>
              <a:prstGeom prst="rect">
                <a:avLst/>
              </a:prstGeom>
              <a:blipFill>
                <a:blip r:embed="rId4"/>
                <a:stretch>
                  <a:fillRect l="-5618" t="-5882" r="-1498" b="-16176"/>
                </a:stretch>
              </a:blipFill>
            </p:spPr>
            <p:txBody>
              <a:bodyPr/>
              <a:lstStyle/>
              <a:p>
                <a:r>
                  <a:rPr lang="zh-CN" altLang="en-US">
                    <a:noFill/>
                  </a:rPr>
                  <a:t> </a:t>
                </a:r>
              </a:p>
            </p:txBody>
          </p:sp>
        </mc:Fallback>
      </mc:AlternateContent>
      <p:sp>
        <p:nvSpPr>
          <p:cNvPr id="9" name="Rectangle 6"/>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mc:AlternateContent xmlns:mc="http://schemas.openxmlformats.org/markup-compatibility/2006" xmlns:a14="http://schemas.microsoft.com/office/drawing/2010/main">
        <mc:Choice Requires="a14">
          <p:sp>
            <p:nvSpPr>
              <p:cNvPr id="10" name="对象 9"/>
              <p:cNvSpPr txBox="1"/>
              <p:nvPr/>
            </p:nvSpPr>
            <p:spPr bwMode="auto">
              <a:xfrm>
                <a:off x="4003626" y="4562004"/>
                <a:ext cx="683288" cy="465878"/>
              </a:xfrm>
              <a:prstGeom prst="rect">
                <a:avLst/>
              </a:prstGeom>
              <a:noFill/>
            </p:spPr>
            <p:txBody>
              <a:bodyPr>
                <a:normAutofit/>
              </a:bodyPr>
              <a:lstStyle/>
              <a:p>
                <a:pPr/>
                <a14:m>
                  <m:oMathPara xmlns:m="http://schemas.openxmlformats.org/officeDocument/2006/math">
                    <m:oMathParaPr>
                      <m:jc m:val="left"/>
                    </m:oMathParaPr>
                    <m:oMath>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𝐷</m:t>
                          </m:r>
                        </m:e>
                        <m:sub>
                          <m:r>
                            <a:rPr lang="zh-CN" altLang="en-US" i="1">
                              <a:solidFill>
                                <a:srgbClr val="000000"/>
                              </a:solidFill>
                              <a:latin typeface="Cambria Math" panose="02040503050406030204" pitchFamily="18" charset="0"/>
                            </a:rPr>
                            <m:t>𝑐</m:t>
                          </m:r>
                        </m:sub>
                      </m:sSub>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10" name="对象 9"/>
              <p:cNvSpPr txBox="1">
                <a:spLocks noRot="1" noChangeAspect="1" noMove="1" noResize="1" noEditPoints="1" noAdjustHandles="1" noChangeArrowheads="1" noChangeShapeType="1" noTextEdit="1"/>
              </p:cNvSpPr>
              <p:nvPr/>
            </p:nvSpPr>
            <p:spPr bwMode="auto">
              <a:xfrm>
                <a:off x="4003626" y="4562004"/>
                <a:ext cx="683288" cy="465878"/>
              </a:xfrm>
              <a:prstGeom prst="rect">
                <a:avLst/>
              </a:prstGeom>
              <a:blipFill>
                <a:blip r:embed="rId5"/>
                <a:stretch>
                  <a:fillRect l="-8036" r="-10714" b="-1818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3666365" y="5027882"/>
                <a:ext cx="1357811" cy="830997"/>
              </a:xfrm>
              <a:prstGeom prst="rect">
                <a:avLst/>
              </a:prstGeom>
            </p:spPr>
            <p:txBody>
              <a:bodyPr wrap="square">
                <a:spAutoFit/>
              </a:bodyPr>
              <a:lstStyle/>
              <a:p>
                <a:r>
                  <a:rPr lang="zh-CN" altLang="en-US" dirty="0"/>
                  <a:t>类别</a:t>
                </a:r>
                <a14:m>
                  <m:oMath xmlns:m="http://schemas.openxmlformats.org/officeDocument/2006/math">
                    <m:r>
                      <a:rPr lang="en-US" altLang="zh-CN" i="1" dirty="0" smtClean="0">
                        <a:latin typeface="Cambria Math" panose="02040503050406030204" pitchFamily="18" charset="0"/>
                      </a:rPr>
                      <m:t>𝑐</m:t>
                    </m:r>
                  </m:oMath>
                </a14:m>
                <a:r>
                  <a:rPr lang="zh-CN" altLang="en-US" dirty="0"/>
                  <a:t>的样本数</a:t>
                </a:r>
              </a:p>
            </p:txBody>
          </p:sp>
        </mc:Choice>
        <mc:Fallback xmlns="">
          <p:sp>
            <p:nvSpPr>
              <p:cNvPr id="11" name="矩形 10"/>
              <p:cNvSpPr>
                <a:spLocks noRot="1" noChangeAspect="1" noMove="1" noResize="1" noEditPoints="1" noAdjustHandles="1" noChangeArrowheads="1" noChangeShapeType="1" noTextEdit="1"/>
              </p:cNvSpPr>
              <p:nvPr/>
            </p:nvSpPr>
            <p:spPr>
              <a:xfrm>
                <a:off x="3666365" y="5027882"/>
                <a:ext cx="1357811" cy="830997"/>
              </a:xfrm>
              <a:prstGeom prst="rect">
                <a:avLst/>
              </a:prstGeom>
              <a:blipFill>
                <a:blip r:embed="rId6"/>
                <a:stretch>
                  <a:fillRect l="-6726" t="-5882" b="-16176"/>
                </a:stretch>
              </a:blipFill>
            </p:spPr>
            <p:txBody>
              <a:bodyPr/>
              <a:lstStyle/>
              <a:p>
                <a:r>
                  <a:rPr lang="zh-CN" altLang="en-US">
                    <a:noFill/>
                  </a:rPr>
                  <a:t> </a:t>
                </a:r>
              </a:p>
            </p:txBody>
          </p:sp>
        </mc:Fallback>
      </mc:AlternateContent>
      <p:sp>
        <p:nvSpPr>
          <p:cNvPr id="12"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mc:AlternateContent xmlns:mc="http://schemas.openxmlformats.org/markup-compatibility/2006" xmlns:a14="http://schemas.microsoft.com/office/drawing/2010/main">
        <mc:Choice Requires="a14">
          <p:sp>
            <p:nvSpPr>
              <p:cNvPr id="13" name="对象 12"/>
              <p:cNvSpPr txBox="1"/>
              <p:nvPr/>
            </p:nvSpPr>
            <p:spPr bwMode="auto">
              <a:xfrm>
                <a:off x="5504193" y="4498837"/>
                <a:ext cx="442127" cy="510147"/>
              </a:xfrm>
              <a:prstGeom prst="rect">
                <a:avLst/>
              </a:prstGeom>
              <a:noFill/>
            </p:spPr>
            <p:txBody>
              <a:bodyPr>
                <a:normAutofit/>
              </a:bodyPr>
              <a:lstStyle/>
              <a:p>
                <a:pPr/>
                <a14:m>
                  <m:oMathPara xmlns:m="http://schemas.openxmlformats.org/officeDocument/2006/math">
                    <m:oMathParaPr>
                      <m:jc m:val="left"/>
                    </m:oMathParaPr>
                    <m:o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𝑁</m:t>
                          </m:r>
                        </m:e>
                        <m:sub>
                          <m:r>
                            <a:rPr lang="zh-CN" altLang="en-US" i="1">
                              <a:solidFill>
                                <a:srgbClr val="000000"/>
                              </a:solidFill>
                              <a:latin typeface="Cambria Math" panose="02040503050406030204" pitchFamily="18" charset="0"/>
                            </a:rPr>
                            <m:t>𝑖</m:t>
                          </m:r>
                        </m:sub>
                      </m:sSub>
                    </m:oMath>
                  </m:oMathPara>
                </a14:m>
                <a:endParaRPr lang="zh-CN" altLang="en-US" dirty="0"/>
              </a:p>
            </p:txBody>
          </p:sp>
        </mc:Choice>
        <mc:Fallback xmlns="">
          <p:sp>
            <p:nvSpPr>
              <p:cNvPr id="13" name="对象 12"/>
              <p:cNvSpPr txBox="1">
                <a:spLocks noRot="1" noChangeAspect="1" noMove="1" noResize="1" noEditPoints="1" noAdjustHandles="1" noChangeArrowheads="1" noChangeShapeType="1" noTextEdit="1"/>
              </p:cNvSpPr>
              <p:nvPr/>
            </p:nvSpPr>
            <p:spPr bwMode="auto">
              <a:xfrm>
                <a:off x="5504193" y="4498837"/>
                <a:ext cx="442127" cy="510147"/>
              </a:xfrm>
              <a:prstGeom prst="rect">
                <a:avLst/>
              </a:prstGeom>
              <a:blipFill>
                <a:blip r:embed="rId7"/>
                <a:stretch>
                  <a:fillRect l="-4167" r="-27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p:cNvSpPr/>
              <p:nvPr/>
            </p:nvSpPr>
            <p:spPr>
              <a:xfrm>
                <a:off x="5146356" y="5039704"/>
                <a:ext cx="1465459" cy="830997"/>
              </a:xfrm>
              <a:prstGeom prst="rect">
                <a:avLst/>
              </a:prstGeom>
            </p:spPr>
            <p:txBody>
              <a:bodyPr wrap="square">
                <a:spAutoFit/>
              </a:bodyPr>
              <a:lstStyle/>
              <a:p>
                <a:r>
                  <a:rPr lang="zh-CN" altLang="en-US" dirty="0"/>
                  <a:t>属性</a:t>
                </a:r>
                <a14:m>
                  <m:oMath xmlns:m="http://schemas.openxmlformats.org/officeDocument/2006/math">
                    <m:r>
                      <a:rPr lang="en-US" altLang="zh-CN" i="1" dirty="0" smtClean="0">
                        <a:latin typeface="Cambria Math" panose="02040503050406030204" pitchFamily="18" charset="0"/>
                      </a:rPr>
                      <m:t>𝑖</m:t>
                    </m:r>
                  </m:oMath>
                </a14:m>
                <a:r>
                  <a:rPr lang="zh-CN" altLang="en-US" dirty="0"/>
                  <a:t>可能的取值</a:t>
                </a:r>
              </a:p>
            </p:txBody>
          </p:sp>
        </mc:Choice>
        <mc:Fallback xmlns="">
          <p:sp>
            <p:nvSpPr>
              <p:cNvPr id="14" name="矩形 13"/>
              <p:cNvSpPr>
                <a:spLocks noRot="1" noChangeAspect="1" noMove="1" noResize="1" noEditPoints="1" noAdjustHandles="1" noChangeArrowheads="1" noChangeShapeType="1" noTextEdit="1"/>
              </p:cNvSpPr>
              <p:nvPr/>
            </p:nvSpPr>
            <p:spPr>
              <a:xfrm>
                <a:off x="5146356" y="5039704"/>
                <a:ext cx="1465459" cy="830997"/>
              </a:xfrm>
              <a:prstGeom prst="rect">
                <a:avLst/>
              </a:prstGeom>
              <a:blipFill>
                <a:blip r:embed="rId8"/>
                <a:stretch>
                  <a:fillRect l="-6224" t="-5882" r="-2075" b="-16176"/>
                </a:stretch>
              </a:blipFill>
            </p:spPr>
            <p:txBody>
              <a:bodyPr/>
              <a:lstStyle/>
              <a:p>
                <a:r>
                  <a:rPr lang="zh-CN" altLang="en-US">
                    <a:noFill/>
                  </a:rPr>
                  <a:t> </a:t>
                </a:r>
              </a:p>
            </p:txBody>
          </p:sp>
        </mc:Fallback>
      </mc:AlternateContent>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ACA4E7-FB5C-4FC3-B42A-8ECC16298822}"/>
              </a:ext>
            </a:extLst>
          </p:cNvPr>
          <p:cNvSpPr>
            <a:spLocks noGrp="1"/>
          </p:cNvSpPr>
          <p:nvPr>
            <p:ph type="title"/>
          </p:nvPr>
        </p:nvSpPr>
        <p:spPr/>
        <p:txBody>
          <a:bodyPr/>
          <a:lstStyle/>
          <a:p>
            <a:pPr algn="l"/>
            <a:r>
              <a:rPr/>
              <a:t>3.朴素贝叶斯</a:t>
            </a:r>
          </a:p>
        </p:txBody>
      </p:sp>
      <p:sp>
        <p:nvSpPr>
          <p:cNvPr id="3" name="内容占位符 2"/>
          <p:cNvSpPr>
            <a:spLocks noGrp="1"/>
          </p:cNvSpPr>
          <p:nvPr>
            <p:ph idx="1"/>
          </p:nvPr>
        </p:nvSpPr>
        <p:spPr/>
        <p:txBody>
          <a:bodyPr/>
          <a:lstStyle/>
          <a:p>
            <a:r>
              <a:rPr lang="zh-CN" altLang="en-US" b="1" dirty="0">
                <a:latin typeface="+mj-ea"/>
                <a:ea typeface="+mj-ea"/>
              </a:rPr>
              <a:t>拉普拉斯平滑案例：西瓜数据集</a:t>
            </a:r>
            <a:endParaRPr lang="en-US" altLang="zh-CN" b="1" dirty="0">
              <a:latin typeface="+mj-ea"/>
              <a:ea typeface="+mj-ea"/>
            </a:endParaRPr>
          </a:p>
          <a:p>
            <a:r>
              <a:rPr lang="zh-CN" altLang="en-US" dirty="0">
                <a:latin typeface="+mj-ea"/>
                <a:ea typeface="+mj-ea"/>
              </a:rPr>
              <a:t>计算</a:t>
            </a:r>
            <a:r>
              <a:rPr lang="zh-CN" altLang="en-US" b="1" dirty="0">
                <a:solidFill>
                  <a:srgbClr val="FF0000"/>
                </a:solidFill>
                <a:latin typeface="+mj-ea"/>
                <a:ea typeface="+mj-ea"/>
              </a:rPr>
              <a:t>类先验概率</a:t>
            </a:r>
            <a:endParaRPr lang="en-US" altLang="zh-CN" b="1" dirty="0">
              <a:solidFill>
                <a:srgbClr val="FF0000"/>
              </a:solidFill>
              <a:latin typeface="+mj-ea"/>
              <a:ea typeface="+mj-ea"/>
            </a:endParaRPr>
          </a:p>
          <a:p>
            <a:endParaRPr lang="en-US" altLang="zh-CN" b="1" dirty="0">
              <a:solidFill>
                <a:srgbClr val="FF0000"/>
              </a:solidFill>
              <a:latin typeface="+mj-ea"/>
              <a:ea typeface="+mj-ea"/>
            </a:endParaRPr>
          </a:p>
          <a:p>
            <a:endParaRPr lang="en-US" altLang="zh-CN" b="1" dirty="0">
              <a:solidFill>
                <a:srgbClr val="FF0000"/>
              </a:solidFill>
              <a:latin typeface="+mj-ea"/>
              <a:ea typeface="+mj-ea"/>
            </a:endParaRPr>
          </a:p>
          <a:p>
            <a:r>
              <a:rPr lang="zh-CN" altLang="en-US" dirty="0">
                <a:latin typeface="+mj-ea"/>
                <a:ea typeface="+mj-ea"/>
              </a:rPr>
              <a:t>计算</a:t>
            </a:r>
            <a:r>
              <a:rPr lang="zh-CN" altLang="en-US" b="1" dirty="0">
                <a:solidFill>
                  <a:srgbClr val="FF0000"/>
                </a:solidFill>
                <a:latin typeface="+mj-ea"/>
                <a:ea typeface="+mj-ea"/>
              </a:rPr>
              <a:t>条件概率</a:t>
            </a:r>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6"/>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2" name="Rectangle 10"/>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mc:AlternateContent xmlns:mc="http://schemas.openxmlformats.org/markup-compatibility/2006" xmlns:a14="http://schemas.microsoft.com/office/drawing/2010/main">
        <mc:Choice Requires="a14">
          <p:sp>
            <p:nvSpPr>
              <p:cNvPr id="14" name="文本框 13"/>
              <p:cNvSpPr txBox="1"/>
              <p:nvPr/>
            </p:nvSpPr>
            <p:spPr>
              <a:xfrm>
                <a:off x="1548701" y="2895854"/>
                <a:ext cx="3636645" cy="785495"/>
              </a:xfrm>
              <a:prstGeom prst="rect">
                <a:avLst/>
              </a:prstGeom>
              <a:noFill/>
            </p:spPr>
            <p:txBody>
              <a:bodyPr wrap="none" rtlCol="0" anchor="t">
                <a:spAutoFit/>
              </a:bodyPr>
              <a:lstStyle/>
              <a:p>
                <a:pPr algn="l"/>
                <a14:m>
                  <m:oMathPara xmlns:m="http://schemas.openxmlformats.org/officeDocument/2006/math">
                    <m:oMath>
                      <m:acc>
                        <m:accPr>
                          <m:chr m:val="̂"/>
                          <m:ctrlPr>
                            <a:rPr lang="en-US" altLang="zh-CN" i="1">
                              <a:latin typeface="Cambria Math" panose="02040503050406030204" pitchFamily="18" charset="0"/>
                              <a:cs typeface="Cambria Math" panose="02040503050406030204" pitchFamily="18" charset="0"/>
                            </a:rPr>
                          </m:ctrlPr>
                        </m:accPr>
                        <m:e>
                          <m:r>
                            <a:rPr lang="en-US" altLang="zh-CN" i="1">
                              <a:latin typeface="Cambria Math" panose="02040503050406030204" pitchFamily="18" charset="0"/>
                              <a:cs typeface="Cambria Math" panose="02040503050406030204" pitchFamily="18" charset="0"/>
                            </a:rPr>
                            <m:t>𝑃</m:t>
                          </m:r>
                        </m:e>
                      </m:acc>
                      <m:r>
                        <a:rPr lang="en-US" altLang="zh-CN" i="1">
                          <a:latin typeface="Cambria Math" panose="02040503050406030204" pitchFamily="18" charset="0"/>
                          <a:cs typeface="Cambria Math" panose="02040503050406030204" pitchFamily="18" charset="0"/>
                        </a:rPr>
                        <m:t>(好瓜)=</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8+1</m:t>
                          </m:r>
                        </m:num>
                        <m:den>
                          <m:r>
                            <a:rPr lang="en-US" altLang="zh-CN" i="1">
                              <a:latin typeface="Cambria Math" panose="02040503050406030204" pitchFamily="18" charset="0"/>
                              <a:cs typeface="Cambria Math" panose="02040503050406030204" pitchFamily="18" charset="0"/>
                            </a:rPr>
                            <m:t>17+2</m:t>
                          </m:r>
                        </m:den>
                      </m:f>
                      <m:r>
                        <a:rPr lang="en-US" altLang="zh-CN" i="1">
                          <a:latin typeface="Cambria Math" panose="02040503050406030204" pitchFamily="18" charset="0"/>
                          <a:cs typeface="Cambria Math" panose="02040503050406030204" pitchFamily="18" charset="0"/>
                        </a:rPr>
                        <m:t>≈0.474</m:t>
                      </m:r>
                    </m:oMath>
                  </m:oMathPara>
                </a14:m>
                <a:endParaRPr lang="zh-CN" altLang="en-US" dirty="0"/>
              </a:p>
            </p:txBody>
          </p:sp>
        </mc:Choice>
        <mc:Fallback xmlns="">
          <p:sp>
            <p:nvSpPr>
              <p:cNvPr id="14" name="文本框 13"/>
              <p:cNvSpPr txBox="1">
                <a:spLocks noRot="1" noChangeAspect="1" noMove="1" noResize="1" noEditPoints="1" noAdjustHandles="1" noChangeArrowheads="1" noChangeShapeType="1" noTextEdit="1"/>
              </p:cNvSpPr>
              <p:nvPr/>
            </p:nvSpPr>
            <p:spPr>
              <a:xfrm>
                <a:off x="1548701" y="2895854"/>
                <a:ext cx="3636645" cy="785495"/>
              </a:xfrm>
              <a:prstGeom prst="rect">
                <a:avLst/>
              </a:prstGeom>
              <a:blipFill rotWithShape="1">
                <a:blip r:embed="rId2"/>
                <a:stretch>
                  <a:fillRect l="-16" t="-32" r="16" b="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p:cNvSpPr txBox="1"/>
              <p:nvPr/>
            </p:nvSpPr>
            <p:spPr>
              <a:xfrm>
                <a:off x="5622861" y="2935859"/>
                <a:ext cx="3636645" cy="785495"/>
              </a:xfrm>
              <a:prstGeom prst="rect">
                <a:avLst/>
              </a:prstGeom>
              <a:noFill/>
            </p:spPr>
            <p:txBody>
              <a:bodyPr wrap="none" rtlCol="0" anchor="t">
                <a:spAutoFit/>
              </a:bodyPr>
              <a:lstStyle/>
              <a:p>
                <a:pPr algn="l"/>
                <a14:m>
                  <m:oMathPara xmlns:m="http://schemas.openxmlformats.org/officeDocument/2006/math">
                    <m:oMath>
                      <m:acc>
                        <m:accPr>
                          <m:chr m:val="̂"/>
                          <m:ctrlPr>
                            <a:rPr lang="en-US" altLang="zh-CN" i="1">
                              <a:latin typeface="Cambria Math" panose="02040503050406030204" pitchFamily="18" charset="0"/>
                              <a:cs typeface="Cambria Math" panose="02040503050406030204" pitchFamily="18" charset="0"/>
                            </a:rPr>
                          </m:ctrlPr>
                        </m:accPr>
                        <m:e>
                          <m:r>
                            <a:rPr lang="en-US" altLang="zh-CN" i="1">
                              <a:latin typeface="Cambria Math" panose="02040503050406030204" pitchFamily="18" charset="0"/>
                              <a:cs typeface="Cambria Math" panose="02040503050406030204" pitchFamily="18" charset="0"/>
                            </a:rPr>
                            <m:t>𝑃</m:t>
                          </m:r>
                        </m:e>
                      </m:acc>
                      <m:r>
                        <a:rPr lang="en-US" altLang="zh-CN" i="1">
                          <a:latin typeface="Cambria Math" panose="02040503050406030204" pitchFamily="18" charset="0"/>
                          <a:cs typeface="Cambria Math" panose="02040503050406030204" pitchFamily="18" charset="0"/>
                        </a:rPr>
                        <m:t>(坏瓜)=</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9+1</m:t>
                          </m:r>
                        </m:num>
                        <m:den>
                          <m:r>
                            <a:rPr lang="en-US" altLang="zh-CN" i="1">
                              <a:latin typeface="Cambria Math" panose="02040503050406030204" pitchFamily="18" charset="0"/>
                              <a:cs typeface="Cambria Math" panose="02040503050406030204" pitchFamily="18" charset="0"/>
                            </a:rPr>
                            <m:t>17+2</m:t>
                          </m:r>
                        </m:den>
                      </m:f>
                      <m:r>
                        <a:rPr lang="en-US" altLang="zh-CN" i="1">
                          <a:latin typeface="Cambria Math" panose="02040503050406030204" pitchFamily="18" charset="0"/>
                          <a:cs typeface="Cambria Math" panose="02040503050406030204" pitchFamily="18" charset="0"/>
                        </a:rPr>
                        <m:t>≈0.526</m:t>
                      </m:r>
                    </m:oMath>
                  </m:oMathPara>
                </a14:m>
                <a:endParaRPr lang="zh-CN" altLang="en-US"/>
              </a:p>
            </p:txBody>
          </p:sp>
        </mc:Choice>
        <mc:Fallback xmlns="">
          <p:sp>
            <p:nvSpPr>
              <p:cNvPr id="15" name="文本框 14"/>
              <p:cNvSpPr txBox="1">
                <a:spLocks noRot="1" noChangeAspect="1" noMove="1" noResize="1" noEditPoints="1" noAdjustHandles="1" noChangeArrowheads="1" noChangeShapeType="1" noTextEdit="1"/>
              </p:cNvSpPr>
              <p:nvPr/>
            </p:nvSpPr>
            <p:spPr>
              <a:xfrm>
                <a:off x="5622861" y="2935859"/>
                <a:ext cx="3636645" cy="785495"/>
              </a:xfrm>
              <a:prstGeom prst="rect">
                <a:avLst/>
              </a:prstGeom>
              <a:blipFill rotWithShape="1">
                <a:blip r:embed="rId3"/>
                <a:stretch>
                  <a:fillRect l="-16" t="-32" r="16" b="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p:cNvSpPr txBox="1"/>
              <p:nvPr/>
            </p:nvSpPr>
            <p:spPr>
              <a:xfrm>
                <a:off x="735901" y="4658614"/>
                <a:ext cx="5639435" cy="610870"/>
              </a:xfrm>
              <a:prstGeom prst="rect">
                <a:avLst/>
              </a:prstGeom>
              <a:noFill/>
            </p:spPr>
            <p:txBody>
              <a:bodyPr wrap="none" rtlCol="0" anchor="t">
                <a:spAutoFit/>
              </a:bodyPr>
              <a:lstStyle/>
              <a:p>
                <a:pPr algn="l"/>
                <a14:m>
                  <m:oMathPara xmlns:m="http://schemas.openxmlformats.org/officeDocument/2006/math">
                    <m:oMath>
                      <m:sSub>
                        <m:sSubPr>
                          <m:ctrlPr>
                            <a:rPr lang="en-US" altLang="zh-CN" sz="1800" i="1">
                              <a:latin typeface="Cambria Math" panose="02040503050406030204" pitchFamily="18" charset="0"/>
                              <a:cs typeface="Cambria Math" panose="02040503050406030204" pitchFamily="18" charset="0"/>
                            </a:rPr>
                          </m:ctrlPr>
                        </m:sSubPr>
                        <m:e>
                          <m:acc>
                            <m:accPr>
                              <m:chr m:val="̂"/>
                              <m:ctrlPr>
                                <a:rPr lang="en-US" altLang="zh-CN" sz="1800" i="1">
                                  <a:latin typeface="Cambria Math" panose="02040503050406030204" pitchFamily="18" charset="0"/>
                                  <a:cs typeface="Cambria Math" panose="02040503050406030204" pitchFamily="18" charset="0"/>
                                </a:rPr>
                              </m:ctrlPr>
                            </m:accPr>
                            <m:e>
                              <m:r>
                                <a:rPr lang="en-US" altLang="zh-CN" sz="1800" i="1">
                                  <a:latin typeface="Cambria Math" panose="02040503050406030204" pitchFamily="18" charset="0"/>
                                  <a:cs typeface="Cambria Math" panose="02040503050406030204" pitchFamily="18" charset="0"/>
                                </a:rPr>
                                <m:t>𝑃</m:t>
                              </m:r>
                            </m:e>
                          </m:acc>
                        </m:e>
                        <m:sub>
                          <m:r>
                            <a:rPr lang="en-US" altLang="zh-CN" sz="1800" i="1">
                              <a:latin typeface="Cambria Math" panose="02040503050406030204" pitchFamily="18" charset="0"/>
                              <a:cs typeface="Cambria Math" panose="02040503050406030204" pitchFamily="18" charset="0"/>
                            </a:rPr>
                            <m:t>青绿|好瓜</m:t>
                          </m:r>
                        </m:sub>
                      </m:sSub>
                      <m:r>
                        <a:rPr lang="en-US" altLang="zh-CN" sz="1800" i="1">
                          <a:latin typeface="Cambria Math" panose="02040503050406030204" pitchFamily="18" charset="0"/>
                          <a:cs typeface="Cambria Math" panose="02040503050406030204" pitchFamily="18" charset="0"/>
                        </a:rPr>
                        <m:t>=</m:t>
                      </m:r>
                      <m:acc>
                        <m:accPr>
                          <m:chr m:val="̂"/>
                          <m:ctrlPr>
                            <a:rPr lang="en-US" altLang="zh-CN" sz="1800" i="1">
                              <a:latin typeface="Cambria Math" panose="02040503050406030204" pitchFamily="18" charset="0"/>
                              <a:cs typeface="Cambria Math" panose="02040503050406030204" pitchFamily="18" charset="0"/>
                            </a:rPr>
                          </m:ctrlPr>
                        </m:accPr>
                        <m:e>
                          <m:r>
                            <a:rPr lang="en-US" altLang="zh-CN" sz="1800" i="1">
                              <a:latin typeface="Cambria Math" panose="02040503050406030204" pitchFamily="18" charset="0"/>
                              <a:cs typeface="Cambria Math" panose="02040503050406030204" pitchFamily="18" charset="0"/>
                            </a:rPr>
                            <m:t>𝑃</m:t>
                          </m:r>
                        </m:e>
                      </m:acc>
                      <m:r>
                        <a:rPr lang="en-US" altLang="zh-CN" sz="1800" i="1">
                          <a:latin typeface="Cambria Math" panose="02040503050406030204" pitchFamily="18" charset="0"/>
                          <a:cs typeface="Cambria Math" panose="02040503050406030204" pitchFamily="18" charset="0"/>
                        </a:rPr>
                        <m:t>(色泽=青绿|好瓜)=</m:t>
                      </m:r>
                      <m:f>
                        <m:fPr>
                          <m:ctrlPr>
                            <a:rPr lang="en-US" altLang="zh-CN" sz="1800" i="1">
                              <a:latin typeface="Cambria Math" panose="02040503050406030204" pitchFamily="18" charset="0"/>
                              <a:cs typeface="Cambria Math" panose="02040503050406030204" pitchFamily="18" charset="0"/>
                            </a:rPr>
                          </m:ctrlPr>
                        </m:fPr>
                        <m:num>
                          <m:r>
                            <a:rPr lang="en-US" altLang="zh-CN" sz="1800" i="1">
                              <a:latin typeface="Cambria Math" panose="02040503050406030204" pitchFamily="18" charset="0"/>
                              <a:cs typeface="Cambria Math" panose="02040503050406030204" pitchFamily="18" charset="0"/>
                            </a:rPr>
                            <m:t>3+1</m:t>
                          </m:r>
                        </m:num>
                        <m:den>
                          <m:r>
                            <a:rPr lang="en-US" altLang="zh-CN" sz="1800" i="1">
                              <a:latin typeface="Cambria Math" panose="02040503050406030204" pitchFamily="18" charset="0"/>
                              <a:cs typeface="Cambria Math" panose="02040503050406030204" pitchFamily="18" charset="0"/>
                            </a:rPr>
                            <m:t>8+3</m:t>
                          </m:r>
                        </m:den>
                      </m:f>
                      <m:r>
                        <a:rPr lang="en-US" altLang="zh-CN" sz="1800" i="1">
                          <a:latin typeface="Cambria Math" panose="02040503050406030204" pitchFamily="18" charset="0"/>
                          <a:cs typeface="Cambria Math" panose="02040503050406030204" pitchFamily="18" charset="0"/>
                        </a:rPr>
                        <m:t>≈0.</m:t>
                      </m:r>
                      <m:r>
                        <a:rPr lang="en-US" altLang="zh-CN" sz="1800" i="1">
                          <a:latin typeface="Cambria Math" panose="02040503050406030204" pitchFamily="18" charset="0"/>
                          <a:ea typeface="MS Mincho" charset="0"/>
                          <a:cs typeface="Cambria Math" panose="02040503050406030204" pitchFamily="18" charset="0"/>
                        </a:rPr>
                        <m:t>364</m:t>
                      </m:r>
                    </m:oMath>
                  </m:oMathPara>
                </a14:m>
                <a:endParaRPr lang="en-US" altLang="zh-CN" sz="1800" i="1" dirty="0">
                  <a:latin typeface="Cambria Math" panose="02040503050406030204" pitchFamily="18" charset="0"/>
                  <a:ea typeface="MS Mincho" charset="0"/>
                  <a:cs typeface="Cambria Math" panose="02040503050406030204" pitchFamily="18" charset="0"/>
                </a:endParaRPr>
              </a:p>
            </p:txBody>
          </p:sp>
        </mc:Choice>
        <mc:Fallback xmlns="">
          <p:sp>
            <p:nvSpPr>
              <p:cNvPr id="16" name="文本框 15"/>
              <p:cNvSpPr txBox="1">
                <a:spLocks noRot="1" noChangeAspect="1" noMove="1" noResize="1" noEditPoints="1" noAdjustHandles="1" noChangeArrowheads="1" noChangeShapeType="1" noTextEdit="1"/>
              </p:cNvSpPr>
              <p:nvPr/>
            </p:nvSpPr>
            <p:spPr>
              <a:xfrm>
                <a:off x="735901" y="4658614"/>
                <a:ext cx="5639435" cy="610870"/>
              </a:xfrm>
              <a:prstGeom prst="rect">
                <a:avLst/>
              </a:prstGeom>
              <a:blipFill rotWithShape="1">
                <a:blip r:embed="rId4"/>
                <a:stretch>
                  <a:fillRect l="-10" t="-42" r="10" b="4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p:cNvSpPr txBox="1"/>
              <p:nvPr/>
            </p:nvSpPr>
            <p:spPr>
              <a:xfrm>
                <a:off x="6115621" y="4658614"/>
                <a:ext cx="5088255" cy="610870"/>
              </a:xfrm>
              <a:prstGeom prst="rect">
                <a:avLst/>
              </a:prstGeom>
              <a:noFill/>
            </p:spPr>
            <p:txBody>
              <a:bodyPr wrap="none" rtlCol="0" anchor="t">
                <a:spAutoFit/>
              </a:bodyPr>
              <a:lstStyle/>
              <a:p>
                <a:pPr algn="l"/>
                <a14:m>
                  <m:oMathPara xmlns:m="http://schemas.openxmlformats.org/officeDocument/2006/math">
                    <m:oMath>
                      <m:sSub>
                        <m:sSubPr>
                          <m:ctrlPr>
                            <a:rPr lang="en-US" altLang="zh-CN" sz="1800" i="1">
                              <a:latin typeface="Cambria Math" panose="02040503050406030204" pitchFamily="18" charset="0"/>
                              <a:cs typeface="Cambria Math" panose="02040503050406030204" pitchFamily="18" charset="0"/>
                            </a:rPr>
                          </m:ctrlPr>
                        </m:sSubPr>
                        <m:e>
                          <m:acc>
                            <m:accPr>
                              <m:chr m:val="̂"/>
                              <m:ctrlPr>
                                <a:rPr lang="en-US" altLang="zh-CN" sz="1800" i="1">
                                  <a:latin typeface="Cambria Math" panose="02040503050406030204" pitchFamily="18" charset="0"/>
                                  <a:cs typeface="Cambria Math" panose="02040503050406030204" pitchFamily="18" charset="0"/>
                                </a:rPr>
                              </m:ctrlPr>
                            </m:accPr>
                            <m:e>
                              <m:r>
                                <a:rPr lang="en-US" altLang="zh-CN" sz="1800" i="1">
                                  <a:latin typeface="Cambria Math" panose="02040503050406030204" pitchFamily="18" charset="0"/>
                                  <a:cs typeface="Cambria Math" panose="02040503050406030204" pitchFamily="18" charset="0"/>
                                </a:rPr>
                                <m:t>𝑃</m:t>
                              </m:r>
                            </m:e>
                          </m:acc>
                        </m:e>
                        <m:sub>
                          <m:r>
                            <a:rPr lang="en-US" altLang="zh-CN" sz="1800" i="1">
                              <a:latin typeface="Cambria Math" panose="02040503050406030204" pitchFamily="18" charset="0"/>
                              <a:cs typeface="Cambria Math" panose="02040503050406030204" pitchFamily="18" charset="0"/>
                            </a:rPr>
                            <m:t>青绿|坏瓜</m:t>
                          </m:r>
                        </m:sub>
                      </m:sSub>
                      <m:r>
                        <a:rPr lang="en-US" altLang="zh-CN" sz="1800" i="1">
                          <a:latin typeface="Cambria Math" panose="02040503050406030204" pitchFamily="18" charset="0"/>
                          <a:cs typeface="Cambria Math" panose="02040503050406030204" pitchFamily="18" charset="0"/>
                        </a:rPr>
                        <m:t>=</m:t>
                      </m:r>
                      <m:acc>
                        <m:accPr>
                          <m:chr m:val="̂"/>
                          <m:ctrlPr>
                            <a:rPr lang="en-US" altLang="zh-CN" sz="1800" i="1">
                              <a:latin typeface="Cambria Math" panose="02040503050406030204" pitchFamily="18" charset="0"/>
                              <a:cs typeface="Cambria Math" panose="02040503050406030204" pitchFamily="18" charset="0"/>
                            </a:rPr>
                          </m:ctrlPr>
                        </m:accPr>
                        <m:e>
                          <m:r>
                            <a:rPr lang="en-US" altLang="zh-CN" sz="1800" i="1">
                              <a:latin typeface="Cambria Math" panose="02040503050406030204" pitchFamily="18" charset="0"/>
                              <a:cs typeface="Cambria Math" panose="02040503050406030204" pitchFamily="18" charset="0"/>
                            </a:rPr>
                            <m:t>𝑃</m:t>
                          </m:r>
                        </m:e>
                      </m:acc>
                      <m:r>
                        <a:rPr lang="en-US" altLang="zh-CN" sz="1800" i="1">
                          <a:latin typeface="Cambria Math" panose="02040503050406030204" pitchFamily="18" charset="0"/>
                          <a:cs typeface="Cambria Math" panose="02040503050406030204" pitchFamily="18" charset="0"/>
                        </a:rPr>
                        <m:t>(色泽=青绿|坏瓜)=</m:t>
                      </m:r>
                      <m:f>
                        <m:fPr>
                          <m:ctrlPr>
                            <a:rPr lang="en-US" altLang="zh-CN" sz="1800" i="1">
                              <a:latin typeface="Cambria Math" panose="02040503050406030204" pitchFamily="18" charset="0"/>
                              <a:cs typeface="Cambria Math" panose="02040503050406030204" pitchFamily="18" charset="0"/>
                            </a:rPr>
                          </m:ctrlPr>
                        </m:fPr>
                        <m:num>
                          <m:r>
                            <a:rPr lang="en-US" altLang="zh-CN" sz="1800" i="1">
                              <a:latin typeface="Cambria Math" panose="02040503050406030204" pitchFamily="18" charset="0"/>
                              <a:cs typeface="Cambria Math" panose="02040503050406030204" pitchFamily="18" charset="0"/>
                            </a:rPr>
                            <m:t>3+1</m:t>
                          </m:r>
                        </m:num>
                        <m:den>
                          <m:r>
                            <a:rPr lang="en-US" altLang="zh-CN" sz="1800" i="1">
                              <a:latin typeface="Cambria Math" panose="02040503050406030204" pitchFamily="18" charset="0"/>
                              <a:cs typeface="Cambria Math" panose="02040503050406030204" pitchFamily="18" charset="0"/>
                            </a:rPr>
                            <m:t>9+3</m:t>
                          </m:r>
                        </m:den>
                      </m:f>
                      <m:r>
                        <a:rPr lang="en-US" altLang="zh-CN" sz="1800" i="1">
                          <a:latin typeface="Cambria Math" panose="02040503050406030204" pitchFamily="18" charset="0"/>
                          <a:cs typeface="Cambria Math" panose="02040503050406030204" pitchFamily="18" charset="0"/>
                        </a:rPr>
                        <m:t>≈0.</m:t>
                      </m:r>
                      <m:r>
                        <a:rPr lang="en-US" altLang="zh-CN" sz="1800" i="1">
                          <a:latin typeface="Cambria Math" panose="02040503050406030204" pitchFamily="18" charset="0"/>
                          <a:ea typeface="MS Mincho" charset="0"/>
                          <a:cs typeface="Cambria Math" panose="02040503050406030204" pitchFamily="18" charset="0"/>
                        </a:rPr>
                        <m:t>333</m:t>
                      </m:r>
                    </m:oMath>
                  </m:oMathPara>
                </a14:m>
                <a:endParaRPr lang="en-US" altLang="zh-CN" sz="1800" i="1">
                  <a:latin typeface="Cambria Math" panose="02040503050406030204" pitchFamily="18" charset="0"/>
                  <a:ea typeface="MS Mincho" charset="0"/>
                  <a:cs typeface="Cambria Math" panose="02040503050406030204" pitchFamily="18" charset="0"/>
                </a:endParaRPr>
              </a:p>
            </p:txBody>
          </p:sp>
        </mc:Choice>
        <mc:Fallback xmlns="">
          <p:sp>
            <p:nvSpPr>
              <p:cNvPr id="17" name="文本框 16"/>
              <p:cNvSpPr txBox="1">
                <a:spLocks noRot="1" noChangeAspect="1" noMove="1" noResize="1" noEditPoints="1" noAdjustHandles="1" noChangeArrowheads="1" noChangeShapeType="1" noTextEdit="1"/>
              </p:cNvSpPr>
              <p:nvPr/>
            </p:nvSpPr>
            <p:spPr>
              <a:xfrm>
                <a:off x="6115621" y="4658614"/>
                <a:ext cx="5088255" cy="610870"/>
              </a:xfrm>
              <a:prstGeom prst="rect">
                <a:avLst/>
              </a:prstGeom>
              <a:blipFill rotWithShape="1">
                <a:blip r:embed="rId5"/>
                <a:stretch>
                  <a:fillRect l="-11" t="-42" r="11" b="4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p:cNvSpPr txBox="1"/>
              <p:nvPr/>
            </p:nvSpPr>
            <p:spPr>
              <a:xfrm>
                <a:off x="1027366" y="5676519"/>
                <a:ext cx="5088255" cy="610870"/>
              </a:xfrm>
              <a:prstGeom prst="rect">
                <a:avLst/>
              </a:prstGeom>
              <a:noFill/>
            </p:spPr>
            <p:txBody>
              <a:bodyPr wrap="none" rtlCol="0" anchor="t">
                <a:spAutoFit/>
              </a:bodyPr>
              <a:lstStyle/>
              <a:p>
                <a:pPr algn="l"/>
                <a14:m>
                  <m:oMathPara xmlns:m="http://schemas.openxmlformats.org/officeDocument/2006/math">
                    <m:oMath>
                      <m:sSub>
                        <m:sSubPr>
                          <m:ctrlPr>
                            <a:rPr lang="en-US" altLang="zh-CN" sz="1800" i="1">
                              <a:latin typeface="Cambria Math" panose="02040503050406030204" pitchFamily="18" charset="0"/>
                              <a:cs typeface="Cambria Math" panose="02040503050406030204" pitchFamily="18" charset="0"/>
                            </a:rPr>
                          </m:ctrlPr>
                        </m:sSubPr>
                        <m:e>
                          <m:acc>
                            <m:accPr>
                              <m:chr m:val="̂"/>
                              <m:ctrlPr>
                                <a:rPr lang="en-US" altLang="zh-CN" sz="1800" i="1">
                                  <a:latin typeface="Cambria Math" panose="02040503050406030204" pitchFamily="18" charset="0"/>
                                  <a:cs typeface="Cambria Math" panose="02040503050406030204" pitchFamily="18" charset="0"/>
                                </a:rPr>
                              </m:ctrlPr>
                            </m:accPr>
                            <m:e>
                              <m:r>
                                <a:rPr lang="en-US" altLang="zh-CN" sz="1800" i="1">
                                  <a:latin typeface="Cambria Math" panose="02040503050406030204" pitchFamily="18" charset="0"/>
                                  <a:cs typeface="Cambria Math" panose="02040503050406030204" pitchFamily="18" charset="0"/>
                                </a:rPr>
                                <m:t>𝑃</m:t>
                              </m:r>
                            </m:e>
                          </m:acc>
                        </m:e>
                        <m:sub>
                          <m:r>
                            <a:rPr lang="en-US" altLang="zh-CN" sz="1800" i="1">
                              <a:latin typeface="Cambria Math" panose="02040503050406030204" pitchFamily="18" charset="0"/>
                              <a:cs typeface="Cambria Math" panose="02040503050406030204" pitchFamily="18" charset="0"/>
                            </a:rPr>
                            <m:t>清脆|好瓜</m:t>
                          </m:r>
                        </m:sub>
                      </m:sSub>
                      <m:r>
                        <a:rPr lang="en-US" altLang="zh-CN" sz="1800" i="1">
                          <a:latin typeface="Cambria Math" panose="02040503050406030204" pitchFamily="18" charset="0"/>
                          <a:cs typeface="Cambria Math" panose="02040503050406030204" pitchFamily="18" charset="0"/>
                        </a:rPr>
                        <m:t>=</m:t>
                      </m:r>
                      <m:acc>
                        <m:accPr>
                          <m:chr m:val="̂"/>
                          <m:ctrlPr>
                            <a:rPr lang="en-US" altLang="zh-CN" sz="1800" i="1">
                              <a:latin typeface="Cambria Math" panose="02040503050406030204" pitchFamily="18" charset="0"/>
                              <a:cs typeface="Cambria Math" panose="02040503050406030204" pitchFamily="18" charset="0"/>
                            </a:rPr>
                          </m:ctrlPr>
                        </m:accPr>
                        <m:e>
                          <m:r>
                            <a:rPr lang="en-US" altLang="zh-CN" sz="1800" i="1">
                              <a:latin typeface="Cambria Math" panose="02040503050406030204" pitchFamily="18" charset="0"/>
                              <a:cs typeface="Cambria Math" panose="02040503050406030204" pitchFamily="18" charset="0"/>
                            </a:rPr>
                            <m:t>𝑃</m:t>
                          </m:r>
                        </m:e>
                      </m:acc>
                      <m:r>
                        <a:rPr lang="en-US" altLang="zh-CN" sz="1800" i="1">
                          <a:latin typeface="Cambria Math" panose="02040503050406030204" pitchFamily="18" charset="0"/>
                          <a:cs typeface="Cambria Math" panose="02040503050406030204" pitchFamily="18" charset="0"/>
                        </a:rPr>
                        <m:t>(敲声=清脆|好瓜)=</m:t>
                      </m:r>
                      <m:f>
                        <m:fPr>
                          <m:ctrlPr>
                            <a:rPr lang="en-US" altLang="zh-CN" sz="1800" i="1">
                              <a:latin typeface="Cambria Math" panose="02040503050406030204" pitchFamily="18" charset="0"/>
                              <a:cs typeface="Cambria Math" panose="02040503050406030204" pitchFamily="18" charset="0"/>
                            </a:rPr>
                          </m:ctrlPr>
                        </m:fPr>
                        <m:num>
                          <m:r>
                            <a:rPr lang="en-US" altLang="zh-CN" sz="1800" i="1">
                              <a:latin typeface="Cambria Math" panose="02040503050406030204" pitchFamily="18" charset="0"/>
                              <a:cs typeface="Cambria Math" panose="02040503050406030204" pitchFamily="18" charset="0"/>
                            </a:rPr>
                            <m:t>0+1</m:t>
                          </m:r>
                        </m:num>
                        <m:den>
                          <m:r>
                            <a:rPr lang="en-US" altLang="zh-CN" sz="1800" i="1">
                              <a:latin typeface="Cambria Math" panose="02040503050406030204" pitchFamily="18" charset="0"/>
                              <a:cs typeface="Cambria Math" panose="02040503050406030204" pitchFamily="18" charset="0"/>
                            </a:rPr>
                            <m:t>8+3</m:t>
                          </m:r>
                        </m:den>
                      </m:f>
                      <m:r>
                        <a:rPr lang="en-US" altLang="zh-CN" sz="1800" i="1">
                          <a:latin typeface="Cambria Math" panose="02040503050406030204" pitchFamily="18" charset="0"/>
                          <a:cs typeface="Cambria Math" panose="02040503050406030204" pitchFamily="18" charset="0"/>
                        </a:rPr>
                        <m:t>≈0.091</m:t>
                      </m:r>
                    </m:oMath>
                  </m:oMathPara>
                </a14:m>
                <a:endParaRPr lang="en-US" altLang="zh-CN" sz="1800" i="1" dirty="0">
                  <a:latin typeface="Cambria Math" panose="02040503050406030204" pitchFamily="18" charset="0"/>
                  <a:ea typeface="MS Mincho" charset="0"/>
                  <a:cs typeface="Cambria Math" panose="02040503050406030204" pitchFamily="18" charset="0"/>
                </a:endParaRPr>
              </a:p>
            </p:txBody>
          </p:sp>
        </mc:Choice>
        <mc:Fallback xmlns="">
          <p:sp>
            <p:nvSpPr>
              <p:cNvPr id="18" name="文本框 17"/>
              <p:cNvSpPr txBox="1">
                <a:spLocks noRot="1" noChangeAspect="1" noMove="1" noResize="1" noEditPoints="1" noAdjustHandles="1" noChangeArrowheads="1" noChangeShapeType="1" noTextEdit="1"/>
              </p:cNvSpPr>
              <p:nvPr/>
            </p:nvSpPr>
            <p:spPr>
              <a:xfrm>
                <a:off x="1027366" y="5676519"/>
                <a:ext cx="5088255" cy="610870"/>
              </a:xfrm>
              <a:prstGeom prst="rect">
                <a:avLst/>
              </a:prstGeom>
              <a:blipFill rotWithShape="1">
                <a:blip r:embed="rId6"/>
                <a:stretch>
                  <a:fillRect l="-11" t="-42" r="11" b="42"/>
                </a:stretch>
              </a:blipFill>
            </p:spPr>
            <p:txBody>
              <a:bodyPr/>
              <a:lstStyle/>
              <a:p>
                <a:r>
                  <a:rPr lang="zh-CN" altLang="en-US">
                    <a:noFill/>
                  </a:rPr>
                  <a:t> </a:t>
                </a:r>
              </a:p>
            </p:txBody>
          </p:sp>
        </mc:Fallback>
      </mc:AlternateContent>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026B00-76C4-48B4-BC63-6B276F90AE65}"/>
              </a:ext>
            </a:extLst>
          </p:cNvPr>
          <p:cNvSpPr>
            <a:spLocks noGrp="1"/>
          </p:cNvSpPr>
          <p:nvPr>
            <p:ph type="title"/>
          </p:nvPr>
        </p:nvSpPr>
        <p:spPr/>
        <p:txBody>
          <a:bodyPr/>
          <a:lstStyle/>
          <a:p>
            <a:pPr algn="l"/>
            <a:r>
              <a:rPr/>
              <a:t>3.朴素贝叶斯</a:t>
            </a:r>
          </a:p>
        </p:txBody>
      </p:sp>
      <p:sp>
        <p:nvSpPr>
          <p:cNvPr id="3" name="内容占位符 2">
            <a:extLst>
              <a:ext uri="{FF2B5EF4-FFF2-40B4-BE49-F238E27FC236}">
                <a16:creationId xmlns:a16="http://schemas.microsoft.com/office/drawing/2014/main" id="{59C47EB5-5E8E-42C5-B557-2D3CB32C2A18}"/>
              </a:ext>
            </a:extLst>
          </p:cNvPr>
          <p:cNvSpPr>
            <a:spLocks noGrp="1"/>
          </p:cNvSpPr>
          <p:nvPr>
            <p:ph idx="1"/>
          </p:nvPr>
        </p:nvSpPr>
        <p:spPr>
          <a:xfrm>
            <a:off x="247403" y="1416135"/>
            <a:ext cx="11829802" cy="4525963"/>
          </a:xfrm>
        </p:spPr>
        <p:txBody>
          <a:bodyPr>
            <a:normAutofit/>
          </a:bodyPr>
          <a:lstStyle/>
          <a:p>
            <a:r>
              <a:rPr sz="2000" b="1">
                <a:solidFill>
                  <a:srgbClr val="FF0000"/>
                </a:solidFill>
                <a:latin typeface="+mj-ea"/>
                <a:ea typeface="+mj-ea"/>
              </a:rPr>
              <a:t>优点：</a:t>
            </a:r>
          </a:p>
          <a:p>
            <a:pPr lvl="1"/>
            <a:r>
              <a:rPr sz="2000">
                <a:latin typeface="+mj-ea"/>
                <a:ea typeface="+mj-ea"/>
              </a:rPr>
              <a:t>朴素贝叶斯模型有稳定的分类效率。</a:t>
            </a:r>
          </a:p>
          <a:p>
            <a:pPr lvl="1"/>
            <a:r>
              <a:rPr sz="2000">
                <a:latin typeface="+mj-ea"/>
                <a:ea typeface="+mj-ea"/>
              </a:rPr>
              <a:t>对小规模的数据表现很好，能处理多分类任务，适合于增量训练，尤其是数据量超出内存时，可以一批批去增量训练。</a:t>
            </a:r>
          </a:p>
          <a:p>
            <a:pPr lvl="1"/>
            <a:r>
              <a:rPr sz="2000">
                <a:latin typeface="+mj-ea"/>
                <a:ea typeface="+mj-ea"/>
              </a:rPr>
              <a:t>对缺失数据不太敏感，算法也比较简单，常用于文本分类。</a:t>
            </a:r>
          </a:p>
          <a:p>
            <a:r>
              <a:rPr sz="2000" b="1">
                <a:solidFill>
                  <a:srgbClr val="FF0000"/>
                </a:solidFill>
                <a:latin typeface="+mj-ea"/>
                <a:ea typeface="+mj-ea"/>
              </a:rPr>
              <a:t>缺点：</a:t>
            </a:r>
          </a:p>
          <a:p>
            <a:pPr lvl="1"/>
            <a:r>
              <a:rPr sz="2000">
                <a:latin typeface="+mj-ea"/>
                <a:ea typeface="+mj-ea"/>
              </a:rPr>
              <a:t>需要知道先验概率，且先验概率很多时候取决于假设，假设的模型可以有很多种，因此在某些时候会由于假设的先验模型的原因导致预测效果不佳</a:t>
            </a:r>
          </a:p>
          <a:p>
            <a:pPr lvl="1"/>
            <a:r>
              <a:rPr sz="2000">
                <a:latin typeface="+mj-ea"/>
                <a:ea typeface="+mj-ea"/>
              </a:rPr>
              <a:t>对输入数据的表达形式很敏感（离散、连续，值极大极小之类的）。</a:t>
            </a:r>
          </a:p>
          <a:p>
            <a:r>
              <a:rPr sz="2000"/>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80B676-7929-4C41-B0B1-07BC2B66CD22}"/>
              </a:ext>
            </a:extLst>
          </p:cNvPr>
          <p:cNvSpPr>
            <a:spLocks noGrp="1"/>
          </p:cNvSpPr>
          <p:nvPr>
            <p:ph type="title"/>
          </p:nvPr>
        </p:nvSpPr>
        <p:spPr/>
        <p:txBody>
          <a:bodyPr/>
          <a:lstStyle/>
          <a:p>
            <a:pPr algn="l"/>
            <a:r>
              <a:rPr lang="zh-CN" altLang="en-US" dirty="0"/>
              <a:t>半朴素贝叶斯分类器</a:t>
            </a:r>
          </a:p>
        </p:txBody>
      </p:sp>
      <p:sp>
        <p:nvSpPr>
          <p:cNvPr id="3" name="内容占位符 2">
            <a:extLst>
              <a:ext uri="{FF2B5EF4-FFF2-40B4-BE49-F238E27FC236}">
                <a16:creationId xmlns:a16="http://schemas.microsoft.com/office/drawing/2014/main" id="{8F0A863E-C031-4DBD-947C-32B799B6EC3C}"/>
              </a:ext>
            </a:extLst>
          </p:cNvPr>
          <p:cNvSpPr>
            <a:spLocks noGrp="1"/>
          </p:cNvSpPr>
          <p:nvPr>
            <p:ph idx="1"/>
          </p:nvPr>
        </p:nvSpPr>
        <p:spPr>
          <a:xfrm>
            <a:off x="609600" y="1600200"/>
            <a:ext cx="10972800" cy="2476500"/>
          </a:xfrm>
        </p:spPr>
        <p:txBody>
          <a:bodyPr>
            <a:normAutofit/>
          </a:bodyPr>
          <a:lstStyle/>
          <a:p>
            <a:r>
              <a:rPr sz="2200">
                <a:latin typeface="+mj-ea"/>
                <a:ea typeface="+mj-ea"/>
              </a:rPr>
              <a:t>以适当考虑一部分属性之间的相互依赖信息，从而既不需要进行完全联合概率计算，又不至于彻底忽略了比较强的相互依赖关系，“独依赖估计”是半朴素贝叶斯分类器中最常用的一种策略。顾名思义，所谓“独依赖”，就是</a:t>
            </a:r>
            <a:r>
              <a:rPr sz="2200" b="1">
                <a:solidFill>
                  <a:srgbClr val="FF0000"/>
                </a:solidFill>
                <a:latin typeface="+mj-ea"/>
                <a:ea typeface="+mj-ea"/>
              </a:rPr>
              <a:t>假设每个属性在类别之外最多依赖于一个其他属性</a:t>
            </a:r>
            <a:r>
              <a:rPr sz="2200">
                <a:latin typeface="+mj-ea"/>
                <a:ea typeface="+mj-ea"/>
              </a:rPr>
              <a:t>。</a:t>
            </a:r>
          </a:p>
          <a:p>
            <a:r>
              <a:rPr sz="2200">
                <a:latin typeface="+mj-ea"/>
                <a:ea typeface="+mj-ea"/>
              </a:rPr>
              <a:t/>
            </a:r>
          </a:p>
          <a:p>
            <a:r>
              <a:rPr sz="2200"/>
              <a:t/>
            </a:r>
          </a:p>
          <a:p>
            <a:r>
              <a:rPr sz="2200">
                <a:latin typeface="+mj-ea"/>
                <a:ea typeface="+mj-ea"/>
              </a:rPr>
              <a:t>对每个属性而言，若每个父属性已知的情况下，则可以采用类似估计条件概率的方法来估计</a:t>
            </a:r>
            <a:r>
              <a:rPr sz="2200">
                <a:latin typeface="+mj-ea"/>
                <a:ea typeface="+mj-ea"/>
              </a:rPr>
              <a:t>条件概率</a:t>
            </a:r>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TextBox 7"/>
          <p:cNvSpPr txBox="1"/>
          <p:nvPr/>
        </p:nvSpPr>
        <p:spPr>
          <a:xfrm>
            <a:off x="5541367" y="4254286"/>
            <a:ext cx="1107996" cy="461665"/>
          </a:xfrm>
          <a:prstGeom prst="rect">
            <a:avLst/>
          </a:prstGeom>
          <a:noFill/>
        </p:spPr>
        <p:txBody>
          <a:bodyPr wrap="none" rtlCol="0">
            <a:spAutoFit/>
          </a:bodyPr>
          <a:lstStyle/>
          <a:p>
            <a:r>
              <a:rPr lang="zh-CN" altLang="en-US" b="1" dirty="0"/>
              <a:t>父属性</a:t>
            </a:r>
          </a:p>
        </p:txBody>
      </p:sp>
      <mc:AlternateContent xmlns:mc="http://schemas.openxmlformats.org/markup-compatibility/2006" xmlns:a14="http://schemas.microsoft.com/office/drawing/2010/main">
        <mc:Choice Requires="a14">
          <p:sp>
            <p:nvSpPr>
              <p:cNvPr id="9" name="文本框 8"/>
              <p:cNvSpPr txBox="1"/>
              <p:nvPr/>
            </p:nvSpPr>
            <p:spPr>
              <a:xfrm>
                <a:off x="1512506" y="4183634"/>
                <a:ext cx="4115435" cy="1149350"/>
              </a:xfrm>
              <a:prstGeom prst="rect">
                <a:avLst/>
              </a:prstGeom>
              <a:noFill/>
            </p:spPr>
            <p:txBody>
              <a:bodyPr wrap="none" rtlCol="0" anchor="t">
                <a:spAutoFit/>
              </a:bodyPr>
              <a:lstStyle/>
              <a:p>
                <a:pPr algn="l"/>
                <a14:m>
                  <m:oMathPara xmlns:m="http://schemas.openxmlformats.org/officeDocument/2006/math">
                    <m:o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𝑐</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𝑥</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𝑐</m:t>
                      </m:r>
                      <m:r>
                        <a:rPr lang="en-US" altLang="zh-CN" i="1">
                          <a:latin typeface="Cambria Math" panose="02040503050406030204" pitchFamily="18" charset="0"/>
                          <a:cs typeface="Cambria Math" panose="02040503050406030204" pitchFamily="18" charset="0"/>
                        </a:rPr>
                        <m:t>)</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𝑑</m:t>
                          </m:r>
                        </m:sup>
                        <m:e>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𝑐</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𝑝</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𝑎</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e>
                      </m:nary>
                    </m:oMath>
                  </m:oMathPara>
                </a14:m>
                <a:endParaRPr lang="zh-CN" altLang="en-US" dirty="0"/>
              </a:p>
            </p:txBody>
          </p:sp>
        </mc:Choice>
        <mc:Fallback xmlns="">
          <p:sp>
            <p:nvSpPr>
              <p:cNvPr id="9" name="文本框 8"/>
              <p:cNvSpPr txBox="1">
                <a:spLocks noRot="1" noChangeAspect="1" noMove="1" noResize="1" noEditPoints="1" noAdjustHandles="1" noChangeArrowheads="1" noChangeShapeType="1" noTextEdit="1"/>
              </p:cNvSpPr>
              <p:nvPr/>
            </p:nvSpPr>
            <p:spPr>
              <a:xfrm>
                <a:off x="1512506" y="4183634"/>
                <a:ext cx="4115435" cy="1149350"/>
              </a:xfrm>
              <a:prstGeom prst="rect">
                <a:avLst/>
              </a:prstGeom>
              <a:blipFill rotWithShape="1">
                <a:blip r:embed="rId2"/>
                <a:stretch>
                  <a:fillRect l="-14" t="-22" r="14" b="22"/>
                </a:stretch>
              </a:blipFill>
            </p:spPr>
            <p:txBody>
              <a:bodyPr/>
              <a:lstStyle/>
              <a:p>
                <a:r>
                  <a:rPr lang="zh-CN" altLang="en-US">
                    <a:noFill/>
                  </a:rPr>
                  <a:t> </a:t>
                </a:r>
              </a:p>
            </p:txBody>
          </p:sp>
        </mc:Fallback>
      </mc:AlternateContent>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a:extLst>
              <a:ext uri="{FF2B5EF4-FFF2-40B4-BE49-F238E27FC236}">
                <a16:creationId xmlns:a16="http://schemas.microsoft.com/office/drawing/2014/main" id="{6715FF06-650E-4A35-838D-2356A11AB5D2}"/>
              </a:ext>
            </a:extLst>
          </p:cNvPr>
          <p:cNvSpPr/>
          <p:nvPr/>
        </p:nvSpPr>
        <p:spPr>
          <a:xfrm>
            <a:off x="0" y="1000125"/>
            <a:ext cx="647700" cy="266700"/>
          </a:xfrm>
          <a:prstGeom prst="rect">
            <a:avLst/>
          </a:prstGeom>
          <a:solidFill>
            <a:srgbClr val="A50021"/>
          </a:solidFill>
        </p:spPr>
        <p:txBody>
          <a:bodyPr wrap="square" rtlCol="0"/>
          <a:lstStyle/>
          <a:p>
            <a:r>
              <a:rPr/>
              <a:t/>
            </a:r>
          </a:p>
        </p:txBody>
      </p:sp>
      <p:sp>
        <p:nvSpPr>
          <p:cNvPr id="4" name="Shape 4">
            <a:extLst>
              <a:ext uri="{FF2B5EF4-FFF2-40B4-BE49-F238E27FC236}">
                <a16:creationId xmlns:a16="http://schemas.microsoft.com/office/drawing/2014/main" id="{8D37448E-1935-4DEF-94D0-0C1C8F7C5ECA}"/>
              </a:ext>
            </a:extLst>
          </p:cNvPr>
          <p:cNvSpPr/>
          <p:nvPr/>
        </p:nvSpPr>
        <p:spPr>
          <a:xfrm>
            <a:off x="704850" y="1000125"/>
            <a:ext cx="11487150" cy="266700"/>
          </a:xfrm>
          <a:prstGeom prst="rect">
            <a:avLst/>
          </a:prstGeom>
          <a:solidFill>
            <a:srgbClr val="0066CC"/>
          </a:solidFill>
        </p:spPr>
        <p:txBody>
          <a:bodyPr wrap="square" rtlCol="0"/>
          <a:lstStyle/>
          <a:p>
            <a:r>
              <a:rPr/>
              <a:t/>
            </a:r>
          </a:p>
        </p:txBody>
      </p:sp>
      <p:sp>
        <p:nvSpPr>
          <p:cNvPr id="5" name="TextBox 5">
            <a:extLst>
              <a:ext uri="{FF2B5EF4-FFF2-40B4-BE49-F238E27FC236}">
                <a16:creationId xmlns:a16="http://schemas.microsoft.com/office/drawing/2014/main" id="{E2DED15C-41D6-4C67-983F-5B3D3D3E3B54}"/>
              </a:ext>
            </a:extLst>
          </p:cNvPr>
          <p:cNvSpPr txBox="1"/>
          <p:nvPr/>
        </p:nvSpPr>
        <p:spPr>
          <a:xfrm>
            <a:off x="9334500" y="1038225"/>
            <a:ext cx="2762250" cy="190500"/>
          </a:xfrm>
        </p:spPr>
        <p:txBody>
          <a:bodyPr wrap="square" rtlCol="0" lIns="0" tIns="0" rIns="0" bIns="0" anchor="ctr"/>
          <a:lstStyle/>
          <a:p>
            <a:pPr algn="r"/>
            <a:r>
              <a:rPr sz="1200" b="1">
                <a:solidFill>
                  <a:srgbClr val="FFFFFF"/>
                </a:solidFill>
                <a:latin typeface="Microsoft YaHei"/>
                <a:ea typeface="Microsoft YaHei"/>
              </a:rPr>
              <a:t>朴素贝叶斯 · 图解 1</a:t>
            </a:r>
          </a:p>
        </p:txBody>
      </p:sp>
      <p:sp>
        <p:nvSpPr>
          <p:cNvPr id="6" name="TextBox 6">
            <a:extLst>
              <a:ext uri="{FF2B5EF4-FFF2-40B4-BE49-F238E27FC236}">
                <a16:creationId xmlns:a16="http://schemas.microsoft.com/office/drawing/2014/main" id="{5A3CCAB9-E5C7-4FB9-A98B-01F66878CC31}"/>
              </a:ext>
            </a:extLst>
          </p:cNvPr>
          <p:cNvSpPr txBox="1"/>
          <p:nvPr/>
        </p:nvSpPr>
        <p:spPr>
          <a:xfrm>
            <a:off x="295275" y="219075"/>
            <a:ext cx="10953750" cy="619125"/>
          </a:xfrm>
        </p:spPr>
        <p:txBody>
          <a:bodyPr wrap="square" rtlCol="0" lIns="0" tIns="0" rIns="0" bIns="0" anchor="t"/>
          <a:lstStyle/>
          <a:p>
            <a:pPr algn="l"/>
            <a:r>
              <a:rPr sz="3400" b="1">
                <a:solidFill>
                  <a:srgbClr val="000000"/>
                </a:solidFill>
                <a:latin typeface="Microsoft YaHei"/>
                <a:ea typeface="Microsoft YaHei"/>
              </a:rPr>
              <a:t>一条证据有多强</a:t>
            </a:r>
          </a:p>
        </p:txBody>
      </p:sp>
      <p:sp>
        <p:nvSpPr>
          <p:cNvPr id="7" name="TextBox 7">
            <a:extLst>
              <a:ext uri="{FF2B5EF4-FFF2-40B4-BE49-F238E27FC236}">
                <a16:creationId xmlns:a16="http://schemas.microsoft.com/office/drawing/2014/main" id="{DC45D2EE-1189-4DD9-AFCC-65130734C5BF}"/>
              </a:ext>
            </a:extLst>
          </p:cNvPr>
          <p:cNvSpPr txBox="1"/>
          <p:nvPr/>
        </p:nvSpPr>
        <p:spPr>
          <a:xfrm>
            <a:off x="609600" y="1333500"/>
            <a:ext cx="10953750" cy="381000"/>
          </a:xfrm>
        </p:spPr>
        <p:txBody>
          <a:bodyPr wrap="square" rtlCol="0" lIns="0" tIns="0" rIns="0" bIns="0" anchor="t"/>
          <a:lstStyle/>
          <a:p>
            <a:pPr algn="l"/>
            <a:r>
              <a:rPr sz="2000">
                <a:solidFill>
                  <a:srgbClr val="333333"/>
                </a:solidFill>
                <a:latin typeface="Microsoft YaHei"/>
                <a:ea typeface="Microsoft YaHei"/>
              </a:rPr>
              <a:t>看它在两类里差得多不多，而不是它本身出现得多不多。</a:t>
            </a:r>
          </a:p>
        </p:txBody>
      </p:sp>
      <p:pic>
        <p:nvPicPr>
          <p:cNvPr id="8" name="Picture 8">
            <a:extLst>
              <a:ext uri="{FF2B5EF4-FFF2-40B4-BE49-F238E27FC236}">
                <a16:creationId xmlns:a16="http://schemas.microsoft.com/office/drawing/2014/main" id="{1291297D-3C11-43A2-8FDC-42B99B883AEB}"/>
              </a:ext>
            </a:extLst>
          </p:cNvPr>
          <p:cNvPicPr/>
          <p:nvPr/>
        </p:nvPicPr>
        <p:blipFill>
          <a:blip r:embed="rId2"/>
          <a:stretch>
            <a:fillRect/>
          </a:stretch>
        </p:blipFill>
        <p:spPr>
          <a:xfrm>
            <a:off x="666750" y="1809750"/>
            <a:ext cx="6667500" cy="3800475"/>
          </a:xfrm>
          <a:prstGeom prst="rect">
            <a:avLst/>
          </a:prstGeom>
        </p:spPr>
      </p:pic>
      <p:sp>
        <p:nvSpPr>
          <p:cNvPr id="9" name="TextBox 9">
            <a:extLst>
              <a:ext uri="{FF2B5EF4-FFF2-40B4-BE49-F238E27FC236}">
                <a16:creationId xmlns:a16="http://schemas.microsoft.com/office/drawing/2014/main" id="{AAA22E01-7B45-45E6-A3C6-379ABADACF64}"/>
              </a:ext>
            </a:extLst>
          </p:cNvPr>
          <p:cNvSpPr txBox="1"/>
          <p:nvPr/>
        </p:nvSpPr>
        <p:spPr>
          <a:xfrm>
            <a:off x="7620000" y="1809750"/>
            <a:ext cx="3905250" cy="3905250"/>
          </a:xfrm>
        </p:spPr>
        <p:txBody>
          <a:bodyPr wrap="square" rtlCol="0" lIns="0" tIns="0" rIns="0" bIns="0" anchor="t"/>
          <a:lstStyle/>
          <a:p>
            <a:pPr algn="l">
              <a:lnSpc>
                <a:spcPct val="120000"/>
              </a:lnSpc>
              <a:spcAft>
                <a:spcPts val="1000"/>
              </a:spcAft>
            </a:pPr>
            <a:r>
              <a:rPr sz="2000">
                <a:solidFill>
                  <a:srgbClr val="000000"/>
                </a:solidFill>
                <a:latin typeface="Microsoft YaHei"/>
                <a:ea typeface="Microsoft YaHei"/>
              </a:rPr>
              <a:t>• 似然比 = 欺诈交易中出现比例 ÷ 正常交易中出现比例。</a:t>
            </a:r>
          </a:p>
          <a:p>
            <a:pPr algn="l">
              <a:lnSpc>
                <a:spcPct val="120000"/>
              </a:lnSpc>
              <a:spcAft>
                <a:spcPts val="1000"/>
              </a:spcAft>
            </a:pPr>
            <a:r>
              <a:rPr sz="2000">
                <a:solidFill>
                  <a:srgbClr val="000000"/>
                </a:solidFill>
                <a:latin typeface="Microsoft YaHei"/>
                <a:ea typeface="Microsoft YaHei"/>
              </a:rPr>
              <a:t>• “凌晨”的似然比约 14 倍，是最强的一条；异地约 6 倍，新设备约 5 倍。</a:t>
            </a:r>
          </a:p>
          <a:p>
            <a:pPr algn="l">
              <a:lnSpc>
                <a:spcPct val="120000"/>
              </a:lnSpc>
              <a:spcAft>
                <a:spcPts val="1000"/>
              </a:spcAft>
            </a:pPr>
            <a:r>
              <a:rPr sz="2000">
                <a:solidFill>
                  <a:srgbClr val="000000"/>
                </a:solidFill>
                <a:latin typeface="Microsoft YaHei"/>
                <a:ea typeface="Microsoft YaHei"/>
              </a:rPr>
              <a:t>• 单一“异地”信号只能把欺诈概率从 1% 推到 5.7%，先验很关键。</a:t>
            </a:r>
          </a:p>
        </p:txBody>
      </p:sp>
      <p:sp>
        <p:nvSpPr>
          <p:cNvPr id="10" name="TextBox 10">
            <a:extLst>
              <a:ext uri="{FF2B5EF4-FFF2-40B4-BE49-F238E27FC236}">
                <a16:creationId xmlns:a16="http://schemas.microsoft.com/office/drawing/2014/main" id="{6BCDAB85-0CEB-44DF-BEF6-72C29F8F2E3F}"/>
              </a:ext>
            </a:extLst>
          </p:cNvPr>
          <p:cNvSpPr txBox="1"/>
          <p:nvPr/>
        </p:nvSpPr>
        <p:spPr>
          <a:xfrm>
            <a:off x="666750" y="6286500"/>
            <a:ext cx="10477500" cy="228600"/>
          </a:xfrm>
        </p:spPr>
        <p:txBody>
          <a:bodyPr wrap="square" rtlCol="0" lIns="0" tIns="0" rIns="0" bIns="0" anchor="t"/>
          <a:lstStyle/>
          <a:p>
            <a:pPr algn="l"/>
            <a:r>
              <a:rPr sz="1400">
                <a:solidFill>
                  <a:srgbClr val="666666"/>
                </a:solidFill>
                <a:latin typeface="Microsoft YaHei"/>
                <a:ea typeface="Microsoft YaHei"/>
              </a:rPr>
              <a:t>案例：10,000 笔信用卡交易，100 笔欺诈（教学构造数据）。</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a:extLst>
              <a:ext uri="{FF2B5EF4-FFF2-40B4-BE49-F238E27FC236}">
                <a16:creationId xmlns:a16="http://schemas.microsoft.com/office/drawing/2014/main" id="{4DEA4B4D-DFA7-4D99-BA55-7C04587676C3}"/>
              </a:ext>
            </a:extLst>
          </p:cNvPr>
          <p:cNvSpPr/>
          <p:nvPr/>
        </p:nvSpPr>
        <p:spPr>
          <a:xfrm>
            <a:off x="0" y="1000125"/>
            <a:ext cx="647700" cy="266700"/>
          </a:xfrm>
          <a:prstGeom prst="rect">
            <a:avLst/>
          </a:prstGeom>
          <a:solidFill>
            <a:srgbClr val="A50021"/>
          </a:solidFill>
        </p:spPr>
        <p:txBody>
          <a:bodyPr wrap="square" rtlCol="0"/>
          <a:lstStyle/>
          <a:p>
            <a:r>
              <a:rPr/>
              <a:t/>
            </a:r>
          </a:p>
        </p:txBody>
      </p:sp>
      <p:sp>
        <p:nvSpPr>
          <p:cNvPr id="4" name="Shape 4">
            <a:extLst>
              <a:ext uri="{FF2B5EF4-FFF2-40B4-BE49-F238E27FC236}">
                <a16:creationId xmlns:a16="http://schemas.microsoft.com/office/drawing/2014/main" id="{E65110FA-9A53-491E-B4CA-79F98E063D3D}"/>
              </a:ext>
            </a:extLst>
          </p:cNvPr>
          <p:cNvSpPr/>
          <p:nvPr/>
        </p:nvSpPr>
        <p:spPr>
          <a:xfrm>
            <a:off x="704850" y="1000125"/>
            <a:ext cx="11487150" cy="266700"/>
          </a:xfrm>
          <a:prstGeom prst="rect">
            <a:avLst/>
          </a:prstGeom>
          <a:solidFill>
            <a:srgbClr val="0066CC"/>
          </a:solidFill>
        </p:spPr>
        <p:txBody>
          <a:bodyPr wrap="square" rtlCol="0"/>
          <a:lstStyle/>
          <a:p>
            <a:r>
              <a:rPr/>
              <a:t/>
            </a:r>
          </a:p>
        </p:txBody>
      </p:sp>
      <p:sp>
        <p:nvSpPr>
          <p:cNvPr id="5" name="TextBox 5">
            <a:extLst>
              <a:ext uri="{FF2B5EF4-FFF2-40B4-BE49-F238E27FC236}">
                <a16:creationId xmlns:a16="http://schemas.microsoft.com/office/drawing/2014/main" id="{72740697-4FB6-4D42-AE68-8B4C41D50515}"/>
              </a:ext>
            </a:extLst>
          </p:cNvPr>
          <p:cNvSpPr txBox="1"/>
          <p:nvPr/>
        </p:nvSpPr>
        <p:spPr>
          <a:xfrm>
            <a:off x="9334500" y="1038225"/>
            <a:ext cx="2762250" cy="190500"/>
          </a:xfrm>
        </p:spPr>
        <p:txBody>
          <a:bodyPr wrap="square" rtlCol="0" lIns="0" tIns="0" rIns="0" bIns="0" anchor="ctr"/>
          <a:lstStyle/>
          <a:p>
            <a:pPr algn="r"/>
            <a:r>
              <a:rPr sz="1200" b="1">
                <a:solidFill>
                  <a:srgbClr val="FFFFFF"/>
                </a:solidFill>
                <a:latin typeface="Microsoft YaHei"/>
                <a:ea typeface="Microsoft YaHei"/>
              </a:rPr>
              <a:t>朴素贝叶斯 · 图解 2</a:t>
            </a:r>
          </a:p>
        </p:txBody>
      </p:sp>
      <p:sp>
        <p:nvSpPr>
          <p:cNvPr id="6" name="TextBox 6">
            <a:extLst>
              <a:ext uri="{FF2B5EF4-FFF2-40B4-BE49-F238E27FC236}">
                <a16:creationId xmlns:a16="http://schemas.microsoft.com/office/drawing/2014/main" id="{2195AA96-69AE-4CCD-BBB3-11C0DB77A07B}"/>
              </a:ext>
            </a:extLst>
          </p:cNvPr>
          <p:cNvSpPr txBox="1"/>
          <p:nvPr/>
        </p:nvSpPr>
        <p:spPr>
          <a:xfrm>
            <a:off x="295275" y="219075"/>
            <a:ext cx="10953750" cy="619125"/>
          </a:xfrm>
        </p:spPr>
        <p:txBody>
          <a:bodyPr wrap="square" rtlCol="0" lIns="0" tIns="0" rIns="0" bIns="0" anchor="t"/>
          <a:lstStyle/>
          <a:p>
            <a:pPr algn="l"/>
            <a:r>
              <a:rPr sz="3400" b="1">
                <a:solidFill>
                  <a:srgbClr val="000000"/>
                </a:solidFill>
                <a:latin typeface="Microsoft YaHei"/>
                <a:ea typeface="Microsoft YaHei"/>
              </a:rPr>
              <a:t>数人头就能算贝叶斯</a:t>
            </a:r>
          </a:p>
        </p:txBody>
      </p:sp>
      <p:sp>
        <p:nvSpPr>
          <p:cNvPr id="7" name="TextBox 7">
            <a:extLst>
              <a:ext uri="{FF2B5EF4-FFF2-40B4-BE49-F238E27FC236}">
                <a16:creationId xmlns:a16="http://schemas.microsoft.com/office/drawing/2014/main" id="{70062361-74CB-4E7A-B1F9-8AB319E52AE2}"/>
              </a:ext>
            </a:extLst>
          </p:cNvPr>
          <p:cNvSpPr txBox="1"/>
          <p:nvPr/>
        </p:nvSpPr>
        <p:spPr>
          <a:xfrm>
            <a:off x="609600" y="1333500"/>
            <a:ext cx="10953750" cy="381000"/>
          </a:xfrm>
        </p:spPr>
        <p:txBody>
          <a:bodyPr wrap="square" rtlCol="0" lIns="0" tIns="0" rIns="0" bIns="0" anchor="t"/>
          <a:lstStyle/>
          <a:p>
            <a:pPr algn="l"/>
            <a:r>
              <a:rPr sz="2000">
                <a:solidFill>
                  <a:srgbClr val="333333"/>
                </a:solidFill>
                <a:latin typeface="Microsoft YaHei"/>
                <a:ea typeface="Microsoft YaHei"/>
              </a:rPr>
              <a:t>把概率换成一万笔交易里有多少笔，公式就变成数数题。</a:t>
            </a:r>
          </a:p>
        </p:txBody>
      </p:sp>
      <p:pic>
        <p:nvPicPr>
          <p:cNvPr id="8" name="Picture 8">
            <a:extLst>
              <a:ext uri="{FF2B5EF4-FFF2-40B4-BE49-F238E27FC236}">
                <a16:creationId xmlns:a16="http://schemas.microsoft.com/office/drawing/2014/main" id="{10B67045-3D9D-4EC9-BF1F-8DD4BB8B3923}"/>
              </a:ext>
            </a:extLst>
          </p:cNvPr>
          <p:cNvPicPr/>
          <p:nvPr/>
        </p:nvPicPr>
        <p:blipFill>
          <a:blip r:embed="rId2"/>
          <a:stretch>
            <a:fillRect/>
          </a:stretch>
        </p:blipFill>
        <p:spPr>
          <a:xfrm>
            <a:off x="666750" y="1809750"/>
            <a:ext cx="6667500" cy="3714750"/>
          </a:xfrm>
          <a:prstGeom prst="rect">
            <a:avLst/>
          </a:prstGeom>
        </p:spPr>
      </p:pic>
      <p:sp>
        <p:nvSpPr>
          <p:cNvPr id="9" name="TextBox 9">
            <a:extLst>
              <a:ext uri="{FF2B5EF4-FFF2-40B4-BE49-F238E27FC236}">
                <a16:creationId xmlns:a16="http://schemas.microsoft.com/office/drawing/2014/main" id="{9BFB04E3-43D2-43BE-88C2-D5D0EBE044AF}"/>
              </a:ext>
            </a:extLst>
          </p:cNvPr>
          <p:cNvSpPr txBox="1"/>
          <p:nvPr/>
        </p:nvSpPr>
        <p:spPr>
          <a:xfrm>
            <a:off x="7620000" y="1809750"/>
            <a:ext cx="3905250" cy="3905250"/>
          </a:xfrm>
        </p:spPr>
        <p:txBody>
          <a:bodyPr wrap="square" rtlCol="0" lIns="0" tIns="0" rIns="0" bIns="0" anchor="t"/>
          <a:lstStyle/>
          <a:p>
            <a:pPr algn="l">
              <a:lnSpc>
                <a:spcPct val="120000"/>
              </a:lnSpc>
              <a:spcAft>
                <a:spcPts val="1000"/>
              </a:spcAft>
            </a:pPr>
            <a:r>
              <a:rPr sz="2000">
                <a:solidFill>
                  <a:srgbClr val="000000"/>
                </a:solidFill>
                <a:latin typeface="Microsoft YaHei"/>
                <a:ea typeface="Microsoft YaHei"/>
              </a:rPr>
              <a:t>• 异地交易共 1,050 笔，其中欺诈 60 笔。</a:t>
            </a:r>
          </a:p>
          <a:p>
            <a:pPr algn="l">
              <a:lnSpc>
                <a:spcPct val="120000"/>
              </a:lnSpc>
              <a:spcAft>
                <a:spcPts val="1000"/>
              </a:spcAft>
            </a:pPr>
            <a:r>
              <a:rPr sz="2000">
                <a:solidFill>
                  <a:srgbClr val="000000"/>
                </a:solidFill>
                <a:latin typeface="Microsoft YaHei"/>
                <a:ea typeface="Microsoft YaHei"/>
              </a:rPr>
              <a:t>• 60 ÷ 1,050 ≈ 5.7%，与贝叶斯公式结果一致。</a:t>
            </a:r>
          </a:p>
          <a:p>
            <a:pPr algn="l">
              <a:lnSpc>
                <a:spcPct val="120000"/>
              </a:lnSpc>
              <a:spcAft>
                <a:spcPts val="1000"/>
              </a:spcAft>
            </a:pPr>
            <a:r>
              <a:rPr sz="2000">
                <a:solidFill>
                  <a:srgbClr val="000000"/>
                </a:solidFill>
                <a:latin typeface="Microsoft YaHei"/>
                <a:ea typeface="Microsoft YaHei"/>
              </a:rPr>
              <a:t>• 先验是第一层分叉，似然是第二层分叉，后验是把同一条件下的两类放在一起比。</a:t>
            </a:r>
          </a:p>
        </p:txBody>
      </p:sp>
      <p:sp>
        <p:nvSpPr>
          <p:cNvPr id="10" name="TextBox 10">
            <a:extLst>
              <a:ext uri="{FF2B5EF4-FFF2-40B4-BE49-F238E27FC236}">
                <a16:creationId xmlns:a16="http://schemas.microsoft.com/office/drawing/2014/main" id="{D3A8BBD2-C089-4621-A2AF-00E0C86CA3D4}"/>
              </a:ext>
            </a:extLst>
          </p:cNvPr>
          <p:cNvSpPr txBox="1"/>
          <p:nvPr/>
        </p:nvSpPr>
        <p:spPr>
          <a:xfrm>
            <a:off x="666750" y="6286500"/>
            <a:ext cx="10477500" cy="228600"/>
          </a:xfrm>
        </p:spPr>
        <p:txBody>
          <a:bodyPr wrap="square" rtlCol="0" lIns="0" tIns="0" rIns="0" bIns="0" anchor="t"/>
          <a:lstStyle/>
          <a:p>
            <a:pPr algn="l"/>
            <a:r>
              <a:rPr sz="1400">
                <a:solidFill>
                  <a:srgbClr val="666666"/>
                </a:solidFill>
                <a:latin typeface="Microsoft YaHei"/>
                <a:ea typeface="Microsoft YaHei"/>
              </a:rPr>
              <a:t>频数树适合先建立直觉，再回到公式。</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a:extLst>
              <a:ext uri="{FF2B5EF4-FFF2-40B4-BE49-F238E27FC236}">
                <a16:creationId xmlns:a16="http://schemas.microsoft.com/office/drawing/2014/main" id="{B0A95B0A-9156-49E9-9625-4495F685D0B0}"/>
              </a:ext>
            </a:extLst>
          </p:cNvPr>
          <p:cNvSpPr/>
          <p:nvPr/>
        </p:nvSpPr>
        <p:spPr>
          <a:xfrm>
            <a:off x="0" y="1000125"/>
            <a:ext cx="647700" cy="266700"/>
          </a:xfrm>
          <a:prstGeom prst="rect">
            <a:avLst/>
          </a:prstGeom>
          <a:solidFill>
            <a:srgbClr val="A50021"/>
          </a:solidFill>
        </p:spPr>
        <p:txBody>
          <a:bodyPr wrap="square" rtlCol="0"/>
          <a:lstStyle/>
          <a:p>
            <a:r>
              <a:rPr/>
              <a:t/>
            </a:r>
          </a:p>
        </p:txBody>
      </p:sp>
      <p:sp>
        <p:nvSpPr>
          <p:cNvPr id="4" name="Shape 4">
            <a:extLst>
              <a:ext uri="{FF2B5EF4-FFF2-40B4-BE49-F238E27FC236}">
                <a16:creationId xmlns:a16="http://schemas.microsoft.com/office/drawing/2014/main" id="{0E3CC6C7-C0C9-4435-BEA8-C3F0081896E7}"/>
              </a:ext>
            </a:extLst>
          </p:cNvPr>
          <p:cNvSpPr/>
          <p:nvPr/>
        </p:nvSpPr>
        <p:spPr>
          <a:xfrm>
            <a:off x="704850" y="1000125"/>
            <a:ext cx="11487150" cy="266700"/>
          </a:xfrm>
          <a:prstGeom prst="rect">
            <a:avLst/>
          </a:prstGeom>
          <a:solidFill>
            <a:srgbClr val="0066CC"/>
          </a:solidFill>
        </p:spPr>
        <p:txBody>
          <a:bodyPr wrap="square" rtlCol="0"/>
          <a:lstStyle/>
          <a:p>
            <a:r>
              <a:rPr/>
              <a:t/>
            </a:r>
          </a:p>
        </p:txBody>
      </p:sp>
      <p:sp>
        <p:nvSpPr>
          <p:cNvPr id="5" name="TextBox 5">
            <a:extLst>
              <a:ext uri="{FF2B5EF4-FFF2-40B4-BE49-F238E27FC236}">
                <a16:creationId xmlns:a16="http://schemas.microsoft.com/office/drawing/2014/main" id="{A2A0245C-8DD3-43EB-B62B-7F9D84869867}"/>
              </a:ext>
            </a:extLst>
          </p:cNvPr>
          <p:cNvSpPr txBox="1"/>
          <p:nvPr/>
        </p:nvSpPr>
        <p:spPr>
          <a:xfrm>
            <a:off x="9334500" y="1038225"/>
            <a:ext cx="2762250" cy="190500"/>
          </a:xfrm>
        </p:spPr>
        <p:txBody>
          <a:bodyPr wrap="square" rtlCol="0" lIns="0" tIns="0" rIns="0" bIns="0" anchor="ctr"/>
          <a:lstStyle/>
          <a:p>
            <a:pPr algn="r"/>
            <a:r>
              <a:rPr sz="1200" b="1">
                <a:solidFill>
                  <a:srgbClr val="FFFFFF"/>
                </a:solidFill>
                <a:latin typeface="Microsoft YaHei"/>
                <a:ea typeface="Microsoft YaHei"/>
              </a:rPr>
              <a:t>朴素贝叶斯 · 图解 3</a:t>
            </a:r>
          </a:p>
        </p:txBody>
      </p:sp>
      <p:sp>
        <p:nvSpPr>
          <p:cNvPr id="6" name="TextBox 6">
            <a:extLst>
              <a:ext uri="{FF2B5EF4-FFF2-40B4-BE49-F238E27FC236}">
                <a16:creationId xmlns:a16="http://schemas.microsoft.com/office/drawing/2014/main" id="{CBFA6E1C-DA42-4924-B148-B6B9CC445556}"/>
              </a:ext>
            </a:extLst>
          </p:cNvPr>
          <p:cNvSpPr txBox="1"/>
          <p:nvPr/>
        </p:nvSpPr>
        <p:spPr>
          <a:xfrm>
            <a:off x="295275" y="219075"/>
            <a:ext cx="10953750" cy="619125"/>
          </a:xfrm>
        </p:spPr>
        <p:txBody>
          <a:bodyPr wrap="square" rtlCol="0" lIns="0" tIns="0" rIns="0" bIns="0" anchor="t"/>
          <a:lstStyle/>
          <a:p>
            <a:pPr algn="l"/>
            <a:r>
              <a:rPr sz="3400" b="1">
                <a:solidFill>
                  <a:srgbClr val="000000"/>
                </a:solidFill>
                <a:latin typeface="Microsoft YaHei"/>
                <a:ea typeface="Microsoft YaHei"/>
              </a:rPr>
              <a:t>三条证据叠加：1% → 80.9%</a:t>
            </a:r>
          </a:p>
        </p:txBody>
      </p:sp>
      <p:sp>
        <p:nvSpPr>
          <p:cNvPr id="7" name="TextBox 7">
            <a:extLst>
              <a:ext uri="{FF2B5EF4-FFF2-40B4-BE49-F238E27FC236}">
                <a16:creationId xmlns:a16="http://schemas.microsoft.com/office/drawing/2014/main" id="{72A00F99-51C5-4A72-9D23-A34FD111BD58}"/>
              </a:ext>
            </a:extLst>
          </p:cNvPr>
          <p:cNvSpPr txBox="1"/>
          <p:nvPr/>
        </p:nvSpPr>
        <p:spPr>
          <a:xfrm>
            <a:off x="609600" y="1333500"/>
            <a:ext cx="10953750" cy="381000"/>
          </a:xfrm>
        </p:spPr>
        <p:txBody>
          <a:bodyPr wrap="square" rtlCol="0" lIns="0" tIns="0" rIns="0" bIns="0" anchor="t"/>
          <a:lstStyle/>
          <a:p>
            <a:pPr algn="l"/>
            <a:r>
              <a:rPr sz="2000">
                <a:solidFill>
                  <a:srgbClr val="333333"/>
                </a:solidFill>
                <a:latin typeface="Microsoft YaHei"/>
                <a:ea typeface="Microsoft YaHei"/>
              </a:rPr>
              <a:t>每加一条证据，就把上一步的后验当作新的先验。</a:t>
            </a:r>
          </a:p>
        </p:txBody>
      </p:sp>
      <p:pic>
        <p:nvPicPr>
          <p:cNvPr id="8" name="Picture 8">
            <a:extLst>
              <a:ext uri="{FF2B5EF4-FFF2-40B4-BE49-F238E27FC236}">
                <a16:creationId xmlns:a16="http://schemas.microsoft.com/office/drawing/2014/main" id="{2E19426D-54A6-4AEE-959A-8A8346897A17}"/>
              </a:ext>
            </a:extLst>
          </p:cNvPr>
          <p:cNvPicPr/>
          <p:nvPr/>
        </p:nvPicPr>
        <p:blipFill>
          <a:blip r:embed="rId2"/>
          <a:stretch>
            <a:fillRect/>
          </a:stretch>
        </p:blipFill>
        <p:spPr>
          <a:xfrm>
            <a:off x="1343025" y="1809750"/>
            <a:ext cx="9505950" cy="4391025"/>
          </a:xfrm>
          <a:prstGeom prst="rect">
            <a:avLst/>
          </a:prstGeom>
        </p:spPr>
      </p:pic>
      <p:sp>
        <p:nvSpPr>
          <p:cNvPr id="9" name="TextBox 9">
            <a:extLst>
              <a:ext uri="{FF2B5EF4-FFF2-40B4-BE49-F238E27FC236}">
                <a16:creationId xmlns:a16="http://schemas.microsoft.com/office/drawing/2014/main" id="{9410F56B-3888-4F2C-980D-0B5CE2431534}"/>
              </a:ext>
            </a:extLst>
          </p:cNvPr>
          <p:cNvSpPr txBox="1"/>
          <p:nvPr/>
        </p:nvSpPr>
        <p:spPr>
          <a:xfrm>
            <a:off x="762000" y="6286500"/>
            <a:ext cx="10668000" cy="285750"/>
          </a:xfrm>
        </p:spPr>
        <p:txBody>
          <a:bodyPr wrap="square" rtlCol="0" lIns="0" tIns="0" rIns="0" bIns="0" anchor="t"/>
          <a:lstStyle/>
          <a:p>
            <a:pPr algn="l"/>
            <a:r>
              <a:rPr sz="1800">
                <a:solidFill>
                  <a:srgbClr val="333333"/>
                </a:solidFill>
                <a:latin typeface="Microsoft YaHei"/>
                <a:ea typeface="Microsoft YaHei"/>
              </a:rPr>
              <a:t>右图：当“新设备”只是“异地”的影子，独立性假设被破坏，概率被重复放大。</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a:extLst>
              <a:ext uri="{FF2B5EF4-FFF2-40B4-BE49-F238E27FC236}">
                <a16:creationId xmlns:a16="http://schemas.microsoft.com/office/drawing/2014/main" id="{56062136-BB8E-4351-8351-91C476EF9916}"/>
              </a:ext>
            </a:extLst>
          </p:cNvPr>
          <p:cNvSpPr/>
          <p:nvPr/>
        </p:nvSpPr>
        <p:spPr>
          <a:xfrm>
            <a:off x="0" y="1000125"/>
            <a:ext cx="647700" cy="266700"/>
          </a:xfrm>
          <a:prstGeom prst="rect">
            <a:avLst/>
          </a:prstGeom>
          <a:solidFill>
            <a:srgbClr val="A50021"/>
          </a:solidFill>
        </p:spPr>
        <p:txBody>
          <a:bodyPr wrap="square" rtlCol="0"/>
          <a:lstStyle/>
          <a:p>
            <a:r>
              <a:rPr/>
              <a:t/>
            </a:r>
          </a:p>
        </p:txBody>
      </p:sp>
      <p:sp>
        <p:nvSpPr>
          <p:cNvPr id="4" name="Shape 4">
            <a:extLst>
              <a:ext uri="{FF2B5EF4-FFF2-40B4-BE49-F238E27FC236}">
                <a16:creationId xmlns:a16="http://schemas.microsoft.com/office/drawing/2014/main" id="{D00BD472-E0A3-4B88-9747-4206BD20C4C0}"/>
              </a:ext>
            </a:extLst>
          </p:cNvPr>
          <p:cNvSpPr/>
          <p:nvPr/>
        </p:nvSpPr>
        <p:spPr>
          <a:xfrm>
            <a:off x="704850" y="1000125"/>
            <a:ext cx="11487150" cy="266700"/>
          </a:xfrm>
          <a:prstGeom prst="rect">
            <a:avLst/>
          </a:prstGeom>
          <a:solidFill>
            <a:srgbClr val="0066CC"/>
          </a:solidFill>
        </p:spPr>
        <p:txBody>
          <a:bodyPr wrap="square" rtlCol="0"/>
          <a:lstStyle/>
          <a:p>
            <a:r>
              <a:rPr/>
              <a:t/>
            </a:r>
          </a:p>
        </p:txBody>
      </p:sp>
      <p:sp>
        <p:nvSpPr>
          <p:cNvPr id="5" name="TextBox 5">
            <a:extLst>
              <a:ext uri="{FF2B5EF4-FFF2-40B4-BE49-F238E27FC236}">
                <a16:creationId xmlns:a16="http://schemas.microsoft.com/office/drawing/2014/main" id="{4C5B8B75-0264-45DE-ACFB-395CC16926C8}"/>
              </a:ext>
            </a:extLst>
          </p:cNvPr>
          <p:cNvSpPr txBox="1"/>
          <p:nvPr/>
        </p:nvSpPr>
        <p:spPr>
          <a:xfrm>
            <a:off x="9334500" y="1038225"/>
            <a:ext cx="2762250" cy="190500"/>
          </a:xfrm>
        </p:spPr>
        <p:txBody>
          <a:bodyPr wrap="square" rtlCol="0" lIns="0" tIns="0" rIns="0" bIns="0" anchor="ctr"/>
          <a:lstStyle/>
          <a:p>
            <a:pPr algn="r"/>
            <a:r>
              <a:rPr sz="1200" b="1">
                <a:solidFill>
                  <a:srgbClr val="FFFFFF"/>
                </a:solidFill>
                <a:latin typeface="Microsoft YaHei"/>
                <a:ea typeface="Microsoft YaHei"/>
              </a:rPr>
              <a:t>朴素贝叶斯 · 图解 4</a:t>
            </a:r>
          </a:p>
        </p:txBody>
      </p:sp>
      <p:sp>
        <p:nvSpPr>
          <p:cNvPr id="6" name="TextBox 6">
            <a:extLst>
              <a:ext uri="{FF2B5EF4-FFF2-40B4-BE49-F238E27FC236}">
                <a16:creationId xmlns:a16="http://schemas.microsoft.com/office/drawing/2014/main" id="{6BDB71D3-F4E0-49D5-B8CC-9B37D03274DB}"/>
              </a:ext>
            </a:extLst>
          </p:cNvPr>
          <p:cNvSpPr txBox="1"/>
          <p:nvPr/>
        </p:nvSpPr>
        <p:spPr>
          <a:xfrm>
            <a:off x="295275" y="219075"/>
            <a:ext cx="10953750" cy="619125"/>
          </a:xfrm>
        </p:spPr>
        <p:txBody>
          <a:bodyPr wrap="square" rtlCol="0" lIns="0" tIns="0" rIns="0" bIns="0" anchor="t"/>
          <a:lstStyle/>
          <a:p>
            <a:pPr algn="l"/>
            <a:r>
              <a:rPr sz="3400" b="1">
                <a:solidFill>
                  <a:srgbClr val="000000"/>
                </a:solidFill>
                <a:latin typeface="Microsoft YaHei"/>
                <a:ea typeface="Microsoft YaHei"/>
              </a:rPr>
              <a:t>误判代价决定阈值</a:t>
            </a:r>
          </a:p>
        </p:txBody>
      </p:sp>
      <p:sp>
        <p:nvSpPr>
          <p:cNvPr id="7" name="TextBox 7">
            <a:extLst>
              <a:ext uri="{FF2B5EF4-FFF2-40B4-BE49-F238E27FC236}">
                <a16:creationId xmlns:a16="http://schemas.microsoft.com/office/drawing/2014/main" id="{4DC7A5AF-2716-4D96-AFA4-8C99A73B8CC7}"/>
              </a:ext>
            </a:extLst>
          </p:cNvPr>
          <p:cNvSpPr txBox="1"/>
          <p:nvPr/>
        </p:nvSpPr>
        <p:spPr>
          <a:xfrm>
            <a:off x="609600" y="1333500"/>
            <a:ext cx="10953750" cy="381000"/>
          </a:xfrm>
        </p:spPr>
        <p:txBody>
          <a:bodyPr wrap="square" rtlCol="0" lIns="0" tIns="0" rIns="0" bIns="0" anchor="t"/>
          <a:lstStyle/>
          <a:p>
            <a:pPr algn="l"/>
            <a:r>
              <a:rPr sz="2000">
                <a:solidFill>
                  <a:srgbClr val="333333"/>
                </a:solidFill>
                <a:latin typeface="Microsoft YaHei"/>
                <a:ea typeface="Microsoft YaHei"/>
              </a:rPr>
              <a:t>坏客户判好客户的代价是 5，好客户判坏客户的代价是 1。</a:t>
            </a:r>
          </a:p>
        </p:txBody>
      </p:sp>
      <p:pic>
        <p:nvPicPr>
          <p:cNvPr id="8" name="Picture 8">
            <a:extLst>
              <a:ext uri="{FF2B5EF4-FFF2-40B4-BE49-F238E27FC236}">
                <a16:creationId xmlns:a16="http://schemas.microsoft.com/office/drawing/2014/main" id="{CB05DEAC-068C-4968-9044-12BEA54A7AF9}"/>
              </a:ext>
            </a:extLst>
          </p:cNvPr>
          <p:cNvPicPr/>
          <p:nvPr/>
        </p:nvPicPr>
        <p:blipFill>
          <a:blip r:embed="rId2"/>
          <a:stretch>
            <a:fillRect/>
          </a:stretch>
        </p:blipFill>
        <p:spPr>
          <a:xfrm>
            <a:off x="666750" y="1809750"/>
            <a:ext cx="6667500" cy="3886200"/>
          </a:xfrm>
          <a:prstGeom prst="rect">
            <a:avLst/>
          </a:prstGeom>
        </p:spPr>
      </p:pic>
      <p:sp>
        <p:nvSpPr>
          <p:cNvPr id="9" name="TextBox 9">
            <a:extLst>
              <a:ext uri="{FF2B5EF4-FFF2-40B4-BE49-F238E27FC236}">
                <a16:creationId xmlns:a16="http://schemas.microsoft.com/office/drawing/2014/main" id="{EAB7D549-6D2F-42E8-A7D8-64C372B46042}"/>
              </a:ext>
            </a:extLst>
          </p:cNvPr>
          <p:cNvSpPr txBox="1"/>
          <p:nvPr/>
        </p:nvSpPr>
        <p:spPr>
          <a:xfrm>
            <a:off x="7620000" y="1809750"/>
            <a:ext cx="3905250" cy="3905250"/>
          </a:xfrm>
        </p:spPr>
        <p:txBody>
          <a:bodyPr wrap="square" rtlCol="0" lIns="0" tIns="0" rIns="0" bIns="0" anchor="t"/>
          <a:lstStyle/>
          <a:p>
            <a:pPr algn="l">
              <a:lnSpc>
                <a:spcPct val="120000"/>
              </a:lnSpc>
              <a:spcAft>
                <a:spcPts val="1000"/>
              </a:spcAft>
            </a:pPr>
            <a:r>
              <a:rPr sz="2000">
                <a:solidFill>
                  <a:srgbClr val="000000"/>
                </a:solidFill>
                <a:latin typeface="Microsoft YaHei"/>
                <a:ea typeface="Microsoft YaHei"/>
              </a:rPr>
              <a:t>• 当 5 × P(坏) &gt; 1 × P(好)，即 P(坏) &gt; 16.7% 时，拒绝更便宜。</a:t>
            </a:r>
          </a:p>
          <a:p>
            <a:pPr algn="l">
              <a:lnSpc>
                <a:spcPct val="120000"/>
              </a:lnSpc>
              <a:spcAft>
                <a:spcPts val="1000"/>
              </a:spcAft>
            </a:pPr>
            <a:r>
              <a:rPr sz="2000">
                <a:solidFill>
                  <a:srgbClr val="000000"/>
                </a:solidFill>
                <a:latin typeface="Microsoft YaHei"/>
                <a:ea typeface="Microsoft YaHei"/>
              </a:rPr>
              <a:t>• 模型只负责给出概率，阈值由业务代价决定。</a:t>
            </a:r>
          </a:p>
          <a:p>
            <a:pPr algn="l">
              <a:lnSpc>
                <a:spcPct val="120000"/>
              </a:lnSpc>
              <a:spcAft>
                <a:spcPts val="1000"/>
              </a:spcAft>
            </a:pPr>
            <a:r>
              <a:rPr sz="2000">
                <a:solidFill>
                  <a:srgbClr val="000000"/>
                </a:solidFill>
                <a:latin typeface="Microsoft YaHei"/>
                <a:ea typeface="Microsoft YaHei"/>
              </a:rPr>
              <a:t>• 错放一个坏人的代价越大，拒贷线越往左移。</a:t>
            </a:r>
          </a:p>
        </p:txBody>
      </p:sp>
      <p:sp>
        <p:nvSpPr>
          <p:cNvPr id="10" name="TextBox 10">
            <a:extLst>
              <a:ext uri="{FF2B5EF4-FFF2-40B4-BE49-F238E27FC236}">
                <a16:creationId xmlns:a16="http://schemas.microsoft.com/office/drawing/2014/main" id="{FEE6CF3A-5B1B-4A53-BF82-624AAC07F787}"/>
              </a:ext>
            </a:extLst>
          </p:cNvPr>
          <p:cNvSpPr txBox="1"/>
          <p:nvPr/>
        </p:nvSpPr>
        <p:spPr>
          <a:xfrm>
            <a:off x="666750" y="6286500"/>
            <a:ext cx="10477500" cy="228600"/>
          </a:xfrm>
        </p:spPr>
        <p:txBody>
          <a:bodyPr wrap="square" rtlCol="0" lIns="0" tIns="0" rIns="0" bIns="0" anchor="t"/>
          <a:lstStyle/>
          <a:p>
            <a:pPr algn="l"/>
            <a:r>
              <a:rPr sz="1400">
                <a:solidFill>
                  <a:srgbClr val="666666"/>
                </a:solidFill>
                <a:latin typeface="Microsoft YaHei"/>
                <a:ea typeface="Microsoft YaHei"/>
              </a:rPr>
              <a:t>来源：UCI Statlog German Credit；代价矩阵见 german.doc。</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a:extLst>
              <a:ext uri="{FF2B5EF4-FFF2-40B4-BE49-F238E27FC236}">
                <a16:creationId xmlns:a16="http://schemas.microsoft.com/office/drawing/2014/main" id="{1D1530E1-DC32-48BE-A527-4C450350D5C2}"/>
              </a:ext>
            </a:extLst>
          </p:cNvPr>
          <p:cNvSpPr/>
          <p:nvPr/>
        </p:nvSpPr>
        <p:spPr>
          <a:xfrm>
            <a:off x="0" y="1000125"/>
            <a:ext cx="647700" cy="266700"/>
          </a:xfrm>
          <a:prstGeom prst="rect">
            <a:avLst/>
          </a:prstGeom>
          <a:solidFill>
            <a:srgbClr val="A50021"/>
          </a:solidFill>
        </p:spPr>
        <p:txBody>
          <a:bodyPr wrap="square" rtlCol="0"/>
          <a:lstStyle/>
          <a:p>
            <a:r>
              <a:rPr/>
              <a:t/>
            </a:r>
          </a:p>
        </p:txBody>
      </p:sp>
      <p:sp>
        <p:nvSpPr>
          <p:cNvPr id="4" name="Shape 4">
            <a:extLst>
              <a:ext uri="{FF2B5EF4-FFF2-40B4-BE49-F238E27FC236}">
                <a16:creationId xmlns:a16="http://schemas.microsoft.com/office/drawing/2014/main" id="{3D8D8B24-AADB-4E72-A706-0259A59A3B4C}"/>
              </a:ext>
            </a:extLst>
          </p:cNvPr>
          <p:cNvSpPr/>
          <p:nvPr/>
        </p:nvSpPr>
        <p:spPr>
          <a:xfrm>
            <a:off x="704850" y="1000125"/>
            <a:ext cx="11487150" cy="266700"/>
          </a:xfrm>
          <a:prstGeom prst="rect">
            <a:avLst/>
          </a:prstGeom>
          <a:solidFill>
            <a:srgbClr val="0066CC"/>
          </a:solidFill>
        </p:spPr>
        <p:txBody>
          <a:bodyPr wrap="square" rtlCol="0"/>
          <a:lstStyle/>
          <a:p>
            <a:r>
              <a:rPr/>
              <a:t/>
            </a:r>
          </a:p>
        </p:txBody>
      </p:sp>
      <p:sp>
        <p:nvSpPr>
          <p:cNvPr id="5" name="TextBox 5">
            <a:extLst>
              <a:ext uri="{FF2B5EF4-FFF2-40B4-BE49-F238E27FC236}">
                <a16:creationId xmlns:a16="http://schemas.microsoft.com/office/drawing/2014/main" id="{B25DA331-F830-4CFB-8A2B-2BD346E426D7}"/>
              </a:ext>
            </a:extLst>
          </p:cNvPr>
          <p:cNvSpPr txBox="1"/>
          <p:nvPr/>
        </p:nvSpPr>
        <p:spPr>
          <a:xfrm>
            <a:off x="9334500" y="1038225"/>
            <a:ext cx="2762250" cy="190500"/>
          </a:xfrm>
        </p:spPr>
        <p:txBody>
          <a:bodyPr wrap="square" rtlCol="0" lIns="0" tIns="0" rIns="0" bIns="0" anchor="ctr"/>
          <a:lstStyle/>
          <a:p>
            <a:pPr algn="r"/>
            <a:r>
              <a:rPr sz="1200" b="1">
                <a:solidFill>
                  <a:srgbClr val="FFFFFF"/>
                </a:solidFill>
                <a:latin typeface="Microsoft YaHei"/>
                <a:ea typeface="Microsoft YaHei"/>
              </a:rPr>
              <a:t>朴素贝叶斯 · 视频</a:t>
            </a:r>
          </a:p>
        </p:txBody>
      </p:sp>
      <p:sp>
        <p:nvSpPr>
          <p:cNvPr id="6" name="TextBox 6">
            <a:extLst>
              <a:ext uri="{FF2B5EF4-FFF2-40B4-BE49-F238E27FC236}">
                <a16:creationId xmlns:a16="http://schemas.microsoft.com/office/drawing/2014/main" id="{64753799-FD52-49EA-AE8A-D5B6018662EA}"/>
              </a:ext>
            </a:extLst>
          </p:cNvPr>
          <p:cNvSpPr txBox="1"/>
          <p:nvPr/>
        </p:nvSpPr>
        <p:spPr>
          <a:xfrm>
            <a:off x="295275" y="219075"/>
            <a:ext cx="10953750" cy="619125"/>
          </a:xfrm>
        </p:spPr>
        <p:txBody>
          <a:bodyPr wrap="square" rtlCol="0" lIns="0" tIns="0" rIns="0" bIns="0" anchor="t"/>
          <a:lstStyle/>
          <a:p>
            <a:pPr algn="l"/>
            <a:r>
              <a:rPr sz="3400" b="1">
                <a:solidFill>
                  <a:srgbClr val="000000"/>
                </a:solidFill>
                <a:latin typeface="Microsoft YaHei"/>
                <a:ea typeface="Microsoft YaHei"/>
              </a:rPr>
              <a:t>视频：朴素贝叶斯算法</a:t>
            </a:r>
          </a:p>
        </p:txBody>
      </p:sp>
      <p:sp>
        <p:nvSpPr>
          <p:cNvPr id="7" name="TextBox 7">
            <a:extLst>
              <a:ext uri="{FF2B5EF4-FFF2-40B4-BE49-F238E27FC236}">
                <a16:creationId xmlns:a16="http://schemas.microsoft.com/office/drawing/2014/main" id="{556DD898-E4D2-4CF4-BB60-1E730413CFD2}"/>
              </a:ext>
            </a:extLst>
          </p:cNvPr>
          <p:cNvSpPr txBox="1"/>
          <p:nvPr/>
        </p:nvSpPr>
        <p:spPr>
          <a:xfrm>
            <a:off x="609600" y="1333500"/>
            <a:ext cx="10953750" cy="381000"/>
          </a:xfrm>
        </p:spPr>
        <p:txBody>
          <a:bodyPr wrap="square" rtlCol="0" lIns="0" tIns="0" rIns="0" bIns="0" anchor="t"/>
          <a:lstStyle/>
          <a:p>
            <a:pPr algn="l"/>
            <a:r>
              <a:rPr sz="2000">
                <a:solidFill>
                  <a:srgbClr val="333333"/>
                </a:solidFill>
                <a:latin typeface="Microsoft YaHei"/>
                <a:ea typeface="Microsoft YaHei"/>
              </a:rPr>
              <a:t>3 分 16 秒；三条证据如何叠加。</a:t>
            </a:r>
          </a:p>
        </p:txBody>
      </p:sp>
      <p:pic>
        <p:nvPicPr>
          <p:cNvPr id="8" name="Picture 8">
            <a:hlinkClick xmlns:r="http://schemas.openxmlformats.org/officeDocument/2006/relationships" r:id="rId5"/>
            <a:extLst>
              <a:ext uri="{FF2B5EF4-FFF2-40B4-BE49-F238E27FC236}">
                <a16:creationId xmlns:a16="http://schemas.microsoft.com/office/drawing/2014/main" id="{F76CCCC4-EC61-438B-9769-FC7AB3515811}"/>
              </a:ext>
            </a:extLst>
          </p:cNvPr>
          <p:cNvPicPr/>
          <p:nvPr/>
        </p:nvPicPr>
        <p:blipFill>
          <a:blip r:embed="rId2"/>
          <a:stretch>
            <a:fillRect/>
          </a:stretch>
        </p:blipFill>
        <p:spPr>
          <a:xfrm>
            <a:off x="762000" y="1809750"/>
            <a:ext cx="6096000" cy="3429000"/>
          </a:xfrm>
          <a:prstGeom prst="rect">
            <a:avLst/>
          </a:prstGeom>
        </p:spPr>
      </p:pic>
      <p:sp>
        <p:nvSpPr>
          <p:cNvPr id="9" name="TextBox 9">
            <a:extLst>
              <a:ext uri="{FF2B5EF4-FFF2-40B4-BE49-F238E27FC236}">
                <a16:creationId xmlns:a16="http://schemas.microsoft.com/office/drawing/2014/main" id="{2BC5FD8E-5977-4BEC-9C72-FCF2C59B73E2}"/>
              </a:ext>
            </a:extLst>
          </p:cNvPr>
          <p:cNvSpPr txBox="1"/>
          <p:nvPr/>
        </p:nvSpPr>
        <p:spPr>
          <a:xfrm>
            <a:off x="7239000" y="1809750"/>
            <a:ext cx="4191000" cy="3429000"/>
          </a:xfrm>
        </p:spPr>
        <p:txBody>
          <a:bodyPr wrap="square" rtlCol="0" lIns="0" tIns="0" rIns="0" bIns="0" anchor="t"/>
          <a:lstStyle/>
          <a:p>
            <a:pPr algn="l">
              <a:lnSpc>
                <a:spcPct val="120000"/>
              </a:lnSpc>
              <a:spcAft>
                <a:spcPts val="1000"/>
              </a:spcAft>
            </a:pPr>
            <a:r>
              <a:rPr sz="2200" b="1">
                <a:solidFill>
                  <a:srgbClr val="000000"/>
                </a:solidFill>
                <a:latin typeface="Microsoft YaHei"/>
                <a:ea typeface="Microsoft YaHei"/>
              </a:rPr>
              <a:t>视频主线</a:t>
            </a:r>
          </a:p>
          <a:p>
            <a:pPr algn="l">
              <a:lnSpc>
                <a:spcPct val="120000"/>
              </a:lnSpc>
              <a:spcAft>
                <a:spcPts val="1000"/>
              </a:spcAft>
            </a:pPr>
            <a:r>
              <a:rPr sz="2000">
                <a:solidFill>
                  <a:srgbClr val="000000"/>
                </a:solidFill>
                <a:latin typeface="Microsoft YaHei"/>
                <a:ea typeface="Microsoft YaHei"/>
              </a:rPr>
              <a:t>先验 × 似然 → 后验；三条证据：异地、凌晨、新设备。</a:t>
            </a:r>
          </a:p>
          <a:p>
            <a:pPr algn="l">
              <a:lnSpc>
                <a:spcPct val="120000"/>
              </a:lnSpc>
              <a:spcAft>
                <a:spcPts val="1000"/>
              </a:spcAft>
            </a:pPr>
            <a:r>
              <a:rPr sz="2000">
                <a:solidFill>
                  <a:srgbClr val="000000"/>
                </a:solidFill>
                <a:latin typeface="Microsoft YaHei"/>
                <a:ea typeface="Microsoft YaHei"/>
              </a:rPr>
              <a:t>视频重点：独立性假设何时失效，概率为何被重复放大。</a:t>
            </a:r>
          </a:p>
          <a:p>
            <a:pPr algn="l">
              <a:lnSpc>
                <a:spcPct val="120000"/>
              </a:lnSpc>
              <a:spcAft>
                <a:spcPts val="1000"/>
              </a:spcAft>
            </a:pPr>
            <a:r>
              <a:rPr sz="1800">
                <a:solidFill>
                  <a:srgbClr val="0066CC"/>
                </a:solidFill>
                <a:latin typeface="Microsoft YaHei"/>
                <a:ea typeface="Microsoft YaHei"/>
              </a:rPr>
              <a:t>播放：视频文件位于“视频”子文件夹。</a:t>
            </a:r>
          </a:p>
        </p:txBody>
      </p:sp>
      <p:sp>
        <p:nvSpPr>
          <p:cNvPr id="10" name="TextBox 10">
            <a:hlinkClick xmlns:r="http://schemas.openxmlformats.org/officeDocument/2006/relationships" r:id="rId6"/>
            <a:extLst>
              <a:ext uri="{FF2B5EF4-FFF2-40B4-BE49-F238E27FC236}">
                <a16:creationId xmlns:a16="http://schemas.microsoft.com/office/drawing/2014/main" id="{31025F73-A6D2-4A28-A765-776C972E954B}"/>
              </a:ext>
            </a:extLst>
          </p:cNvPr>
          <p:cNvSpPr txBox="1"/>
          <p:nvPr/>
        </p:nvSpPr>
        <p:spPr>
          <a:xfrm>
            <a:off x="762000" y="5334000"/>
            <a:ext cx="2476500" cy="285750"/>
          </a:xfrm>
        </p:spPr>
        <p:txBody>
          <a:bodyPr wrap="square" rtlCol="0" lIns="0" tIns="0" rIns="0" bIns="0" anchor="t"/>
          <a:lstStyle/>
          <a:p>
            <a:pPr algn="l"/>
            <a:r>
              <a:rPr sz="1800" b="1">
                <a:solidFill>
                  <a:srgbClr val="0066CC"/>
                </a:solidFill>
                <a:latin typeface="Microsoft YaHei"/>
                <a:ea typeface="Microsoft YaHei"/>
              </a:rPr>
              <a:t>播放视频</a:t>
            </a:r>
          </a:p>
        </p:txBody>
      </p:sp>
      <p:sp>
        <p:nvSpPr>
          <p:cNvPr id="11" name="TextBox 11">
            <a:extLst>
              <a:ext uri="{FF2B5EF4-FFF2-40B4-BE49-F238E27FC236}">
                <a16:creationId xmlns:a16="http://schemas.microsoft.com/office/drawing/2014/main" id="{D1E6D034-4936-4A2C-B7BC-E0161727FA33}"/>
              </a:ext>
            </a:extLst>
          </p:cNvPr>
          <p:cNvSpPr txBox="1"/>
          <p:nvPr/>
        </p:nvSpPr>
        <p:spPr>
          <a:xfrm>
            <a:off x="762000" y="6286500"/>
            <a:ext cx="10477500" cy="228600"/>
          </a:xfrm>
        </p:spPr>
        <p:txBody>
          <a:bodyPr wrap="square" rtlCol="0" lIns="0" tIns="0" rIns="0" bIns="0" anchor="t"/>
          <a:lstStyle/>
          <a:p>
            <a:pPr algn="l"/>
            <a:r>
              <a:rPr sz="1400">
                <a:solidFill>
                  <a:srgbClr val="666666"/>
                </a:solidFill>
                <a:latin typeface="Microsoft YaHei"/>
                <a:ea typeface="Microsoft YaHei"/>
              </a:rPr>
              <a:t>视频来源：本地课件配套视频。</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CC90A7-8A3F-42C1-8840-BCA4EAF5099A}"/>
              </a:ext>
            </a:extLst>
          </p:cNvPr>
          <p:cNvSpPr>
            <a:spLocks noGrp="1"/>
          </p:cNvSpPr>
          <p:nvPr>
            <p:ph type="title"/>
          </p:nvPr>
        </p:nvSpPr>
        <p:spPr/>
        <p:txBody>
          <a:bodyPr/>
          <a:lstStyle/>
          <a:p>
            <a:pPr algn="l"/>
            <a:r>
              <a:rPr/>
              <a:t>4.决策树</a:t>
            </a:r>
          </a:p>
        </p:txBody>
      </p:sp>
      <p:sp>
        <p:nvSpPr>
          <p:cNvPr id="4" name="矩形 3"/>
          <p:cNvSpPr/>
          <p:nvPr/>
        </p:nvSpPr>
        <p:spPr>
          <a:xfrm>
            <a:off x="1098468" y="1663811"/>
            <a:ext cx="10818421" cy="3905043"/>
          </a:xfrm>
          <a:prstGeom prst="rect">
            <a:avLst/>
          </a:prstGeom>
        </p:spPr>
        <p:txBody>
          <a:bodyPr wrap="square">
            <a:spAutoFit/>
          </a:bodyPr>
          <a:lstStyle/>
          <a:p>
            <a:pPr marL="342900" indent="-342900" algn="just">
              <a:lnSpc>
                <a:spcPct val="150000"/>
              </a:lnSpc>
              <a:buFont typeface="Wingdings" panose="05000000000000000000" pitchFamily="2" charset="2"/>
              <a:buChar char="l"/>
            </a:pPr>
            <a:r>
              <a:rPr lang="zh-CN" altLang="en-US" dirty="0">
                <a:latin typeface="+mj-ea"/>
                <a:ea typeface="+mj-ea"/>
                <a:cs typeface="Times New Roman" panose="02020603050405020304" pitchFamily="18" charset="0"/>
              </a:rPr>
              <a:t>决策树：从训练数据中学习得出一个树状结构的模型。</a:t>
            </a:r>
            <a:endParaRPr lang="en-US" altLang="zh-CN" dirty="0">
              <a:latin typeface="+mj-ea"/>
              <a:ea typeface="+mj-ea"/>
              <a:cs typeface="Times New Roman" panose="02020603050405020304" pitchFamily="18" charset="0"/>
            </a:endParaRPr>
          </a:p>
          <a:p>
            <a:pPr marL="342900" indent="-342900" algn="just">
              <a:lnSpc>
                <a:spcPct val="150000"/>
              </a:lnSpc>
              <a:buFont typeface="Wingdings" panose="05000000000000000000" pitchFamily="2" charset="2"/>
              <a:buChar char="l"/>
            </a:pPr>
            <a:r>
              <a:rPr lang="zh-CN" altLang="en-US" dirty="0">
                <a:latin typeface="+mj-ea"/>
                <a:ea typeface="+mj-ea"/>
                <a:cs typeface="Times New Roman" panose="02020603050405020304" pitchFamily="18" charset="0"/>
              </a:rPr>
              <a:t>决策树属于</a:t>
            </a:r>
            <a:r>
              <a:rPr lang="zh-CN" altLang="en-US" dirty="0">
                <a:solidFill>
                  <a:srgbClr val="FF0000"/>
                </a:solidFill>
                <a:latin typeface="+mj-ea"/>
                <a:ea typeface="+mj-ea"/>
                <a:cs typeface="Times New Roman" panose="02020603050405020304" pitchFamily="18" charset="0"/>
              </a:rPr>
              <a:t>判别模型</a:t>
            </a:r>
            <a:r>
              <a:rPr lang="zh-CN" altLang="en-US" dirty="0">
                <a:latin typeface="+mj-ea"/>
                <a:ea typeface="+mj-ea"/>
                <a:cs typeface="Times New Roman" panose="02020603050405020304" pitchFamily="18" charset="0"/>
              </a:rPr>
              <a:t>。</a:t>
            </a:r>
            <a:endParaRPr lang="en-US" altLang="zh-CN" dirty="0">
              <a:latin typeface="+mj-ea"/>
              <a:ea typeface="+mj-ea"/>
              <a:cs typeface="Times New Roman" panose="02020603050405020304" pitchFamily="18" charset="0"/>
            </a:endParaRPr>
          </a:p>
          <a:p>
            <a:pPr marL="342900" indent="-342900" algn="just">
              <a:lnSpc>
                <a:spcPct val="150000"/>
              </a:lnSpc>
              <a:buFont typeface="Wingdings" panose="05000000000000000000" pitchFamily="2" charset="2"/>
              <a:buChar char="l"/>
            </a:pPr>
            <a:r>
              <a:rPr lang="zh-CN" altLang="en-US" dirty="0">
                <a:solidFill>
                  <a:schemeClr val="tx1">
                    <a:lumMod val="85000"/>
                    <a:lumOff val="15000"/>
                  </a:schemeClr>
                </a:solidFill>
                <a:latin typeface="+mj-ea"/>
                <a:ea typeface="+mj-ea"/>
                <a:cs typeface="Times New Roman" panose="02020603050405020304" pitchFamily="18" charset="0"/>
              </a:rPr>
              <a:t>决策树是一种</a:t>
            </a:r>
            <a:r>
              <a:rPr lang="zh-CN" altLang="en-US" dirty="0">
                <a:latin typeface="+mj-ea"/>
                <a:ea typeface="+mj-ea"/>
                <a:cs typeface="Times New Roman" panose="02020603050405020304" pitchFamily="18" charset="0"/>
              </a:rPr>
              <a:t>树状结构</a:t>
            </a:r>
            <a:r>
              <a:rPr lang="zh-CN" altLang="en-US" dirty="0">
                <a:solidFill>
                  <a:schemeClr val="tx1">
                    <a:lumMod val="85000"/>
                    <a:lumOff val="15000"/>
                  </a:schemeClr>
                </a:solidFill>
                <a:latin typeface="+mj-ea"/>
                <a:ea typeface="+mj-ea"/>
                <a:cs typeface="Times New Roman" panose="02020603050405020304" pitchFamily="18" charset="0"/>
              </a:rPr>
              <a:t>，通过做出一系列决策（选择）来对数据进行划分，这类似于针对一系列问题进行选择。</a:t>
            </a:r>
            <a:endParaRPr lang="en-US" altLang="zh-CN" dirty="0">
              <a:solidFill>
                <a:schemeClr val="tx1">
                  <a:lumMod val="85000"/>
                  <a:lumOff val="15000"/>
                </a:schemeClr>
              </a:solidFill>
              <a:latin typeface="+mj-ea"/>
              <a:ea typeface="+mj-ea"/>
              <a:cs typeface="Times New Roman" panose="02020603050405020304" pitchFamily="18" charset="0"/>
            </a:endParaRPr>
          </a:p>
          <a:p>
            <a:pPr marL="342900" indent="-342900" algn="just">
              <a:lnSpc>
                <a:spcPct val="150000"/>
              </a:lnSpc>
              <a:buFont typeface="Wingdings" panose="05000000000000000000" pitchFamily="2" charset="2"/>
              <a:buChar char="l"/>
            </a:pPr>
            <a:r>
              <a:rPr lang="zh-CN" altLang="en-US" dirty="0">
                <a:solidFill>
                  <a:schemeClr val="tx1">
                    <a:lumMod val="85000"/>
                    <a:lumOff val="15000"/>
                  </a:schemeClr>
                </a:solidFill>
                <a:latin typeface="+mj-ea"/>
                <a:ea typeface="+mj-ea"/>
                <a:cs typeface="Times New Roman" panose="02020603050405020304" pitchFamily="18" charset="0"/>
              </a:rPr>
              <a:t>决策树的决策过程就是从根节点开始，测试待分类项中对应的特征属性，并按照其值选择输出分支，直到叶子节点，将叶子节点的存放的类别作为决策结果。</a:t>
            </a:r>
            <a:endParaRPr lang="en-US" altLang="zh-CN" dirty="0">
              <a:solidFill>
                <a:schemeClr val="tx1">
                  <a:lumMod val="85000"/>
                  <a:lumOff val="15000"/>
                </a:schemeClr>
              </a:solidFill>
              <a:latin typeface="+mj-ea"/>
              <a:ea typeface="+mj-ea"/>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A30C3E-01D5-43BB-BDE0-04E3CDAC7E41}"/>
              </a:ext>
            </a:extLst>
          </p:cNvPr>
          <p:cNvSpPr>
            <a:spLocks noGrp="1"/>
          </p:cNvSpPr>
          <p:nvPr>
            <p:ph type="title"/>
          </p:nvPr>
        </p:nvSpPr>
        <p:spPr/>
        <p:txBody>
          <a:bodyPr/>
          <a:lstStyle/>
          <a:p>
            <a:pPr algn="l"/>
            <a:r>
              <a:rPr/>
              <a:t>4.决策树</a:t>
            </a:r>
          </a:p>
        </p:txBody>
      </p:sp>
      <p:sp>
        <p:nvSpPr>
          <p:cNvPr id="3" name="内容占位符 2">
            <a:extLst>
              <a:ext uri="{FF2B5EF4-FFF2-40B4-BE49-F238E27FC236}">
                <a16:creationId xmlns:a16="http://schemas.microsoft.com/office/drawing/2014/main" id="{22DBD237-DEE0-40F4-90DB-24F9E466F571}"/>
              </a:ext>
            </a:extLst>
          </p:cNvPr>
          <p:cNvSpPr>
            <a:spLocks noGrp="1"/>
          </p:cNvSpPr>
          <p:nvPr>
            <p:ph idx="1"/>
          </p:nvPr>
        </p:nvSpPr>
        <p:spPr>
          <a:xfrm>
            <a:off x="609600" y="1600203"/>
            <a:ext cx="5678384" cy="4525963"/>
          </a:xfrm>
        </p:spPr>
        <p:txBody>
          <a:bodyPr/>
          <a:lstStyle/>
          <a:p>
            <a:pPr>
              <a:lnSpc>
                <a:spcPct val="110000"/>
              </a:lnSpc>
            </a:pPr>
            <a:r>
              <a:rPr sz="2200">
                <a:latin typeface="+mj-ea"/>
                <a:ea typeface="+mj-ea"/>
              </a:rPr>
              <a:t>以西瓜的分类为例，我们在对</a:t>
            </a:r>
            <a:r>
              <a:rPr sz="2200">
                <a:latin typeface="+mj-ea"/>
                <a:ea typeface="+mj-ea"/>
              </a:rPr>
              <a:t>“</a:t>
            </a:r>
            <a:r>
              <a:rPr sz="2200">
                <a:latin typeface="+mj-ea"/>
                <a:ea typeface="+mj-ea"/>
              </a:rPr>
              <a:t>这个瓜是否是好瓜</a:t>
            </a:r>
            <a:r>
              <a:rPr sz="2200">
                <a:latin typeface="+mj-ea"/>
                <a:ea typeface="+mj-ea"/>
              </a:rPr>
              <a:t>”</a:t>
            </a:r>
            <a:r>
              <a:rPr sz="2200">
                <a:latin typeface="+mj-ea"/>
                <a:ea typeface="+mj-ea"/>
              </a:rPr>
              <a:t>这个问题进行判断时，通常需要经过一系列的分析，首先我们要看</a:t>
            </a:r>
            <a:r>
              <a:rPr sz="2200">
                <a:latin typeface="+mj-ea"/>
                <a:ea typeface="+mj-ea"/>
              </a:rPr>
              <a:t>“</a:t>
            </a:r>
            <a:r>
              <a:rPr sz="2200">
                <a:latin typeface="+mj-ea"/>
                <a:ea typeface="+mj-ea"/>
              </a:rPr>
              <a:t>这个瓜是什么颜色？</a:t>
            </a:r>
            <a:r>
              <a:rPr sz="2200">
                <a:latin typeface="+mj-ea"/>
                <a:ea typeface="+mj-ea"/>
              </a:rPr>
              <a:t>”</a:t>
            </a:r>
            <a:r>
              <a:rPr sz="2200">
                <a:latin typeface="+mj-ea"/>
                <a:ea typeface="+mj-ea"/>
              </a:rPr>
              <a:t>，如果是</a:t>
            </a:r>
            <a:r>
              <a:rPr sz="2200">
                <a:latin typeface="+mj-ea"/>
                <a:ea typeface="+mj-ea"/>
              </a:rPr>
              <a:t>“</a:t>
            </a:r>
            <a:r>
              <a:rPr sz="2200">
                <a:latin typeface="+mj-ea"/>
                <a:ea typeface="+mj-ea"/>
              </a:rPr>
              <a:t>青绿色</a:t>
            </a:r>
            <a:r>
              <a:rPr sz="2200">
                <a:latin typeface="+mj-ea"/>
                <a:ea typeface="+mj-ea"/>
              </a:rPr>
              <a:t>”</a:t>
            </a:r>
            <a:r>
              <a:rPr sz="2200">
                <a:latin typeface="+mj-ea"/>
                <a:ea typeface="+mj-ea"/>
              </a:rPr>
              <a:t>，我们再看</a:t>
            </a:r>
            <a:r>
              <a:rPr sz="2200">
                <a:latin typeface="+mj-ea"/>
                <a:ea typeface="+mj-ea"/>
              </a:rPr>
              <a:t>“</a:t>
            </a:r>
            <a:r>
              <a:rPr sz="2200">
                <a:latin typeface="+mj-ea"/>
                <a:ea typeface="+mj-ea"/>
              </a:rPr>
              <a:t>这个瓜的根蒂是什么状态？</a:t>
            </a:r>
            <a:r>
              <a:rPr sz="2200">
                <a:latin typeface="+mj-ea"/>
                <a:ea typeface="+mj-ea"/>
              </a:rPr>
              <a:t>”</a:t>
            </a:r>
            <a:r>
              <a:rPr sz="2200">
                <a:latin typeface="+mj-ea"/>
                <a:ea typeface="+mj-ea"/>
              </a:rPr>
              <a:t>，如果是</a:t>
            </a:r>
            <a:r>
              <a:rPr sz="2200">
                <a:latin typeface="+mj-ea"/>
                <a:ea typeface="+mj-ea"/>
              </a:rPr>
              <a:t>“</a:t>
            </a:r>
            <a:r>
              <a:rPr sz="2200">
                <a:latin typeface="+mj-ea"/>
                <a:ea typeface="+mj-ea"/>
              </a:rPr>
              <a:t>蜷缩</a:t>
            </a:r>
            <a:r>
              <a:rPr sz="2200">
                <a:latin typeface="+mj-ea"/>
                <a:ea typeface="+mj-ea"/>
              </a:rPr>
              <a:t>”</a:t>
            </a:r>
            <a:r>
              <a:rPr sz="2200">
                <a:latin typeface="+mj-ea"/>
                <a:ea typeface="+mj-ea"/>
              </a:rPr>
              <a:t>，我们再来判断</a:t>
            </a:r>
            <a:r>
              <a:rPr sz="2200">
                <a:latin typeface="+mj-ea"/>
                <a:ea typeface="+mj-ea"/>
              </a:rPr>
              <a:t>“</a:t>
            </a:r>
            <a:r>
              <a:rPr sz="2200">
                <a:latin typeface="+mj-ea"/>
                <a:ea typeface="+mj-ea"/>
              </a:rPr>
              <a:t>这个瓜敲起来是什么声音？</a:t>
            </a:r>
            <a:r>
              <a:rPr sz="2200">
                <a:latin typeface="+mj-ea"/>
                <a:ea typeface="+mj-ea"/>
              </a:rPr>
              <a:t>”</a:t>
            </a:r>
            <a:r>
              <a:rPr sz="2200">
                <a:latin typeface="+mj-ea"/>
                <a:ea typeface="+mj-ea"/>
              </a:rPr>
              <a:t>，如果是</a:t>
            </a:r>
            <a:r>
              <a:rPr sz="2200">
                <a:latin typeface="+mj-ea"/>
                <a:ea typeface="+mj-ea"/>
              </a:rPr>
              <a:t>“</a:t>
            </a:r>
            <a:r>
              <a:rPr sz="2200">
                <a:latin typeface="+mj-ea"/>
                <a:ea typeface="+mj-ea"/>
              </a:rPr>
              <a:t>浑浊</a:t>
            </a:r>
            <a:r>
              <a:rPr sz="2200">
                <a:latin typeface="+mj-ea"/>
                <a:ea typeface="+mj-ea"/>
              </a:rPr>
              <a:t>”</a:t>
            </a:r>
            <a:r>
              <a:rPr sz="2200">
                <a:latin typeface="+mj-ea"/>
                <a:ea typeface="+mj-ea"/>
              </a:rPr>
              <a:t>。最后，基于上述分析，我们可以得到最后的决策：这是一个</a:t>
            </a:r>
            <a:r>
              <a:rPr sz="2200" b="1">
                <a:solidFill>
                  <a:srgbClr val="FF0000"/>
                </a:solidFill>
                <a:latin typeface="+mj-ea"/>
                <a:ea typeface="+mj-ea"/>
              </a:rPr>
              <a:t>好瓜</a:t>
            </a:r>
            <a:r>
              <a:rPr sz="2200">
                <a:latin typeface="+mj-ea"/>
                <a:ea typeface="+mj-ea"/>
              </a:rPr>
              <a:t>。</a:t>
            </a:r>
          </a:p>
          <a:p>
            <a:r>
              <a:rPr sz="2200"/>
              <a:t/>
            </a:r>
          </a:p>
        </p:txBody>
      </p:sp>
      <p:pic>
        <p:nvPicPr>
          <p:cNvPr id="4" name="图片 3" descr="E:\a1.png"/>
          <p:cNvPicPr/>
          <p:nvPr/>
        </p:nvPicPr>
        <p:blipFill>
          <a:blip r:embed="rId2">
            <a:extLst>
              <a:ext uri="{28A0092B-C50C-407E-A947-70E740481C1C}">
                <a14:useLocalDpi xmlns:a14="http://schemas.microsoft.com/office/drawing/2010/main" val="0"/>
              </a:ext>
            </a:extLst>
          </a:blip>
          <a:srcRect/>
          <a:stretch>
            <a:fillRect/>
          </a:stretch>
        </p:blipFill>
        <p:spPr bwMode="auto">
          <a:xfrm>
            <a:off x="6629656" y="1523963"/>
            <a:ext cx="4466590" cy="365569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E17060-2470-406D-A044-76F072250D88}"/>
              </a:ext>
            </a:extLst>
          </p:cNvPr>
          <p:cNvSpPr>
            <a:spLocks noGrp="1"/>
          </p:cNvSpPr>
          <p:nvPr>
            <p:ph type="title"/>
          </p:nvPr>
        </p:nvSpPr>
        <p:spPr/>
        <p:txBody>
          <a:bodyPr/>
          <a:lstStyle/>
          <a:p>
            <a:pPr algn="l"/>
            <a:r>
              <a:rPr/>
              <a:t>4.决策树</a:t>
            </a:r>
          </a:p>
        </p:txBody>
      </p:sp>
      <p:sp>
        <p:nvSpPr>
          <p:cNvPr id="4" name="文本框 51"/>
          <p:cNvSpPr txBox="1"/>
          <p:nvPr/>
        </p:nvSpPr>
        <p:spPr>
          <a:xfrm>
            <a:off x="4797632" y="1309987"/>
            <a:ext cx="6615132" cy="2308324"/>
          </a:xfrm>
          <a:prstGeom prst="rect">
            <a:avLst/>
          </a:prstGeom>
          <a:noFill/>
        </p:spPr>
        <p:txBody>
          <a:bodyPr wrap="square">
            <a:spAutoFit/>
          </a:bodyPr>
          <a:lstStyle/>
          <a:p>
            <a:pPr marL="342900" indent="-342900" algn="just">
              <a:lnSpc>
                <a:spcPct val="150000"/>
              </a:lnSpc>
              <a:buFont typeface="Wingdings" panose="05000000000000000000" pitchFamily="2" charset="2"/>
              <a:buChar char="l"/>
            </a:pPr>
            <a:r>
              <a:rPr lang="zh-CN" altLang="en-US" dirty="0">
                <a:solidFill>
                  <a:schemeClr val="tx1">
                    <a:lumMod val="85000"/>
                    <a:lumOff val="15000"/>
                  </a:schemeClr>
                </a:solidFill>
                <a:latin typeface="+mj-ea"/>
                <a:ea typeface="+mj-ea"/>
                <a:cs typeface="Times New Roman" panose="02020603050405020304" pitchFamily="18" charset="0"/>
              </a:rPr>
              <a:t>决策树算法是一种归纳分类算法，它通过对训练集的学习，挖掘出有用的规则，用于对新数据进行预测。</a:t>
            </a:r>
          </a:p>
          <a:p>
            <a:pPr marL="342900" indent="-342900" algn="just">
              <a:lnSpc>
                <a:spcPct val="150000"/>
              </a:lnSpc>
              <a:buFont typeface="Wingdings" panose="05000000000000000000" pitchFamily="2" charset="2"/>
              <a:buChar char="l"/>
            </a:pPr>
            <a:r>
              <a:rPr lang="zh-CN" altLang="en-US" dirty="0">
                <a:solidFill>
                  <a:schemeClr val="tx1">
                    <a:lumMod val="85000"/>
                    <a:lumOff val="15000"/>
                  </a:schemeClr>
                </a:solidFill>
                <a:latin typeface="+mj-ea"/>
                <a:ea typeface="+mj-ea"/>
                <a:cs typeface="Times New Roman" panose="02020603050405020304" pitchFamily="18" charset="0"/>
              </a:rPr>
              <a:t>决策树算法属于</a:t>
            </a:r>
            <a:r>
              <a:rPr lang="zh-CN" altLang="en-US" dirty="0">
                <a:solidFill>
                  <a:srgbClr val="FF0000"/>
                </a:solidFill>
                <a:latin typeface="+mj-ea"/>
                <a:ea typeface="+mj-ea"/>
                <a:cs typeface="Times New Roman" panose="02020603050405020304" pitchFamily="18" charset="0"/>
              </a:rPr>
              <a:t>监督学习</a:t>
            </a:r>
            <a:r>
              <a:rPr lang="zh-CN" altLang="en-US" dirty="0">
                <a:solidFill>
                  <a:schemeClr val="tx1">
                    <a:lumMod val="85000"/>
                    <a:lumOff val="15000"/>
                  </a:schemeClr>
                </a:solidFill>
                <a:latin typeface="+mj-ea"/>
                <a:ea typeface="+mj-ea"/>
                <a:cs typeface="Times New Roman" panose="02020603050405020304" pitchFamily="18" charset="0"/>
              </a:rPr>
              <a:t>方法。</a:t>
            </a:r>
            <a:endParaRPr lang="en-US" altLang="zh-CN" dirty="0">
              <a:solidFill>
                <a:schemeClr val="tx1">
                  <a:lumMod val="85000"/>
                  <a:lumOff val="15000"/>
                </a:schemeClr>
              </a:solidFill>
              <a:latin typeface="+mj-ea"/>
              <a:ea typeface="+mj-ea"/>
            </a:endParaRPr>
          </a:p>
        </p:txBody>
      </p:sp>
      <p:sp>
        <p:nvSpPr>
          <p:cNvPr id="5" name="文本框 52"/>
          <p:cNvSpPr txBox="1"/>
          <p:nvPr/>
        </p:nvSpPr>
        <p:spPr>
          <a:xfrm>
            <a:off x="4690753" y="3441680"/>
            <a:ext cx="7215160" cy="3416320"/>
          </a:xfrm>
          <a:prstGeom prst="rect">
            <a:avLst/>
          </a:prstGeom>
          <a:noFill/>
        </p:spPr>
        <p:txBody>
          <a:bodyPr wrap="square">
            <a:spAutoFit/>
          </a:bodyPr>
          <a:lstStyle/>
          <a:p>
            <a:pPr marL="342900" indent="-342900" algn="just">
              <a:lnSpc>
                <a:spcPct val="150000"/>
              </a:lnSpc>
              <a:buFont typeface="Wingdings" panose="05000000000000000000" pitchFamily="2" charset="2"/>
              <a:buChar char="l"/>
            </a:pPr>
            <a:r>
              <a:rPr lang="zh-CN" altLang="en-US" dirty="0">
                <a:latin typeface="+mj-ea"/>
                <a:ea typeface="+mj-ea"/>
                <a:cs typeface="Times New Roman" panose="02020603050405020304" pitchFamily="18" charset="0"/>
              </a:rPr>
              <a:t>决策树归纳的基本算法是贪心算法，自顶向下来构建决策树。</a:t>
            </a:r>
          </a:p>
          <a:p>
            <a:pPr marL="342900" indent="-342900" algn="just">
              <a:lnSpc>
                <a:spcPct val="150000"/>
              </a:lnSpc>
              <a:buFont typeface="Wingdings" panose="05000000000000000000" pitchFamily="2" charset="2"/>
              <a:buChar char="l"/>
            </a:pPr>
            <a:r>
              <a:rPr lang="zh-CN" altLang="en-US" dirty="0">
                <a:latin typeface="+mj-ea"/>
                <a:ea typeface="+mj-ea"/>
                <a:cs typeface="Times New Roman" panose="02020603050405020304" pitchFamily="18" charset="0"/>
              </a:rPr>
              <a:t>贪心算法：在每一步选择中都采取在当前状态下最好</a:t>
            </a:r>
            <a:r>
              <a:rPr lang="en-US" altLang="zh-CN" dirty="0">
                <a:latin typeface="+mj-ea"/>
                <a:ea typeface="+mj-ea"/>
                <a:cs typeface="Times New Roman" panose="02020603050405020304" pitchFamily="18" charset="0"/>
              </a:rPr>
              <a:t>/</a:t>
            </a:r>
            <a:r>
              <a:rPr lang="zh-CN" altLang="en-US" dirty="0">
                <a:latin typeface="+mj-ea"/>
                <a:ea typeface="+mj-ea"/>
                <a:cs typeface="Times New Roman" panose="02020603050405020304" pitchFamily="18" charset="0"/>
              </a:rPr>
              <a:t>优的选择。</a:t>
            </a:r>
          </a:p>
          <a:p>
            <a:pPr marL="342900" indent="-342900" algn="just">
              <a:lnSpc>
                <a:spcPct val="150000"/>
              </a:lnSpc>
              <a:buFont typeface="Wingdings" panose="05000000000000000000" pitchFamily="2" charset="2"/>
              <a:buChar char="l"/>
            </a:pPr>
            <a:r>
              <a:rPr lang="zh-CN" altLang="en-US" dirty="0">
                <a:latin typeface="+mj-ea"/>
                <a:ea typeface="+mj-ea"/>
                <a:cs typeface="Times New Roman" panose="02020603050405020304" pitchFamily="18" charset="0"/>
              </a:rPr>
              <a:t>在决策树的生成过程中，分割方法即</a:t>
            </a:r>
            <a:r>
              <a:rPr lang="zh-CN" altLang="en-US" dirty="0">
                <a:solidFill>
                  <a:srgbClr val="FF0000"/>
                </a:solidFill>
                <a:latin typeface="+mj-ea"/>
                <a:ea typeface="+mj-ea"/>
                <a:cs typeface="Times New Roman" panose="02020603050405020304" pitchFamily="18" charset="0"/>
              </a:rPr>
              <a:t>属性选择的度量</a:t>
            </a:r>
            <a:r>
              <a:rPr lang="zh-CN" altLang="en-US" dirty="0">
                <a:latin typeface="+mj-ea"/>
                <a:ea typeface="+mj-ea"/>
                <a:cs typeface="Times New Roman" panose="02020603050405020304" pitchFamily="18" charset="0"/>
              </a:rPr>
              <a:t>是关键。</a:t>
            </a:r>
            <a:endParaRPr lang="en-US" altLang="zh-CN" dirty="0">
              <a:latin typeface="+mj-ea"/>
              <a:ea typeface="+mj-ea"/>
              <a:cs typeface="Times New Roman" panose="02020603050405020304" pitchFamily="18" charset="0"/>
            </a:endParaRPr>
          </a:p>
        </p:txBody>
      </p:sp>
      <p:pic>
        <p:nvPicPr>
          <p:cNvPr id="6" name="图片 5" descr="E:\a1.png"/>
          <p:cNvPicPr/>
          <p:nvPr/>
        </p:nvPicPr>
        <p:blipFill>
          <a:blip r:embed="rId2">
            <a:extLst>
              <a:ext uri="{28A0092B-C50C-407E-A947-70E740481C1C}">
                <a14:useLocalDpi xmlns:a14="http://schemas.microsoft.com/office/drawing/2010/main" val="0"/>
              </a:ext>
            </a:extLst>
          </a:blip>
          <a:srcRect/>
          <a:stretch>
            <a:fillRect/>
          </a:stretch>
        </p:blipFill>
        <p:spPr bwMode="auto">
          <a:xfrm>
            <a:off x="270420" y="1932967"/>
            <a:ext cx="4466590" cy="365569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89081D-A983-4E83-BF50-4E70CB3034AF}"/>
              </a:ext>
            </a:extLst>
          </p:cNvPr>
          <p:cNvSpPr>
            <a:spLocks noGrp="1"/>
          </p:cNvSpPr>
          <p:nvPr>
            <p:ph type="title"/>
          </p:nvPr>
        </p:nvSpPr>
        <p:spPr/>
        <p:txBody>
          <a:bodyPr/>
          <a:lstStyle/>
          <a:p>
            <a:pPr algn="l"/>
            <a:r>
              <a:rPr/>
              <a:t>4.决策树</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zh-CN" b="1" dirty="0">
                    <a:latin typeface="+mj-ea"/>
                    <a:ea typeface="+mj-ea"/>
                  </a:rPr>
                  <a:t>决策树的主要步骤如下</a:t>
                </a:r>
                <a:r>
                  <a:rPr lang="zh-CN" altLang="en-US" b="1" dirty="0">
                    <a:latin typeface="+mj-ea"/>
                    <a:ea typeface="+mj-ea"/>
                  </a:rPr>
                  <a:t>：</a:t>
                </a:r>
                <a:endParaRPr lang="en-US" altLang="zh-CN" b="1" dirty="0">
                  <a:latin typeface="+mj-ea"/>
                  <a:ea typeface="+mj-ea"/>
                </a:endParaRPr>
              </a:p>
              <a:p>
                <a:r>
                  <a:rPr lang="zh-CN" altLang="en-US" b="1" dirty="0">
                    <a:latin typeface="+mj-ea"/>
                    <a:ea typeface="+mj-ea"/>
                  </a:rPr>
                  <a:t>输入：</a:t>
                </a:r>
                <a:r>
                  <a:rPr lang="zh-CN" altLang="zh-CN" dirty="0">
                    <a:latin typeface="+mj-ea"/>
                    <a:ea typeface="+mj-ea"/>
                  </a:rPr>
                  <a:t>训练数据集</a:t>
                </a:r>
                <a:r>
                  <a:rPr lang="en-US" altLang="zh-CN" dirty="0">
                    <a:latin typeface="+mj-ea"/>
                    <a:ea typeface="+mj-ea"/>
                  </a:rPr>
                  <a:t>D</a:t>
                </a:r>
                <a:r>
                  <a:rPr lang="zh-CN" altLang="zh-CN" dirty="0">
                    <a:latin typeface="+mj-ea"/>
                    <a:ea typeface="+mj-ea"/>
                  </a:rPr>
                  <a:t>，属性集</a:t>
                </a:r>
                <a:r>
                  <a:rPr lang="en-US" altLang="zh-CN" dirty="0">
                    <a:latin typeface="+mj-ea"/>
                    <a:ea typeface="+mj-ea"/>
                  </a:rPr>
                  <a:t>A</a:t>
                </a:r>
                <a:r>
                  <a:rPr lang="zh-CN" altLang="zh-CN" dirty="0">
                    <a:latin typeface="+mj-ea"/>
                    <a:ea typeface="+mj-ea"/>
                  </a:rPr>
                  <a:t>和阈值</a:t>
                </a:r>
                <a14:m>
                  <m:oMath xmlns:m="http://schemas.openxmlformats.org/officeDocument/2006/math">
                    <m:r>
                      <a:rPr lang="zh-CN" altLang="en-US" i="1" smtClean="0">
                        <a:latin typeface="Cambria Math" panose="02040503050406030204"/>
                        <a:ea typeface="+mj-ea"/>
                      </a:rPr>
                      <m:t>𝜀</m:t>
                    </m:r>
                  </m:oMath>
                </a14:m>
                <a:r>
                  <a:rPr lang="zh-CN" altLang="zh-CN" dirty="0"/>
                  <a:t>。</a:t>
                </a:r>
              </a:p>
              <a:p>
                <a:r>
                  <a:rPr lang="zh-CN" altLang="zh-CN" b="1" dirty="0">
                    <a:latin typeface="+mj-ea"/>
                    <a:ea typeface="+mj-ea"/>
                  </a:rPr>
                  <a:t>输出：</a:t>
                </a:r>
                <a:r>
                  <a:rPr lang="zh-CN" altLang="zh-CN" dirty="0">
                    <a:latin typeface="+mj-ea"/>
                    <a:ea typeface="+mj-ea"/>
                  </a:rPr>
                  <a:t>决策树</a:t>
                </a:r>
                <a:r>
                  <a:rPr lang="en-US" altLang="zh-CN" dirty="0">
                    <a:latin typeface="+mj-ea"/>
                    <a:ea typeface="+mj-ea"/>
                  </a:rPr>
                  <a:t>T</a:t>
                </a:r>
              </a:p>
              <a:p>
                <a:pPr>
                  <a:lnSpc>
                    <a:spcPct val="110000"/>
                  </a:lnSpc>
                </a:pPr>
                <a:r>
                  <a:rPr lang="zh-CN" altLang="zh-CN" sz="2000" dirty="0">
                    <a:latin typeface="+mj-ea"/>
                    <a:ea typeface="+mj-ea"/>
                  </a:rPr>
                  <a:t>（</a:t>
                </a:r>
                <a:r>
                  <a:rPr lang="en-US" altLang="zh-CN" sz="2000" dirty="0">
                    <a:latin typeface="+mj-ea"/>
                    <a:ea typeface="+mj-ea"/>
                  </a:rPr>
                  <a:t>1</a:t>
                </a:r>
                <a:r>
                  <a:rPr lang="zh-CN" altLang="zh-CN" sz="2000" dirty="0">
                    <a:latin typeface="+mj-ea"/>
                    <a:ea typeface="+mj-ea"/>
                  </a:rPr>
                  <a:t>）如果训练集</a:t>
                </a:r>
                <a14:m>
                  <m:oMath xmlns:m="http://schemas.openxmlformats.org/officeDocument/2006/math">
                    <m:r>
                      <a:rPr lang="en-US" altLang="zh-CN" sz="2000" i="1">
                        <a:latin typeface="Cambria Math" panose="02040503050406030204"/>
                      </a:rPr>
                      <m:t>𝐷</m:t>
                    </m:r>
                  </m:oMath>
                </a14:m>
                <a:r>
                  <a:rPr lang="zh-CN" altLang="zh-CN" sz="2000" dirty="0">
                    <a:latin typeface="+mj-ea"/>
                    <a:ea typeface="+mj-ea"/>
                  </a:rPr>
                  <a:t>中所有实例都属于用一个类别</a:t>
                </a:r>
                <a14:m>
                  <m:oMath xmlns:m="http://schemas.openxmlformats.org/officeDocument/2006/math">
                    <m:sSub>
                      <m:sSubPr>
                        <m:ctrlPr>
                          <a:rPr lang="en-US" altLang="zh-CN" sz="2000" b="0" i="1" smtClean="0">
                            <a:latin typeface="Cambria Math" panose="02040503050406030204"/>
                            <a:ea typeface="+mj-ea"/>
                          </a:rPr>
                        </m:ctrlPr>
                      </m:sSubPr>
                      <m:e>
                        <m:r>
                          <a:rPr lang="en-US" altLang="zh-CN" sz="2000" b="0" i="1" smtClean="0">
                            <a:latin typeface="Cambria Math" panose="02040503050406030204"/>
                            <a:ea typeface="+mj-ea"/>
                          </a:rPr>
                          <m:t>𝐷</m:t>
                        </m:r>
                      </m:e>
                      <m:sub>
                        <m:r>
                          <a:rPr lang="en-US" altLang="zh-CN" sz="2000" b="0" i="1" smtClean="0">
                            <a:latin typeface="Cambria Math" panose="02040503050406030204"/>
                            <a:ea typeface="+mj-ea"/>
                          </a:rPr>
                          <m:t>𝑘</m:t>
                        </m:r>
                      </m:sub>
                    </m:sSub>
                  </m:oMath>
                </a14:m>
                <a:r>
                  <a:rPr lang="zh-CN" altLang="zh-CN" sz="2000" dirty="0">
                    <a:latin typeface="+mj-ea"/>
                    <a:ea typeface="+mj-ea"/>
                  </a:rPr>
                  <a:t>（</a:t>
                </a:r>
                <a:r>
                  <a:rPr lang="en-US" altLang="zh-CN" sz="2000" dirty="0"/>
                  <a:t> </a:t>
                </a:r>
                <a14:m>
                  <m:oMath xmlns:m="http://schemas.openxmlformats.org/officeDocument/2006/math">
                    <m:sSub>
                      <m:sSubPr>
                        <m:ctrlPr>
                          <a:rPr lang="en-US" altLang="zh-CN" sz="2000" i="1">
                            <a:latin typeface="Cambria Math" panose="02040503050406030204"/>
                          </a:rPr>
                        </m:ctrlPr>
                      </m:sSubPr>
                      <m:e>
                        <m:r>
                          <a:rPr lang="en-US" altLang="zh-CN" sz="2000" i="1">
                            <a:latin typeface="Cambria Math" panose="02040503050406030204"/>
                          </a:rPr>
                          <m:t>𝐷</m:t>
                        </m:r>
                      </m:e>
                      <m:sub>
                        <m:r>
                          <a:rPr lang="en-US" altLang="zh-CN" sz="2000" i="1">
                            <a:latin typeface="Cambria Math" panose="02040503050406030204"/>
                          </a:rPr>
                          <m:t>𝑘</m:t>
                        </m:r>
                      </m:sub>
                    </m:sSub>
                  </m:oMath>
                </a14:m>
                <a:r>
                  <a:rPr lang="zh-CN" altLang="zh-CN" sz="2000" dirty="0">
                    <a:latin typeface="+mj-ea"/>
                    <a:ea typeface="+mj-ea"/>
                  </a:rPr>
                  <a:t>代表训练样本集</a:t>
                </a:r>
                <a14:m>
                  <m:oMath xmlns:m="http://schemas.openxmlformats.org/officeDocument/2006/math">
                    <m:r>
                      <a:rPr lang="en-US" altLang="zh-CN" sz="2000" b="0" i="1" smtClean="0">
                        <a:latin typeface="Cambria Math" panose="02040503050406030204"/>
                        <a:ea typeface="+mj-ea"/>
                      </a:rPr>
                      <m:t>𝐷</m:t>
                    </m:r>
                  </m:oMath>
                </a14:m>
                <a:r>
                  <a:rPr lang="zh-CN" altLang="zh-CN" sz="2000" dirty="0">
                    <a:latin typeface="+mj-ea"/>
                    <a:ea typeface="+mj-ea"/>
                  </a:rPr>
                  <a:t>中属于第</a:t>
                </a:r>
                <a14:m>
                  <m:oMath xmlns:m="http://schemas.openxmlformats.org/officeDocument/2006/math">
                    <m:r>
                      <a:rPr lang="en-US" altLang="zh-CN" sz="2000" b="0" i="1" smtClean="0">
                        <a:latin typeface="Cambria Math" panose="02040503050406030204"/>
                        <a:ea typeface="+mj-ea"/>
                      </a:rPr>
                      <m:t>𝑘</m:t>
                    </m:r>
                  </m:oMath>
                </a14:m>
                <a:r>
                  <a:rPr lang="zh-CN" altLang="zh-CN" sz="2000" dirty="0">
                    <a:latin typeface="+mj-ea"/>
                    <a:ea typeface="+mj-ea"/>
                  </a:rPr>
                  <a:t>类的子集），则设置决策树</a:t>
                </a:r>
                <a:r>
                  <a:rPr lang="en-US" altLang="zh-CN" sz="2000" dirty="0">
                    <a:latin typeface="+mj-ea"/>
                    <a:ea typeface="+mj-ea"/>
                  </a:rPr>
                  <a:t>T</a:t>
                </a:r>
                <a:r>
                  <a:rPr lang="zh-CN" altLang="zh-CN" sz="2000" dirty="0">
                    <a:latin typeface="+mj-ea"/>
                    <a:ea typeface="+mj-ea"/>
                  </a:rPr>
                  <a:t>为单节点树，并将</a:t>
                </a:r>
                <a14:m>
                  <m:oMath xmlns:m="http://schemas.openxmlformats.org/officeDocument/2006/math">
                    <m:sSub>
                      <m:sSubPr>
                        <m:ctrlPr>
                          <a:rPr lang="en-US" altLang="zh-CN" sz="2000" i="1">
                            <a:latin typeface="Cambria Math" panose="02040503050406030204"/>
                          </a:rPr>
                        </m:ctrlPr>
                      </m:sSubPr>
                      <m:e>
                        <m:r>
                          <a:rPr lang="en-US" altLang="zh-CN" sz="2000" i="1">
                            <a:latin typeface="Cambria Math" panose="02040503050406030204"/>
                          </a:rPr>
                          <m:t>𝐷</m:t>
                        </m:r>
                      </m:e>
                      <m:sub>
                        <m:r>
                          <a:rPr lang="en-US" altLang="zh-CN" sz="2000" i="1">
                            <a:latin typeface="Cambria Math" panose="02040503050406030204"/>
                          </a:rPr>
                          <m:t>𝑘</m:t>
                        </m:r>
                      </m:sub>
                    </m:sSub>
                  </m:oMath>
                </a14:m>
                <a:r>
                  <a:rPr lang="zh-CN" altLang="zh-CN" sz="2000" dirty="0">
                    <a:latin typeface="+mj-ea"/>
                    <a:ea typeface="+mj-ea"/>
                  </a:rPr>
                  <a:t>作为该节点的类别。</a:t>
                </a:r>
              </a:p>
              <a:p>
                <a:pPr>
                  <a:lnSpc>
                    <a:spcPct val="110000"/>
                  </a:lnSpc>
                </a:pPr>
                <a:r>
                  <a:rPr lang="zh-CN" altLang="zh-CN" sz="2000" dirty="0">
                    <a:latin typeface="+mj-ea"/>
                    <a:ea typeface="+mj-ea"/>
                  </a:rPr>
                  <a:t>（</a:t>
                </a:r>
                <a:r>
                  <a:rPr lang="en-US" altLang="zh-CN" sz="2000" dirty="0">
                    <a:latin typeface="+mj-ea"/>
                    <a:ea typeface="+mj-ea"/>
                  </a:rPr>
                  <a:t>2</a:t>
                </a:r>
                <a:r>
                  <a:rPr lang="zh-CN" altLang="zh-CN" sz="2000" dirty="0">
                    <a:latin typeface="+mj-ea"/>
                    <a:ea typeface="+mj-ea"/>
                  </a:rPr>
                  <a:t>）如果属性集</a:t>
                </a:r>
                <a:r>
                  <a:rPr lang="en-US" altLang="zh-CN" sz="2000" i="1" dirty="0">
                    <a:latin typeface="+mj-ea"/>
                    <a:ea typeface="+mj-ea"/>
                  </a:rPr>
                  <a:t>A</a:t>
                </a:r>
                <a:r>
                  <a:rPr lang="zh-CN" altLang="zh-CN" sz="2000" dirty="0">
                    <a:latin typeface="+mj-ea"/>
                    <a:ea typeface="+mj-ea"/>
                  </a:rPr>
                  <a:t>为空集，则设置决策树</a:t>
                </a:r>
                <a:r>
                  <a:rPr lang="en-US" altLang="zh-CN" sz="2000" dirty="0">
                    <a:latin typeface="+mj-ea"/>
                    <a:ea typeface="+mj-ea"/>
                  </a:rPr>
                  <a:t>T</a:t>
                </a:r>
                <a:r>
                  <a:rPr lang="zh-CN" altLang="zh-CN" sz="2000" dirty="0">
                    <a:latin typeface="+mj-ea"/>
                    <a:ea typeface="+mj-ea"/>
                  </a:rPr>
                  <a:t>为单节点树，并将训练集</a:t>
                </a:r>
                <a14:m>
                  <m:oMath xmlns:m="http://schemas.openxmlformats.org/officeDocument/2006/math">
                    <m:r>
                      <a:rPr lang="en-US" altLang="zh-CN" sz="2000" i="1">
                        <a:latin typeface="Cambria Math" panose="02040503050406030204"/>
                      </a:rPr>
                      <m:t>𝐷</m:t>
                    </m:r>
                  </m:oMath>
                </a14:m>
                <a:r>
                  <a:rPr lang="zh-CN" altLang="zh-CN" sz="2000" dirty="0">
                    <a:latin typeface="+mj-ea"/>
                    <a:ea typeface="+mj-ea"/>
                  </a:rPr>
                  <a:t>中最多的类别作为该节点的类别。如果属性集</a:t>
                </a:r>
                <a:r>
                  <a:rPr lang="en-US" altLang="zh-CN" sz="2000" i="1" dirty="0">
                    <a:latin typeface="+mj-ea"/>
                    <a:ea typeface="+mj-ea"/>
                  </a:rPr>
                  <a:t>A</a:t>
                </a:r>
                <a:r>
                  <a:rPr lang="zh-CN" altLang="zh-CN" sz="2000" dirty="0">
                    <a:latin typeface="+mj-ea"/>
                    <a:ea typeface="+mj-ea"/>
                  </a:rPr>
                  <a:t>不是空集，则根据相关公式评估属性集</a:t>
                </a:r>
                <a:r>
                  <a:rPr lang="en-US" altLang="zh-CN" sz="2000" i="1" dirty="0">
                    <a:latin typeface="+mj-ea"/>
                    <a:ea typeface="+mj-ea"/>
                  </a:rPr>
                  <a:t>A</a:t>
                </a:r>
                <a:r>
                  <a:rPr lang="zh-CN" altLang="zh-CN" sz="2000" dirty="0">
                    <a:latin typeface="+mj-ea"/>
                    <a:ea typeface="+mj-ea"/>
                  </a:rPr>
                  <a:t>中各个特征在决策时的得分，并选择最合适的特征</a:t>
                </a:r>
                <a:r>
                  <a:rPr lang="en-US" altLang="zh-CN" sz="2000" dirty="0">
                    <a:latin typeface="+mj-ea"/>
                    <a:ea typeface="+mj-ea"/>
                  </a:rPr>
                  <a:t>a</a:t>
                </a:r>
                <a:r>
                  <a:rPr lang="zh-CN" altLang="zh-CN" sz="2000" dirty="0">
                    <a:latin typeface="+mj-ea"/>
                    <a:ea typeface="+mj-ea"/>
                  </a:rPr>
                  <a:t>。</a:t>
                </a:r>
              </a:p>
              <a:p>
                <a:pPr>
                  <a:lnSpc>
                    <a:spcPct val="110000"/>
                  </a:lnSpc>
                </a:pPr>
                <a:r>
                  <a:rPr lang="zh-CN" altLang="zh-CN" sz="2000" dirty="0">
                    <a:latin typeface="+mj-ea"/>
                    <a:ea typeface="+mj-ea"/>
                  </a:rPr>
                  <a:t>（</a:t>
                </a:r>
                <a:r>
                  <a:rPr lang="en-US" altLang="zh-CN" sz="2000" dirty="0">
                    <a:latin typeface="+mj-ea"/>
                    <a:ea typeface="+mj-ea"/>
                  </a:rPr>
                  <a:t>3</a:t>
                </a:r>
                <a:r>
                  <a:rPr lang="zh-CN" altLang="zh-CN" sz="2000" dirty="0">
                    <a:latin typeface="+mj-ea"/>
                    <a:ea typeface="+mj-ea"/>
                  </a:rPr>
                  <a:t>）如果特征</a:t>
                </a:r>
                <a:r>
                  <a:rPr lang="en-US" altLang="zh-CN" sz="2000" dirty="0">
                    <a:latin typeface="+mj-ea"/>
                    <a:ea typeface="+mj-ea"/>
                  </a:rPr>
                  <a:t>a</a:t>
                </a:r>
                <a:r>
                  <a:rPr lang="zh-CN" altLang="zh-CN" sz="2000" dirty="0">
                    <a:latin typeface="+mj-ea"/>
                    <a:ea typeface="+mj-ea"/>
                  </a:rPr>
                  <a:t>的得分小于阈值</a:t>
                </a:r>
                <a14:m>
                  <m:oMath xmlns:m="http://schemas.openxmlformats.org/officeDocument/2006/math">
                    <m:r>
                      <a:rPr lang="zh-CN" altLang="en-US" sz="2000" i="1">
                        <a:latin typeface="Cambria Math" panose="02040503050406030204"/>
                      </a:rPr>
                      <m:t>𝜀</m:t>
                    </m:r>
                  </m:oMath>
                </a14:m>
                <a:r>
                  <a:rPr lang="zh-CN" altLang="zh-CN" sz="2000" dirty="0">
                    <a:latin typeface="+mj-ea"/>
                    <a:ea typeface="+mj-ea"/>
                  </a:rPr>
                  <a:t>，则设置决策树</a:t>
                </a:r>
                <a:r>
                  <a:rPr lang="en-US" altLang="zh-CN" sz="2000" dirty="0">
                    <a:latin typeface="+mj-ea"/>
                    <a:ea typeface="+mj-ea"/>
                  </a:rPr>
                  <a:t>T</a:t>
                </a:r>
                <a:r>
                  <a:rPr lang="zh-CN" altLang="zh-CN" sz="2000" dirty="0">
                    <a:latin typeface="+mj-ea"/>
                    <a:ea typeface="+mj-ea"/>
                  </a:rPr>
                  <a:t>为单节点树，并将</a:t>
                </a:r>
                <a14:m>
                  <m:oMath xmlns:m="http://schemas.openxmlformats.org/officeDocument/2006/math">
                    <m:sSub>
                      <m:sSubPr>
                        <m:ctrlPr>
                          <a:rPr lang="en-US" altLang="zh-CN" sz="2000" i="1">
                            <a:latin typeface="Cambria Math" panose="02040503050406030204"/>
                          </a:rPr>
                        </m:ctrlPr>
                      </m:sSubPr>
                      <m:e>
                        <m:r>
                          <a:rPr lang="en-US" altLang="zh-CN" sz="2000" i="1">
                            <a:latin typeface="Cambria Math" panose="02040503050406030204"/>
                          </a:rPr>
                          <m:t>𝐷</m:t>
                        </m:r>
                      </m:e>
                      <m:sub>
                        <m:r>
                          <a:rPr lang="en-US" altLang="zh-CN" sz="2000" i="1">
                            <a:latin typeface="Cambria Math" panose="02040503050406030204"/>
                          </a:rPr>
                          <m:t>𝑘</m:t>
                        </m:r>
                      </m:sub>
                    </m:sSub>
                  </m:oMath>
                </a14:m>
                <a:r>
                  <a:rPr lang="zh-CN" altLang="zh-CN" sz="2000" dirty="0">
                    <a:latin typeface="+mj-ea"/>
                    <a:ea typeface="+mj-ea"/>
                  </a:rPr>
                  <a:t>作为该节点的类别。如果特征</a:t>
                </a:r>
                <a:r>
                  <a:rPr lang="en-US" altLang="zh-CN" sz="2000" dirty="0">
                    <a:latin typeface="+mj-ea"/>
                    <a:ea typeface="+mj-ea"/>
                  </a:rPr>
                  <a:t>a</a:t>
                </a:r>
                <a:r>
                  <a:rPr lang="zh-CN" altLang="zh-CN" sz="2000" dirty="0">
                    <a:latin typeface="+mj-ea"/>
                    <a:ea typeface="+mj-ea"/>
                  </a:rPr>
                  <a:t>的得分大于阈值</a:t>
                </a:r>
                <a14:m>
                  <m:oMath xmlns:m="http://schemas.openxmlformats.org/officeDocument/2006/math">
                    <m:r>
                      <a:rPr lang="zh-CN" altLang="en-US" sz="2000" i="1">
                        <a:latin typeface="Cambria Math" panose="02040503050406030204"/>
                      </a:rPr>
                      <m:t>𝜀</m:t>
                    </m:r>
                  </m:oMath>
                </a14:m>
                <a:r>
                  <a:rPr lang="zh-CN" altLang="zh-CN" sz="2000" dirty="0">
                    <a:latin typeface="+mj-ea"/>
                    <a:ea typeface="+mj-ea"/>
                  </a:rPr>
                  <a:t>，则对数据集</a:t>
                </a:r>
                <a14:m>
                  <m:oMath xmlns:m="http://schemas.openxmlformats.org/officeDocument/2006/math">
                    <m:r>
                      <a:rPr lang="en-US" altLang="zh-CN" sz="2000" i="1">
                        <a:latin typeface="Cambria Math" panose="02040503050406030204"/>
                      </a:rPr>
                      <m:t>𝐷</m:t>
                    </m:r>
                  </m:oMath>
                </a14:m>
                <a:r>
                  <a:rPr lang="zh-CN" altLang="zh-CN" sz="2000" dirty="0">
                    <a:latin typeface="+mj-ea"/>
                    <a:ea typeface="+mj-ea"/>
                  </a:rPr>
                  <a:t>进行划分，并重复上述步骤递归生成决策树</a:t>
                </a:r>
                <a:r>
                  <a:rPr lang="zh-CN" altLang="zh-CN" dirty="0">
                    <a:latin typeface="+mj-ea"/>
                    <a:ea typeface="+mj-ea"/>
                  </a:rPr>
                  <a:t>。</a:t>
                </a:r>
              </a:p>
              <a:p>
                <a:endParaRPr lang="zh-CN" altLang="zh-CN" dirty="0">
                  <a:latin typeface="+mj-ea"/>
                  <a:ea typeface="+mj-ea"/>
                </a:endParaRPr>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1667" t="-3100" b="-2561"/>
                </a:stretch>
              </a:blipFill>
            </p:spPr>
            <p:txBody>
              <a:bodyPr/>
              <a:lstStyle/>
              <a:p>
                <a:r>
                  <a:rPr lang="zh-CN" altLang="en-US">
                    <a:noFill/>
                  </a:rPr>
                  <a:t> </a:t>
                </a:r>
              </a:p>
            </p:txBody>
          </p:sp>
        </mc:Fallback>
      </mc:AlternateContent>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0DD3B29-5736-4366-96CB-E883D340E65F}"/>
              </a:ext>
            </a:extLst>
          </p:cNvPr>
          <p:cNvSpPr>
            <a:spLocks noGrp="1"/>
          </p:cNvSpPr>
          <p:nvPr>
            <p:ph type="title"/>
          </p:nvPr>
        </p:nvSpPr>
        <p:spPr/>
        <p:txBody>
          <a:bodyPr/>
          <a:lstStyle/>
          <a:p>
            <a:pPr algn="l"/>
            <a:r>
              <a:rPr/>
              <a:t>ID3算法</a:t>
            </a:r>
          </a:p>
        </p:txBody>
      </p:sp>
      <p:sp>
        <p:nvSpPr>
          <p:cNvPr id="3" name="内容占位符 2">
            <a:extLst>
              <a:ext uri="{FF2B5EF4-FFF2-40B4-BE49-F238E27FC236}">
                <a16:creationId xmlns:a16="http://schemas.microsoft.com/office/drawing/2014/main" id="{EE539955-4102-4970-B79C-3406821CCEED}"/>
              </a:ext>
            </a:extLst>
          </p:cNvPr>
          <p:cNvSpPr>
            <a:spLocks noGrp="1"/>
          </p:cNvSpPr>
          <p:nvPr>
            <p:ph idx="1"/>
          </p:nvPr>
        </p:nvSpPr>
        <p:spPr>
          <a:xfrm>
            <a:off x="585849" y="1451761"/>
            <a:ext cx="10972800" cy="4525963"/>
          </a:xfrm>
        </p:spPr>
        <p:txBody>
          <a:bodyPr>
            <a:normAutofit/>
          </a:bodyPr>
          <a:lstStyle/>
          <a:p>
            <a:r>
              <a:rPr sz="2000">
                <a:latin typeface="+mj-ea"/>
                <a:ea typeface="+mj-ea"/>
              </a:rPr>
              <a:t>ID3</a:t>
            </a:r>
            <a:r>
              <a:rPr sz="2000">
                <a:latin typeface="+mj-ea"/>
                <a:ea typeface="+mj-ea"/>
              </a:rPr>
              <a:t>算法就是使用</a:t>
            </a:r>
            <a:r>
              <a:rPr sz="2000" b="1">
                <a:solidFill>
                  <a:srgbClr val="FF0000"/>
                </a:solidFill>
                <a:latin typeface="+mj-ea"/>
                <a:ea typeface="+mj-ea"/>
              </a:rPr>
              <a:t>信息增益</a:t>
            </a:r>
            <a:r>
              <a:rPr sz="2000">
                <a:latin typeface="+mj-ea"/>
                <a:ea typeface="+mj-ea"/>
              </a:rPr>
              <a:t>作为准则来选择划分属性。</a:t>
            </a:r>
          </a:p>
          <a:p>
            <a:r>
              <a:rPr sz="2000">
                <a:latin typeface="+mj-ea"/>
                <a:ea typeface="+mj-ea"/>
              </a:rPr>
              <a:t>主要步骤如下：</a:t>
            </a:r>
          </a:p>
          <a:p>
            <a:r>
              <a:rPr sz="2000">
                <a:latin typeface="+mj-ea"/>
                <a:ea typeface="+mj-ea"/>
              </a:rPr>
              <a:t>（</a:t>
            </a:r>
            <a:r>
              <a:rPr sz="2000">
                <a:latin typeface="+mj-ea"/>
                <a:ea typeface="+mj-ea"/>
              </a:rPr>
              <a:t>1</a:t>
            </a:r>
            <a:r>
              <a:rPr sz="2000">
                <a:latin typeface="+mj-ea"/>
                <a:ea typeface="+mj-ea"/>
              </a:rPr>
              <a:t>）初始化数据集和特征集。</a:t>
            </a:r>
          </a:p>
          <a:p>
            <a:r>
              <a:rPr sz="2000">
                <a:latin typeface="+mj-ea"/>
                <a:ea typeface="+mj-ea"/>
              </a:rPr>
              <a:t>（</a:t>
            </a:r>
            <a:r>
              <a:rPr sz="2000">
                <a:latin typeface="+mj-ea"/>
                <a:ea typeface="+mj-ea"/>
              </a:rPr>
              <a:t>2</a:t>
            </a:r>
            <a:r>
              <a:rPr sz="2000">
                <a:latin typeface="+mj-ea"/>
                <a:ea typeface="+mj-ea"/>
              </a:rPr>
              <a:t>）计算数据集的信息熵和各个特征的条件熵，并基于此计算得到信息增益的值。</a:t>
            </a:r>
          </a:p>
          <a:p>
            <a:r>
              <a:rPr sz="2000">
                <a:latin typeface="+mj-ea"/>
                <a:ea typeface="+mj-ea"/>
              </a:rPr>
              <a:t>（</a:t>
            </a:r>
            <a:r>
              <a:rPr sz="2000">
                <a:latin typeface="+mj-ea"/>
                <a:ea typeface="+mj-ea"/>
              </a:rPr>
              <a:t>3</a:t>
            </a:r>
            <a:r>
              <a:rPr sz="2000">
                <a:latin typeface="+mj-ea"/>
                <a:ea typeface="+mj-ea"/>
              </a:rPr>
              <a:t>）选择信息增益最大的特征作为决策节点进行划分。</a:t>
            </a:r>
          </a:p>
          <a:p>
            <a:r>
              <a:rPr sz="2000">
                <a:latin typeface="+mj-ea"/>
                <a:ea typeface="+mj-ea"/>
              </a:rPr>
              <a:t>（</a:t>
            </a:r>
            <a:r>
              <a:rPr sz="2000">
                <a:latin typeface="+mj-ea"/>
                <a:ea typeface="+mj-ea"/>
              </a:rPr>
              <a:t>4</a:t>
            </a:r>
            <a:r>
              <a:rPr sz="2000">
                <a:latin typeface="+mj-ea"/>
                <a:ea typeface="+mj-ea"/>
              </a:rPr>
              <a:t>）更新数据集和特征集，即删除前一步使用过的特征，按照特征值进行划分，得到新的数据集。</a:t>
            </a:r>
          </a:p>
          <a:p>
            <a:r>
              <a:rPr sz="2000">
                <a:latin typeface="+mj-ea"/>
                <a:ea typeface="+mj-ea"/>
              </a:rPr>
              <a:t>（</a:t>
            </a:r>
            <a:r>
              <a:rPr sz="2000">
                <a:latin typeface="+mj-ea"/>
                <a:ea typeface="+mj-ea"/>
              </a:rPr>
              <a:t>5</a:t>
            </a:r>
            <a:r>
              <a:rPr sz="2000">
                <a:latin typeface="+mj-ea"/>
                <a:ea typeface="+mj-ea"/>
              </a:rPr>
              <a:t>）对每个子集重复（</a:t>
            </a:r>
            <a:r>
              <a:rPr sz="2000">
                <a:latin typeface="+mj-ea"/>
                <a:ea typeface="+mj-ea"/>
              </a:rPr>
              <a:t>2</a:t>
            </a:r>
            <a:r>
              <a:rPr sz="2000">
                <a:latin typeface="+mj-ea"/>
                <a:ea typeface="+mj-ea"/>
              </a:rPr>
              <a:t>）、（</a:t>
            </a:r>
            <a:r>
              <a:rPr sz="2000">
                <a:latin typeface="+mj-ea"/>
                <a:ea typeface="+mj-ea"/>
              </a:rPr>
              <a:t>3</a:t>
            </a:r>
            <a:r>
              <a:rPr sz="2000">
                <a:latin typeface="+mj-ea"/>
                <a:ea typeface="+mj-ea"/>
              </a:rPr>
              <a:t>）、（</a:t>
            </a:r>
            <a:r>
              <a:rPr sz="2000">
                <a:latin typeface="+mj-ea"/>
                <a:ea typeface="+mj-ea"/>
              </a:rPr>
              <a:t>4</a:t>
            </a:r>
            <a:r>
              <a:rPr sz="2000">
                <a:latin typeface="+mj-ea"/>
                <a:ea typeface="+mj-ea"/>
              </a:rPr>
              <a:t>）步；若子集中的样本已全部属于同一类，或已没有可用特征，则将其作为叶节点，类别取多数类。</a:t>
            </a:r>
          </a:p>
          <a:p>
            <a:r>
              <a:rPr sz="2000"/>
              <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0A5884-9A29-4580-AA54-4E5E73153DBB}"/>
              </a:ext>
            </a:extLst>
          </p:cNvPr>
          <p:cNvSpPr>
            <a:spLocks noGrp="1"/>
          </p:cNvSpPr>
          <p:nvPr>
            <p:ph type="title"/>
          </p:nvPr>
        </p:nvSpPr>
        <p:spPr/>
        <p:txBody>
          <a:bodyPr/>
          <a:lstStyle/>
          <a:p>
            <a:pPr algn="l"/>
            <a:r>
              <a:rPr/>
              <a:t>ID3算法</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zh-CN" b="1" dirty="0">
                    <a:solidFill>
                      <a:srgbClr val="FF0000"/>
                    </a:solidFill>
                    <a:latin typeface="+mj-ea"/>
                    <a:ea typeface="+mj-ea"/>
                  </a:rPr>
                  <a:t>信息熵</a:t>
                </a:r>
                <a:r>
                  <a:rPr lang="zh-CN" altLang="zh-CN" dirty="0">
                    <a:latin typeface="+mj-ea"/>
                    <a:ea typeface="+mj-ea"/>
                  </a:rPr>
                  <a:t>是一个衡量样本集合纯度最常用的指标</a:t>
                </a:r>
                <a:endParaRPr lang="en-US" altLang="zh-CN" dirty="0">
                  <a:latin typeface="+mj-ea"/>
                  <a:ea typeface="+mj-ea"/>
                </a:endParaRPr>
              </a:p>
              <a:p>
                <a:endParaRPr lang="en-US" altLang="zh-CN" dirty="0">
                  <a:latin typeface="+mj-ea"/>
                  <a:ea typeface="+mj-ea"/>
                </a:endParaRPr>
              </a:p>
              <a:p>
                <a:endParaRPr lang="en-US" altLang="zh-CN" dirty="0">
                  <a:latin typeface="+mj-ea"/>
                  <a:ea typeface="+mj-ea"/>
                </a:endParaRPr>
              </a:p>
              <a:p>
                <a:r>
                  <a:rPr lang="zh-CN" altLang="zh-CN" dirty="0">
                    <a:latin typeface="+mj-ea"/>
                    <a:ea typeface="+mj-ea"/>
                  </a:rPr>
                  <a:t>假定离散属性</a:t>
                </a:r>
                <a:r>
                  <a:rPr lang="en-US" altLang="zh-CN" dirty="0">
                    <a:latin typeface="+mj-ea"/>
                    <a:ea typeface="+mj-ea"/>
                  </a:rPr>
                  <a:t>a</a:t>
                </a:r>
                <a:r>
                  <a:rPr lang="zh-CN" altLang="zh-CN" dirty="0">
                    <a:latin typeface="+mj-ea"/>
                    <a:ea typeface="+mj-ea"/>
                  </a:rPr>
                  <a:t>有</a:t>
                </a:r>
                <a14:m>
                  <m:oMath xmlns:m="http://schemas.openxmlformats.org/officeDocument/2006/math">
                    <m:r>
                      <a:rPr lang="en-US" altLang="zh-CN" i="1" dirty="0" smtClean="0">
                        <a:latin typeface="Cambria Math" panose="02040503050406030204" pitchFamily="18" charset="0"/>
                        <a:ea typeface="+mj-ea"/>
                      </a:rPr>
                      <m:t>𝑉</m:t>
                    </m:r>
                  </m:oMath>
                </a14:m>
                <a:r>
                  <a:rPr lang="zh-CN" altLang="zh-CN" dirty="0">
                    <a:latin typeface="+mj-ea"/>
                    <a:ea typeface="+mj-ea"/>
                  </a:rPr>
                  <a:t>个可能的取值</a:t>
                </a:r>
                <a:r>
                  <a:rPr lang="en-US" altLang="zh-CN" dirty="0">
                    <a:latin typeface="+mj-ea"/>
                    <a:ea typeface="+mj-ea"/>
                  </a:rPr>
                  <a:t>,</a:t>
                </a:r>
                <a:r>
                  <a:rPr lang="zh-CN" altLang="en-US" dirty="0">
                    <a:latin typeface="+mj-ea"/>
                    <a:ea typeface="+mj-ea"/>
                  </a:rPr>
                  <a:t>则会产生</a:t>
                </a:r>
                <a14:m>
                  <m:oMath xmlns:m="http://schemas.openxmlformats.org/officeDocument/2006/math">
                    <m:r>
                      <a:rPr lang="en-US" altLang="zh-CN" i="1" dirty="0" smtClean="0">
                        <a:latin typeface="Cambria Math" panose="02040503050406030204" pitchFamily="18" charset="0"/>
                        <a:ea typeface="+mj-ea"/>
                      </a:rPr>
                      <m:t>𝑉</m:t>
                    </m:r>
                  </m:oMath>
                </a14:m>
                <a:r>
                  <a:rPr lang="zh-CN" altLang="en-US" dirty="0">
                    <a:latin typeface="+mj-ea"/>
                    <a:ea typeface="+mj-ea"/>
                  </a:rPr>
                  <a:t>个分支。</a:t>
                </a:r>
                <a:endParaRPr lang="en-US" altLang="zh-CN" dirty="0">
                  <a:latin typeface="+mj-ea"/>
                  <a:ea typeface="+mj-ea"/>
                </a:endParaRPr>
              </a:p>
              <a:p>
                <a:r>
                  <a:rPr lang="zh-CN" altLang="zh-CN" dirty="0">
                    <a:latin typeface="+mj-ea"/>
                    <a:ea typeface="+mj-ea"/>
                  </a:rPr>
                  <a:t>第</a:t>
                </a:r>
                <a14:m>
                  <m:oMath xmlns:m="http://schemas.openxmlformats.org/officeDocument/2006/math">
                    <m:r>
                      <a:rPr lang="en-US" altLang="zh-CN" i="1" dirty="0" smtClean="0">
                        <a:latin typeface="Cambria Math" panose="02040503050406030204" pitchFamily="18" charset="0"/>
                        <a:ea typeface="+mj-ea"/>
                      </a:rPr>
                      <m:t>𝑣</m:t>
                    </m:r>
                  </m:oMath>
                </a14:m>
                <a:r>
                  <a:rPr lang="zh-CN" altLang="zh-CN" dirty="0">
                    <a:latin typeface="+mj-ea"/>
                    <a:ea typeface="+mj-ea"/>
                  </a:rPr>
                  <a:t>个分支节点</a:t>
                </a:r>
                <a14:m>
                  <m:oMath xmlns:m="http://schemas.openxmlformats.org/officeDocument/2006/math">
                    <m:r>
                      <a:rPr lang="en-US" altLang="zh-CN" i="1" dirty="0" smtClean="0">
                        <a:latin typeface="Cambria Math" panose="02040503050406030204" pitchFamily="18" charset="0"/>
                        <a:ea typeface="+mj-ea"/>
                      </a:rPr>
                      <m:t>𝐷</m:t>
                    </m:r>
                  </m:oMath>
                </a14:m>
                <a:r>
                  <a:rPr lang="zh-CN" altLang="zh-CN" dirty="0">
                    <a:latin typeface="+mj-ea"/>
                    <a:ea typeface="+mj-ea"/>
                  </a:rPr>
                  <a:t>中所有属性</a:t>
                </a:r>
                <a:r>
                  <a:rPr lang="zh-CN" altLang="en-US" dirty="0">
                    <a:latin typeface="+mj-ea"/>
                    <a:ea typeface="+mj-ea"/>
                  </a:rPr>
                  <a:t>有特定</a:t>
                </a:r>
                <a:r>
                  <a:rPr lang="zh-CN" altLang="zh-CN" dirty="0">
                    <a:latin typeface="+mj-ea"/>
                    <a:ea typeface="+mj-ea"/>
                  </a:rPr>
                  <a:t>取值</a:t>
                </a:r>
                <a:r>
                  <a:rPr lang="zh-CN" altLang="en-US" dirty="0">
                    <a:latin typeface="+mj-ea"/>
                    <a:ea typeface="+mj-ea"/>
                  </a:rPr>
                  <a:t>的样本</a:t>
                </a:r>
                <a14:m>
                  <m:oMath xmlns:m="http://schemas.openxmlformats.org/officeDocument/2006/math">
                    <m:sSup>
                      <m:sSupPr>
                        <m:ctrlPr>
                          <a:rPr lang="en-US" altLang="zh-CN" b="0" i="1" smtClean="0">
                            <a:latin typeface="Cambria Math" panose="02040503050406030204"/>
                            <a:ea typeface="+mj-ea"/>
                          </a:rPr>
                        </m:ctrlPr>
                      </m:sSupPr>
                      <m:e>
                        <m:r>
                          <a:rPr lang="en-US" altLang="zh-CN" b="0" i="1" smtClean="0">
                            <a:latin typeface="Cambria Math" panose="02040503050406030204"/>
                            <a:ea typeface="+mj-ea"/>
                          </a:rPr>
                          <m:t>𝐷</m:t>
                        </m:r>
                      </m:e>
                      <m:sup>
                        <m:r>
                          <a:rPr lang="en-US" altLang="zh-CN" b="0" i="1" smtClean="0">
                            <a:latin typeface="Cambria Math" panose="02040503050406030204"/>
                            <a:ea typeface="+mj-ea"/>
                          </a:rPr>
                          <m:t>𝑣</m:t>
                        </m:r>
                      </m:sup>
                    </m:sSup>
                  </m:oMath>
                </a14:m>
                <a:endParaRPr lang="en-US" altLang="zh-CN" dirty="0">
                  <a:latin typeface="+mj-ea"/>
                  <a:ea typeface="+mj-ea"/>
                </a:endParaRPr>
              </a:p>
              <a:p>
                <a:r>
                  <a:rPr lang="zh-CN" altLang="en-US" dirty="0">
                    <a:latin typeface="+mj-ea"/>
                    <a:ea typeface="+mj-ea"/>
                  </a:rPr>
                  <a:t>计算出信息熵，并考虑</a:t>
                </a:r>
                <a14:m>
                  <m:oMath xmlns:m="http://schemas.openxmlformats.org/officeDocument/2006/math">
                    <m:sSup>
                      <m:sSupPr>
                        <m:ctrlPr>
                          <a:rPr lang="en-US" altLang="zh-CN" i="1">
                            <a:latin typeface="Cambria Math" panose="02040503050406030204"/>
                          </a:rPr>
                        </m:ctrlPr>
                      </m:sSupPr>
                      <m:e>
                        <m:r>
                          <a:rPr lang="en-US" altLang="zh-CN" i="1">
                            <a:latin typeface="Cambria Math" panose="02040503050406030204"/>
                          </a:rPr>
                          <m:t>𝐷</m:t>
                        </m:r>
                      </m:e>
                      <m:sup>
                        <m:r>
                          <a:rPr lang="en-US" altLang="zh-CN" i="1">
                            <a:latin typeface="Cambria Math" panose="02040503050406030204"/>
                          </a:rPr>
                          <m:t>𝑣</m:t>
                        </m:r>
                      </m:sup>
                    </m:sSup>
                  </m:oMath>
                </a14:m>
                <a:r>
                  <a:rPr lang="zh-CN" altLang="en-US" dirty="0">
                    <a:latin typeface="+mj-ea"/>
                    <a:ea typeface="+mj-ea"/>
                  </a:rPr>
                  <a:t>占所有数据集的比例，可以得到信息增益</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1667" t="-3100"/>
                </a:stretch>
              </a:blipFill>
            </p:spPr>
            <p:txBody>
              <a:bodyPr/>
              <a:lstStyle/>
              <a:p>
                <a:r>
                  <a:rPr lang="zh-CN" altLang="en-US">
                    <a:noFill/>
                  </a:rPr>
                  <a:t> </a:t>
                </a:r>
              </a:p>
            </p:txBody>
          </p:sp>
        </mc:Fallback>
      </mc:AlternateContent>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mc:AlternateContent xmlns:mc="http://schemas.openxmlformats.org/markup-compatibility/2006" xmlns:a14="http://schemas.microsoft.com/office/drawing/2010/main">
        <mc:Choice Requires="a14">
          <p:sp>
            <p:nvSpPr>
              <p:cNvPr id="8" name="TextBox 7"/>
              <p:cNvSpPr txBox="1"/>
              <p:nvPr/>
            </p:nvSpPr>
            <p:spPr>
              <a:xfrm>
                <a:off x="5104634" y="2432843"/>
                <a:ext cx="5414624" cy="461665"/>
              </a:xfrm>
              <a:prstGeom prst="rect">
                <a:avLst/>
              </a:prstGeom>
              <a:noFill/>
            </p:spPr>
            <p:txBody>
              <a:bodyPr wrap="none" rtlCol="0">
                <a:spAutoFit/>
              </a:bodyPr>
              <a:lstStyle/>
              <a:p>
                <a14:m>
                  <m:oMath xmlns:m="http://schemas.openxmlformats.org/officeDocument/2006/math">
                    <m:sSub>
                      <m:sSubPr>
                        <m:ctrlPr>
                          <a:rPr lang="en-US" altLang="zh-CN" i="1" dirty="0" smtClean="0">
                            <a:latin typeface="Cambria Math" panose="02040503050406030204" pitchFamily="18" charset="0"/>
                            <a:cs typeface="Cambria Math" panose="02040503050406030204" pitchFamily="18" charset="0"/>
                          </a:rPr>
                        </m:ctrlPr>
                      </m:sSubPr>
                      <m:e>
                        <m:r>
                          <a:rPr lang="en-US" altLang="zh-CN" i="1" dirty="0" smtClean="0">
                            <a:latin typeface="Cambria Math" panose="02040503050406030204" pitchFamily="18" charset="0"/>
                            <a:cs typeface="Cambria Math" panose="02040503050406030204" pitchFamily="18" charset="0"/>
                          </a:rPr>
                          <m:t>𝑝</m:t>
                        </m:r>
                      </m:e>
                      <m:sub>
                        <m:r>
                          <a:rPr lang="en-US" altLang="zh-CN" i="1" dirty="0" smtClean="0">
                            <a:latin typeface="Cambria Math" panose="02040503050406030204" pitchFamily="18" charset="0"/>
                            <a:cs typeface="Cambria Math" panose="02040503050406030204" pitchFamily="18" charset="0"/>
                          </a:rPr>
                          <m:t>𝑘</m:t>
                        </m:r>
                      </m:sub>
                    </m:sSub>
                    <m:r>
                      <a:rPr lang="en-US" altLang="zh-CN" i="1" dirty="0" smtClean="0">
                        <a:latin typeface="Cambria Math" panose="02040503050406030204" pitchFamily="18" charset="0"/>
                        <a:cs typeface="Cambria Math" panose="02040503050406030204" pitchFamily="18" charset="0"/>
                      </a:rPr>
                      <m:t>(</m:t>
                    </m:r>
                    <m:r>
                      <a:rPr lang="en-US" altLang="zh-CN" i="1" dirty="0" smtClean="0">
                        <a:latin typeface="Cambria Math" panose="02040503050406030204" pitchFamily="18" charset="0"/>
                        <a:cs typeface="Cambria Math" panose="02040503050406030204" pitchFamily="18" charset="0"/>
                      </a:rPr>
                      <m:t>𝑘</m:t>
                    </m:r>
                    <m:r>
                      <a:rPr lang="en-US" altLang="zh-CN" i="1" dirty="0" smtClean="0">
                        <a:latin typeface="Cambria Math" panose="02040503050406030204" pitchFamily="18" charset="0"/>
                        <a:cs typeface="Cambria Math" panose="02040503050406030204" pitchFamily="18" charset="0"/>
                      </a:rPr>
                      <m:t>=1,...,|</m:t>
                    </m:r>
                    <m:r>
                      <a:rPr lang="en-US" altLang="zh-CN" i="1" dirty="0" smtClean="0">
                        <a:latin typeface="Cambria Math" panose="02040503050406030204" pitchFamily="18" charset="0"/>
                        <a:cs typeface="Cambria Math" panose="02040503050406030204" pitchFamily="18" charset="0"/>
                      </a:rPr>
                      <m:t>𝑌</m:t>
                    </m:r>
                    <m:r>
                      <a:rPr lang="en-US" altLang="zh-CN" i="1" dirty="0" smtClean="0">
                        <a:latin typeface="Cambria Math" panose="02040503050406030204" pitchFamily="18" charset="0"/>
                        <a:cs typeface="Cambria Math" panose="02040503050406030204" pitchFamily="18" charset="0"/>
                      </a:rPr>
                      <m:t>|)</m:t>
                    </m:r>
                  </m:oMath>
                </a14:m>
                <a:r>
                  <a:rPr lang="zh-CN" altLang="en-US" dirty="0"/>
                  <a:t>样本集中第</a:t>
                </a:r>
                <a14:m>
                  <m:oMath xmlns:m="http://schemas.openxmlformats.org/officeDocument/2006/math">
                    <m:r>
                      <a:rPr lang="en-US" altLang="zh-CN" i="1" dirty="0" smtClean="0">
                        <a:latin typeface="Cambria Math" panose="02040503050406030204" pitchFamily="18" charset="0"/>
                      </a:rPr>
                      <m:t>𝑘</m:t>
                    </m:r>
                  </m:oMath>
                </a14:m>
                <a:r>
                  <a:rPr lang="zh-CN" altLang="en-US" dirty="0"/>
                  <a:t>类的比例</a:t>
                </a:r>
              </a:p>
            </p:txBody>
          </p:sp>
        </mc:Choice>
        <mc:Fallback xmlns="">
          <p:sp>
            <p:nvSpPr>
              <p:cNvPr id="8" name="TextBox 7"/>
              <p:cNvSpPr txBox="1">
                <a:spLocks noRot="1" noChangeAspect="1" noMove="1" noResize="1" noEditPoints="1" noAdjustHandles="1" noChangeArrowheads="1" noChangeShapeType="1" noTextEdit="1"/>
              </p:cNvSpPr>
              <p:nvPr/>
            </p:nvSpPr>
            <p:spPr>
              <a:xfrm>
                <a:off x="5104634" y="2432843"/>
                <a:ext cx="5414624" cy="461665"/>
              </a:xfrm>
              <a:prstGeom prst="rect">
                <a:avLst/>
              </a:prstGeom>
              <a:blipFill>
                <a:blip r:embed="rId3"/>
                <a:stretch>
                  <a:fillRect l="-337" t="-10526" r="-787" b="-28947"/>
                </a:stretch>
              </a:blipFill>
            </p:spPr>
            <p:txBody>
              <a:bodyPr/>
              <a:lstStyle/>
              <a:p>
                <a:r>
                  <a:rPr lang="zh-CN" altLang="en-US">
                    <a:noFill/>
                  </a:rPr>
                  <a:t> </a:t>
                </a:r>
              </a:p>
            </p:txBody>
          </p:sp>
        </mc:Fallback>
      </mc:AlternateContent>
      <p:sp>
        <p:nvSpPr>
          <p:cNvPr id="9" name="Rectangle 10"/>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mc:AlternateContent xmlns:mc="http://schemas.openxmlformats.org/markup-compatibility/2006" xmlns:a14="http://schemas.microsoft.com/office/drawing/2010/main">
        <mc:Choice Requires="a14">
          <p:sp>
            <p:nvSpPr>
              <p:cNvPr id="11" name="文本框 10"/>
              <p:cNvSpPr txBox="1"/>
              <p:nvPr/>
            </p:nvSpPr>
            <p:spPr>
              <a:xfrm>
                <a:off x="1068006" y="2171319"/>
                <a:ext cx="3434080" cy="1200150"/>
              </a:xfrm>
              <a:prstGeom prst="rect">
                <a:avLst/>
              </a:prstGeom>
              <a:noFill/>
            </p:spPr>
            <p:txBody>
              <a:bodyPr wrap="none" rtlCol="0" anchor="t">
                <a:spAutoFit/>
              </a:bodyPr>
              <a:lstStyle/>
              <a:p>
                <a:pPr algn="l"/>
                <a14:m>
                  <m:oMathPara xmlns:m="http://schemas.openxmlformats.org/officeDocument/2006/math">
                    <m:oMath>
                      <m:r>
                        <a:rPr lang="en-US" altLang="zh-CN" i="1">
                          <a:latin typeface="Cambria Math" panose="02040503050406030204" pitchFamily="18" charset="0"/>
                          <a:cs typeface="Cambria Math" panose="02040503050406030204" pitchFamily="18" charset="0"/>
                        </a:rPr>
                        <m:t>𝐸𝑛𝑡</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𝐷</m:t>
                      </m:r>
                      <m:r>
                        <a:rPr lang="en-US" altLang="zh-CN" i="1">
                          <a:latin typeface="Cambria Math" panose="02040503050406030204" pitchFamily="18" charset="0"/>
                          <a:cs typeface="Cambria Math" panose="02040503050406030204" pitchFamily="18" charset="0"/>
                        </a:rPr>
                        <m:t>)=−</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𝑘</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𝑌</m:t>
                          </m:r>
                          <m:r>
                            <a:rPr lang="en-US" altLang="zh-CN" i="1">
                              <a:latin typeface="Cambria Math" panose="02040503050406030204" pitchFamily="18" charset="0"/>
                              <a:cs typeface="Cambria Math" panose="02040503050406030204" pitchFamily="18" charset="0"/>
                            </a:rPr>
                            <m:t>|</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𝑝</m:t>
                              </m:r>
                            </m:e>
                            <m:sub>
                              <m:r>
                                <a:rPr lang="en-US" altLang="zh-CN" i="1">
                                  <a:latin typeface="Cambria Math" panose="02040503050406030204" pitchFamily="18" charset="0"/>
                                  <a:cs typeface="Cambria Math" panose="02040503050406030204" pitchFamily="18" charset="0"/>
                                </a:rPr>
                                <m:t>𝑘</m:t>
                              </m:r>
                            </m:sub>
                          </m:sSub>
                          <m:sSub>
                            <m:sSubPr>
                              <m:ctrlPr>
                                <a:rPr lang="en-US" altLang="zh-CN">
                                  <a:latin typeface="Cambria Math" panose="02040503050406030204" pitchFamily="18" charset="0"/>
                                  <a:cs typeface="Cambria Math" panose="02040503050406030204" pitchFamily="18" charset="0"/>
                                </a:rPr>
                              </m:ctrlPr>
                            </m:sSubPr>
                            <m:e>
                              <m:r>
                                <m:rPr>
                                  <m:sty m:val="p"/>
                                </m:rPr>
                                <a:rPr lang="en-US" altLang="zh-CN">
                                  <a:latin typeface="Cambria Math" panose="02040503050406030204" pitchFamily="18" charset="0"/>
                                  <a:cs typeface="Cambria Math" panose="02040503050406030204" pitchFamily="18" charset="0"/>
                                </a:rPr>
                                <m:t>log</m:t>
                              </m:r>
                            </m:e>
                            <m:sub>
                              <m:r>
                                <a:rPr lang="en-US" altLang="zh-CN" i="1">
                                  <a:latin typeface="Cambria Math" panose="02040503050406030204" pitchFamily="18" charset="0"/>
                                  <a:cs typeface="Cambria Math" panose="02040503050406030204" pitchFamily="18" charset="0"/>
                                </a:rPr>
                                <m:t>2</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𝑝</m:t>
                              </m:r>
                            </m:e>
                            <m:sub>
                              <m:r>
                                <a:rPr lang="en-US" altLang="zh-CN" i="1">
                                  <a:latin typeface="Cambria Math" panose="02040503050406030204" pitchFamily="18" charset="0"/>
                                  <a:cs typeface="Cambria Math" panose="02040503050406030204" pitchFamily="18" charset="0"/>
                                </a:rPr>
                                <m:t>𝑘</m:t>
                              </m:r>
                            </m:sub>
                          </m:sSub>
                        </m:e>
                      </m:nary>
                    </m:oMath>
                  </m:oMathPara>
                </a14:m>
                <a:endParaRPr lang="zh-CN" altLang="en-US" dirty="0"/>
              </a:p>
            </p:txBody>
          </p:sp>
        </mc:Choice>
        <mc:Fallback xmlns="">
          <p:sp>
            <p:nvSpPr>
              <p:cNvPr id="11" name="文本框 10"/>
              <p:cNvSpPr txBox="1">
                <a:spLocks noRot="1" noChangeAspect="1" noMove="1" noResize="1" noEditPoints="1" noAdjustHandles="1" noChangeArrowheads="1" noChangeShapeType="1" noTextEdit="1"/>
              </p:cNvSpPr>
              <p:nvPr/>
            </p:nvSpPr>
            <p:spPr>
              <a:xfrm>
                <a:off x="1068006" y="2171319"/>
                <a:ext cx="3434080" cy="1200150"/>
              </a:xfrm>
              <a:prstGeom prst="rect">
                <a:avLst/>
              </a:prstGeom>
              <a:blipFill rotWithShape="1">
                <a:blip r:embed="rId4"/>
                <a:stretch>
                  <a:fillRect l="-17" t="-21" r="17" b="2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p:cNvSpPr txBox="1"/>
              <p:nvPr/>
            </p:nvSpPr>
            <p:spPr>
              <a:xfrm>
                <a:off x="3633406" y="5413629"/>
                <a:ext cx="5469890" cy="1142365"/>
              </a:xfrm>
              <a:prstGeom prst="rect">
                <a:avLst/>
              </a:prstGeom>
              <a:noFill/>
            </p:spPr>
            <p:txBody>
              <a:bodyPr wrap="none" rtlCol="0" anchor="t">
                <a:spAutoFit/>
              </a:bodyPr>
              <a:lstStyle/>
              <a:p>
                <a:pPr algn="l"/>
                <a14:m>
                  <m:oMathPara xmlns:m="http://schemas.openxmlformats.org/officeDocument/2006/math">
                    <m:oMath>
                      <m:r>
                        <a:rPr lang="en-US" altLang="zh-CN" i="1">
                          <a:latin typeface="Cambria Math" panose="02040503050406030204" pitchFamily="18" charset="0"/>
                          <a:cs typeface="Cambria Math" panose="02040503050406030204" pitchFamily="18" charset="0"/>
                        </a:rPr>
                        <m:t>𝐺𝑎𝑖𝑛</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𝐷</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𝑎</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𝐸𝑛𝑡</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𝐷</m:t>
                      </m:r>
                      <m:r>
                        <a:rPr lang="en-US" altLang="zh-CN" i="1">
                          <a:latin typeface="Cambria Math" panose="02040503050406030204" pitchFamily="18" charset="0"/>
                          <a:cs typeface="Cambria Math" panose="02040503050406030204" pitchFamily="18" charset="0"/>
                        </a:rPr>
                        <m:t>)−</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𝑣</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𝑉</m:t>
                          </m:r>
                        </m:sup>
                        <m:e>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m:t>
                              </m:r>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𝐷</m:t>
                                  </m:r>
                                </m:e>
                                <m:sup>
                                  <m:r>
                                    <a:rPr lang="en-US" altLang="zh-CN" i="1">
                                      <a:latin typeface="Cambria Math" panose="02040503050406030204" pitchFamily="18" charset="0"/>
                                      <a:cs typeface="Cambria Math" panose="02040503050406030204" pitchFamily="18" charset="0"/>
                                    </a:rPr>
                                    <m:t>𝑣</m:t>
                                  </m:r>
                                </m:sup>
                              </m:sSup>
                              <m:r>
                                <a:rPr lang="en-US" altLang="zh-CN" i="1">
                                  <a:latin typeface="Cambria Math" panose="02040503050406030204" pitchFamily="18" charset="0"/>
                                  <a:cs typeface="Cambria Math" panose="02040503050406030204" pitchFamily="18" charset="0"/>
                                </a:rPr>
                                <m:t>|</m:t>
                              </m:r>
                            </m:num>
                            <m:den>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𝐷</m:t>
                              </m:r>
                              <m:r>
                                <a:rPr lang="en-US" altLang="zh-CN" i="1">
                                  <a:latin typeface="Cambria Math" panose="02040503050406030204" pitchFamily="18" charset="0"/>
                                  <a:cs typeface="Cambria Math" panose="02040503050406030204" pitchFamily="18" charset="0"/>
                                </a:rPr>
                                <m:t>|</m:t>
                              </m:r>
                            </m:den>
                          </m:f>
                          <m:r>
                            <a:rPr lang="en-US" altLang="zh-CN" i="1">
                              <a:latin typeface="Cambria Math" panose="02040503050406030204" pitchFamily="18" charset="0"/>
                              <a:cs typeface="Cambria Math" panose="02040503050406030204" pitchFamily="18" charset="0"/>
                            </a:rPr>
                            <m:t>𝐸𝑛𝑡</m:t>
                          </m:r>
                          <m:r>
                            <a:rPr lang="en-US" altLang="zh-CN" i="1">
                              <a:latin typeface="Cambria Math" panose="02040503050406030204" pitchFamily="18" charset="0"/>
                              <a:cs typeface="Cambria Math" panose="02040503050406030204" pitchFamily="18" charset="0"/>
                            </a:rPr>
                            <m:t>(</m:t>
                          </m:r>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𝐷</m:t>
                              </m:r>
                            </m:e>
                            <m:sup>
                              <m:r>
                                <a:rPr lang="en-US" altLang="zh-CN" i="1">
                                  <a:latin typeface="Cambria Math" panose="02040503050406030204" pitchFamily="18" charset="0"/>
                                  <a:cs typeface="Cambria Math" panose="02040503050406030204" pitchFamily="18" charset="0"/>
                                </a:rPr>
                                <m:t>𝑣</m:t>
                              </m:r>
                            </m:sup>
                          </m:sSup>
                          <m:r>
                            <a:rPr lang="en-US" altLang="zh-CN" i="1">
                              <a:latin typeface="Cambria Math" panose="02040503050406030204" pitchFamily="18" charset="0"/>
                              <a:cs typeface="Cambria Math" panose="02040503050406030204" pitchFamily="18" charset="0"/>
                            </a:rPr>
                            <m:t>)</m:t>
                          </m:r>
                        </m:e>
                      </m:nary>
                    </m:oMath>
                  </m:oMathPara>
                </a14:m>
                <a:endParaRPr lang="zh-CN" altLang="en-US" dirty="0"/>
              </a:p>
            </p:txBody>
          </p:sp>
        </mc:Choice>
        <mc:Fallback xmlns="">
          <p:sp>
            <p:nvSpPr>
              <p:cNvPr id="12" name="文本框 11"/>
              <p:cNvSpPr txBox="1">
                <a:spLocks noRot="1" noChangeAspect="1" noMove="1" noResize="1" noEditPoints="1" noAdjustHandles="1" noChangeArrowheads="1" noChangeShapeType="1" noTextEdit="1"/>
              </p:cNvSpPr>
              <p:nvPr/>
            </p:nvSpPr>
            <p:spPr>
              <a:xfrm>
                <a:off x="3633406" y="5413629"/>
                <a:ext cx="5469890" cy="1142365"/>
              </a:xfrm>
              <a:prstGeom prst="rect">
                <a:avLst/>
              </a:prstGeom>
              <a:blipFill rotWithShape="1">
                <a:blip r:embed="rId5"/>
                <a:stretch>
                  <a:fillRect l="-10" t="-22" r="10" b="22"/>
                </a:stretch>
              </a:blipFill>
            </p:spPr>
            <p:txBody>
              <a:bodyPr/>
              <a:lstStyle/>
              <a:p>
                <a:r>
                  <a:rPr lang="zh-CN" altLang="en-US">
                    <a:noFill/>
                  </a:rPr>
                  <a:t> </a:t>
                </a:r>
              </a:p>
            </p:txBody>
          </p:sp>
        </mc:Fallback>
      </mc:AlternateContent>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C4BB8A-DCAF-478C-B7F0-65DE660048CD}"/>
              </a:ext>
            </a:extLst>
          </p:cNvPr>
          <p:cNvSpPr>
            <a:spLocks noGrp="1"/>
          </p:cNvSpPr>
          <p:nvPr>
            <p:ph type="title"/>
          </p:nvPr>
        </p:nvSpPr>
        <p:spPr/>
        <p:txBody>
          <a:bodyPr/>
          <a:lstStyle/>
          <a:p>
            <a:pPr algn="l"/>
            <a:r>
              <a:rPr/>
              <a:t>ID3算法</a:t>
            </a:r>
          </a:p>
        </p:txBody>
      </p:sp>
      <p:sp>
        <p:nvSpPr>
          <p:cNvPr id="3" name="内容占位符 2"/>
          <p:cNvSpPr>
            <a:spLocks noGrp="1"/>
          </p:cNvSpPr>
          <p:nvPr>
            <p:ph idx="1"/>
          </p:nvPr>
        </p:nvSpPr>
        <p:spPr/>
        <p:txBody>
          <a:bodyPr/>
          <a:lstStyle/>
          <a:p>
            <a:pPr>
              <a:lnSpc>
                <a:spcPct val="150000"/>
              </a:lnSpc>
            </a:pPr>
            <a:r>
              <a:rPr lang="zh-CN" altLang="zh-CN" dirty="0">
                <a:latin typeface="+mj-ea"/>
                <a:ea typeface="+mj-ea"/>
              </a:rPr>
              <a:t>信息增益越大，则意味着使用</a:t>
            </a:r>
            <a:r>
              <a:rPr lang="zh-CN" altLang="en-US" dirty="0">
                <a:latin typeface="+mj-ea"/>
                <a:ea typeface="+mj-ea"/>
              </a:rPr>
              <a:t>相应</a:t>
            </a:r>
            <a:r>
              <a:rPr lang="zh-CN" altLang="zh-CN" dirty="0">
                <a:latin typeface="+mj-ea"/>
                <a:ea typeface="+mj-ea"/>
              </a:rPr>
              <a:t>属性进行划分所得的信息纯度提升越大。</a:t>
            </a:r>
          </a:p>
          <a:p>
            <a:pPr>
              <a:lnSpc>
                <a:spcPct val="150000"/>
              </a:lnSpc>
            </a:pPr>
            <a:r>
              <a:rPr lang="zh-CN" altLang="zh-CN" dirty="0">
                <a:latin typeface="+mj-ea"/>
                <a:ea typeface="+mj-ea"/>
              </a:rPr>
              <a:t>因此我们可以利用信息增益来进行决策树进行划分时候的属性选择</a:t>
            </a:r>
            <a:endParaRPr lang="zh-CN" altLang="en-US" dirty="0">
              <a:latin typeface="+mj-ea"/>
              <a:ea typeface="+mj-ea"/>
            </a:endParaRPr>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mc:AlternateContent xmlns:mc="http://schemas.openxmlformats.org/markup-compatibility/2006" xmlns:a14="http://schemas.microsoft.com/office/drawing/2010/main">
        <mc:Choice Requires="a14">
          <p:sp>
            <p:nvSpPr>
              <p:cNvPr id="6" name="文本框 5"/>
              <p:cNvSpPr txBox="1"/>
              <p:nvPr/>
            </p:nvSpPr>
            <p:spPr>
              <a:xfrm>
                <a:off x="4185670" y="4402559"/>
                <a:ext cx="4304665" cy="687070"/>
              </a:xfrm>
              <a:prstGeom prst="rect">
                <a:avLst/>
              </a:prstGeom>
              <a:noFill/>
            </p:spPr>
            <p:txBody>
              <a:bodyPr wrap="none" rtlCol="0" anchor="t">
                <a:spAutoFit/>
              </a:bodyPr>
              <a:lstStyle/>
              <a:p>
                <a:pPr algn="l"/>
                <a14:m>
                  <m:oMathPara xmlns:m="http://schemas.openxmlformats.org/officeDocument/2006/math">
                    <m:oMath>
                      <m:sSup>
                        <m:sSupPr>
                          <m:ctrlPr>
                            <a:rPr lang="en-US" altLang="zh-CN" sz="3200" i="1">
                              <a:latin typeface="Cambria Math" panose="02040503050406030204" pitchFamily="18" charset="0"/>
                              <a:cs typeface="Cambria Math" panose="02040503050406030204" pitchFamily="18" charset="0"/>
                            </a:rPr>
                          </m:ctrlPr>
                        </m:sSupPr>
                        <m:e>
                          <m:r>
                            <a:rPr lang="en-US" altLang="zh-CN" sz="3200" i="1">
                              <a:latin typeface="Cambria Math" panose="02040503050406030204" pitchFamily="18" charset="0"/>
                              <a:cs typeface="Cambria Math" panose="02040503050406030204" pitchFamily="18" charset="0"/>
                            </a:rPr>
                            <m:t>𝑎</m:t>
                          </m:r>
                        </m:e>
                        <m:sup>
                          <m:r>
                            <a:rPr lang="en-US" altLang="zh-CN" sz="3200" i="1">
                              <a:latin typeface="Cambria Math" panose="02040503050406030204" pitchFamily="18" charset="0"/>
                              <a:cs typeface="Cambria Math" panose="02040503050406030204" pitchFamily="18" charset="0"/>
                            </a:rPr>
                            <m:t>∗</m:t>
                          </m:r>
                        </m:sup>
                      </m:sSup>
                      <m:r>
                        <a:rPr lang="en-US" altLang="zh-CN" sz="3200" i="1">
                          <a:latin typeface="Cambria Math" panose="02040503050406030204" pitchFamily="18" charset="0"/>
                          <a:cs typeface="Cambria Math" panose="02040503050406030204" pitchFamily="18" charset="0"/>
                        </a:rPr>
                        <m:t>=</m:t>
                      </m:r>
                      <m:r>
                        <m:rPr>
                          <m:sty m:val="p"/>
                        </m:rPr>
                        <a:rPr lang="en-US" altLang="zh-CN" sz="3200">
                          <a:latin typeface="Cambria Math" panose="02040503050406030204" pitchFamily="18" charset="0"/>
                          <a:cs typeface="Cambria Math" panose="02040503050406030204" pitchFamily="18" charset="0"/>
                        </a:rPr>
                        <m:t>arg</m:t>
                      </m:r>
                      <m:func>
                        <m:funcPr>
                          <m:ctrlPr>
                            <a:rPr lang="en-US" altLang="zh-CN" sz="3200" i="1">
                              <a:latin typeface="Cambria Math" panose="02040503050406030204" pitchFamily="18" charset="0"/>
                              <a:cs typeface="Cambria Math" panose="02040503050406030204" pitchFamily="18" charset="0"/>
                            </a:rPr>
                          </m:ctrlPr>
                        </m:funcPr>
                        <m:fName>
                          <m:limLow>
                            <m:limLowPr>
                              <m:ctrlPr>
                                <a:rPr lang="en-US" altLang="zh-CN" sz="3200">
                                  <a:latin typeface="Cambria Math" panose="02040503050406030204" pitchFamily="18" charset="0"/>
                                  <a:cs typeface="Cambria Math" panose="02040503050406030204" pitchFamily="18" charset="0"/>
                                </a:rPr>
                              </m:ctrlPr>
                            </m:limLowPr>
                            <m:e>
                              <m:r>
                                <m:rPr>
                                  <m:sty m:val="p"/>
                                </m:rPr>
                                <a:rPr lang="en-US" altLang="zh-CN" sz="3200">
                                  <a:latin typeface="Cambria Math" panose="02040503050406030204" pitchFamily="18" charset="0"/>
                                  <a:cs typeface="Cambria Math" panose="02040503050406030204" pitchFamily="18" charset="0"/>
                                </a:rPr>
                                <m:t>max</m:t>
                              </m:r>
                            </m:e>
                            <m:lim>
                              <m:r>
                                <a:rPr lang="en-US" altLang="zh-CN" sz="3200" i="1">
                                  <a:latin typeface="Cambria Math" panose="02040503050406030204" pitchFamily="18" charset="0"/>
                                  <a:cs typeface="Cambria Math" panose="02040503050406030204" pitchFamily="18" charset="0"/>
                                </a:rPr>
                                <m:t>𝑎</m:t>
                              </m:r>
                              <m:r>
                                <a:rPr lang="en-US" altLang="zh-CN" sz="3200" i="1">
                                  <a:latin typeface="Cambria Math" panose="02040503050406030204" pitchFamily="18" charset="0"/>
                                  <a:cs typeface="Cambria Math" panose="02040503050406030204" pitchFamily="18" charset="0"/>
                                </a:rPr>
                                <m:t>∈</m:t>
                              </m:r>
                              <m:r>
                                <a:rPr lang="en-US" altLang="zh-CN" sz="3200" i="1">
                                  <a:latin typeface="Cambria Math" panose="02040503050406030204" pitchFamily="18" charset="0"/>
                                  <a:cs typeface="Cambria Math" panose="02040503050406030204" pitchFamily="18" charset="0"/>
                                </a:rPr>
                                <m:t>𝐴</m:t>
                              </m:r>
                            </m:lim>
                          </m:limLow>
                        </m:fName>
                        <m:e>
                          <m:r>
                            <a:rPr lang="en-US" altLang="zh-CN" sz="3200" i="1">
                              <a:latin typeface="Cambria Math" panose="02040503050406030204" pitchFamily="18" charset="0"/>
                              <a:cs typeface="Cambria Math" panose="02040503050406030204" pitchFamily="18" charset="0"/>
                            </a:rPr>
                            <m:t>𝐺𝑎𝑖𝑛</m:t>
                          </m:r>
                          <m:r>
                            <a:rPr lang="en-US" altLang="zh-CN" sz="3200" i="1">
                              <a:latin typeface="Cambria Math" panose="02040503050406030204" pitchFamily="18" charset="0"/>
                              <a:cs typeface="Cambria Math" panose="02040503050406030204" pitchFamily="18" charset="0"/>
                            </a:rPr>
                            <m:t>(</m:t>
                          </m:r>
                          <m:r>
                            <a:rPr lang="en-US" altLang="zh-CN" sz="3200" i="1">
                              <a:latin typeface="Cambria Math" panose="02040503050406030204" pitchFamily="18" charset="0"/>
                              <a:cs typeface="Cambria Math" panose="02040503050406030204" pitchFamily="18" charset="0"/>
                            </a:rPr>
                            <m:t>𝐷</m:t>
                          </m:r>
                          <m:r>
                            <a:rPr lang="en-US" altLang="zh-CN" sz="3200" i="1">
                              <a:latin typeface="Cambria Math" panose="02040503050406030204" pitchFamily="18" charset="0"/>
                              <a:cs typeface="Cambria Math" panose="02040503050406030204" pitchFamily="18" charset="0"/>
                            </a:rPr>
                            <m:t>,</m:t>
                          </m:r>
                          <m:r>
                            <a:rPr lang="en-US" altLang="zh-CN" sz="3200" i="1">
                              <a:latin typeface="Cambria Math" panose="02040503050406030204" pitchFamily="18" charset="0"/>
                              <a:cs typeface="Cambria Math" panose="02040503050406030204" pitchFamily="18" charset="0"/>
                            </a:rPr>
                            <m:t>𝑎</m:t>
                          </m:r>
                          <m:r>
                            <a:rPr lang="en-US" altLang="zh-CN" sz="3200" i="1">
                              <a:latin typeface="Cambria Math" panose="02040503050406030204" pitchFamily="18" charset="0"/>
                              <a:cs typeface="Cambria Math" panose="02040503050406030204" pitchFamily="18" charset="0"/>
                            </a:rPr>
                            <m:t>)</m:t>
                          </m:r>
                        </m:e>
                      </m:func>
                    </m:oMath>
                  </m:oMathPara>
                </a14:m>
                <a:endParaRPr lang="en-US" altLang="zh-CN" sz="3200" i="1" dirty="0">
                  <a:latin typeface="Cambria Math" panose="02040503050406030204" pitchFamily="18" charset="0"/>
                  <a:cs typeface="Cambria Math" panose="02040503050406030204" pitchFamily="18" charset="0"/>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4185670" y="4402559"/>
                <a:ext cx="4304665" cy="687070"/>
              </a:xfrm>
              <a:prstGeom prst="rect">
                <a:avLst/>
              </a:prstGeom>
              <a:blipFill>
                <a:blip r:embed="rId2"/>
                <a:stretch>
                  <a:fillRect b="-1770"/>
                </a:stretch>
              </a:blipFill>
            </p:spPr>
            <p:txBody>
              <a:bodyPr/>
              <a:lstStyle/>
              <a:p>
                <a:r>
                  <a:rPr lang="zh-CN" altLang="en-US">
                    <a:noFill/>
                  </a:rPr>
                  <a:t> </a:t>
                </a:r>
              </a:p>
            </p:txBody>
          </p:sp>
        </mc:Fallback>
      </mc:AlternateContent>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3CD5C5-AD59-40C5-9C1B-C5F9299C51BF}"/>
              </a:ext>
            </a:extLst>
          </p:cNvPr>
          <p:cNvSpPr>
            <a:spLocks noGrp="1"/>
          </p:cNvSpPr>
          <p:nvPr>
            <p:ph type="title"/>
          </p:nvPr>
        </p:nvSpPr>
        <p:spPr/>
        <p:txBody>
          <a:bodyPr/>
          <a:lstStyle/>
          <a:p>
            <a:pPr algn="l"/>
            <a:r>
              <a:rPr/>
              <a:t>ID3算法—案例</a:t>
            </a:r>
          </a:p>
        </p:txBody>
      </p:sp>
      <p:graphicFrame>
        <p:nvGraphicFramePr>
          <p:cNvPr id="4" name="内容占位符 3"/>
          <p:cNvGraphicFramePr>
            <a:graphicFrameLocks noGrp="1"/>
          </p:cNvGraphicFramePr>
          <p:nvPr>
            <p:ph idx="1"/>
          </p:nvPr>
        </p:nvGraphicFramePr>
        <p:xfrm>
          <a:off x="1300346" y="1722577"/>
          <a:ext cx="8556176" cy="2773045"/>
        </p:xfrm>
        <a:graphic>
          <a:graphicData uri="http://schemas.openxmlformats.org/drawingml/2006/table">
            <a:tbl>
              <a:tblPr firstRow="1" firstCol="1" bandRow="1">
                <a:tableStyleId>{5C22544A-7EE6-4342-B048-85BDC9FD1C3A}</a:tableStyleId>
              </a:tblPr>
              <a:tblGrid>
                <a:gridCol w="1057911">
                  <a:extLst>
                    <a:ext uri="{9D8B030D-6E8A-4147-A177-3AD203B41FA5}">
                      <a16:colId xmlns:a16="http://schemas.microsoft.com/office/drawing/2014/main" val="20000"/>
                    </a:ext>
                  </a:extLst>
                </a:gridCol>
                <a:gridCol w="1069264">
                  <a:extLst>
                    <a:ext uri="{9D8B030D-6E8A-4147-A177-3AD203B41FA5}">
                      <a16:colId xmlns:a16="http://schemas.microsoft.com/office/drawing/2014/main" val="20001"/>
                    </a:ext>
                  </a:extLst>
                </a:gridCol>
                <a:gridCol w="1080617">
                  <a:extLst>
                    <a:ext uri="{9D8B030D-6E8A-4147-A177-3AD203B41FA5}">
                      <a16:colId xmlns:a16="http://schemas.microsoft.com/office/drawing/2014/main" val="20002"/>
                    </a:ext>
                  </a:extLst>
                </a:gridCol>
                <a:gridCol w="1069264">
                  <a:extLst>
                    <a:ext uri="{9D8B030D-6E8A-4147-A177-3AD203B41FA5}">
                      <a16:colId xmlns:a16="http://schemas.microsoft.com/office/drawing/2014/main" val="20003"/>
                    </a:ext>
                  </a:extLst>
                </a:gridCol>
                <a:gridCol w="1080617">
                  <a:extLst>
                    <a:ext uri="{9D8B030D-6E8A-4147-A177-3AD203B41FA5}">
                      <a16:colId xmlns:a16="http://schemas.microsoft.com/office/drawing/2014/main" val="20004"/>
                    </a:ext>
                  </a:extLst>
                </a:gridCol>
                <a:gridCol w="1080617">
                  <a:extLst>
                    <a:ext uri="{9D8B030D-6E8A-4147-A177-3AD203B41FA5}">
                      <a16:colId xmlns:a16="http://schemas.microsoft.com/office/drawing/2014/main" val="20005"/>
                    </a:ext>
                  </a:extLst>
                </a:gridCol>
                <a:gridCol w="1080617">
                  <a:extLst>
                    <a:ext uri="{9D8B030D-6E8A-4147-A177-3AD203B41FA5}">
                      <a16:colId xmlns:a16="http://schemas.microsoft.com/office/drawing/2014/main" val="20006"/>
                    </a:ext>
                  </a:extLst>
                </a:gridCol>
                <a:gridCol w="1037269">
                  <a:extLst>
                    <a:ext uri="{9D8B030D-6E8A-4147-A177-3AD203B41FA5}">
                      <a16:colId xmlns:a16="http://schemas.microsoft.com/office/drawing/2014/main" val="20007"/>
                    </a:ext>
                  </a:extLst>
                </a:gridCol>
              </a:tblGrid>
              <a:tr h="252095">
                <a:tc>
                  <a:txBody>
                    <a:bodyPr/>
                    <a:lstStyle/>
                    <a:p>
                      <a:pPr algn="ctr">
                        <a:spcAft>
                          <a:spcPts val="0"/>
                        </a:spcAft>
                      </a:pPr>
                      <a:r>
                        <a:rPr lang="zh-CN" sz="1400" b="1" kern="100" dirty="0">
                          <a:solidFill>
                            <a:srgbClr val="FF0000"/>
                          </a:solidFill>
                          <a:effectLst/>
                        </a:rPr>
                        <a:t>编号</a:t>
                      </a:r>
                      <a:endParaRPr lang="zh-CN" sz="1400" b="1" kern="100" dirty="0">
                        <a:solidFill>
                          <a:srgbClr val="FF0000"/>
                        </a:solidFill>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dirty="0">
                          <a:solidFill>
                            <a:srgbClr val="FF0000"/>
                          </a:solidFill>
                          <a:effectLst/>
                        </a:rPr>
                        <a:t>色泽</a:t>
                      </a:r>
                      <a:endParaRPr lang="zh-CN" sz="1400" b="1" kern="100" dirty="0">
                        <a:solidFill>
                          <a:srgbClr val="FF0000"/>
                        </a:solidFill>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dirty="0">
                          <a:solidFill>
                            <a:srgbClr val="FF0000"/>
                          </a:solidFill>
                          <a:effectLst/>
                        </a:rPr>
                        <a:t>根蒂</a:t>
                      </a:r>
                      <a:endParaRPr lang="zh-CN" sz="1400" b="1" kern="100" dirty="0">
                        <a:solidFill>
                          <a:srgbClr val="FF0000"/>
                        </a:solidFill>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dirty="0">
                          <a:solidFill>
                            <a:srgbClr val="FF0000"/>
                          </a:solidFill>
                          <a:effectLst/>
                        </a:rPr>
                        <a:t>敲声</a:t>
                      </a:r>
                      <a:endParaRPr lang="zh-CN" sz="1400" b="1" kern="100" dirty="0">
                        <a:solidFill>
                          <a:srgbClr val="FF0000"/>
                        </a:solidFill>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dirty="0">
                          <a:solidFill>
                            <a:srgbClr val="FF0000"/>
                          </a:solidFill>
                          <a:effectLst/>
                        </a:rPr>
                        <a:t>纹理</a:t>
                      </a:r>
                      <a:endParaRPr lang="zh-CN" sz="1400" b="1" kern="100" dirty="0">
                        <a:solidFill>
                          <a:srgbClr val="FF0000"/>
                        </a:solidFill>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dirty="0">
                          <a:solidFill>
                            <a:srgbClr val="FF0000"/>
                          </a:solidFill>
                          <a:effectLst/>
                        </a:rPr>
                        <a:t>脐部</a:t>
                      </a:r>
                      <a:endParaRPr lang="zh-CN" sz="1400" b="1" kern="100" dirty="0">
                        <a:solidFill>
                          <a:srgbClr val="FF0000"/>
                        </a:solidFill>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dirty="0">
                          <a:solidFill>
                            <a:srgbClr val="FF0000"/>
                          </a:solidFill>
                          <a:effectLst/>
                        </a:rPr>
                        <a:t>触感</a:t>
                      </a:r>
                      <a:endParaRPr lang="zh-CN" sz="1400" b="1" kern="100" dirty="0">
                        <a:solidFill>
                          <a:srgbClr val="FF0000"/>
                        </a:solidFill>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dirty="0">
                          <a:solidFill>
                            <a:srgbClr val="FF0000"/>
                          </a:solidFill>
                          <a:effectLst/>
                        </a:rPr>
                        <a:t>好瓜</a:t>
                      </a:r>
                      <a:endParaRPr lang="zh-CN" sz="1400" b="1" kern="100" dirty="0">
                        <a:solidFill>
                          <a:srgbClr val="FF0000"/>
                        </a:solidFill>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extLst>
                  <a:ext uri="{0D108BD9-81ED-4DB2-BD59-A6C34878D82A}">
                    <a16:rowId xmlns:a16="http://schemas.microsoft.com/office/drawing/2014/main" val="10000"/>
                  </a:ext>
                </a:extLst>
              </a:tr>
              <a:tr h="252095">
                <a:tc>
                  <a:txBody>
                    <a:bodyPr/>
                    <a:lstStyle/>
                    <a:p>
                      <a:pPr algn="ctr">
                        <a:spcAft>
                          <a:spcPts val="0"/>
                        </a:spcAft>
                      </a:pPr>
                      <a:r>
                        <a:rPr lang="en-US" sz="1400" b="1" kern="100" dirty="0">
                          <a:solidFill>
                            <a:srgbClr val="FF0000"/>
                          </a:solidFill>
                          <a:effectLst/>
                        </a:rPr>
                        <a:t>1</a:t>
                      </a:r>
                      <a:endParaRPr lang="zh-CN" sz="1400" b="1" kern="100" dirty="0">
                        <a:solidFill>
                          <a:srgbClr val="FF0000"/>
                        </a:solidFill>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青绿</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蜷缩</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浊响</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清晰</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dirty="0">
                          <a:effectLst/>
                        </a:rPr>
                        <a:t>凹陷</a:t>
                      </a:r>
                      <a:endParaRPr lang="zh-CN" sz="1400" b="1" kern="100" dirty="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dirty="0">
                          <a:effectLst/>
                        </a:rPr>
                        <a:t>硬滑</a:t>
                      </a:r>
                      <a:endParaRPr lang="zh-CN" sz="1400" b="1" kern="100" dirty="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是</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extLst>
                  <a:ext uri="{0D108BD9-81ED-4DB2-BD59-A6C34878D82A}">
                    <a16:rowId xmlns:a16="http://schemas.microsoft.com/office/drawing/2014/main" val="10001"/>
                  </a:ext>
                </a:extLst>
              </a:tr>
              <a:tr h="252095">
                <a:tc>
                  <a:txBody>
                    <a:bodyPr/>
                    <a:lstStyle/>
                    <a:p>
                      <a:pPr algn="ctr">
                        <a:spcAft>
                          <a:spcPts val="0"/>
                        </a:spcAft>
                      </a:pPr>
                      <a:r>
                        <a:rPr lang="en-US" sz="1400" b="1" kern="100" dirty="0">
                          <a:solidFill>
                            <a:srgbClr val="FF0000"/>
                          </a:solidFill>
                          <a:effectLst/>
                        </a:rPr>
                        <a:t>2</a:t>
                      </a:r>
                      <a:endParaRPr lang="zh-CN" sz="1400" b="1" kern="100" dirty="0">
                        <a:solidFill>
                          <a:srgbClr val="FF0000"/>
                        </a:solidFill>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乌黑</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蜷缩</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沉闷</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清晰</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凹陷</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硬滑</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是</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extLst>
                  <a:ext uri="{0D108BD9-81ED-4DB2-BD59-A6C34878D82A}">
                    <a16:rowId xmlns:a16="http://schemas.microsoft.com/office/drawing/2014/main" val="10002"/>
                  </a:ext>
                </a:extLst>
              </a:tr>
              <a:tr h="252095">
                <a:tc>
                  <a:txBody>
                    <a:bodyPr/>
                    <a:lstStyle/>
                    <a:p>
                      <a:pPr algn="ctr">
                        <a:spcAft>
                          <a:spcPts val="0"/>
                        </a:spcAft>
                      </a:pPr>
                      <a:r>
                        <a:rPr lang="en-US" sz="1400" b="1" kern="100" dirty="0">
                          <a:solidFill>
                            <a:srgbClr val="FF0000"/>
                          </a:solidFill>
                          <a:effectLst/>
                        </a:rPr>
                        <a:t>3</a:t>
                      </a:r>
                      <a:endParaRPr lang="zh-CN" sz="1400" b="1" kern="100" dirty="0">
                        <a:solidFill>
                          <a:srgbClr val="FF0000"/>
                        </a:solidFill>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乌黑</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蜷缩</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浊响</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清晰</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凹陷</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硬滑</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是</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extLst>
                  <a:ext uri="{0D108BD9-81ED-4DB2-BD59-A6C34878D82A}">
                    <a16:rowId xmlns:a16="http://schemas.microsoft.com/office/drawing/2014/main" val="10003"/>
                  </a:ext>
                </a:extLst>
              </a:tr>
              <a:tr h="252095">
                <a:tc>
                  <a:txBody>
                    <a:bodyPr/>
                    <a:lstStyle/>
                    <a:p>
                      <a:pPr algn="ctr">
                        <a:spcAft>
                          <a:spcPts val="0"/>
                        </a:spcAft>
                      </a:pPr>
                      <a:r>
                        <a:rPr lang="en-US" sz="1400" b="1" kern="100" dirty="0">
                          <a:solidFill>
                            <a:srgbClr val="FF0000"/>
                          </a:solidFill>
                          <a:effectLst/>
                        </a:rPr>
                        <a:t>6</a:t>
                      </a:r>
                      <a:endParaRPr lang="zh-CN" sz="1400" b="1" kern="100" dirty="0">
                        <a:solidFill>
                          <a:srgbClr val="FF0000"/>
                        </a:solidFill>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青绿</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稍蜷</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浊响</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清晰</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稍凹</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软粘</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是</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extLst>
                  <a:ext uri="{0D108BD9-81ED-4DB2-BD59-A6C34878D82A}">
                    <a16:rowId xmlns:a16="http://schemas.microsoft.com/office/drawing/2014/main" val="10004"/>
                  </a:ext>
                </a:extLst>
              </a:tr>
              <a:tr h="252095">
                <a:tc>
                  <a:txBody>
                    <a:bodyPr/>
                    <a:lstStyle/>
                    <a:p>
                      <a:pPr algn="ctr">
                        <a:spcAft>
                          <a:spcPts val="0"/>
                        </a:spcAft>
                      </a:pPr>
                      <a:r>
                        <a:rPr lang="en-US" sz="1400" b="1" kern="100" dirty="0">
                          <a:solidFill>
                            <a:srgbClr val="FF0000"/>
                          </a:solidFill>
                          <a:effectLst/>
                        </a:rPr>
                        <a:t>7</a:t>
                      </a:r>
                      <a:endParaRPr lang="zh-CN" sz="1400" b="1" kern="100" dirty="0">
                        <a:solidFill>
                          <a:srgbClr val="FF0000"/>
                        </a:solidFill>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乌黑</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稍蜷</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浊响</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稍糊</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稍凹</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软粘</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是</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extLst>
                  <a:ext uri="{0D108BD9-81ED-4DB2-BD59-A6C34878D82A}">
                    <a16:rowId xmlns:a16="http://schemas.microsoft.com/office/drawing/2014/main" val="10005"/>
                  </a:ext>
                </a:extLst>
              </a:tr>
              <a:tr h="252095">
                <a:tc>
                  <a:txBody>
                    <a:bodyPr/>
                    <a:lstStyle/>
                    <a:p>
                      <a:pPr algn="ctr">
                        <a:spcAft>
                          <a:spcPts val="0"/>
                        </a:spcAft>
                      </a:pPr>
                      <a:r>
                        <a:rPr lang="en-US" sz="1400" b="1" kern="100" dirty="0">
                          <a:solidFill>
                            <a:srgbClr val="FF0000"/>
                          </a:solidFill>
                          <a:effectLst/>
                        </a:rPr>
                        <a:t>10</a:t>
                      </a:r>
                      <a:endParaRPr lang="zh-CN" sz="1400" b="1" kern="100" dirty="0">
                        <a:solidFill>
                          <a:srgbClr val="FF0000"/>
                        </a:solidFill>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青绿</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硬挺</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清脆</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清晰</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平坦</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软粘</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否</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extLst>
                  <a:ext uri="{0D108BD9-81ED-4DB2-BD59-A6C34878D82A}">
                    <a16:rowId xmlns:a16="http://schemas.microsoft.com/office/drawing/2014/main" val="10006"/>
                  </a:ext>
                </a:extLst>
              </a:tr>
              <a:tr h="252095">
                <a:tc>
                  <a:txBody>
                    <a:bodyPr/>
                    <a:lstStyle/>
                    <a:p>
                      <a:pPr algn="ctr">
                        <a:spcAft>
                          <a:spcPts val="0"/>
                        </a:spcAft>
                      </a:pPr>
                      <a:r>
                        <a:rPr lang="en-US" sz="1400" b="1" kern="100" dirty="0">
                          <a:solidFill>
                            <a:srgbClr val="FF0000"/>
                          </a:solidFill>
                          <a:effectLst/>
                        </a:rPr>
                        <a:t>14</a:t>
                      </a:r>
                      <a:endParaRPr lang="zh-CN" sz="1400" b="1" kern="100" dirty="0">
                        <a:solidFill>
                          <a:srgbClr val="FF0000"/>
                        </a:solidFill>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浅白</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稍蜷</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沉闷</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稍糊</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凹陷</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硬滑</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否</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extLst>
                  <a:ext uri="{0D108BD9-81ED-4DB2-BD59-A6C34878D82A}">
                    <a16:rowId xmlns:a16="http://schemas.microsoft.com/office/drawing/2014/main" val="10007"/>
                  </a:ext>
                </a:extLst>
              </a:tr>
              <a:tr h="252095">
                <a:tc>
                  <a:txBody>
                    <a:bodyPr/>
                    <a:lstStyle/>
                    <a:p>
                      <a:pPr algn="ctr">
                        <a:spcAft>
                          <a:spcPts val="0"/>
                        </a:spcAft>
                      </a:pPr>
                      <a:r>
                        <a:rPr lang="en-US" sz="1400" b="1" kern="100" dirty="0">
                          <a:solidFill>
                            <a:srgbClr val="FF0000"/>
                          </a:solidFill>
                          <a:effectLst/>
                        </a:rPr>
                        <a:t>15</a:t>
                      </a:r>
                      <a:endParaRPr lang="zh-CN" sz="1400" b="1" kern="100" dirty="0">
                        <a:solidFill>
                          <a:srgbClr val="FF0000"/>
                        </a:solidFill>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乌黑</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稍蜷</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浊响</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清晰</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稍凹</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软粘</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否</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extLst>
                  <a:ext uri="{0D108BD9-81ED-4DB2-BD59-A6C34878D82A}">
                    <a16:rowId xmlns:a16="http://schemas.microsoft.com/office/drawing/2014/main" val="10008"/>
                  </a:ext>
                </a:extLst>
              </a:tr>
              <a:tr h="252095">
                <a:tc>
                  <a:txBody>
                    <a:bodyPr/>
                    <a:lstStyle/>
                    <a:p>
                      <a:pPr algn="ctr">
                        <a:spcAft>
                          <a:spcPts val="0"/>
                        </a:spcAft>
                      </a:pPr>
                      <a:r>
                        <a:rPr lang="en-US" sz="1400" b="1" kern="100" dirty="0">
                          <a:solidFill>
                            <a:srgbClr val="FF0000"/>
                          </a:solidFill>
                          <a:effectLst/>
                        </a:rPr>
                        <a:t>16</a:t>
                      </a:r>
                      <a:endParaRPr lang="zh-CN" sz="1400" b="1" kern="100" dirty="0">
                        <a:solidFill>
                          <a:srgbClr val="FF0000"/>
                        </a:solidFill>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浅白</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蜷缩</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浊响</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模糊</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平坦</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硬滑</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否</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extLst>
                  <a:ext uri="{0D108BD9-81ED-4DB2-BD59-A6C34878D82A}">
                    <a16:rowId xmlns:a16="http://schemas.microsoft.com/office/drawing/2014/main" val="10009"/>
                  </a:ext>
                </a:extLst>
              </a:tr>
              <a:tr h="252095">
                <a:tc>
                  <a:txBody>
                    <a:bodyPr/>
                    <a:lstStyle/>
                    <a:p>
                      <a:pPr algn="ctr">
                        <a:spcAft>
                          <a:spcPts val="0"/>
                        </a:spcAft>
                      </a:pPr>
                      <a:r>
                        <a:rPr lang="en-US" sz="1400" b="1" kern="100" dirty="0">
                          <a:solidFill>
                            <a:srgbClr val="FF0000"/>
                          </a:solidFill>
                          <a:effectLst/>
                        </a:rPr>
                        <a:t>17</a:t>
                      </a:r>
                      <a:endParaRPr lang="zh-CN" sz="1400" b="1" kern="100" dirty="0">
                        <a:solidFill>
                          <a:srgbClr val="FF0000"/>
                        </a:solidFill>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青绿</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蜷缩</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沉闷</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稍糊</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稍凹</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硬滑</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dirty="0">
                          <a:effectLst/>
                        </a:rPr>
                        <a:t>否</a:t>
                      </a:r>
                      <a:endParaRPr lang="zh-CN" sz="1400" b="1" kern="100" dirty="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extLst>
                  <a:ext uri="{0D108BD9-81ED-4DB2-BD59-A6C34878D82A}">
                    <a16:rowId xmlns:a16="http://schemas.microsoft.com/office/drawing/2014/main" val="10010"/>
                  </a:ext>
                </a:extLst>
              </a:tr>
            </a:tbl>
          </a:graphicData>
        </a:graphic>
      </p:graphicFrame>
      <p:sp>
        <p:nvSpPr>
          <p:cNvPr id="5" name="TextBox 4"/>
          <p:cNvSpPr txBox="1"/>
          <p:nvPr/>
        </p:nvSpPr>
        <p:spPr>
          <a:xfrm>
            <a:off x="605641" y="1217221"/>
            <a:ext cx="2749471" cy="461665"/>
          </a:xfrm>
          <a:prstGeom prst="rect">
            <a:avLst/>
          </a:prstGeom>
          <a:noFill/>
        </p:spPr>
        <p:txBody>
          <a:bodyPr wrap="none" rtlCol="0">
            <a:spAutoFit/>
          </a:bodyPr>
          <a:lstStyle/>
          <a:p>
            <a:r>
              <a:rPr lang="zh-CN" altLang="en-US" dirty="0"/>
              <a:t>西瓜数据集</a:t>
            </a:r>
            <a:r>
              <a:rPr lang="en-US" altLang="zh-CN" dirty="0"/>
              <a:t>-</a:t>
            </a:r>
            <a:r>
              <a:rPr lang="zh-CN" altLang="en-US" dirty="0"/>
              <a:t>训练集</a:t>
            </a:r>
          </a:p>
        </p:txBody>
      </p:sp>
      <p:graphicFrame>
        <p:nvGraphicFramePr>
          <p:cNvPr id="6" name="表格 5"/>
          <p:cNvGraphicFramePr>
            <a:graphicFrameLocks noGrp="1"/>
          </p:cNvGraphicFramePr>
          <p:nvPr/>
        </p:nvGraphicFramePr>
        <p:xfrm>
          <a:off x="1324902" y="4922252"/>
          <a:ext cx="8555368" cy="1859280"/>
        </p:xfrm>
        <a:graphic>
          <a:graphicData uri="http://schemas.openxmlformats.org/drawingml/2006/table">
            <a:tbl>
              <a:tblPr firstRow="1" firstCol="1" bandRow="1">
                <a:tableStyleId>{5C22544A-7EE6-4342-B048-85BDC9FD1C3A}</a:tableStyleId>
              </a:tblPr>
              <a:tblGrid>
                <a:gridCol w="1047596">
                  <a:extLst>
                    <a:ext uri="{9D8B030D-6E8A-4147-A177-3AD203B41FA5}">
                      <a16:colId xmlns:a16="http://schemas.microsoft.com/office/drawing/2014/main" val="20000"/>
                    </a:ext>
                  </a:extLst>
                </a:gridCol>
                <a:gridCol w="1070876">
                  <a:extLst>
                    <a:ext uri="{9D8B030D-6E8A-4147-A177-3AD203B41FA5}">
                      <a16:colId xmlns:a16="http://schemas.microsoft.com/office/drawing/2014/main" val="20001"/>
                    </a:ext>
                  </a:extLst>
                </a:gridCol>
                <a:gridCol w="1082516">
                  <a:extLst>
                    <a:ext uri="{9D8B030D-6E8A-4147-A177-3AD203B41FA5}">
                      <a16:colId xmlns:a16="http://schemas.microsoft.com/office/drawing/2014/main" val="20002"/>
                    </a:ext>
                  </a:extLst>
                </a:gridCol>
                <a:gridCol w="1070876">
                  <a:extLst>
                    <a:ext uri="{9D8B030D-6E8A-4147-A177-3AD203B41FA5}">
                      <a16:colId xmlns:a16="http://schemas.microsoft.com/office/drawing/2014/main" val="20003"/>
                    </a:ext>
                  </a:extLst>
                </a:gridCol>
                <a:gridCol w="1082516">
                  <a:extLst>
                    <a:ext uri="{9D8B030D-6E8A-4147-A177-3AD203B41FA5}">
                      <a16:colId xmlns:a16="http://schemas.microsoft.com/office/drawing/2014/main" val="20004"/>
                    </a:ext>
                  </a:extLst>
                </a:gridCol>
                <a:gridCol w="1082516">
                  <a:extLst>
                    <a:ext uri="{9D8B030D-6E8A-4147-A177-3AD203B41FA5}">
                      <a16:colId xmlns:a16="http://schemas.microsoft.com/office/drawing/2014/main" val="20005"/>
                    </a:ext>
                  </a:extLst>
                </a:gridCol>
                <a:gridCol w="1082516">
                  <a:extLst>
                    <a:ext uri="{9D8B030D-6E8A-4147-A177-3AD203B41FA5}">
                      <a16:colId xmlns:a16="http://schemas.microsoft.com/office/drawing/2014/main" val="20006"/>
                    </a:ext>
                  </a:extLst>
                </a:gridCol>
                <a:gridCol w="1035956">
                  <a:extLst>
                    <a:ext uri="{9D8B030D-6E8A-4147-A177-3AD203B41FA5}">
                      <a16:colId xmlns:a16="http://schemas.microsoft.com/office/drawing/2014/main" val="20007"/>
                    </a:ext>
                  </a:extLst>
                </a:gridCol>
              </a:tblGrid>
              <a:tr h="127000">
                <a:tc>
                  <a:txBody>
                    <a:bodyPr/>
                    <a:lstStyle/>
                    <a:p>
                      <a:pPr algn="ctr">
                        <a:spcAft>
                          <a:spcPts val="0"/>
                        </a:spcAft>
                      </a:pPr>
                      <a:r>
                        <a:rPr lang="zh-CN" sz="1400" b="1" kern="100" dirty="0">
                          <a:solidFill>
                            <a:srgbClr val="FF0000"/>
                          </a:solidFill>
                          <a:effectLst/>
                        </a:rPr>
                        <a:t>编号</a:t>
                      </a:r>
                      <a:endParaRPr lang="zh-CN" sz="1400" b="1" kern="100" dirty="0">
                        <a:solidFill>
                          <a:srgbClr val="FF0000"/>
                        </a:solidFill>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dirty="0">
                          <a:solidFill>
                            <a:srgbClr val="FF0000"/>
                          </a:solidFill>
                          <a:effectLst/>
                        </a:rPr>
                        <a:t>色泽</a:t>
                      </a:r>
                      <a:endParaRPr lang="zh-CN" sz="1400" b="1" kern="100" dirty="0">
                        <a:solidFill>
                          <a:srgbClr val="FF0000"/>
                        </a:solidFill>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dirty="0">
                          <a:solidFill>
                            <a:srgbClr val="FF0000"/>
                          </a:solidFill>
                          <a:effectLst/>
                        </a:rPr>
                        <a:t>根蒂</a:t>
                      </a:r>
                      <a:endParaRPr lang="zh-CN" sz="1400" b="1" kern="100" dirty="0">
                        <a:solidFill>
                          <a:srgbClr val="FF0000"/>
                        </a:solidFill>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dirty="0">
                          <a:solidFill>
                            <a:srgbClr val="FF0000"/>
                          </a:solidFill>
                          <a:effectLst/>
                        </a:rPr>
                        <a:t>敲声</a:t>
                      </a:r>
                      <a:endParaRPr lang="zh-CN" sz="1400" b="1" kern="100" dirty="0">
                        <a:solidFill>
                          <a:srgbClr val="FF0000"/>
                        </a:solidFill>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dirty="0">
                          <a:solidFill>
                            <a:srgbClr val="FF0000"/>
                          </a:solidFill>
                          <a:effectLst/>
                        </a:rPr>
                        <a:t>纹理</a:t>
                      </a:r>
                      <a:endParaRPr lang="zh-CN" sz="1400" b="1" kern="100" dirty="0">
                        <a:solidFill>
                          <a:srgbClr val="FF0000"/>
                        </a:solidFill>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dirty="0">
                          <a:solidFill>
                            <a:srgbClr val="FF0000"/>
                          </a:solidFill>
                          <a:effectLst/>
                        </a:rPr>
                        <a:t>脐部</a:t>
                      </a:r>
                      <a:endParaRPr lang="zh-CN" sz="1400" b="1" kern="100" dirty="0">
                        <a:solidFill>
                          <a:srgbClr val="FF0000"/>
                        </a:solidFill>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dirty="0">
                          <a:solidFill>
                            <a:srgbClr val="FF0000"/>
                          </a:solidFill>
                          <a:effectLst/>
                        </a:rPr>
                        <a:t>触感</a:t>
                      </a:r>
                      <a:endParaRPr lang="zh-CN" sz="1400" b="1" kern="100" dirty="0">
                        <a:solidFill>
                          <a:srgbClr val="FF0000"/>
                        </a:solidFill>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dirty="0">
                          <a:solidFill>
                            <a:srgbClr val="FF0000"/>
                          </a:solidFill>
                          <a:effectLst/>
                        </a:rPr>
                        <a:t>好瓜</a:t>
                      </a:r>
                      <a:endParaRPr lang="zh-CN" sz="1400" b="1" kern="100" dirty="0">
                        <a:solidFill>
                          <a:srgbClr val="FF0000"/>
                        </a:solidFill>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extLst>
                  <a:ext uri="{0D108BD9-81ED-4DB2-BD59-A6C34878D82A}">
                    <a16:rowId xmlns:a16="http://schemas.microsoft.com/office/drawing/2014/main" val="10000"/>
                  </a:ext>
                </a:extLst>
              </a:tr>
              <a:tr h="127000">
                <a:tc>
                  <a:txBody>
                    <a:bodyPr/>
                    <a:lstStyle/>
                    <a:p>
                      <a:pPr algn="ctr">
                        <a:spcAft>
                          <a:spcPts val="0"/>
                        </a:spcAft>
                      </a:pPr>
                      <a:r>
                        <a:rPr lang="en-US" sz="1400" b="1" kern="100" dirty="0">
                          <a:solidFill>
                            <a:srgbClr val="FF0000"/>
                          </a:solidFill>
                          <a:effectLst/>
                        </a:rPr>
                        <a:t>4</a:t>
                      </a:r>
                      <a:endParaRPr lang="zh-CN" sz="1400" b="1" kern="100" dirty="0">
                        <a:solidFill>
                          <a:srgbClr val="FF0000"/>
                        </a:solidFill>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青绿</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蜷缩</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沉闷</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dirty="0">
                          <a:effectLst/>
                        </a:rPr>
                        <a:t>清晰</a:t>
                      </a:r>
                      <a:endParaRPr lang="zh-CN" sz="1400" b="1" kern="100" dirty="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凹陷</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硬滑</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是</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extLst>
                  <a:ext uri="{0D108BD9-81ED-4DB2-BD59-A6C34878D82A}">
                    <a16:rowId xmlns:a16="http://schemas.microsoft.com/office/drawing/2014/main" val="10001"/>
                  </a:ext>
                </a:extLst>
              </a:tr>
              <a:tr h="127000">
                <a:tc>
                  <a:txBody>
                    <a:bodyPr/>
                    <a:lstStyle/>
                    <a:p>
                      <a:pPr algn="ctr">
                        <a:spcAft>
                          <a:spcPts val="0"/>
                        </a:spcAft>
                      </a:pPr>
                      <a:r>
                        <a:rPr lang="en-US" sz="1400" b="1" kern="100" dirty="0">
                          <a:solidFill>
                            <a:srgbClr val="FF0000"/>
                          </a:solidFill>
                          <a:effectLst/>
                        </a:rPr>
                        <a:t>5</a:t>
                      </a:r>
                      <a:endParaRPr lang="zh-CN" sz="1400" b="1" kern="100" dirty="0">
                        <a:solidFill>
                          <a:srgbClr val="FF0000"/>
                        </a:solidFill>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浅白</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蜷缩</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浊响</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清晰</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凹陷</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硬滑</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是</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extLst>
                  <a:ext uri="{0D108BD9-81ED-4DB2-BD59-A6C34878D82A}">
                    <a16:rowId xmlns:a16="http://schemas.microsoft.com/office/drawing/2014/main" val="10002"/>
                  </a:ext>
                </a:extLst>
              </a:tr>
              <a:tr h="127000">
                <a:tc>
                  <a:txBody>
                    <a:bodyPr/>
                    <a:lstStyle/>
                    <a:p>
                      <a:pPr algn="ctr">
                        <a:spcAft>
                          <a:spcPts val="0"/>
                        </a:spcAft>
                      </a:pPr>
                      <a:r>
                        <a:rPr lang="en-US" sz="1400" b="1" kern="100" dirty="0">
                          <a:solidFill>
                            <a:srgbClr val="FF0000"/>
                          </a:solidFill>
                          <a:effectLst/>
                        </a:rPr>
                        <a:t>8</a:t>
                      </a:r>
                      <a:endParaRPr lang="zh-CN" sz="1400" b="1" kern="100" dirty="0">
                        <a:solidFill>
                          <a:srgbClr val="FF0000"/>
                        </a:solidFill>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乌黑</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稍蜷</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浊响</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清晰</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稍凹</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硬滑</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是</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extLst>
                  <a:ext uri="{0D108BD9-81ED-4DB2-BD59-A6C34878D82A}">
                    <a16:rowId xmlns:a16="http://schemas.microsoft.com/office/drawing/2014/main" val="10003"/>
                  </a:ext>
                </a:extLst>
              </a:tr>
              <a:tr h="127000">
                <a:tc>
                  <a:txBody>
                    <a:bodyPr/>
                    <a:lstStyle/>
                    <a:p>
                      <a:pPr algn="ctr">
                        <a:spcAft>
                          <a:spcPts val="0"/>
                        </a:spcAft>
                      </a:pPr>
                      <a:r>
                        <a:rPr lang="en-US" sz="1400" b="1" kern="100" dirty="0">
                          <a:solidFill>
                            <a:srgbClr val="FF0000"/>
                          </a:solidFill>
                          <a:effectLst/>
                        </a:rPr>
                        <a:t>9</a:t>
                      </a:r>
                      <a:endParaRPr lang="zh-CN" sz="1400" b="1" kern="100" dirty="0">
                        <a:solidFill>
                          <a:srgbClr val="FF0000"/>
                        </a:solidFill>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乌黑</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稍蜷</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沉闷</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稍糊</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稍凹</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硬滑</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否</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extLst>
                  <a:ext uri="{0D108BD9-81ED-4DB2-BD59-A6C34878D82A}">
                    <a16:rowId xmlns:a16="http://schemas.microsoft.com/office/drawing/2014/main" val="10004"/>
                  </a:ext>
                </a:extLst>
              </a:tr>
              <a:tr h="127000">
                <a:tc>
                  <a:txBody>
                    <a:bodyPr/>
                    <a:lstStyle/>
                    <a:p>
                      <a:pPr algn="ctr">
                        <a:spcAft>
                          <a:spcPts val="0"/>
                        </a:spcAft>
                      </a:pPr>
                      <a:r>
                        <a:rPr lang="en-US" sz="1400" b="1" kern="100" dirty="0">
                          <a:solidFill>
                            <a:srgbClr val="FF0000"/>
                          </a:solidFill>
                          <a:effectLst/>
                        </a:rPr>
                        <a:t>11</a:t>
                      </a:r>
                      <a:endParaRPr lang="zh-CN" sz="1400" b="1" kern="100" dirty="0">
                        <a:solidFill>
                          <a:srgbClr val="FF0000"/>
                        </a:solidFill>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浅白</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硬挺</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清脆</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模糊</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平坦</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硬滑</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否</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extLst>
                  <a:ext uri="{0D108BD9-81ED-4DB2-BD59-A6C34878D82A}">
                    <a16:rowId xmlns:a16="http://schemas.microsoft.com/office/drawing/2014/main" val="10005"/>
                  </a:ext>
                </a:extLst>
              </a:tr>
              <a:tr h="127000">
                <a:tc>
                  <a:txBody>
                    <a:bodyPr/>
                    <a:lstStyle/>
                    <a:p>
                      <a:pPr algn="ctr">
                        <a:spcAft>
                          <a:spcPts val="0"/>
                        </a:spcAft>
                      </a:pPr>
                      <a:r>
                        <a:rPr lang="en-US" sz="1400" b="1" kern="100" dirty="0">
                          <a:solidFill>
                            <a:srgbClr val="FF0000"/>
                          </a:solidFill>
                          <a:effectLst/>
                        </a:rPr>
                        <a:t>12</a:t>
                      </a:r>
                      <a:endParaRPr lang="zh-CN" sz="1400" b="1" kern="100" dirty="0">
                        <a:solidFill>
                          <a:srgbClr val="FF0000"/>
                        </a:solidFill>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浅白</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蜷缩</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浊响</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模糊</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平坦</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软粘</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否</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extLst>
                  <a:ext uri="{0D108BD9-81ED-4DB2-BD59-A6C34878D82A}">
                    <a16:rowId xmlns:a16="http://schemas.microsoft.com/office/drawing/2014/main" val="10006"/>
                  </a:ext>
                </a:extLst>
              </a:tr>
              <a:tr h="127000">
                <a:tc>
                  <a:txBody>
                    <a:bodyPr/>
                    <a:lstStyle/>
                    <a:p>
                      <a:pPr algn="ctr">
                        <a:spcAft>
                          <a:spcPts val="0"/>
                        </a:spcAft>
                      </a:pPr>
                      <a:r>
                        <a:rPr lang="en-US" sz="1400" b="1" kern="100" dirty="0">
                          <a:solidFill>
                            <a:srgbClr val="FF0000"/>
                          </a:solidFill>
                          <a:effectLst/>
                        </a:rPr>
                        <a:t>13</a:t>
                      </a:r>
                      <a:endParaRPr lang="zh-CN" sz="1400" b="1" kern="100" dirty="0">
                        <a:solidFill>
                          <a:srgbClr val="FF0000"/>
                        </a:solidFill>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青绿</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稍蜷</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浊响</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稍糊</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凹陷</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a:effectLst/>
                        </a:rPr>
                        <a:t>硬滑</a:t>
                      </a:r>
                      <a:endParaRPr lang="zh-CN" sz="1400" b="1" kern="10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tc>
                  <a:txBody>
                    <a:bodyPr/>
                    <a:lstStyle/>
                    <a:p>
                      <a:pPr algn="ctr">
                        <a:spcAft>
                          <a:spcPts val="0"/>
                        </a:spcAft>
                      </a:pPr>
                      <a:r>
                        <a:rPr lang="zh-CN" sz="1400" b="1" kern="100" dirty="0">
                          <a:effectLst/>
                        </a:rPr>
                        <a:t>否</a:t>
                      </a:r>
                      <a:endParaRPr lang="zh-CN" sz="1400" b="1" kern="100" dirty="0">
                        <a:effectLst/>
                        <a:latin typeface="Times New Roman" panose="02020603050405020304"/>
                        <a:ea typeface="宋体" panose="02010600030101010101" pitchFamily="2" charset="-122"/>
                        <a:cs typeface="宋体" panose="02010600030101010101" pitchFamily="2" charset="-122"/>
                      </a:endParaRPr>
                    </a:p>
                  </a:txBody>
                  <a:tcPr marL="9525" marR="9525" marT="9525" marB="9525" anchor="ctr"/>
                </a:tc>
                <a:extLst>
                  <a:ext uri="{0D108BD9-81ED-4DB2-BD59-A6C34878D82A}">
                    <a16:rowId xmlns:a16="http://schemas.microsoft.com/office/drawing/2014/main" val="10007"/>
                  </a:ext>
                </a:extLst>
              </a:tr>
            </a:tbl>
          </a:graphicData>
        </a:graphic>
      </p:graphicFrame>
      <p:sp>
        <p:nvSpPr>
          <p:cNvPr id="7" name="TextBox 6"/>
          <p:cNvSpPr txBox="1"/>
          <p:nvPr/>
        </p:nvSpPr>
        <p:spPr>
          <a:xfrm>
            <a:off x="605641" y="4436170"/>
            <a:ext cx="1107996" cy="461665"/>
          </a:xfrm>
          <a:prstGeom prst="rect">
            <a:avLst/>
          </a:prstGeom>
          <a:noFill/>
        </p:spPr>
        <p:txBody>
          <a:bodyPr wrap="none" rtlCol="0">
            <a:spAutoFit/>
          </a:bodyPr>
          <a:lstStyle/>
          <a:p>
            <a:r>
              <a:rPr lang="zh-CN" altLang="en-US" dirty="0"/>
              <a:t>验证集</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8B969B-F7C6-4786-8DF2-34D0F4E28F9F}"/>
              </a:ext>
            </a:extLst>
          </p:cNvPr>
          <p:cNvSpPr>
            <a:spLocks noGrp="1"/>
          </p:cNvSpPr>
          <p:nvPr>
            <p:ph type="title"/>
          </p:nvPr>
        </p:nvSpPr>
        <p:spPr>
          <a:xfrm>
            <a:off x="293688" y="222250"/>
            <a:ext cx="11523662" cy="677863"/>
          </a:xfrm>
        </p:spPr>
        <p:txBody>
          <a:bodyPr/>
          <a:lstStyle/>
          <a:p>
            <a:pPr algn="l"/>
            <a:r>
              <a:rPr/>
              <a:t>ID3算法—案例</a:t>
            </a:r>
          </a:p>
        </p:txBody>
      </p:sp>
      <p:sp>
        <p:nvSpPr>
          <p:cNvPr id="3" name="内容占位符 2">
            <a:extLst>
              <a:ext uri="{FF2B5EF4-FFF2-40B4-BE49-F238E27FC236}">
                <a16:creationId xmlns:a16="http://schemas.microsoft.com/office/drawing/2014/main" id="{CB82E68E-E10C-41A2-B202-47A9D65F03BD}"/>
              </a:ext>
            </a:extLst>
          </p:cNvPr>
          <p:cNvSpPr>
            <a:spLocks noGrp="1"/>
          </p:cNvSpPr>
          <p:nvPr>
            <p:ph idx="1"/>
          </p:nvPr>
        </p:nvSpPr>
        <p:spPr>
          <a:xfrm>
            <a:off x="447675" y="1266825"/>
            <a:ext cx="10972800" cy="571500"/>
          </a:xfrm>
        </p:spPr>
        <p:txBody>
          <a:bodyPr/>
          <a:lstStyle/>
          <a:p>
            <a:r>
              <a:rPr lang="zh-CN" altLang="zh-CN" dirty="0">
                <a:latin typeface="+mj-ea"/>
                <a:ea typeface="+mj-ea"/>
              </a:rPr>
              <a:t>按照色泽进行分类</a:t>
            </a:r>
            <a:endParaRPr lang="zh-CN" altLang="en-US" dirty="0">
              <a:latin typeface="+mj-ea"/>
              <a:ea typeface="+mj-ea"/>
            </a:endParaRPr>
          </a:p>
        </p:txBody>
      </p:sp>
      <p:graphicFrame>
        <p:nvGraphicFramePr>
          <p:cNvPr id="4" name="表格 3"/>
          <p:cNvGraphicFramePr>
            <a:graphicFrameLocks noGrp="1"/>
          </p:cNvGraphicFramePr>
          <p:nvPr>
            <p:extLst>
              <p:ext uri="{D42A27DB-BD31-4B8C-83A1-F6EECF244321}">
                <p14:modId xmlns:p14="http://schemas.microsoft.com/office/powerpoint/2010/main" val="3339323844"/>
              </p:ext>
            </p:extLst>
          </p:nvPr>
        </p:nvGraphicFramePr>
        <p:xfrm>
          <a:off x="1122208" y="1880576"/>
          <a:ext cx="7934386" cy="1068616"/>
        </p:xfrm>
        <a:graphic>
          <a:graphicData uri="http://schemas.openxmlformats.org/drawingml/2006/table">
            <a:tbl>
              <a:tblPr firstRow="1" firstCol="1" bandRow="1">
                <a:tableStyleId>{5C22544A-7EE6-4342-B048-85BDC9FD1C3A}</a:tableStyleId>
              </a:tblPr>
              <a:tblGrid>
                <a:gridCol w="1983131">
                  <a:extLst>
                    <a:ext uri="{9D8B030D-6E8A-4147-A177-3AD203B41FA5}">
                      <a16:colId xmlns:a16="http://schemas.microsoft.com/office/drawing/2014/main" val="20000"/>
                    </a:ext>
                  </a:extLst>
                </a:gridCol>
                <a:gridCol w="1983131">
                  <a:extLst>
                    <a:ext uri="{9D8B030D-6E8A-4147-A177-3AD203B41FA5}">
                      <a16:colId xmlns:a16="http://schemas.microsoft.com/office/drawing/2014/main" val="20001"/>
                    </a:ext>
                  </a:extLst>
                </a:gridCol>
                <a:gridCol w="1984062">
                  <a:extLst>
                    <a:ext uri="{9D8B030D-6E8A-4147-A177-3AD203B41FA5}">
                      <a16:colId xmlns:a16="http://schemas.microsoft.com/office/drawing/2014/main" val="20002"/>
                    </a:ext>
                  </a:extLst>
                </a:gridCol>
                <a:gridCol w="1984062">
                  <a:extLst>
                    <a:ext uri="{9D8B030D-6E8A-4147-A177-3AD203B41FA5}">
                      <a16:colId xmlns:a16="http://schemas.microsoft.com/office/drawing/2014/main" val="20003"/>
                    </a:ext>
                  </a:extLst>
                </a:gridCol>
              </a:tblGrid>
              <a:tr h="267154">
                <a:tc>
                  <a:txBody>
                    <a:bodyPr/>
                    <a:lstStyle/>
                    <a:p>
                      <a:pPr algn="just">
                        <a:spcAft>
                          <a:spcPts val="0"/>
                        </a:spcAft>
                      </a:pPr>
                      <a:r>
                        <a:rPr lang="zh-CN" sz="1600" kern="100">
                          <a:solidFill>
                            <a:srgbClr val="FF0000"/>
                          </a:solidFill>
                          <a:effectLst/>
                        </a:rPr>
                        <a:t>色泽</a:t>
                      </a:r>
                      <a:endParaRPr lang="zh-CN" sz="1600" kern="100">
                        <a:solidFill>
                          <a:srgbClr val="FF0000"/>
                        </a:solidFill>
                        <a:effectLst/>
                        <a:latin typeface="Calibri" panose="020F0502020204030204"/>
                        <a:ea typeface="宋体" panose="02010600030101010101" pitchFamily="2" charset="-122"/>
                        <a:cs typeface="Times New Roman" panose="02020603050405020304"/>
                      </a:endParaRPr>
                    </a:p>
                  </a:txBody>
                  <a:tcPr marL="68580" marR="68580" marT="0" marB="0"/>
                </a:tc>
                <a:tc>
                  <a:txBody>
                    <a:bodyPr/>
                    <a:lstStyle/>
                    <a:p>
                      <a:pPr algn="just">
                        <a:spcAft>
                          <a:spcPts val="0"/>
                        </a:spcAft>
                      </a:pPr>
                      <a:r>
                        <a:rPr lang="zh-CN" sz="1600" kern="100">
                          <a:solidFill>
                            <a:srgbClr val="FF0000"/>
                          </a:solidFill>
                          <a:effectLst/>
                        </a:rPr>
                        <a:t>数量</a:t>
                      </a:r>
                      <a:endParaRPr lang="zh-CN" sz="1600" kern="100">
                        <a:solidFill>
                          <a:srgbClr val="FF0000"/>
                        </a:solidFill>
                        <a:effectLst/>
                        <a:latin typeface="Calibri" panose="020F0502020204030204"/>
                        <a:ea typeface="宋体" panose="02010600030101010101" pitchFamily="2" charset="-122"/>
                        <a:cs typeface="Times New Roman" panose="02020603050405020304"/>
                      </a:endParaRPr>
                    </a:p>
                  </a:txBody>
                  <a:tcPr marL="68580" marR="68580" marT="0" marB="0"/>
                </a:tc>
                <a:tc>
                  <a:txBody>
                    <a:bodyPr/>
                    <a:lstStyle/>
                    <a:p>
                      <a:pPr algn="just">
                        <a:spcAft>
                          <a:spcPts val="0"/>
                        </a:spcAft>
                      </a:pPr>
                      <a:r>
                        <a:rPr lang="zh-CN" sz="1600" kern="100">
                          <a:solidFill>
                            <a:srgbClr val="FF0000"/>
                          </a:solidFill>
                          <a:effectLst/>
                        </a:rPr>
                        <a:t>好瓜</a:t>
                      </a:r>
                      <a:endParaRPr lang="zh-CN" sz="1600" kern="100">
                        <a:solidFill>
                          <a:srgbClr val="FF0000"/>
                        </a:solidFill>
                        <a:effectLst/>
                        <a:latin typeface="Calibri" panose="020F0502020204030204"/>
                        <a:ea typeface="宋体" panose="02010600030101010101" pitchFamily="2" charset="-122"/>
                        <a:cs typeface="Times New Roman" panose="02020603050405020304"/>
                      </a:endParaRPr>
                    </a:p>
                  </a:txBody>
                  <a:tcPr marL="68580" marR="68580" marT="0" marB="0"/>
                </a:tc>
                <a:tc>
                  <a:txBody>
                    <a:bodyPr/>
                    <a:lstStyle/>
                    <a:p>
                      <a:pPr algn="just">
                        <a:spcAft>
                          <a:spcPts val="0"/>
                        </a:spcAft>
                      </a:pPr>
                      <a:r>
                        <a:rPr lang="zh-CN" sz="1600" kern="100">
                          <a:solidFill>
                            <a:srgbClr val="FF0000"/>
                          </a:solidFill>
                          <a:effectLst/>
                        </a:rPr>
                        <a:t>坏瓜</a:t>
                      </a:r>
                      <a:endParaRPr lang="zh-CN" sz="1600" kern="100">
                        <a:solidFill>
                          <a:srgbClr val="FF0000"/>
                        </a:solidFill>
                        <a:effectLst/>
                        <a:latin typeface="Calibri" panose="020F0502020204030204"/>
                        <a:ea typeface="宋体" panose="02010600030101010101" pitchFamily="2" charset="-122"/>
                        <a:cs typeface="Times New Roman" panose="02020603050405020304"/>
                      </a:endParaRPr>
                    </a:p>
                  </a:txBody>
                  <a:tcPr marL="68580" marR="68580" marT="0" marB="0"/>
                </a:tc>
                <a:extLst>
                  <a:ext uri="{0D108BD9-81ED-4DB2-BD59-A6C34878D82A}">
                    <a16:rowId xmlns:a16="http://schemas.microsoft.com/office/drawing/2014/main" val="10000"/>
                  </a:ext>
                </a:extLst>
              </a:tr>
              <a:tr h="267154">
                <a:tc>
                  <a:txBody>
                    <a:bodyPr/>
                    <a:lstStyle/>
                    <a:p>
                      <a:pPr algn="just">
                        <a:spcAft>
                          <a:spcPts val="0"/>
                        </a:spcAft>
                      </a:pPr>
                      <a:r>
                        <a:rPr lang="zh-CN" sz="1600" kern="100">
                          <a:solidFill>
                            <a:srgbClr val="FF0000"/>
                          </a:solidFill>
                          <a:effectLst/>
                        </a:rPr>
                        <a:t>青绿</a:t>
                      </a:r>
                      <a:endParaRPr lang="zh-CN" sz="1600" kern="100">
                        <a:solidFill>
                          <a:srgbClr val="FF0000"/>
                        </a:solidFill>
                        <a:effectLst/>
                        <a:latin typeface="Calibri" panose="020F0502020204030204"/>
                        <a:ea typeface="宋体" panose="02010600030101010101" pitchFamily="2" charset="-122"/>
                        <a:cs typeface="Times New Roman" panose="02020603050405020304"/>
                      </a:endParaRPr>
                    </a:p>
                  </a:txBody>
                  <a:tcPr marL="68580" marR="68580" marT="0" marB="0"/>
                </a:tc>
                <a:tc>
                  <a:txBody>
                    <a:bodyPr/>
                    <a:lstStyle/>
                    <a:p>
                      <a:pPr algn="just">
                        <a:spcAft>
                          <a:spcPts val="0"/>
                        </a:spcAft>
                      </a:pPr>
                      <a:r>
                        <a:rPr lang="en-US" sz="1600" kern="100">
                          <a:solidFill>
                            <a:srgbClr val="FF0000"/>
                          </a:solidFill>
                          <a:effectLst/>
                        </a:rPr>
                        <a:t>4</a:t>
                      </a:r>
                      <a:endParaRPr lang="zh-CN" sz="1600" kern="100">
                        <a:solidFill>
                          <a:srgbClr val="FF0000"/>
                        </a:solidFill>
                        <a:effectLst/>
                        <a:latin typeface="Calibri" panose="020F0502020204030204"/>
                        <a:ea typeface="宋体" panose="02010600030101010101" pitchFamily="2" charset="-122"/>
                        <a:cs typeface="Times New Roman" panose="02020603050405020304"/>
                      </a:endParaRPr>
                    </a:p>
                  </a:txBody>
                  <a:tcPr marL="68580" marR="68580" marT="0" marB="0"/>
                </a:tc>
                <a:tc>
                  <a:txBody>
                    <a:bodyPr/>
                    <a:lstStyle/>
                    <a:p>
                      <a:pPr algn="just">
                        <a:spcAft>
                          <a:spcPts val="0"/>
                        </a:spcAft>
                      </a:pPr>
                      <a:r>
                        <a:rPr lang="en-US" sz="1600" kern="100">
                          <a:solidFill>
                            <a:srgbClr val="FF0000"/>
                          </a:solidFill>
                          <a:effectLst/>
                        </a:rPr>
                        <a:t>2</a:t>
                      </a:r>
                      <a:endParaRPr lang="zh-CN" sz="1600" kern="100">
                        <a:solidFill>
                          <a:srgbClr val="FF0000"/>
                        </a:solidFill>
                        <a:effectLst/>
                        <a:latin typeface="Calibri" panose="020F0502020204030204"/>
                        <a:ea typeface="宋体" panose="02010600030101010101" pitchFamily="2" charset="-122"/>
                        <a:cs typeface="Times New Roman" panose="02020603050405020304"/>
                      </a:endParaRPr>
                    </a:p>
                  </a:txBody>
                  <a:tcPr marL="68580" marR="68580" marT="0" marB="0"/>
                </a:tc>
                <a:tc>
                  <a:txBody>
                    <a:bodyPr/>
                    <a:lstStyle/>
                    <a:p>
                      <a:pPr algn="just">
                        <a:spcAft>
                          <a:spcPts val="0"/>
                        </a:spcAft>
                      </a:pPr>
                      <a:r>
                        <a:rPr lang="en-US" sz="1600" kern="100">
                          <a:solidFill>
                            <a:srgbClr val="FF0000"/>
                          </a:solidFill>
                          <a:effectLst/>
                        </a:rPr>
                        <a:t>2</a:t>
                      </a:r>
                      <a:endParaRPr lang="zh-CN" sz="1600" kern="100">
                        <a:solidFill>
                          <a:srgbClr val="FF0000"/>
                        </a:solidFill>
                        <a:effectLst/>
                        <a:latin typeface="Calibri" panose="020F0502020204030204"/>
                        <a:ea typeface="宋体" panose="02010600030101010101" pitchFamily="2" charset="-122"/>
                        <a:cs typeface="Times New Roman" panose="02020603050405020304"/>
                      </a:endParaRPr>
                    </a:p>
                  </a:txBody>
                  <a:tcPr marL="68580" marR="68580" marT="0" marB="0"/>
                </a:tc>
                <a:extLst>
                  <a:ext uri="{0D108BD9-81ED-4DB2-BD59-A6C34878D82A}">
                    <a16:rowId xmlns:a16="http://schemas.microsoft.com/office/drawing/2014/main" val="10001"/>
                  </a:ext>
                </a:extLst>
              </a:tr>
              <a:tr h="267154">
                <a:tc>
                  <a:txBody>
                    <a:bodyPr/>
                    <a:lstStyle/>
                    <a:p>
                      <a:pPr algn="just">
                        <a:spcAft>
                          <a:spcPts val="0"/>
                        </a:spcAft>
                      </a:pPr>
                      <a:r>
                        <a:rPr lang="zh-CN" sz="1600" kern="100">
                          <a:solidFill>
                            <a:srgbClr val="FF0000"/>
                          </a:solidFill>
                          <a:effectLst/>
                        </a:rPr>
                        <a:t>乌黑</a:t>
                      </a:r>
                      <a:endParaRPr lang="zh-CN" sz="1600" kern="100">
                        <a:solidFill>
                          <a:srgbClr val="FF0000"/>
                        </a:solidFill>
                        <a:effectLst/>
                        <a:latin typeface="Calibri" panose="020F0502020204030204"/>
                        <a:ea typeface="宋体" panose="02010600030101010101" pitchFamily="2" charset="-122"/>
                        <a:cs typeface="Times New Roman" panose="02020603050405020304"/>
                      </a:endParaRPr>
                    </a:p>
                  </a:txBody>
                  <a:tcPr marL="68580" marR="68580" marT="0" marB="0"/>
                </a:tc>
                <a:tc>
                  <a:txBody>
                    <a:bodyPr/>
                    <a:lstStyle/>
                    <a:p>
                      <a:pPr algn="just">
                        <a:spcAft>
                          <a:spcPts val="0"/>
                        </a:spcAft>
                      </a:pPr>
                      <a:r>
                        <a:rPr lang="en-US" sz="1600" kern="100">
                          <a:solidFill>
                            <a:srgbClr val="FF0000"/>
                          </a:solidFill>
                          <a:effectLst/>
                        </a:rPr>
                        <a:t>4</a:t>
                      </a:r>
                      <a:endParaRPr lang="zh-CN" sz="1600" kern="100">
                        <a:solidFill>
                          <a:srgbClr val="FF0000"/>
                        </a:solidFill>
                        <a:effectLst/>
                        <a:latin typeface="Calibri" panose="020F0502020204030204"/>
                        <a:ea typeface="宋体" panose="02010600030101010101" pitchFamily="2" charset="-122"/>
                        <a:cs typeface="Times New Roman" panose="02020603050405020304"/>
                      </a:endParaRPr>
                    </a:p>
                  </a:txBody>
                  <a:tcPr marL="68580" marR="68580" marT="0" marB="0"/>
                </a:tc>
                <a:tc>
                  <a:txBody>
                    <a:bodyPr/>
                    <a:lstStyle/>
                    <a:p>
                      <a:pPr algn="just">
                        <a:spcAft>
                          <a:spcPts val="0"/>
                        </a:spcAft>
                      </a:pPr>
                      <a:r>
                        <a:rPr lang="en-US" sz="1600" kern="100">
                          <a:solidFill>
                            <a:srgbClr val="FF0000"/>
                          </a:solidFill>
                          <a:effectLst/>
                        </a:rPr>
                        <a:t>3</a:t>
                      </a:r>
                      <a:endParaRPr lang="zh-CN" sz="1600" kern="100">
                        <a:solidFill>
                          <a:srgbClr val="FF0000"/>
                        </a:solidFill>
                        <a:effectLst/>
                        <a:latin typeface="Calibri" panose="020F0502020204030204"/>
                        <a:ea typeface="宋体" panose="02010600030101010101" pitchFamily="2" charset="-122"/>
                        <a:cs typeface="Times New Roman" panose="02020603050405020304"/>
                      </a:endParaRPr>
                    </a:p>
                  </a:txBody>
                  <a:tcPr marL="68580" marR="68580" marT="0" marB="0"/>
                </a:tc>
                <a:tc>
                  <a:txBody>
                    <a:bodyPr/>
                    <a:lstStyle/>
                    <a:p>
                      <a:pPr algn="just">
                        <a:spcAft>
                          <a:spcPts val="0"/>
                        </a:spcAft>
                      </a:pPr>
                      <a:r>
                        <a:rPr lang="en-US" sz="1600" kern="100">
                          <a:solidFill>
                            <a:srgbClr val="FF0000"/>
                          </a:solidFill>
                          <a:effectLst/>
                        </a:rPr>
                        <a:t>1</a:t>
                      </a:r>
                      <a:endParaRPr lang="zh-CN" sz="1600" kern="100">
                        <a:solidFill>
                          <a:srgbClr val="FF0000"/>
                        </a:solidFill>
                        <a:effectLst/>
                        <a:latin typeface="Calibri" panose="020F0502020204030204"/>
                        <a:ea typeface="宋体" panose="02010600030101010101" pitchFamily="2" charset="-122"/>
                        <a:cs typeface="Times New Roman" panose="02020603050405020304"/>
                      </a:endParaRPr>
                    </a:p>
                  </a:txBody>
                  <a:tcPr marL="68580" marR="68580" marT="0" marB="0"/>
                </a:tc>
                <a:extLst>
                  <a:ext uri="{0D108BD9-81ED-4DB2-BD59-A6C34878D82A}">
                    <a16:rowId xmlns:a16="http://schemas.microsoft.com/office/drawing/2014/main" val="10002"/>
                  </a:ext>
                </a:extLst>
              </a:tr>
              <a:tr h="267154">
                <a:tc>
                  <a:txBody>
                    <a:bodyPr/>
                    <a:lstStyle/>
                    <a:p>
                      <a:pPr algn="just">
                        <a:spcAft>
                          <a:spcPts val="0"/>
                        </a:spcAft>
                      </a:pPr>
                      <a:r>
                        <a:rPr lang="zh-CN" sz="1600" kern="100">
                          <a:solidFill>
                            <a:srgbClr val="FF0000"/>
                          </a:solidFill>
                          <a:effectLst/>
                        </a:rPr>
                        <a:t>浅白</a:t>
                      </a:r>
                      <a:endParaRPr lang="zh-CN" sz="1600" kern="100">
                        <a:solidFill>
                          <a:srgbClr val="FF0000"/>
                        </a:solidFill>
                        <a:effectLst/>
                        <a:latin typeface="Calibri" panose="020F0502020204030204"/>
                        <a:ea typeface="宋体" panose="02010600030101010101" pitchFamily="2" charset="-122"/>
                        <a:cs typeface="Times New Roman" panose="02020603050405020304"/>
                      </a:endParaRPr>
                    </a:p>
                  </a:txBody>
                  <a:tcPr marL="68580" marR="68580" marT="0" marB="0"/>
                </a:tc>
                <a:tc>
                  <a:txBody>
                    <a:bodyPr/>
                    <a:lstStyle/>
                    <a:p>
                      <a:pPr algn="just">
                        <a:spcAft>
                          <a:spcPts val="0"/>
                        </a:spcAft>
                      </a:pPr>
                      <a:r>
                        <a:rPr lang="en-US" sz="1600" kern="100" dirty="0">
                          <a:solidFill>
                            <a:srgbClr val="FF0000"/>
                          </a:solidFill>
                          <a:effectLst/>
                        </a:rPr>
                        <a:t>2</a:t>
                      </a:r>
                      <a:endParaRPr lang="zh-CN" sz="1600" kern="100" dirty="0">
                        <a:solidFill>
                          <a:srgbClr val="FF0000"/>
                        </a:solidFill>
                        <a:effectLst/>
                        <a:latin typeface="Calibri" panose="020F0502020204030204"/>
                        <a:ea typeface="宋体" panose="02010600030101010101" pitchFamily="2" charset="-122"/>
                        <a:cs typeface="Times New Roman" panose="02020603050405020304"/>
                      </a:endParaRPr>
                    </a:p>
                  </a:txBody>
                  <a:tcPr marL="68580" marR="68580" marT="0" marB="0"/>
                </a:tc>
                <a:tc>
                  <a:txBody>
                    <a:bodyPr/>
                    <a:lstStyle/>
                    <a:p>
                      <a:pPr algn="just">
                        <a:spcAft>
                          <a:spcPts val="0"/>
                        </a:spcAft>
                      </a:pPr>
                      <a:r>
                        <a:rPr lang="en-US" sz="1600" kern="100">
                          <a:solidFill>
                            <a:srgbClr val="FF0000"/>
                          </a:solidFill>
                          <a:effectLst/>
                        </a:rPr>
                        <a:t>0</a:t>
                      </a:r>
                      <a:endParaRPr lang="zh-CN" sz="1600" kern="100">
                        <a:solidFill>
                          <a:srgbClr val="FF0000"/>
                        </a:solidFill>
                        <a:effectLst/>
                        <a:latin typeface="Calibri" panose="020F0502020204030204"/>
                        <a:ea typeface="宋体" panose="02010600030101010101" pitchFamily="2" charset="-122"/>
                        <a:cs typeface="Times New Roman" panose="02020603050405020304"/>
                      </a:endParaRPr>
                    </a:p>
                  </a:txBody>
                  <a:tcPr marL="68580" marR="68580" marT="0" marB="0"/>
                </a:tc>
                <a:tc>
                  <a:txBody>
                    <a:bodyPr/>
                    <a:lstStyle/>
                    <a:p>
                      <a:pPr algn="just">
                        <a:spcAft>
                          <a:spcPts val="0"/>
                        </a:spcAft>
                      </a:pPr>
                      <a:r>
                        <a:rPr lang="en-US" sz="1600" kern="100" dirty="0">
                          <a:solidFill>
                            <a:srgbClr val="FF0000"/>
                          </a:solidFill>
                          <a:effectLst/>
                        </a:rPr>
                        <a:t>2</a:t>
                      </a:r>
                      <a:endParaRPr lang="zh-CN" sz="1600" kern="100" dirty="0">
                        <a:solidFill>
                          <a:srgbClr val="FF0000"/>
                        </a:solidFill>
                        <a:effectLst/>
                        <a:latin typeface="Calibri" panose="020F0502020204030204"/>
                        <a:ea typeface="宋体" panose="02010600030101010101" pitchFamily="2" charset="-122"/>
                        <a:cs typeface="Times New Roman" panose="02020603050405020304"/>
                      </a:endParaRPr>
                    </a:p>
                  </a:txBody>
                  <a:tcPr marL="68580" marR="68580" marT="0" marB="0"/>
                </a:tc>
                <a:extLst>
                  <a:ext uri="{0D108BD9-81ED-4DB2-BD59-A6C34878D82A}">
                    <a16:rowId xmlns:a16="http://schemas.microsoft.com/office/drawing/2014/main" val="10003"/>
                  </a:ext>
                </a:extLst>
              </a:tr>
            </a:tbl>
          </a:graphicData>
        </a:graphic>
      </p:graphicFrame>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TextBox 6"/>
          <p:cNvSpPr txBox="1"/>
          <p:nvPr/>
        </p:nvSpPr>
        <p:spPr>
          <a:xfrm>
            <a:off x="706573" y="3028189"/>
            <a:ext cx="1107996" cy="461665"/>
          </a:xfrm>
          <a:prstGeom prst="rect">
            <a:avLst/>
          </a:prstGeom>
          <a:noFill/>
        </p:spPr>
        <p:txBody>
          <a:bodyPr wrap="none" rtlCol="0">
            <a:spAutoFit/>
          </a:bodyPr>
          <a:lstStyle/>
          <a:p>
            <a:r>
              <a:rPr lang="zh-CN" altLang="en-US" dirty="0"/>
              <a:t>信息熵</a:t>
            </a:r>
          </a:p>
        </p:txBody>
      </p:sp>
      <p:sp>
        <p:nvSpPr>
          <p:cNvPr id="8"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Rectangle 6"/>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2"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4" name="TextBox 13"/>
          <p:cNvSpPr txBox="1"/>
          <p:nvPr/>
        </p:nvSpPr>
        <p:spPr>
          <a:xfrm>
            <a:off x="736254" y="4233533"/>
            <a:ext cx="1107996" cy="461665"/>
          </a:xfrm>
          <a:prstGeom prst="rect">
            <a:avLst/>
          </a:prstGeom>
          <a:noFill/>
        </p:spPr>
        <p:txBody>
          <a:bodyPr wrap="none" rtlCol="0">
            <a:spAutoFit/>
          </a:bodyPr>
          <a:lstStyle/>
          <a:p>
            <a:r>
              <a:rPr lang="zh-CN" altLang="en-US" dirty="0"/>
              <a:t>条件熵</a:t>
            </a:r>
          </a:p>
        </p:txBody>
      </p:sp>
      <p:sp>
        <p:nvSpPr>
          <p:cNvPr id="15" name="Rectangle 10"/>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7" name="Rectangle 1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9" name="TextBox 18"/>
          <p:cNvSpPr txBox="1"/>
          <p:nvPr/>
        </p:nvSpPr>
        <p:spPr>
          <a:xfrm>
            <a:off x="736254" y="6093512"/>
            <a:ext cx="1415772" cy="461665"/>
          </a:xfrm>
          <a:prstGeom prst="rect">
            <a:avLst/>
          </a:prstGeom>
          <a:noFill/>
        </p:spPr>
        <p:txBody>
          <a:bodyPr wrap="none" rtlCol="0">
            <a:spAutoFit/>
          </a:bodyPr>
          <a:lstStyle/>
          <a:p>
            <a:r>
              <a:rPr lang="zh-CN" altLang="en-US" dirty="0"/>
              <a:t>信息增益</a:t>
            </a:r>
          </a:p>
        </p:txBody>
      </p:sp>
      <mc:AlternateContent xmlns:mc="http://schemas.openxmlformats.org/markup-compatibility/2006" xmlns:a14="http://schemas.microsoft.com/office/drawing/2010/main">
        <mc:Choice Requires="a14">
          <p:sp>
            <p:nvSpPr>
              <p:cNvPr id="20" name="文本框 19"/>
              <p:cNvSpPr txBox="1"/>
              <p:nvPr/>
            </p:nvSpPr>
            <p:spPr>
              <a:xfrm>
                <a:off x="2151951" y="3147314"/>
                <a:ext cx="7541260" cy="1200150"/>
              </a:xfrm>
              <a:prstGeom prst="rect">
                <a:avLst/>
              </a:prstGeom>
              <a:noFill/>
            </p:spPr>
            <p:txBody>
              <a:bodyPr wrap="none" rtlCol="0" anchor="t">
                <a:spAutoFit/>
              </a:bodyPr>
              <a:lstStyle/>
              <a:p>
                <a:pPr algn="l"/>
                <a14:m>
                  <m:oMathPara xmlns:m="http://schemas.openxmlformats.org/officeDocument/2006/math">
                    <m:oMath>
                      <m:r>
                        <a:rPr lang="en-US" altLang="zh-CN" i="1">
                          <a:latin typeface="Cambria Math" panose="02040503050406030204" pitchFamily="18" charset="0"/>
                          <a:cs typeface="Cambria Math" panose="02040503050406030204" pitchFamily="18" charset="0"/>
                        </a:rPr>
                        <m:t>𝐸𝑛𝑡</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𝐷</m:t>
                      </m:r>
                      <m:r>
                        <a:rPr lang="en-US" altLang="zh-CN" i="1">
                          <a:latin typeface="Cambria Math" panose="02040503050406030204" pitchFamily="18" charset="0"/>
                          <a:cs typeface="Cambria Math" panose="02040503050406030204" pitchFamily="18" charset="0"/>
                        </a:rPr>
                        <m:t>)=−</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𝑘</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𝑌</m:t>
                          </m:r>
                          <m:r>
                            <a:rPr lang="en-US" altLang="zh-CN" i="1">
                              <a:latin typeface="Cambria Math" panose="02040503050406030204" pitchFamily="18" charset="0"/>
                              <a:cs typeface="Cambria Math" panose="02040503050406030204" pitchFamily="18" charset="0"/>
                            </a:rPr>
                            <m:t>|</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𝑝</m:t>
                              </m:r>
                            </m:e>
                            <m:sub>
                              <m:r>
                                <a:rPr lang="en-US" altLang="zh-CN" i="1">
                                  <a:latin typeface="Cambria Math" panose="02040503050406030204" pitchFamily="18" charset="0"/>
                                  <a:cs typeface="Cambria Math" panose="02040503050406030204" pitchFamily="18" charset="0"/>
                                </a:rPr>
                                <m:t>𝑘</m:t>
                              </m:r>
                            </m:sub>
                          </m:sSub>
                          <m:sSub>
                            <m:sSubPr>
                              <m:ctrlPr>
                                <a:rPr lang="en-US" altLang="zh-CN">
                                  <a:latin typeface="Cambria Math" panose="02040503050406030204" pitchFamily="18" charset="0"/>
                                  <a:cs typeface="Cambria Math" panose="02040503050406030204" pitchFamily="18" charset="0"/>
                                </a:rPr>
                              </m:ctrlPr>
                            </m:sSubPr>
                            <m:e>
                              <m:r>
                                <m:rPr>
                                  <m:sty m:val="p"/>
                                </m:rPr>
                                <a:rPr lang="en-US" altLang="zh-CN">
                                  <a:latin typeface="Cambria Math" panose="02040503050406030204" pitchFamily="18" charset="0"/>
                                  <a:cs typeface="Cambria Math" panose="02040503050406030204" pitchFamily="18" charset="0"/>
                                </a:rPr>
                                <m:t>log</m:t>
                              </m:r>
                            </m:e>
                            <m:sub>
                              <m:r>
                                <a:rPr lang="en-US" altLang="zh-CN" i="1">
                                  <a:latin typeface="Cambria Math" panose="02040503050406030204" pitchFamily="18" charset="0"/>
                                  <a:cs typeface="Cambria Math" panose="02040503050406030204" pitchFamily="18" charset="0"/>
                                </a:rPr>
                                <m:t>2</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𝑝</m:t>
                              </m:r>
                            </m:e>
                            <m:sub>
                              <m:r>
                                <a:rPr lang="en-US" altLang="zh-CN" i="1">
                                  <a:latin typeface="Cambria Math" panose="02040503050406030204" pitchFamily="18" charset="0"/>
                                  <a:cs typeface="Cambria Math" panose="02040503050406030204" pitchFamily="18" charset="0"/>
                                </a:rPr>
                                <m:t>𝑘</m:t>
                              </m:r>
                            </m:sub>
                          </m:sSub>
                        </m:e>
                      </m:nary>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5</m:t>
                          </m:r>
                        </m:num>
                        <m:den>
                          <m:r>
                            <a:rPr lang="en-US" altLang="zh-CN" i="1">
                              <a:latin typeface="Cambria Math" panose="02040503050406030204" pitchFamily="18" charset="0"/>
                              <a:cs typeface="Cambria Math" panose="02040503050406030204" pitchFamily="18" charset="0"/>
                            </a:rPr>
                            <m:t>10</m:t>
                          </m:r>
                        </m:den>
                      </m:f>
                      <m:sSub>
                        <m:sSubPr>
                          <m:ctrlPr>
                            <a:rPr lang="en-US" altLang="zh-CN">
                              <a:latin typeface="Cambria Math" panose="02040503050406030204" pitchFamily="18" charset="0"/>
                              <a:cs typeface="Cambria Math" panose="02040503050406030204" pitchFamily="18" charset="0"/>
                            </a:rPr>
                          </m:ctrlPr>
                        </m:sSubPr>
                        <m:e>
                          <m:r>
                            <m:rPr>
                              <m:sty m:val="p"/>
                            </m:rPr>
                            <a:rPr lang="en-US" altLang="zh-CN">
                              <a:latin typeface="Cambria Math" panose="02040503050406030204" pitchFamily="18" charset="0"/>
                              <a:cs typeface="Cambria Math" panose="02040503050406030204" pitchFamily="18" charset="0"/>
                            </a:rPr>
                            <m:t>log</m:t>
                          </m:r>
                        </m:e>
                        <m:sub>
                          <m:r>
                            <a:rPr lang="en-US" altLang="zh-CN" i="1">
                              <a:latin typeface="Cambria Math" panose="02040503050406030204" pitchFamily="18" charset="0"/>
                              <a:cs typeface="Cambria Math" panose="02040503050406030204" pitchFamily="18" charset="0"/>
                            </a:rPr>
                            <m:t>2</m:t>
                          </m:r>
                        </m:sub>
                      </m:sSub>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5</m:t>
                          </m:r>
                        </m:num>
                        <m:den>
                          <m:r>
                            <a:rPr lang="en-US" altLang="zh-CN" i="1">
                              <a:latin typeface="Cambria Math" panose="02040503050406030204" pitchFamily="18" charset="0"/>
                              <a:cs typeface="Cambria Math" panose="02040503050406030204" pitchFamily="18" charset="0"/>
                            </a:rPr>
                            <m:t>10</m:t>
                          </m:r>
                        </m:den>
                      </m:f>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5</m:t>
                          </m:r>
                        </m:num>
                        <m:den>
                          <m:r>
                            <a:rPr lang="en-US" altLang="zh-CN" i="1">
                              <a:latin typeface="Cambria Math" panose="02040503050406030204" pitchFamily="18" charset="0"/>
                              <a:cs typeface="Cambria Math" panose="02040503050406030204" pitchFamily="18" charset="0"/>
                            </a:rPr>
                            <m:t>10</m:t>
                          </m:r>
                        </m:den>
                      </m:f>
                      <m:sSub>
                        <m:sSubPr>
                          <m:ctrlPr>
                            <a:rPr lang="en-US" altLang="zh-CN">
                              <a:latin typeface="Cambria Math" panose="02040503050406030204" pitchFamily="18" charset="0"/>
                              <a:cs typeface="Cambria Math" panose="02040503050406030204" pitchFamily="18" charset="0"/>
                            </a:rPr>
                          </m:ctrlPr>
                        </m:sSubPr>
                        <m:e>
                          <m:r>
                            <m:rPr>
                              <m:sty m:val="p"/>
                            </m:rPr>
                            <a:rPr lang="en-US" altLang="zh-CN">
                              <a:latin typeface="Cambria Math" panose="02040503050406030204" pitchFamily="18" charset="0"/>
                              <a:cs typeface="Cambria Math" panose="02040503050406030204" pitchFamily="18" charset="0"/>
                            </a:rPr>
                            <m:t>log</m:t>
                          </m:r>
                        </m:e>
                        <m:sub>
                          <m:r>
                            <a:rPr lang="en-US" altLang="zh-CN" i="1">
                              <a:latin typeface="Cambria Math" panose="02040503050406030204" pitchFamily="18" charset="0"/>
                              <a:cs typeface="Cambria Math" panose="02040503050406030204" pitchFamily="18" charset="0"/>
                            </a:rPr>
                            <m:t>2</m:t>
                          </m:r>
                        </m:sub>
                      </m:sSub>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5</m:t>
                          </m:r>
                        </m:num>
                        <m:den>
                          <m:r>
                            <a:rPr lang="en-US" altLang="zh-CN" i="1">
                              <a:latin typeface="Cambria Math" panose="02040503050406030204" pitchFamily="18" charset="0"/>
                              <a:cs typeface="Cambria Math" panose="02040503050406030204" pitchFamily="18" charset="0"/>
                            </a:rPr>
                            <m:t>10</m:t>
                          </m:r>
                        </m:den>
                      </m:f>
                      <m:r>
                        <a:rPr lang="en-US" altLang="zh-CN" i="1">
                          <a:latin typeface="Cambria Math" panose="02040503050406030204" pitchFamily="18" charset="0"/>
                          <a:cs typeface="Cambria Math" panose="02040503050406030204" pitchFamily="18" charset="0"/>
                        </a:rPr>
                        <m:t>=1</m:t>
                      </m:r>
                    </m:oMath>
                  </m:oMathPara>
                </a14:m>
                <a:endParaRPr lang="zh-CN" altLang="en-US"/>
              </a:p>
            </p:txBody>
          </p:sp>
        </mc:Choice>
        <mc:Fallback xmlns="">
          <p:sp>
            <p:nvSpPr>
              <p:cNvPr id="20" name="文本框 19"/>
              <p:cNvSpPr txBox="1">
                <a:spLocks noRot="1" noChangeAspect="1" noMove="1" noResize="1" noEditPoints="1" noAdjustHandles="1" noChangeArrowheads="1" noChangeShapeType="1" noTextEdit="1"/>
              </p:cNvSpPr>
              <p:nvPr/>
            </p:nvSpPr>
            <p:spPr>
              <a:xfrm>
                <a:off x="2151951" y="3147314"/>
                <a:ext cx="7541260" cy="1200150"/>
              </a:xfrm>
              <a:prstGeom prst="rect">
                <a:avLst/>
              </a:prstGeom>
              <a:blipFill rotWithShape="1">
                <a:blip r:embed="rId2"/>
                <a:stretch>
                  <a:fillRect l="-8" t="-21" r="8" b="2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p:cNvSpPr txBox="1"/>
              <p:nvPr/>
            </p:nvSpPr>
            <p:spPr>
              <a:xfrm>
                <a:off x="1121981" y="4675759"/>
                <a:ext cx="3653155" cy="547370"/>
              </a:xfrm>
              <a:prstGeom prst="rect">
                <a:avLst/>
              </a:prstGeom>
              <a:noFill/>
            </p:spPr>
            <p:txBody>
              <a:bodyPr wrap="none" rtlCol="0" anchor="t">
                <a:spAutoFit/>
              </a:bodyPr>
              <a:lstStyle/>
              <a:p>
                <a:pPr algn="l"/>
                <a14:m>
                  <m:oMathPara xmlns:m="http://schemas.openxmlformats.org/officeDocument/2006/math">
                    <m:oMath>
                      <m:r>
                        <a:rPr lang="en-US" altLang="zh-CN" sz="1600" i="1">
                          <a:latin typeface="Cambria Math" panose="02040503050406030204" pitchFamily="18" charset="0"/>
                          <a:cs typeface="Cambria Math" panose="02040503050406030204" pitchFamily="18" charset="0"/>
                        </a:rPr>
                        <m:t>𝐸𝑛𝑡</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𝐷</m:t>
                      </m:r>
                      <m:r>
                        <a:rPr lang="en-US" altLang="zh-CN" sz="1600" i="1">
                          <a:latin typeface="Cambria Math" panose="02040503050406030204" pitchFamily="18" charset="0"/>
                          <a:cs typeface="Cambria Math" panose="02040503050406030204" pitchFamily="18" charset="0"/>
                        </a:rPr>
                        <m:t>|</m:t>
                      </m:r>
                      <m:sSup>
                        <m:sSupPr>
                          <m:ctrlPr>
                            <a:rPr lang="en-US" altLang="zh-CN" sz="1600" i="1">
                              <a:latin typeface="Cambria Math" panose="02040503050406030204" pitchFamily="18" charset="0"/>
                              <a:cs typeface="Cambria Math" panose="02040503050406030204" pitchFamily="18" charset="0"/>
                            </a:rPr>
                          </m:ctrlPr>
                        </m:sSupPr>
                        <m:e>
                          <m:r>
                            <a:rPr lang="en-US" altLang="zh-CN" sz="1600" i="1">
                              <a:latin typeface="Cambria Math" panose="02040503050406030204" pitchFamily="18" charset="0"/>
                              <a:cs typeface="Cambria Math" panose="02040503050406030204" pitchFamily="18" charset="0"/>
                            </a:rPr>
                            <m:t>𝑎</m:t>
                          </m:r>
                        </m:e>
                        <m:sup>
                          <m:r>
                            <a:rPr lang="en-US" altLang="zh-CN" sz="1600" i="1">
                              <a:latin typeface="Cambria Math" panose="02040503050406030204" pitchFamily="18" charset="0"/>
                              <a:cs typeface="Cambria Math" panose="02040503050406030204" pitchFamily="18" charset="0"/>
                            </a:rPr>
                            <m:t>青绿</m:t>
                          </m:r>
                        </m:sup>
                      </m:sSup>
                      <m:r>
                        <a:rPr lang="en-US" altLang="zh-CN" sz="1600" i="1">
                          <a:latin typeface="Cambria Math" panose="02040503050406030204" pitchFamily="18" charset="0"/>
                          <a:cs typeface="Cambria Math" panose="02040503050406030204" pitchFamily="18" charset="0"/>
                        </a:rPr>
                        <m:t>)=−</m:t>
                      </m:r>
                      <m:f>
                        <m:fPr>
                          <m:ctrlPr>
                            <a:rPr lang="en-US" altLang="zh-CN" sz="1600" i="1">
                              <a:latin typeface="Cambria Math" panose="02040503050406030204" pitchFamily="18" charset="0"/>
                              <a:cs typeface="Cambria Math" panose="02040503050406030204" pitchFamily="18" charset="0"/>
                            </a:rPr>
                          </m:ctrlPr>
                        </m:fPr>
                        <m:num>
                          <m:r>
                            <a:rPr lang="en-US" altLang="zh-CN" sz="1600" i="1">
                              <a:latin typeface="Cambria Math" panose="02040503050406030204" pitchFamily="18" charset="0"/>
                              <a:cs typeface="Cambria Math" panose="02040503050406030204" pitchFamily="18" charset="0"/>
                            </a:rPr>
                            <m:t>2</m:t>
                          </m:r>
                        </m:num>
                        <m:den>
                          <m:r>
                            <a:rPr lang="en-US" altLang="zh-CN" sz="1600" i="1">
                              <a:latin typeface="Cambria Math" panose="02040503050406030204" pitchFamily="18" charset="0"/>
                              <a:cs typeface="Cambria Math" panose="02040503050406030204" pitchFamily="18" charset="0"/>
                            </a:rPr>
                            <m:t>4</m:t>
                          </m:r>
                        </m:den>
                      </m:f>
                      <m:sSub>
                        <m:sSubPr>
                          <m:ctrlPr>
                            <a:rPr lang="en-US" altLang="zh-CN" sz="1600">
                              <a:latin typeface="Cambria Math" panose="02040503050406030204" pitchFamily="18" charset="0"/>
                              <a:cs typeface="Cambria Math" panose="02040503050406030204" pitchFamily="18" charset="0"/>
                            </a:rPr>
                          </m:ctrlPr>
                        </m:sSubPr>
                        <m:e>
                          <m:r>
                            <m:rPr>
                              <m:sty m:val="p"/>
                            </m:rPr>
                            <a:rPr lang="en-US" altLang="zh-CN" sz="1600">
                              <a:latin typeface="Cambria Math" panose="02040503050406030204" pitchFamily="18" charset="0"/>
                              <a:cs typeface="Cambria Math" panose="02040503050406030204" pitchFamily="18" charset="0"/>
                            </a:rPr>
                            <m:t>log</m:t>
                          </m:r>
                        </m:e>
                        <m:sub>
                          <m:r>
                            <a:rPr lang="en-US" altLang="zh-CN" sz="1600" i="1">
                              <a:latin typeface="Cambria Math" panose="02040503050406030204" pitchFamily="18" charset="0"/>
                              <a:cs typeface="Cambria Math" panose="02040503050406030204" pitchFamily="18" charset="0"/>
                            </a:rPr>
                            <m:t>2</m:t>
                          </m:r>
                        </m:sub>
                      </m:sSub>
                      <m:f>
                        <m:fPr>
                          <m:ctrlPr>
                            <a:rPr lang="en-US" altLang="zh-CN" sz="1600" i="1">
                              <a:latin typeface="Cambria Math" panose="02040503050406030204" pitchFamily="18" charset="0"/>
                              <a:cs typeface="Cambria Math" panose="02040503050406030204" pitchFamily="18" charset="0"/>
                            </a:rPr>
                          </m:ctrlPr>
                        </m:fPr>
                        <m:num>
                          <m:r>
                            <a:rPr lang="en-US" altLang="zh-CN" sz="1600" i="1">
                              <a:latin typeface="Cambria Math" panose="02040503050406030204" pitchFamily="18" charset="0"/>
                              <a:cs typeface="Cambria Math" panose="02040503050406030204" pitchFamily="18" charset="0"/>
                            </a:rPr>
                            <m:t>2</m:t>
                          </m:r>
                        </m:num>
                        <m:den>
                          <m:r>
                            <a:rPr lang="en-US" altLang="zh-CN" sz="1600" i="1">
                              <a:latin typeface="Cambria Math" panose="02040503050406030204" pitchFamily="18" charset="0"/>
                              <a:cs typeface="Cambria Math" panose="02040503050406030204" pitchFamily="18" charset="0"/>
                            </a:rPr>
                            <m:t>4</m:t>
                          </m:r>
                        </m:den>
                      </m:f>
                      <m:r>
                        <a:rPr lang="en-US" altLang="zh-CN" sz="1600" i="1">
                          <a:latin typeface="Cambria Math" panose="02040503050406030204" pitchFamily="18" charset="0"/>
                          <a:cs typeface="Cambria Math" panose="02040503050406030204" pitchFamily="18" charset="0"/>
                        </a:rPr>
                        <m:t>−</m:t>
                      </m:r>
                      <m:f>
                        <m:fPr>
                          <m:ctrlPr>
                            <a:rPr lang="en-US" altLang="zh-CN" sz="1600" i="1">
                              <a:latin typeface="Cambria Math" panose="02040503050406030204" pitchFamily="18" charset="0"/>
                              <a:cs typeface="Cambria Math" panose="02040503050406030204" pitchFamily="18" charset="0"/>
                            </a:rPr>
                          </m:ctrlPr>
                        </m:fPr>
                        <m:num>
                          <m:r>
                            <a:rPr lang="en-US" altLang="zh-CN" sz="1600" i="1">
                              <a:latin typeface="Cambria Math" panose="02040503050406030204" pitchFamily="18" charset="0"/>
                              <a:cs typeface="Cambria Math" panose="02040503050406030204" pitchFamily="18" charset="0"/>
                            </a:rPr>
                            <m:t>2</m:t>
                          </m:r>
                        </m:num>
                        <m:den>
                          <m:r>
                            <a:rPr lang="en-US" altLang="zh-CN" sz="1600" i="1">
                              <a:latin typeface="Cambria Math" panose="02040503050406030204" pitchFamily="18" charset="0"/>
                              <a:cs typeface="Cambria Math" panose="02040503050406030204" pitchFamily="18" charset="0"/>
                            </a:rPr>
                            <m:t>4</m:t>
                          </m:r>
                        </m:den>
                      </m:f>
                      <m:sSub>
                        <m:sSubPr>
                          <m:ctrlPr>
                            <a:rPr lang="en-US" altLang="zh-CN" sz="1600">
                              <a:latin typeface="Cambria Math" panose="02040503050406030204" pitchFamily="18" charset="0"/>
                              <a:cs typeface="Cambria Math" panose="02040503050406030204" pitchFamily="18" charset="0"/>
                            </a:rPr>
                          </m:ctrlPr>
                        </m:sSubPr>
                        <m:e>
                          <m:r>
                            <m:rPr>
                              <m:sty m:val="p"/>
                            </m:rPr>
                            <a:rPr lang="en-US" altLang="zh-CN" sz="1600">
                              <a:latin typeface="Cambria Math" panose="02040503050406030204" pitchFamily="18" charset="0"/>
                              <a:cs typeface="Cambria Math" panose="02040503050406030204" pitchFamily="18" charset="0"/>
                            </a:rPr>
                            <m:t>log</m:t>
                          </m:r>
                        </m:e>
                        <m:sub>
                          <m:r>
                            <a:rPr lang="en-US" altLang="zh-CN" sz="1600" i="1">
                              <a:latin typeface="Cambria Math" panose="02040503050406030204" pitchFamily="18" charset="0"/>
                              <a:cs typeface="Cambria Math" panose="02040503050406030204" pitchFamily="18" charset="0"/>
                            </a:rPr>
                            <m:t>2</m:t>
                          </m:r>
                        </m:sub>
                      </m:sSub>
                      <m:f>
                        <m:fPr>
                          <m:ctrlPr>
                            <a:rPr lang="en-US" altLang="zh-CN" sz="1600" i="1">
                              <a:latin typeface="Cambria Math" panose="02040503050406030204" pitchFamily="18" charset="0"/>
                              <a:cs typeface="Cambria Math" panose="02040503050406030204" pitchFamily="18" charset="0"/>
                            </a:rPr>
                          </m:ctrlPr>
                        </m:fPr>
                        <m:num>
                          <m:r>
                            <a:rPr lang="en-US" altLang="zh-CN" sz="1600" i="1">
                              <a:latin typeface="Cambria Math" panose="02040503050406030204" pitchFamily="18" charset="0"/>
                              <a:cs typeface="Cambria Math" panose="02040503050406030204" pitchFamily="18" charset="0"/>
                            </a:rPr>
                            <m:t>2</m:t>
                          </m:r>
                        </m:num>
                        <m:den>
                          <m:r>
                            <a:rPr lang="en-US" altLang="zh-CN" sz="1600" i="1">
                              <a:latin typeface="Cambria Math" panose="02040503050406030204" pitchFamily="18" charset="0"/>
                              <a:cs typeface="Cambria Math" panose="02040503050406030204" pitchFamily="18" charset="0"/>
                            </a:rPr>
                            <m:t>4</m:t>
                          </m:r>
                        </m:den>
                      </m:f>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ea typeface="MS Mincho" charset="0"/>
                          <a:cs typeface="Cambria Math" panose="02040503050406030204" pitchFamily="18" charset="0"/>
                        </a:rPr>
                        <m:t>1</m:t>
                      </m:r>
                    </m:oMath>
                  </m:oMathPara>
                </a14:m>
                <a:endParaRPr lang="en-US" altLang="zh-CN" sz="1600" i="1" dirty="0">
                  <a:latin typeface="Cambria Math" panose="02040503050406030204" pitchFamily="18" charset="0"/>
                  <a:ea typeface="MS Mincho" charset="0"/>
                  <a:cs typeface="Cambria Math" panose="02040503050406030204" pitchFamily="18" charset="0"/>
                </a:endParaRPr>
              </a:p>
            </p:txBody>
          </p:sp>
        </mc:Choice>
        <mc:Fallback xmlns="">
          <p:sp>
            <p:nvSpPr>
              <p:cNvPr id="22" name="文本框 21"/>
              <p:cNvSpPr txBox="1">
                <a:spLocks noRot="1" noChangeAspect="1" noMove="1" noResize="1" noEditPoints="1" noAdjustHandles="1" noChangeArrowheads="1" noChangeShapeType="1" noTextEdit="1"/>
              </p:cNvSpPr>
              <p:nvPr/>
            </p:nvSpPr>
            <p:spPr>
              <a:xfrm>
                <a:off x="1121981" y="4675759"/>
                <a:ext cx="3653155" cy="547370"/>
              </a:xfrm>
              <a:prstGeom prst="rect">
                <a:avLst/>
              </a:prstGeom>
              <a:blipFill rotWithShape="1">
                <a:blip r:embed="rId3"/>
                <a:stretch>
                  <a:fillRect l="-16" t="-46" r="16" b="4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p:cNvSpPr txBox="1"/>
              <p:nvPr/>
            </p:nvSpPr>
            <p:spPr>
              <a:xfrm>
                <a:off x="1121981" y="5439029"/>
                <a:ext cx="2728595" cy="547370"/>
              </a:xfrm>
              <a:prstGeom prst="rect">
                <a:avLst/>
              </a:prstGeom>
              <a:noFill/>
            </p:spPr>
            <p:txBody>
              <a:bodyPr wrap="none" rtlCol="0" anchor="t">
                <a:spAutoFit/>
              </a:bodyPr>
              <a:lstStyle/>
              <a:p>
                <a:pPr algn="l"/>
                <a14:m>
                  <m:oMathPara xmlns:m="http://schemas.openxmlformats.org/officeDocument/2006/math">
                    <m:oMath>
                      <m:r>
                        <a:rPr lang="en-US" altLang="zh-CN" sz="1600" i="1">
                          <a:latin typeface="Cambria Math" panose="02040503050406030204" pitchFamily="18" charset="0"/>
                          <a:cs typeface="Cambria Math" panose="02040503050406030204" pitchFamily="18" charset="0"/>
                        </a:rPr>
                        <m:t>𝐸𝑛𝑡</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𝐷</m:t>
                      </m:r>
                      <m:r>
                        <a:rPr lang="en-US" altLang="zh-CN" sz="1600" i="1">
                          <a:latin typeface="Cambria Math" panose="02040503050406030204" pitchFamily="18" charset="0"/>
                          <a:cs typeface="Cambria Math" panose="02040503050406030204" pitchFamily="18" charset="0"/>
                        </a:rPr>
                        <m:t>|</m:t>
                      </m:r>
                      <m:sSup>
                        <m:sSupPr>
                          <m:ctrlPr>
                            <a:rPr lang="en-US" altLang="zh-CN" sz="1600" i="1">
                              <a:latin typeface="Cambria Math" panose="02040503050406030204" pitchFamily="18" charset="0"/>
                              <a:cs typeface="Cambria Math" panose="02040503050406030204" pitchFamily="18" charset="0"/>
                            </a:rPr>
                          </m:ctrlPr>
                        </m:sSupPr>
                        <m:e>
                          <m:r>
                            <a:rPr lang="en-US" altLang="zh-CN" sz="1600" i="1">
                              <a:latin typeface="Cambria Math" panose="02040503050406030204" pitchFamily="18" charset="0"/>
                              <a:cs typeface="Cambria Math" panose="02040503050406030204" pitchFamily="18" charset="0"/>
                            </a:rPr>
                            <m:t>𝑎</m:t>
                          </m:r>
                        </m:e>
                        <m:sup>
                          <m:r>
                            <a:rPr lang="en-US" altLang="zh-CN" sz="1600" i="1">
                              <a:latin typeface="Cambria Math" panose="02040503050406030204" pitchFamily="18" charset="0"/>
                              <a:cs typeface="Cambria Math" panose="02040503050406030204" pitchFamily="18" charset="0"/>
                            </a:rPr>
                            <m:t>浅白</m:t>
                          </m:r>
                        </m:sup>
                      </m:sSup>
                      <m:r>
                        <a:rPr lang="en-US" altLang="zh-CN" sz="1600" i="1">
                          <a:latin typeface="Cambria Math" panose="02040503050406030204" pitchFamily="18" charset="0"/>
                          <a:cs typeface="Cambria Math" panose="02040503050406030204" pitchFamily="18" charset="0"/>
                        </a:rPr>
                        <m:t>)=−</m:t>
                      </m:r>
                      <m:f>
                        <m:fPr>
                          <m:ctrlPr>
                            <a:rPr lang="en-US" altLang="zh-CN" sz="1600" i="1">
                              <a:latin typeface="Cambria Math" panose="02040503050406030204" pitchFamily="18" charset="0"/>
                              <a:cs typeface="Cambria Math" panose="02040503050406030204" pitchFamily="18" charset="0"/>
                            </a:rPr>
                          </m:ctrlPr>
                        </m:fPr>
                        <m:num>
                          <m:r>
                            <a:rPr lang="en-US" altLang="zh-CN" sz="1600" i="1">
                              <a:latin typeface="Cambria Math" panose="02040503050406030204" pitchFamily="18" charset="0"/>
                              <a:cs typeface="Cambria Math" panose="02040503050406030204" pitchFamily="18" charset="0"/>
                            </a:rPr>
                            <m:t>2</m:t>
                          </m:r>
                        </m:num>
                        <m:den>
                          <m:r>
                            <a:rPr lang="en-US" altLang="zh-CN" sz="1600" i="1">
                              <a:latin typeface="Cambria Math" panose="02040503050406030204" pitchFamily="18" charset="0"/>
                              <a:cs typeface="Cambria Math" panose="02040503050406030204" pitchFamily="18" charset="0"/>
                            </a:rPr>
                            <m:t>2</m:t>
                          </m:r>
                        </m:den>
                      </m:f>
                      <m:sSub>
                        <m:sSubPr>
                          <m:ctrlPr>
                            <a:rPr lang="en-US" altLang="zh-CN" sz="1600">
                              <a:latin typeface="Cambria Math" panose="02040503050406030204" pitchFamily="18" charset="0"/>
                              <a:cs typeface="Cambria Math" panose="02040503050406030204" pitchFamily="18" charset="0"/>
                            </a:rPr>
                          </m:ctrlPr>
                        </m:sSubPr>
                        <m:e>
                          <m:r>
                            <m:rPr>
                              <m:sty m:val="p"/>
                            </m:rPr>
                            <a:rPr lang="en-US" altLang="zh-CN" sz="1600">
                              <a:latin typeface="Cambria Math" panose="02040503050406030204" pitchFamily="18" charset="0"/>
                              <a:cs typeface="Cambria Math" panose="02040503050406030204" pitchFamily="18" charset="0"/>
                            </a:rPr>
                            <m:t>log</m:t>
                          </m:r>
                        </m:e>
                        <m:sub>
                          <m:r>
                            <a:rPr lang="en-US" altLang="zh-CN" sz="1600" i="1">
                              <a:latin typeface="Cambria Math" panose="02040503050406030204" pitchFamily="18" charset="0"/>
                              <a:cs typeface="Cambria Math" panose="02040503050406030204" pitchFamily="18" charset="0"/>
                            </a:rPr>
                            <m:t>2</m:t>
                          </m:r>
                        </m:sub>
                      </m:sSub>
                      <m:f>
                        <m:fPr>
                          <m:ctrlPr>
                            <a:rPr lang="en-US" altLang="zh-CN" sz="1600" i="1">
                              <a:latin typeface="Cambria Math" panose="02040503050406030204" pitchFamily="18" charset="0"/>
                              <a:cs typeface="Cambria Math" panose="02040503050406030204" pitchFamily="18" charset="0"/>
                            </a:rPr>
                          </m:ctrlPr>
                        </m:fPr>
                        <m:num>
                          <m:r>
                            <a:rPr lang="en-US" altLang="zh-CN" sz="1600" i="1">
                              <a:latin typeface="Cambria Math" panose="02040503050406030204" pitchFamily="18" charset="0"/>
                              <a:cs typeface="Cambria Math" panose="02040503050406030204" pitchFamily="18" charset="0"/>
                            </a:rPr>
                            <m:t>2</m:t>
                          </m:r>
                        </m:num>
                        <m:den>
                          <m:r>
                            <a:rPr lang="en-US" altLang="zh-CN" sz="1600" i="1">
                              <a:latin typeface="Cambria Math" panose="02040503050406030204" pitchFamily="18" charset="0"/>
                              <a:cs typeface="Cambria Math" panose="02040503050406030204" pitchFamily="18" charset="0"/>
                            </a:rPr>
                            <m:t>2</m:t>
                          </m:r>
                        </m:den>
                      </m:f>
                      <m:r>
                        <a:rPr lang="en-US" altLang="zh-CN" sz="1600" i="1">
                          <a:latin typeface="Cambria Math" panose="02040503050406030204" pitchFamily="18" charset="0"/>
                          <a:cs typeface="Cambria Math" panose="02040503050406030204" pitchFamily="18" charset="0"/>
                        </a:rPr>
                        <m:t>=0</m:t>
                      </m:r>
                    </m:oMath>
                  </m:oMathPara>
                </a14:m>
                <a:endParaRPr lang="en-US" altLang="zh-CN" sz="1600" i="1">
                  <a:latin typeface="Cambria Math" panose="02040503050406030204" pitchFamily="18" charset="0"/>
                  <a:ea typeface="MS Mincho" charset="0"/>
                  <a:cs typeface="Cambria Math" panose="02040503050406030204" pitchFamily="18" charset="0"/>
                </a:endParaRPr>
              </a:p>
            </p:txBody>
          </p:sp>
        </mc:Choice>
        <mc:Fallback xmlns="">
          <p:sp>
            <p:nvSpPr>
              <p:cNvPr id="24" name="文本框 23"/>
              <p:cNvSpPr txBox="1">
                <a:spLocks noRot="1" noChangeAspect="1" noMove="1" noResize="1" noEditPoints="1" noAdjustHandles="1" noChangeArrowheads="1" noChangeShapeType="1" noTextEdit="1"/>
              </p:cNvSpPr>
              <p:nvPr/>
            </p:nvSpPr>
            <p:spPr>
              <a:xfrm>
                <a:off x="1121981" y="5439029"/>
                <a:ext cx="2728595" cy="547370"/>
              </a:xfrm>
              <a:prstGeom prst="rect">
                <a:avLst/>
              </a:prstGeom>
              <a:blipFill rotWithShape="1">
                <a:blip r:embed="rId4"/>
                <a:stretch>
                  <a:fillRect l="-21" t="-46" r="21" b="4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p:cNvSpPr txBox="1"/>
              <p:nvPr/>
            </p:nvSpPr>
            <p:spPr>
              <a:xfrm>
                <a:off x="5133276" y="4545584"/>
                <a:ext cx="4184015" cy="548005"/>
              </a:xfrm>
              <a:prstGeom prst="rect">
                <a:avLst/>
              </a:prstGeom>
              <a:noFill/>
            </p:spPr>
            <p:txBody>
              <a:bodyPr wrap="none" rtlCol="0" anchor="t">
                <a:spAutoFit/>
              </a:bodyPr>
              <a:lstStyle/>
              <a:p>
                <a:pPr algn="l"/>
                <a14:m>
                  <m:oMathPara xmlns:m="http://schemas.openxmlformats.org/officeDocument/2006/math">
                    <m:oMath>
                      <m:r>
                        <a:rPr lang="en-US" altLang="zh-CN" sz="1600" i="1">
                          <a:latin typeface="Cambria Math" panose="02040503050406030204" pitchFamily="18" charset="0"/>
                          <a:cs typeface="Cambria Math" panose="02040503050406030204" pitchFamily="18" charset="0"/>
                        </a:rPr>
                        <m:t>𝐸𝑛𝑡</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𝐷</m:t>
                      </m:r>
                      <m:r>
                        <a:rPr lang="en-US" altLang="zh-CN" sz="1600" i="1">
                          <a:latin typeface="Cambria Math" panose="02040503050406030204" pitchFamily="18" charset="0"/>
                          <a:cs typeface="Cambria Math" panose="02040503050406030204" pitchFamily="18" charset="0"/>
                        </a:rPr>
                        <m:t>|</m:t>
                      </m:r>
                      <m:sSup>
                        <m:sSupPr>
                          <m:ctrlPr>
                            <a:rPr lang="en-US" altLang="zh-CN" sz="1600" i="1">
                              <a:latin typeface="Cambria Math" panose="02040503050406030204" pitchFamily="18" charset="0"/>
                              <a:cs typeface="Cambria Math" panose="02040503050406030204" pitchFamily="18" charset="0"/>
                            </a:rPr>
                          </m:ctrlPr>
                        </m:sSupPr>
                        <m:e>
                          <m:r>
                            <a:rPr lang="en-US" altLang="zh-CN" sz="1600" i="1">
                              <a:latin typeface="Cambria Math" panose="02040503050406030204" pitchFamily="18" charset="0"/>
                              <a:cs typeface="Cambria Math" panose="02040503050406030204" pitchFamily="18" charset="0"/>
                            </a:rPr>
                            <m:t>𝑎</m:t>
                          </m:r>
                        </m:e>
                        <m:sup>
                          <m:r>
                            <a:rPr lang="en-US" altLang="zh-CN" sz="1600" i="1">
                              <a:latin typeface="Cambria Math" panose="02040503050406030204" pitchFamily="18" charset="0"/>
                              <a:cs typeface="Cambria Math" panose="02040503050406030204" pitchFamily="18" charset="0"/>
                            </a:rPr>
                            <m:t>乌黑</m:t>
                          </m:r>
                        </m:sup>
                      </m:sSup>
                      <m:r>
                        <a:rPr lang="en-US" altLang="zh-CN" sz="1600" i="1">
                          <a:latin typeface="Cambria Math" panose="02040503050406030204" pitchFamily="18" charset="0"/>
                          <a:cs typeface="Cambria Math" panose="02040503050406030204" pitchFamily="18" charset="0"/>
                        </a:rPr>
                        <m:t>)=−</m:t>
                      </m:r>
                      <m:f>
                        <m:fPr>
                          <m:ctrlPr>
                            <a:rPr lang="en-US" altLang="zh-CN" sz="1600" i="1">
                              <a:latin typeface="Cambria Math" panose="02040503050406030204" pitchFamily="18" charset="0"/>
                              <a:cs typeface="Cambria Math" panose="02040503050406030204" pitchFamily="18" charset="0"/>
                            </a:rPr>
                          </m:ctrlPr>
                        </m:fPr>
                        <m:num>
                          <m:r>
                            <a:rPr lang="en-US" altLang="zh-CN" sz="1600" i="1">
                              <a:latin typeface="Cambria Math" panose="02040503050406030204" pitchFamily="18" charset="0"/>
                              <a:cs typeface="Cambria Math" panose="02040503050406030204" pitchFamily="18" charset="0"/>
                            </a:rPr>
                            <m:t>3</m:t>
                          </m:r>
                        </m:num>
                        <m:den>
                          <m:r>
                            <a:rPr lang="en-US" altLang="zh-CN" sz="1600" i="1">
                              <a:latin typeface="Cambria Math" panose="02040503050406030204" pitchFamily="18" charset="0"/>
                              <a:cs typeface="Cambria Math" panose="02040503050406030204" pitchFamily="18" charset="0"/>
                            </a:rPr>
                            <m:t>4</m:t>
                          </m:r>
                        </m:den>
                      </m:f>
                      <m:sSub>
                        <m:sSubPr>
                          <m:ctrlPr>
                            <a:rPr lang="en-US" altLang="zh-CN" sz="1600">
                              <a:latin typeface="Cambria Math" panose="02040503050406030204" pitchFamily="18" charset="0"/>
                              <a:cs typeface="Cambria Math" panose="02040503050406030204" pitchFamily="18" charset="0"/>
                            </a:rPr>
                          </m:ctrlPr>
                        </m:sSubPr>
                        <m:e>
                          <m:r>
                            <m:rPr>
                              <m:sty m:val="p"/>
                            </m:rPr>
                            <a:rPr lang="en-US" altLang="zh-CN" sz="1600">
                              <a:latin typeface="Cambria Math" panose="02040503050406030204" pitchFamily="18" charset="0"/>
                              <a:cs typeface="Cambria Math" panose="02040503050406030204" pitchFamily="18" charset="0"/>
                            </a:rPr>
                            <m:t>log</m:t>
                          </m:r>
                        </m:e>
                        <m:sub>
                          <m:r>
                            <a:rPr lang="en-US" altLang="zh-CN" sz="1600" i="1">
                              <a:latin typeface="Cambria Math" panose="02040503050406030204" pitchFamily="18" charset="0"/>
                              <a:cs typeface="Cambria Math" panose="02040503050406030204" pitchFamily="18" charset="0"/>
                            </a:rPr>
                            <m:t>2</m:t>
                          </m:r>
                        </m:sub>
                      </m:sSub>
                      <m:f>
                        <m:fPr>
                          <m:ctrlPr>
                            <a:rPr lang="en-US" altLang="zh-CN" sz="1600" i="1">
                              <a:latin typeface="Cambria Math" panose="02040503050406030204" pitchFamily="18" charset="0"/>
                              <a:cs typeface="Cambria Math" panose="02040503050406030204" pitchFamily="18" charset="0"/>
                            </a:rPr>
                          </m:ctrlPr>
                        </m:fPr>
                        <m:num>
                          <m:r>
                            <a:rPr lang="en-US" altLang="zh-CN" sz="1600" i="1">
                              <a:latin typeface="Cambria Math" panose="02040503050406030204" pitchFamily="18" charset="0"/>
                              <a:cs typeface="Cambria Math" panose="02040503050406030204" pitchFamily="18" charset="0"/>
                            </a:rPr>
                            <m:t>3</m:t>
                          </m:r>
                        </m:num>
                        <m:den>
                          <m:r>
                            <a:rPr lang="en-US" altLang="zh-CN" sz="1600" i="1">
                              <a:latin typeface="Cambria Math" panose="02040503050406030204" pitchFamily="18" charset="0"/>
                              <a:cs typeface="Cambria Math" panose="02040503050406030204" pitchFamily="18" charset="0"/>
                            </a:rPr>
                            <m:t>4</m:t>
                          </m:r>
                        </m:den>
                      </m:f>
                      <m:r>
                        <a:rPr lang="en-US" altLang="zh-CN" sz="1600" i="1">
                          <a:latin typeface="Cambria Math" panose="02040503050406030204" pitchFamily="18" charset="0"/>
                          <a:cs typeface="Cambria Math" panose="02040503050406030204" pitchFamily="18" charset="0"/>
                        </a:rPr>
                        <m:t>−</m:t>
                      </m:r>
                      <m:f>
                        <m:fPr>
                          <m:ctrlPr>
                            <a:rPr lang="en-US" altLang="zh-CN" sz="1600" i="1">
                              <a:latin typeface="Cambria Math" panose="02040503050406030204" pitchFamily="18" charset="0"/>
                              <a:cs typeface="Cambria Math" panose="02040503050406030204" pitchFamily="18" charset="0"/>
                            </a:rPr>
                          </m:ctrlPr>
                        </m:fPr>
                        <m:num>
                          <m:r>
                            <a:rPr lang="en-US" altLang="zh-CN" sz="1600" i="1">
                              <a:latin typeface="Cambria Math" panose="02040503050406030204" pitchFamily="18" charset="0"/>
                              <a:cs typeface="Cambria Math" panose="02040503050406030204" pitchFamily="18" charset="0"/>
                            </a:rPr>
                            <m:t>1</m:t>
                          </m:r>
                        </m:num>
                        <m:den>
                          <m:r>
                            <a:rPr lang="en-US" altLang="zh-CN" sz="1600" i="1">
                              <a:latin typeface="Cambria Math" panose="02040503050406030204" pitchFamily="18" charset="0"/>
                              <a:cs typeface="Cambria Math" panose="02040503050406030204" pitchFamily="18" charset="0"/>
                            </a:rPr>
                            <m:t>4</m:t>
                          </m:r>
                        </m:den>
                      </m:f>
                      <m:sSub>
                        <m:sSubPr>
                          <m:ctrlPr>
                            <a:rPr lang="en-US" altLang="zh-CN" sz="1600">
                              <a:latin typeface="Cambria Math" panose="02040503050406030204" pitchFamily="18" charset="0"/>
                              <a:cs typeface="Cambria Math" panose="02040503050406030204" pitchFamily="18" charset="0"/>
                            </a:rPr>
                          </m:ctrlPr>
                        </m:sSubPr>
                        <m:e>
                          <m:r>
                            <m:rPr>
                              <m:sty m:val="p"/>
                            </m:rPr>
                            <a:rPr lang="en-US" altLang="zh-CN" sz="1600">
                              <a:latin typeface="Cambria Math" panose="02040503050406030204" pitchFamily="18" charset="0"/>
                              <a:cs typeface="Cambria Math" panose="02040503050406030204" pitchFamily="18" charset="0"/>
                            </a:rPr>
                            <m:t>log</m:t>
                          </m:r>
                        </m:e>
                        <m:sub>
                          <m:r>
                            <a:rPr lang="en-US" altLang="zh-CN" sz="1600" i="1">
                              <a:latin typeface="Cambria Math" panose="02040503050406030204" pitchFamily="18" charset="0"/>
                              <a:cs typeface="Cambria Math" panose="02040503050406030204" pitchFamily="18" charset="0"/>
                            </a:rPr>
                            <m:t>2</m:t>
                          </m:r>
                        </m:sub>
                      </m:sSub>
                      <m:f>
                        <m:fPr>
                          <m:ctrlPr>
                            <a:rPr lang="en-US" altLang="zh-CN" sz="1600" i="1">
                              <a:latin typeface="Cambria Math" panose="02040503050406030204" pitchFamily="18" charset="0"/>
                              <a:cs typeface="Cambria Math" panose="02040503050406030204" pitchFamily="18" charset="0"/>
                            </a:rPr>
                          </m:ctrlPr>
                        </m:fPr>
                        <m:num>
                          <m:r>
                            <a:rPr lang="en-US" altLang="zh-CN" sz="1600" i="1">
                              <a:latin typeface="Cambria Math" panose="02040503050406030204" pitchFamily="18" charset="0"/>
                              <a:cs typeface="Cambria Math" panose="02040503050406030204" pitchFamily="18" charset="0"/>
                            </a:rPr>
                            <m:t>1</m:t>
                          </m:r>
                        </m:num>
                        <m:den>
                          <m:r>
                            <a:rPr lang="en-US" altLang="zh-CN" sz="1600" i="1">
                              <a:latin typeface="Cambria Math" panose="02040503050406030204" pitchFamily="18" charset="0"/>
                              <a:cs typeface="Cambria Math" panose="02040503050406030204" pitchFamily="18" charset="0"/>
                            </a:rPr>
                            <m:t>4</m:t>
                          </m:r>
                        </m:den>
                      </m:f>
                      <m:r>
                        <a:rPr lang="en-US" altLang="zh-CN" sz="1600" i="1">
                          <a:latin typeface="Cambria Math" panose="02040503050406030204" pitchFamily="18" charset="0"/>
                          <a:cs typeface="Cambria Math" panose="02040503050406030204" pitchFamily="18" charset="0"/>
                        </a:rPr>
                        <m:t>=0.8113</m:t>
                      </m:r>
                    </m:oMath>
                  </m:oMathPara>
                </a14:m>
                <a:endParaRPr lang="en-US" altLang="zh-CN" sz="1600" i="1">
                  <a:latin typeface="Cambria Math" panose="02040503050406030204" pitchFamily="18" charset="0"/>
                  <a:ea typeface="MS Mincho" charset="0"/>
                  <a:cs typeface="Cambria Math" panose="02040503050406030204" pitchFamily="18" charset="0"/>
                </a:endParaRPr>
              </a:p>
            </p:txBody>
          </p:sp>
        </mc:Choice>
        <mc:Fallback xmlns="">
          <p:sp>
            <p:nvSpPr>
              <p:cNvPr id="25" name="文本框 24"/>
              <p:cNvSpPr txBox="1">
                <a:spLocks noRot="1" noChangeAspect="1" noMove="1" noResize="1" noEditPoints="1" noAdjustHandles="1" noChangeArrowheads="1" noChangeShapeType="1" noTextEdit="1"/>
              </p:cNvSpPr>
              <p:nvPr/>
            </p:nvSpPr>
            <p:spPr>
              <a:xfrm>
                <a:off x="5133276" y="4545584"/>
                <a:ext cx="4184015" cy="548005"/>
              </a:xfrm>
              <a:prstGeom prst="rect">
                <a:avLst/>
              </a:prstGeom>
              <a:blipFill rotWithShape="1">
                <a:blip r:embed="rId5"/>
                <a:stretch>
                  <a:fillRect l="-14" t="-46" r="14" b="4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文本框 25"/>
              <p:cNvSpPr txBox="1"/>
              <p:nvPr/>
            </p:nvSpPr>
            <p:spPr>
              <a:xfrm>
                <a:off x="4565586" y="5344414"/>
                <a:ext cx="5120005" cy="548640"/>
              </a:xfrm>
              <a:prstGeom prst="rect">
                <a:avLst/>
              </a:prstGeom>
              <a:noFill/>
            </p:spPr>
            <p:txBody>
              <a:bodyPr wrap="none" rtlCol="0" anchor="t">
                <a:spAutoFit/>
              </a:bodyPr>
              <a:lstStyle/>
              <a:p>
                <a:pPr algn="l"/>
                <a14:m>
                  <m:oMathPara xmlns:m="http://schemas.openxmlformats.org/officeDocument/2006/math">
                    <m:oMath>
                      <m:r>
                        <a:rPr lang="en-US" altLang="zh-CN" sz="1600" i="1">
                          <a:latin typeface="Cambria Math" panose="02040503050406030204" pitchFamily="18" charset="0"/>
                          <a:cs typeface="Cambria Math" panose="02040503050406030204" pitchFamily="18" charset="0"/>
                        </a:rPr>
                        <m:t>𝐸𝑛𝑡</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𝐷</m:t>
                      </m:r>
                      <m:r>
                        <a:rPr lang="en-US" altLang="zh-CN" sz="1600" i="1">
                          <a:latin typeface="Cambria Math" panose="02040503050406030204" pitchFamily="18" charset="0"/>
                          <a:cs typeface="Cambria Math" panose="02040503050406030204" pitchFamily="18" charset="0"/>
                        </a:rPr>
                        <m:t>|色泽)=</m:t>
                      </m:r>
                      <m:f>
                        <m:fPr>
                          <m:ctrlPr>
                            <a:rPr lang="en-US" altLang="zh-CN" sz="1600" i="1">
                              <a:latin typeface="Cambria Math" panose="02040503050406030204" pitchFamily="18" charset="0"/>
                              <a:cs typeface="Cambria Math" panose="02040503050406030204" pitchFamily="18" charset="0"/>
                            </a:rPr>
                          </m:ctrlPr>
                        </m:fPr>
                        <m:num>
                          <m:r>
                            <a:rPr lang="en-US" altLang="zh-CN" sz="1600" i="1">
                              <a:latin typeface="Cambria Math" panose="02040503050406030204" pitchFamily="18" charset="0"/>
                              <a:cs typeface="Cambria Math" panose="02040503050406030204" pitchFamily="18" charset="0"/>
                            </a:rPr>
                            <m:t>4</m:t>
                          </m:r>
                        </m:num>
                        <m:den>
                          <m:r>
                            <a:rPr lang="en-US" altLang="zh-CN" sz="1600" i="1">
                              <a:latin typeface="Cambria Math" panose="02040503050406030204" pitchFamily="18" charset="0"/>
                              <a:cs typeface="Cambria Math" panose="02040503050406030204" pitchFamily="18" charset="0"/>
                            </a:rPr>
                            <m:t>10</m:t>
                          </m:r>
                        </m:den>
                      </m:f>
                      <m:r>
                        <a:rPr lang="en-US" altLang="zh-CN" sz="1600" i="1">
                          <a:latin typeface="Cambria Math" panose="02040503050406030204" pitchFamily="18" charset="0"/>
                          <a:cs typeface="Cambria Math" panose="02040503050406030204" pitchFamily="18" charset="0"/>
                        </a:rPr>
                        <m:t>×1+</m:t>
                      </m:r>
                      <m:f>
                        <m:fPr>
                          <m:ctrlPr>
                            <a:rPr lang="en-US" altLang="zh-CN" sz="1600" i="1">
                              <a:latin typeface="Cambria Math" panose="02040503050406030204" pitchFamily="18" charset="0"/>
                              <a:cs typeface="Cambria Math" panose="02040503050406030204" pitchFamily="18" charset="0"/>
                            </a:rPr>
                          </m:ctrlPr>
                        </m:fPr>
                        <m:num>
                          <m:r>
                            <a:rPr lang="en-US" altLang="zh-CN" sz="1600" i="1">
                              <a:latin typeface="Cambria Math" panose="02040503050406030204" pitchFamily="18" charset="0"/>
                              <a:cs typeface="Cambria Math" panose="02040503050406030204" pitchFamily="18" charset="0"/>
                            </a:rPr>
                            <m:t>4</m:t>
                          </m:r>
                        </m:num>
                        <m:den>
                          <m:r>
                            <a:rPr lang="en-US" altLang="zh-CN" sz="1600" i="1">
                              <a:latin typeface="Cambria Math" panose="02040503050406030204" pitchFamily="18" charset="0"/>
                              <a:cs typeface="Cambria Math" panose="02040503050406030204" pitchFamily="18" charset="0"/>
                            </a:rPr>
                            <m:t>10</m:t>
                          </m:r>
                        </m:den>
                      </m:f>
                      <m:r>
                        <a:rPr lang="en-US" altLang="zh-CN" sz="1600" i="1">
                          <a:latin typeface="Cambria Math" panose="02040503050406030204" pitchFamily="18" charset="0"/>
                          <a:cs typeface="Cambria Math" panose="02040503050406030204" pitchFamily="18" charset="0"/>
                        </a:rPr>
                        <m:t>×0.8113+</m:t>
                      </m:r>
                      <m:f>
                        <m:fPr>
                          <m:ctrlPr>
                            <a:rPr lang="en-US" altLang="zh-CN" sz="1600" i="1">
                              <a:latin typeface="Cambria Math" panose="02040503050406030204" pitchFamily="18" charset="0"/>
                              <a:cs typeface="Cambria Math" panose="02040503050406030204" pitchFamily="18" charset="0"/>
                            </a:rPr>
                          </m:ctrlPr>
                        </m:fPr>
                        <m:num>
                          <m:r>
                            <a:rPr lang="en-US" altLang="zh-CN" sz="1600" i="1">
                              <a:latin typeface="Cambria Math" panose="02040503050406030204" pitchFamily="18" charset="0"/>
                              <a:cs typeface="Cambria Math" panose="02040503050406030204" pitchFamily="18" charset="0"/>
                            </a:rPr>
                            <m:t>2</m:t>
                          </m:r>
                        </m:num>
                        <m:den>
                          <m:r>
                            <a:rPr lang="en-US" altLang="zh-CN" sz="1600" i="1">
                              <a:latin typeface="Cambria Math" panose="02040503050406030204" pitchFamily="18" charset="0"/>
                              <a:cs typeface="Cambria Math" panose="02040503050406030204" pitchFamily="18" charset="0"/>
                            </a:rPr>
                            <m:t>10</m:t>
                          </m:r>
                        </m:den>
                      </m:f>
                      <m:r>
                        <a:rPr lang="en-US" altLang="zh-CN" sz="1600" i="1">
                          <a:latin typeface="Cambria Math" panose="02040503050406030204" pitchFamily="18" charset="0"/>
                          <a:cs typeface="Cambria Math" panose="02040503050406030204" pitchFamily="18" charset="0"/>
                        </a:rPr>
                        <m:t>×0=0.7245</m:t>
                      </m:r>
                    </m:oMath>
                  </m:oMathPara>
                </a14:m>
                <a:endParaRPr lang="en-US" altLang="zh-CN" sz="1600" i="1">
                  <a:latin typeface="Cambria Math" panose="02040503050406030204" pitchFamily="18" charset="0"/>
                  <a:ea typeface="MS Mincho" charset="0"/>
                  <a:cs typeface="Cambria Math" panose="02040503050406030204" pitchFamily="18" charset="0"/>
                </a:endParaRPr>
              </a:p>
            </p:txBody>
          </p:sp>
        </mc:Choice>
        <mc:Fallback xmlns="">
          <p:sp>
            <p:nvSpPr>
              <p:cNvPr id="26" name="文本框 25"/>
              <p:cNvSpPr txBox="1">
                <a:spLocks noRot="1" noChangeAspect="1" noMove="1" noResize="1" noEditPoints="1" noAdjustHandles="1" noChangeArrowheads="1" noChangeShapeType="1" noTextEdit="1"/>
              </p:cNvSpPr>
              <p:nvPr/>
            </p:nvSpPr>
            <p:spPr>
              <a:xfrm>
                <a:off x="4565586" y="5344414"/>
                <a:ext cx="5120005" cy="548640"/>
              </a:xfrm>
              <a:prstGeom prst="rect">
                <a:avLst/>
              </a:prstGeom>
              <a:blipFill rotWithShape="1">
                <a:blip r:embed="rId6"/>
                <a:stretch>
                  <a:fillRect l="-11" t="-46" r="11" b="4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文本框 26"/>
              <p:cNvSpPr txBox="1"/>
              <p:nvPr/>
            </p:nvSpPr>
            <p:spPr>
              <a:xfrm>
                <a:off x="2259901" y="6202299"/>
                <a:ext cx="4706620" cy="460375"/>
              </a:xfrm>
              <a:prstGeom prst="rect">
                <a:avLst/>
              </a:prstGeom>
              <a:noFill/>
            </p:spPr>
            <p:txBody>
              <a:bodyPr wrap="none" rtlCol="0" anchor="t">
                <a:spAutoFit/>
              </a:bodyPr>
              <a:lstStyle/>
              <a:p>
                <a:pPr algn="l"/>
                <a14:m>
                  <m:oMathPara xmlns:m="http://schemas.openxmlformats.org/officeDocument/2006/math">
                    <m:oMath>
                      <m:r>
                        <a:rPr lang="en-US" altLang="zh-CN" i="1">
                          <a:latin typeface="Cambria Math" panose="02040503050406030204" pitchFamily="18" charset="0"/>
                          <a:cs typeface="Cambria Math" panose="02040503050406030204" pitchFamily="18" charset="0"/>
                        </a:rPr>
                        <m:t>𝐺𝑎𝑖𝑛</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𝐷</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𝑎</m:t>
                      </m:r>
                      <m:r>
                        <a:rPr lang="en-US" altLang="zh-CN" i="1">
                          <a:latin typeface="Cambria Math" panose="02040503050406030204" pitchFamily="18" charset="0"/>
                          <a:cs typeface="Cambria Math" panose="02040503050406030204" pitchFamily="18" charset="0"/>
                        </a:rPr>
                        <m:t>)=1−0.7245=0.2755</m:t>
                      </m:r>
                    </m:oMath>
                  </m:oMathPara>
                </a14:m>
                <a:endParaRPr lang="zh-CN" altLang="en-US"/>
              </a:p>
            </p:txBody>
          </p:sp>
        </mc:Choice>
        <mc:Fallback xmlns="">
          <p:sp>
            <p:nvSpPr>
              <p:cNvPr id="27" name="文本框 26"/>
              <p:cNvSpPr txBox="1">
                <a:spLocks noRot="1" noChangeAspect="1" noMove="1" noResize="1" noEditPoints="1" noAdjustHandles="1" noChangeArrowheads="1" noChangeShapeType="1" noTextEdit="1"/>
              </p:cNvSpPr>
              <p:nvPr/>
            </p:nvSpPr>
            <p:spPr>
              <a:xfrm>
                <a:off x="2259901" y="6202299"/>
                <a:ext cx="4706620" cy="460375"/>
              </a:xfrm>
              <a:prstGeom prst="rect">
                <a:avLst/>
              </a:prstGeom>
              <a:blipFill rotWithShape="1">
                <a:blip r:embed="rId7"/>
                <a:stretch>
                  <a:fillRect l="-12" t="-55" r="12" b="55"/>
                </a:stretch>
              </a:blipFill>
            </p:spPr>
            <p:txBody>
              <a:bodyPr/>
              <a:lstStyle/>
              <a:p>
                <a:r>
                  <a:rPr lang="zh-CN" altLang="en-US">
                    <a:noFill/>
                  </a:rPr>
                  <a:t> </a:t>
                </a:r>
              </a:p>
            </p:txBody>
          </p:sp>
        </mc:Fallback>
      </mc:AlternateContent>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8E0943-04C4-4F78-97F6-8385E192E9A6}"/>
              </a:ext>
            </a:extLst>
          </p:cNvPr>
          <p:cNvSpPr>
            <a:spLocks noGrp="1"/>
          </p:cNvSpPr>
          <p:nvPr>
            <p:ph type="title"/>
          </p:nvPr>
        </p:nvSpPr>
        <p:spPr/>
        <p:txBody>
          <a:bodyPr/>
          <a:lstStyle/>
          <a:p>
            <a:pPr algn="l"/>
            <a:r>
              <a:rPr/>
              <a:t>ID3算法</a:t>
            </a:r>
          </a:p>
        </p:txBody>
      </p:sp>
      <p:sp>
        <p:nvSpPr>
          <p:cNvPr id="3" name="内容占位符 2">
            <a:extLst>
              <a:ext uri="{FF2B5EF4-FFF2-40B4-BE49-F238E27FC236}">
                <a16:creationId xmlns:a16="http://schemas.microsoft.com/office/drawing/2014/main" id="{66E46B8D-83AF-4505-80C3-0892732037FF}"/>
              </a:ext>
            </a:extLst>
          </p:cNvPr>
          <p:cNvSpPr>
            <a:spLocks noGrp="1"/>
          </p:cNvSpPr>
          <p:nvPr>
            <p:ph idx="1"/>
          </p:nvPr>
        </p:nvSpPr>
        <p:spPr/>
        <p:txBody>
          <a:bodyPr>
            <a:normAutofit/>
          </a:bodyPr>
          <a:lstStyle/>
          <a:p>
            <a:pPr marL="457200" indent="0" lvl="1">
              <a:buNone/>
            </a:pPr>
            <a:r>
              <a:rPr sz="2000" b="1">
                <a:latin typeface="+mj-ea"/>
                <a:ea typeface="+mj-ea"/>
              </a:rPr>
              <a:t>缺点：</a:t>
            </a:r>
          </a:p>
          <a:p>
            <a:pPr lvl="1">
              <a:lnSpc>
                <a:spcPct val="150000"/>
              </a:lnSpc>
            </a:pPr>
            <a:r>
              <a:rPr sz="2000">
                <a:latin typeface="+mj-ea"/>
                <a:ea typeface="+mj-ea"/>
              </a:rPr>
              <a:t>ID3</a:t>
            </a:r>
            <a:r>
              <a:rPr sz="2000">
                <a:latin typeface="+mj-ea"/>
                <a:ea typeface="+mj-ea"/>
              </a:rPr>
              <a:t>算法没有剪枝策略，容易出现过拟合。</a:t>
            </a:r>
          </a:p>
          <a:p>
            <a:pPr lvl="1">
              <a:lnSpc>
                <a:spcPct val="150000"/>
              </a:lnSpc>
            </a:pPr>
            <a:r>
              <a:rPr sz="2000">
                <a:latin typeface="+mj-ea"/>
                <a:ea typeface="+mj-ea"/>
              </a:rPr>
              <a:t>信息增益会对可取值数量较多的特征在选择上有偏好，这种偏好可能会为算法性能带来不良影响。</a:t>
            </a:r>
          </a:p>
          <a:p>
            <a:pPr lvl="1">
              <a:lnSpc>
                <a:spcPct val="150000"/>
              </a:lnSpc>
            </a:pPr>
            <a:r>
              <a:rPr sz="2000">
                <a:latin typeface="+mj-ea"/>
                <a:ea typeface="+mj-ea"/>
              </a:rPr>
              <a:t>只能用于处理离散特征。</a:t>
            </a:r>
          </a:p>
          <a:p>
            <a:pPr lvl="1">
              <a:lnSpc>
                <a:spcPct val="150000"/>
              </a:lnSpc>
            </a:pPr>
            <a:r>
              <a:rPr sz="2000">
                <a:latin typeface="+mj-ea"/>
                <a:ea typeface="+mj-ea"/>
              </a:rPr>
              <a:t>算法没有将缺失属性考虑在内。</a:t>
            </a:r>
          </a:p>
          <a:p>
            <a:r>
              <a:rPr sz="2000">
                <a:latin typeface="+mj-ea"/>
                <a:ea typeface="+mj-ea"/>
              </a:rPr>
              <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C6519D-AEF6-491E-9977-ADDB68371440}"/>
              </a:ext>
            </a:extLst>
          </p:cNvPr>
          <p:cNvSpPr>
            <a:spLocks noGrp="1"/>
          </p:cNvSpPr>
          <p:nvPr>
            <p:ph type="title"/>
          </p:nvPr>
        </p:nvSpPr>
        <p:spPr/>
        <p:txBody>
          <a:bodyPr/>
          <a:lstStyle/>
          <a:p>
            <a:pPr algn="l"/>
            <a:r>
              <a:rPr/>
              <a:t>C4.5算法</a:t>
            </a:r>
          </a:p>
        </p:txBody>
      </p:sp>
      <p:sp>
        <p:nvSpPr>
          <p:cNvPr id="3" name="内容占位符 2">
            <a:extLst>
              <a:ext uri="{FF2B5EF4-FFF2-40B4-BE49-F238E27FC236}">
                <a16:creationId xmlns:a16="http://schemas.microsoft.com/office/drawing/2014/main" id="{61397B45-C0E6-464B-893E-E61A25BAEE23}"/>
              </a:ext>
            </a:extLst>
          </p:cNvPr>
          <p:cNvSpPr>
            <a:spLocks noGrp="1"/>
          </p:cNvSpPr>
          <p:nvPr>
            <p:ph idx="1"/>
          </p:nvPr>
        </p:nvSpPr>
        <p:spPr/>
        <p:txBody>
          <a:bodyPr>
            <a:normAutofit/>
          </a:bodyPr>
          <a:lstStyle/>
          <a:p>
            <a:r>
              <a:rPr sz="1800">
                <a:latin typeface="+mj-ea"/>
                <a:ea typeface="+mj-ea"/>
              </a:rPr>
              <a:t>C4.5</a:t>
            </a:r>
            <a:r>
              <a:rPr sz="1800">
                <a:latin typeface="+mj-ea"/>
                <a:ea typeface="+mj-ea"/>
              </a:rPr>
              <a:t>算法的流程大体上跟</a:t>
            </a:r>
            <a:r>
              <a:rPr sz="1800">
                <a:latin typeface="+mj-ea"/>
                <a:ea typeface="+mj-ea"/>
              </a:rPr>
              <a:t>ID3</a:t>
            </a:r>
            <a:r>
              <a:rPr sz="1800">
                <a:latin typeface="+mj-ea"/>
                <a:ea typeface="+mj-ea"/>
              </a:rPr>
              <a:t>算法类似，区别主要在于以下几点</a:t>
            </a:r>
            <a:r>
              <a:rPr sz="1800">
                <a:latin typeface="+mj-ea"/>
                <a:ea typeface="+mj-ea"/>
              </a:rPr>
              <a:t>：</a:t>
            </a:r>
          </a:p>
          <a:p>
            <a:r>
              <a:rPr sz="1800">
                <a:latin typeface="+mj-ea"/>
                <a:ea typeface="+mj-ea"/>
              </a:rPr>
              <a:t>1.</a:t>
            </a:r>
            <a:r>
              <a:rPr sz="1800">
                <a:latin typeface="+mj-ea"/>
                <a:ea typeface="+mj-ea"/>
              </a:rPr>
              <a:t>利用信息增益准则一般对可取值数量较多的属性有偏好，为了减少这种偏好带来的不良影响，</a:t>
            </a:r>
            <a:r>
              <a:rPr sz="1800">
                <a:latin typeface="+mj-ea"/>
                <a:ea typeface="+mj-ea"/>
              </a:rPr>
              <a:t>C4.5</a:t>
            </a:r>
            <a:r>
              <a:rPr sz="1800">
                <a:latin typeface="+mj-ea"/>
                <a:ea typeface="+mj-ea"/>
              </a:rPr>
              <a:t>算法改用</a:t>
            </a:r>
            <a:r>
              <a:rPr sz="1800" b="1">
                <a:solidFill>
                  <a:srgbClr val="FF0000"/>
                </a:solidFill>
                <a:latin typeface="+mj-ea"/>
                <a:ea typeface="+mj-ea"/>
              </a:rPr>
              <a:t>增益率</a:t>
            </a:r>
            <a:r>
              <a:rPr sz="1800">
                <a:latin typeface="+mj-ea"/>
                <a:ea typeface="+mj-ea"/>
              </a:rPr>
              <a:t>来选择划分属性</a:t>
            </a:r>
          </a:p>
          <a:p>
            <a:r>
              <a:rPr sz="1800">
                <a:latin typeface="+mj-ea"/>
                <a:ea typeface="+mj-ea"/>
              </a:rPr>
              <a:t/>
            </a:r>
          </a:p>
          <a:p>
            <a:r>
              <a:rPr sz="1800">
                <a:latin typeface="+mj-ea"/>
                <a:ea typeface="+mj-ea"/>
              </a:rPr>
              <a:t/>
            </a:r>
          </a:p>
          <a:p>
            <a:r>
              <a:rPr sz="1800">
                <a:latin typeface="+mj-ea"/>
                <a:ea typeface="+mj-ea"/>
              </a:rPr>
              <a:t>C4.5</a:t>
            </a:r>
            <a:r>
              <a:rPr sz="1800">
                <a:latin typeface="+mj-ea"/>
                <a:ea typeface="+mj-ea"/>
              </a:rPr>
              <a:t>算法还需要在决策树生成过程中进行</a:t>
            </a:r>
            <a:r>
              <a:rPr sz="1800" b="1">
                <a:solidFill>
                  <a:srgbClr val="FF0000"/>
                </a:solidFill>
                <a:latin typeface="+mj-ea"/>
                <a:ea typeface="+mj-ea"/>
              </a:rPr>
              <a:t>剪枝</a:t>
            </a:r>
            <a:r>
              <a:rPr sz="1800">
                <a:latin typeface="+mj-ea"/>
                <a:ea typeface="+mj-ea"/>
              </a:rPr>
              <a:t>处理，即通过后剪枝的策略消除过拟合的风险</a:t>
            </a:r>
          </a:p>
          <a:p>
            <a:r>
              <a:rPr sz="1800">
                <a:latin typeface="+mj-ea"/>
                <a:ea typeface="+mj-ea"/>
              </a:rPr>
              <a:t>C4.5</a:t>
            </a:r>
            <a:r>
              <a:rPr sz="1800">
                <a:latin typeface="+mj-ea"/>
                <a:ea typeface="+mj-ea"/>
              </a:rPr>
              <a:t>算法通过对连续属性值进行离散化改造使其能用于生成决策树</a:t>
            </a:r>
          </a:p>
          <a:p>
            <a:r>
              <a:rPr sz="1800">
                <a:latin typeface="+mj-ea"/>
                <a:ea typeface="+mj-ea"/>
              </a:rPr>
              <a:t/>
            </a:r>
          </a:p>
          <a:p>
            <a:r>
              <a:rPr sz="1800">
                <a:latin typeface="+mj-ea"/>
                <a:ea typeface="+mj-ea"/>
              </a:rPr>
              <a:t/>
            </a:r>
          </a:p>
          <a:p>
            <a:r>
              <a:rPr sz="1800">
                <a:latin typeface="+mj-ea"/>
                <a:ea typeface="+mj-ea"/>
              </a:rPr>
              <a:t/>
            </a:r>
          </a:p>
          <a:p>
            <a:r>
              <a:rPr sz="1800">
                <a:latin typeface="+mj-ea"/>
                <a:ea typeface="+mj-ea"/>
              </a:rPr>
              <a:t/>
            </a:r>
          </a:p>
          <a:p>
            <a:r>
              <a:rPr sz="1800">
                <a:latin typeface="+mj-ea"/>
                <a:ea typeface="+mj-ea"/>
              </a:rPr>
              <a:t/>
            </a:r>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mc:AlternateContent xmlns:mc="http://schemas.openxmlformats.org/markup-compatibility/2006" xmlns:a14="http://schemas.microsoft.com/office/drawing/2010/main">
        <mc:Choice Requires="a14">
          <p:sp>
            <p:nvSpPr>
              <p:cNvPr id="8" name="文本框 7"/>
              <p:cNvSpPr txBox="1"/>
              <p:nvPr/>
            </p:nvSpPr>
            <p:spPr>
              <a:xfrm>
                <a:off x="1261681" y="3147314"/>
                <a:ext cx="4147185" cy="854075"/>
              </a:xfrm>
              <a:prstGeom prst="rect">
                <a:avLst/>
              </a:prstGeom>
              <a:noFill/>
            </p:spPr>
            <p:txBody>
              <a:bodyPr wrap="none" rtlCol="0" anchor="t">
                <a:spAutoFit/>
              </a:bodyPr>
              <a:lstStyle/>
              <a:p>
                <a:pPr algn="l"/>
                <a14:m>
                  <m:oMathPara xmlns:m="http://schemas.openxmlformats.org/officeDocument/2006/math">
                    <m:oMath>
                      <m:r>
                        <a:rPr lang="en-US" altLang="zh-CN" i="1">
                          <a:latin typeface="Cambria Math" panose="02040503050406030204" pitchFamily="18" charset="0"/>
                          <a:cs typeface="Cambria Math" panose="02040503050406030204" pitchFamily="18" charset="0"/>
                        </a:rPr>
                        <m:t>𝐺𝑎𝑖𝑛</m:t>
                      </m:r>
                      <m:r>
                        <a:rPr lang="en-US" altLang="zh-CN" i="1">
                          <a:latin typeface="Cambria Math" panose="02040503050406030204" pitchFamily="18" charset="0"/>
                          <a:cs typeface="Cambria Math" panose="02040503050406030204" pitchFamily="18" charset="0"/>
                        </a:rPr>
                        <m:t>_</m:t>
                      </m:r>
                      <m:r>
                        <a:rPr lang="en-US" altLang="zh-CN" i="1">
                          <a:latin typeface="Cambria Math" panose="02040503050406030204" pitchFamily="18" charset="0"/>
                          <a:cs typeface="Cambria Math" panose="02040503050406030204" pitchFamily="18" charset="0"/>
                        </a:rPr>
                        <m:t>𝑟𝑎𝑡𝑖𝑜</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𝐷</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𝑎</m:t>
                      </m:r>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𝐺𝑎𝑖𝑛</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𝐷</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𝑎</m:t>
                          </m:r>
                          <m:r>
                            <a:rPr lang="en-US" altLang="zh-CN" i="1">
                              <a:latin typeface="Cambria Math" panose="02040503050406030204" pitchFamily="18" charset="0"/>
                              <a:cs typeface="Cambria Math" panose="02040503050406030204" pitchFamily="18" charset="0"/>
                            </a:rPr>
                            <m:t>)</m:t>
                          </m:r>
                        </m:num>
                        <m:den>
                          <m:r>
                            <a:rPr lang="en-US" altLang="zh-CN" i="1">
                              <a:latin typeface="Cambria Math" panose="02040503050406030204" pitchFamily="18" charset="0"/>
                              <a:cs typeface="Cambria Math" panose="02040503050406030204" pitchFamily="18" charset="0"/>
                            </a:rPr>
                            <m:t>𝐼𝑉</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𝑎</m:t>
                          </m:r>
                          <m:r>
                            <a:rPr lang="en-US" altLang="zh-CN" i="1">
                              <a:latin typeface="Cambria Math" panose="02040503050406030204" pitchFamily="18" charset="0"/>
                              <a:cs typeface="Cambria Math" panose="02040503050406030204" pitchFamily="18" charset="0"/>
                            </a:rPr>
                            <m:t>)</m:t>
                          </m:r>
                        </m:den>
                      </m:f>
                    </m:oMath>
                  </m:oMathPara>
                </a14:m>
                <a:endParaRPr lang="zh-CN" altLang="en-US" dirty="0"/>
              </a:p>
            </p:txBody>
          </p:sp>
        </mc:Choice>
        <mc:Fallback xmlns="">
          <p:sp>
            <p:nvSpPr>
              <p:cNvPr id="8" name="文本框 7"/>
              <p:cNvSpPr txBox="1">
                <a:spLocks noRot="1" noChangeAspect="1" noMove="1" noResize="1" noEditPoints="1" noAdjustHandles="1" noChangeArrowheads="1" noChangeShapeType="1" noTextEdit="1"/>
              </p:cNvSpPr>
              <p:nvPr/>
            </p:nvSpPr>
            <p:spPr>
              <a:xfrm>
                <a:off x="1261681" y="3147314"/>
                <a:ext cx="4147185" cy="854075"/>
              </a:xfrm>
              <a:prstGeom prst="rect">
                <a:avLst/>
              </a:prstGeom>
              <a:blipFill rotWithShape="1">
                <a:blip r:embed="rId2"/>
                <a:stretch>
                  <a:fillRect l="-14" t="-30" r="14" b="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p:cNvSpPr txBox="1"/>
              <p:nvPr/>
            </p:nvSpPr>
            <p:spPr>
              <a:xfrm>
                <a:off x="5906706" y="3003169"/>
                <a:ext cx="3752850" cy="1142365"/>
              </a:xfrm>
              <a:prstGeom prst="rect">
                <a:avLst/>
              </a:prstGeom>
              <a:noFill/>
            </p:spPr>
            <p:txBody>
              <a:bodyPr wrap="none" rtlCol="0" anchor="t">
                <a:spAutoFit/>
              </a:bodyPr>
              <a:lstStyle/>
              <a:p>
                <a:pPr algn="l"/>
                <a14:m>
                  <m:oMathPara xmlns:m="http://schemas.openxmlformats.org/officeDocument/2006/math">
                    <m:oMath>
                      <m:r>
                        <a:rPr lang="en-US" altLang="zh-CN" i="1">
                          <a:latin typeface="Cambria Math" panose="02040503050406030204" pitchFamily="18" charset="0"/>
                          <a:cs typeface="Cambria Math" panose="02040503050406030204" pitchFamily="18" charset="0"/>
                        </a:rPr>
                        <m:t>𝐼𝑉</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𝑎</m:t>
                      </m:r>
                      <m:r>
                        <a:rPr lang="en-US" altLang="zh-CN" i="1">
                          <a:latin typeface="Cambria Math" panose="02040503050406030204" pitchFamily="18" charset="0"/>
                          <a:cs typeface="Cambria Math" panose="02040503050406030204" pitchFamily="18" charset="0"/>
                        </a:rPr>
                        <m:t>)=−</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𝑣</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𝑉</m:t>
                          </m:r>
                        </m:sup>
                        <m:e>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m:t>
                              </m:r>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𝐷</m:t>
                                  </m:r>
                                </m:e>
                                <m:sup>
                                  <m:r>
                                    <a:rPr lang="en-US" altLang="zh-CN" i="1">
                                      <a:latin typeface="Cambria Math" panose="02040503050406030204" pitchFamily="18" charset="0"/>
                                      <a:cs typeface="Cambria Math" panose="02040503050406030204" pitchFamily="18" charset="0"/>
                                    </a:rPr>
                                    <m:t>𝑣</m:t>
                                  </m:r>
                                </m:sup>
                              </m:sSup>
                              <m:r>
                                <a:rPr lang="en-US" altLang="zh-CN" i="1">
                                  <a:latin typeface="Cambria Math" panose="02040503050406030204" pitchFamily="18" charset="0"/>
                                  <a:cs typeface="Cambria Math" panose="02040503050406030204" pitchFamily="18" charset="0"/>
                                </a:rPr>
                                <m:t>|</m:t>
                              </m:r>
                            </m:num>
                            <m:den>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𝐷</m:t>
                              </m:r>
                              <m:r>
                                <a:rPr lang="en-US" altLang="zh-CN" i="1">
                                  <a:latin typeface="Cambria Math" panose="02040503050406030204" pitchFamily="18" charset="0"/>
                                  <a:cs typeface="Cambria Math" panose="02040503050406030204" pitchFamily="18" charset="0"/>
                                </a:rPr>
                                <m:t>|</m:t>
                              </m:r>
                            </m:den>
                          </m:f>
                          <m:sSub>
                            <m:sSubPr>
                              <m:ctrlPr>
                                <a:rPr lang="en-US" altLang="zh-CN">
                                  <a:latin typeface="Cambria Math" panose="02040503050406030204" pitchFamily="18" charset="0"/>
                                  <a:cs typeface="Cambria Math" panose="02040503050406030204" pitchFamily="18" charset="0"/>
                                </a:rPr>
                              </m:ctrlPr>
                            </m:sSubPr>
                            <m:e>
                              <m:r>
                                <m:rPr>
                                  <m:sty m:val="p"/>
                                </m:rPr>
                                <a:rPr lang="en-US" altLang="zh-CN">
                                  <a:latin typeface="Cambria Math" panose="02040503050406030204" pitchFamily="18" charset="0"/>
                                  <a:cs typeface="Cambria Math" panose="02040503050406030204" pitchFamily="18" charset="0"/>
                                </a:rPr>
                                <m:t>log</m:t>
                              </m:r>
                            </m:e>
                            <m:sub>
                              <m:r>
                                <a:rPr lang="en-US" altLang="zh-CN">
                                  <a:latin typeface="Cambria Math" panose="02040503050406030204" pitchFamily="18" charset="0"/>
                                  <a:cs typeface="Cambria Math" panose="02040503050406030204" pitchFamily="18" charset="0"/>
                                </a:rPr>
                                <m:t>2</m:t>
                              </m:r>
                            </m:sub>
                          </m:sSub>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m:t>
                              </m:r>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𝐷</m:t>
                                  </m:r>
                                </m:e>
                                <m:sup>
                                  <m:r>
                                    <a:rPr lang="en-US" altLang="zh-CN" i="1">
                                      <a:latin typeface="Cambria Math" panose="02040503050406030204" pitchFamily="18" charset="0"/>
                                      <a:cs typeface="Cambria Math" panose="02040503050406030204" pitchFamily="18" charset="0"/>
                                    </a:rPr>
                                    <m:t>𝑣</m:t>
                                  </m:r>
                                </m:sup>
                              </m:sSup>
                              <m:r>
                                <a:rPr lang="en-US" altLang="zh-CN" i="1">
                                  <a:latin typeface="Cambria Math" panose="02040503050406030204" pitchFamily="18" charset="0"/>
                                  <a:cs typeface="Cambria Math" panose="02040503050406030204" pitchFamily="18" charset="0"/>
                                </a:rPr>
                                <m:t>|</m:t>
                              </m:r>
                            </m:num>
                            <m:den>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𝐷</m:t>
                              </m:r>
                              <m:r>
                                <a:rPr lang="en-US" altLang="zh-CN" i="1">
                                  <a:latin typeface="Cambria Math" panose="02040503050406030204" pitchFamily="18" charset="0"/>
                                  <a:cs typeface="Cambria Math" panose="02040503050406030204" pitchFamily="18" charset="0"/>
                                </a:rPr>
                                <m:t>|</m:t>
                              </m:r>
                            </m:den>
                          </m:f>
                        </m:e>
                      </m:nary>
                    </m:oMath>
                  </m:oMathPara>
                </a14:m>
                <a:endParaRPr lang="zh-CN" altLang="en-US" dirty="0"/>
              </a:p>
            </p:txBody>
          </p:sp>
        </mc:Choice>
        <mc:Fallback xmlns="">
          <p:sp>
            <p:nvSpPr>
              <p:cNvPr id="9" name="文本框 8"/>
              <p:cNvSpPr txBox="1">
                <a:spLocks noRot="1" noChangeAspect="1" noMove="1" noResize="1" noEditPoints="1" noAdjustHandles="1" noChangeArrowheads="1" noChangeShapeType="1" noTextEdit="1"/>
              </p:cNvSpPr>
              <p:nvPr/>
            </p:nvSpPr>
            <p:spPr>
              <a:xfrm>
                <a:off x="5906706" y="3003169"/>
                <a:ext cx="3752850" cy="1142365"/>
              </a:xfrm>
              <a:prstGeom prst="rect">
                <a:avLst/>
              </a:prstGeom>
              <a:blipFill rotWithShape="1">
                <a:blip r:embed="rId3"/>
                <a:stretch>
                  <a:fillRect l="-15" t="-22" r="15" b="22"/>
                </a:stretch>
              </a:blipFill>
            </p:spPr>
            <p:txBody>
              <a:bodyPr/>
              <a:lstStyle/>
              <a:p>
                <a:r>
                  <a:rPr lang="zh-CN" altLang="en-US">
                    <a:noFill/>
                  </a:rPr>
                  <a:t> </a:t>
                </a:r>
              </a:p>
            </p:txBody>
          </p:sp>
        </mc:Fallback>
      </mc:AlternateContent>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16F235D-CCF1-4F59-AE79-9E4E92348373}"/>
              </a:ext>
            </a:extLst>
          </p:cNvPr>
          <p:cNvSpPr>
            <a:spLocks noGrp="1"/>
          </p:cNvSpPr>
          <p:nvPr>
            <p:ph type="title"/>
          </p:nvPr>
        </p:nvSpPr>
        <p:spPr/>
        <p:txBody>
          <a:bodyPr/>
          <a:lstStyle/>
          <a:p>
            <a:pPr algn="l"/>
            <a:r>
              <a:rPr/>
              <a:t>C4.5算法</a:t>
            </a:r>
          </a:p>
        </p:txBody>
      </p:sp>
      <p:sp>
        <p:nvSpPr>
          <p:cNvPr id="3" name="内容占位符 2">
            <a:extLst>
              <a:ext uri="{FF2B5EF4-FFF2-40B4-BE49-F238E27FC236}">
                <a16:creationId xmlns:a16="http://schemas.microsoft.com/office/drawing/2014/main" id="{29EA6933-51CB-4B13-BBF8-22DC1AA216A0}"/>
              </a:ext>
            </a:extLst>
          </p:cNvPr>
          <p:cNvSpPr>
            <a:spLocks noGrp="1"/>
          </p:cNvSpPr>
          <p:nvPr>
            <p:ph idx="1"/>
          </p:nvPr>
        </p:nvSpPr>
        <p:spPr/>
        <p:txBody>
          <a:bodyPr>
            <a:normAutofit/>
          </a:bodyPr>
          <a:lstStyle/>
          <a:p>
            <a:r>
              <a:rPr sz="2200">
                <a:latin typeface="+mj-ea"/>
                <a:ea typeface="+mj-ea"/>
              </a:rPr>
              <a:t>使用表</a:t>
            </a:r>
            <a:r>
              <a:rPr sz="2200">
                <a:latin typeface="+mj-ea"/>
                <a:ea typeface="+mj-ea"/>
              </a:rPr>
              <a:t>1</a:t>
            </a:r>
            <a:r>
              <a:rPr sz="2200">
                <a:latin typeface="+mj-ea"/>
                <a:ea typeface="+mj-ea"/>
              </a:rPr>
              <a:t>的数据对色泽的增益率进行计算</a:t>
            </a:r>
          </a:p>
          <a:p>
            <a:r>
              <a:rPr sz="2200">
                <a:latin typeface="+mj-ea"/>
                <a:ea typeface="+mj-ea"/>
              </a:rPr>
              <a:t/>
            </a:r>
          </a:p>
          <a:p>
            <a:r>
              <a:rPr sz="2200">
                <a:latin typeface="+mj-ea"/>
                <a:ea typeface="+mj-ea"/>
              </a:rPr>
              <a:t/>
            </a:r>
          </a:p>
          <a:p>
            <a:r>
              <a:rPr sz="2200">
                <a:latin typeface="+mj-ea"/>
                <a:ea typeface="+mj-ea"/>
              </a:rPr>
              <a:t>可以计算得到“色泽”属性增益率的值</a:t>
            </a:r>
          </a:p>
          <a:p>
            <a:pPr lvl="1"/>
            <a:r>
              <a:rPr sz="2200">
                <a:latin typeface="+mj-ea"/>
                <a:ea typeface="+mj-ea"/>
              </a:rPr>
              <a:t>信息增益率一般情况下对</a:t>
            </a:r>
            <a:r>
              <a:rPr sz="2200" b="1">
                <a:solidFill>
                  <a:srgbClr val="FF0000"/>
                </a:solidFill>
                <a:latin typeface="+mj-ea"/>
                <a:ea typeface="+mj-ea"/>
              </a:rPr>
              <a:t>取值较少的特征有偏好</a:t>
            </a:r>
            <a:r>
              <a:rPr sz="2200">
                <a:latin typeface="+mj-ea"/>
                <a:ea typeface="+mj-ea"/>
              </a:rPr>
              <a:t>。因此，</a:t>
            </a:r>
            <a:r>
              <a:rPr sz="2200">
                <a:latin typeface="+mj-ea"/>
                <a:ea typeface="+mj-ea"/>
              </a:rPr>
              <a:t>C4.5</a:t>
            </a:r>
            <a:r>
              <a:rPr sz="2200">
                <a:latin typeface="+mj-ea"/>
                <a:ea typeface="+mj-ea"/>
              </a:rPr>
              <a:t>并不是直接用增益率最大的特征进行划分，而是采用启发式算法的思想，首先选择一个信息增益高于平均值的特征，再从中选择增益率最高的特征。</a:t>
            </a:r>
          </a:p>
          <a:p>
            <a:r>
              <a:rPr sz="2200">
                <a:latin typeface="+mj-ea"/>
                <a:ea typeface="+mj-ea"/>
              </a:rPr>
              <a:t/>
            </a:r>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mc:AlternateContent xmlns:mc="http://schemas.openxmlformats.org/markup-compatibility/2006" xmlns:a14="http://schemas.microsoft.com/office/drawing/2010/main">
        <mc:Choice Requires="a14">
          <p:sp>
            <p:nvSpPr>
              <p:cNvPr id="8" name="文本框 7"/>
              <p:cNvSpPr txBox="1"/>
              <p:nvPr/>
            </p:nvSpPr>
            <p:spPr>
              <a:xfrm>
                <a:off x="609536" y="2333244"/>
                <a:ext cx="6268720" cy="605790"/>
              </a:xfrm>
              <a:prstGeom prst="rect">
                <a:avLst/>
              </a:prstGeom>
              <a:noFill/>
            </p:spPr>
            <p:txBody>
              <a:bodyPr wrap="none" rtlCol="0" anchor="t">
                <a:spAutoFit/>
              </a:bodyPr>
              <a:lstStyle/>
              <a:p>
                <a:pPr algn="l"/>
                <a14:m>
                  <m:oMathPara xmlns:m="http://schemas.openxmlformats.org/officeDocument/2006/math">
                    <m:oMath>
                      <m:r>
                        <a:rPr lang="en-US" altLang="zh-CN" sz="1800" i="1">
                          <a:latin typeface="Cambria Math" panose="02040503050406030204" pitchFamily="18" charset="0"/>
                          <a:cs typeface="Cambria Math" panose="02040503050406030204" pitchFamily="18" charset="0"/>
                        </a:rPr>
                        <m:t>𝐼𝑉</m:t>
                      </m:r>
                      <m:r>
                        <a:rPr lang="en-US" altLang="zh-CN" sz="1800" i="1">
                          <a:latin typeface="Cambria Math" panose="02040503050406030204" pitchFamily="18" charset="0"/>
                          <a:cs typeface="Cambria Math" panose="02040503050406030204" pitchFamily="18" charset="0"/>
                        </a:rPr>
                        <m:t>(</m:t>
                      </m:r>
                      <m:r>
                        <a:rPr lang="en-US" altLang="zh-CN" sz="1800" i="1">
                          <a:latin typeface="Cambria Math" panose="02040503050406030204" pitchFamily="18" charset="0"/>
                          <a:cs typeface="Cambria Math" panose="02040503050406030204" pitchFamily="18" charset="0"/>
                        </a:rPr>
                        <m:t>𝑎</m:t>
                      </m:r>
                      <m:r>
                        <a:rPr lang="en-US" altLang="zh-CN" sz="1800" i="1">
                          <a:latin typeface="Cambria Math" panose="02040503050406030204" pitchFamily="18" charset="0"/>
                          <a:cs typeface="Cambria Math" panose="02040503050406030204" pitchFamily="18" charset="0"/>
                        </a:rPr>
                        <m:t>)=−</m:t>
                      </m:r>
                      <m:f>
                        <m:fPr>
                          <m:ctrlPr>
                            <a:rPr lang="en-US" altLang="zh-CN" sz="1800" i="1">
                              <a:latin typeface="Cambria Math" panose="02040503050406030204" pitchFamily="18" charset="0"/>
                              <a:cs typeface="Cambria Math" panose="02040503050406030204" pitchFamily="18" charset="0"/>
                            </a:rPr>
                          </m:ctrlPr>
                        </m:fPr>
                        <m:num>
                          <m:r>
                            <a:rPr lang="en-US" altLang="zh-CN" sz="1800" i="1">
                              <a:latin typeface="Cambria Math" panose="02040503050406030204" pitchFamily="18" charset="0"/>
                              <a:cs typeface="Cambria Math" panose="02040503050406030204" pitchFamily="18" charset="0"/>
                            </a:rPr>
                            <m:t>4</m:t>
                          </m:r>
                        </m:num>
                        <m:den>
                          <m:r>
                            <a:rPr lang="en-US" altLang="zh-CN" sz="1800" i="1">
                              <a:latin typeface="Cambria Math" panose="02040503050406030204" pitchFamily="18" charset="0"/>
                              <a:cs typeface="Cambria Math" panose="02040503050406030204" pitchFamily="18" charset="0"/>
                            </a:rPr>
                            <m:t>10</m:t>
                          </m:r>
                        </m:den>
                      </m:f>
                      <m:sSub>
                        <m:sSubPr>
                          <m:ctrlPr>
                            <a:rPr lang="en-US" altLang="zh-CN" sz="1800">
                              <a:latin typeface="Cambria Math" panose="02040503050406030204" pitchFamily="18" charset="0"/>
                              <a:cs typeface="Cambria Math" panose="02040503050406030204" pitchFamily="18" charset="0"/>
                            </a:rPr>
                          </m:ctrlPr>
                        </m:sSubPr>
                        <m:e>
                          <m:r>
                            <m:rPr>
                              <m:sty m:val="p"/>
                            </m:rPr>
                            <a:rPr lang="en-US" altLang="zh-CN" sz="1800">
                              <a:latin typeface="Cambria Math" panose="02040503050406030204" pitchFamily="18" charset="0"/>
                              <a:cs typeface="Cambria Math" panose="02040503050406030204" pitchFamily="18" charset="0"/>
                            </a:rPr>
                            <m:t>log</m:t>
                          </m:r>
                        </m:e>
                        <m:sub>
                          <m:r>
                            <a:rPr lang="en-US" altLang="zh-CN" sz="1800" i="1">
                              <a:latin typeface="Cambria Math" panose="02040503050406030204" pitchFamily="18" charset="0"/>
                              <a:cs typeface="Cambria Math" panose="02040503050406030204" pitchFamily="18" charset="0"/>
                            </a:rPr>
                            <m:t>2</m:t>
                          </m:r>
                        </m:sub>
                      </m:sSub>
                      <m:f>
                        <m:fPr>
                          <m:ctrlPr>
                            <a:rPr lang="en-US" altLang="zh-CN" sz="1800" i="1">
                              <a:latin typeface="Cambria Math" panose="02040503050406030204" pitchFamily="18" charset="0"/>
                              <a:cs typeface="Cambria Math" panose="02040503050406030204" pitchFamily="18" charset="0"/>
                            </a:rPr>
                          </m:ctrlPr>
                        </m:fPr>
                        <m:num>
                          <m:r>
                            <a:rPr lang="en-US" altLang="zh-CN" sz="1800" i="1">
                              <a:latin typeface="Cambria Math" panose="02040503050406030204" pitchFamily="18" charset="0"/>
                              <a:cs typeface="Cambria Math" panose="02040503050406030204" pitchFamily="18" charset="0"/>
                            </a:rPr>
                            <m:t>4</m:t>
                          </m:r>
                        </m:num>
                        <m:den>
                          <m:r>
                            <a:rPr lang="en-US" altLang="zh-CN" sz="1800" i="1">
                              <a:latin typeface="Cambria Math" panose="02040503050406030204" pitchFamily="18" charset="0"/>
                              <a:cs typeface="Cambria Math" panose="02040503050406030204" pitchFamily="18" charset="0"/>
                            </a:rPr>
                            <m:t>10</m:t>
                          </m:r>
                        </m:den>
                      </m:f>
                      <m:r>
                        <a:rPr lang="en-US" altLang="zh-CN" sz="1800" i="1">
                          <a:latin typeface="Cambria Math" panose="02040503050406030204" pitchFamily="18" charset="0"/>
                          <a:cs typeface="Cambria Math" panose="02040503050406030204" pitchFamily="18" charset="0"/>
                        </a:rPr>
                        <m:t>−</m:t>
                      </m:r>
                      <m:f>
                        <m:fPr>
                          <m:ctrlPr>
                            <a:rPr lang="en-US" altLang="zh-CN" sz="1800" i="1">
                              <a:latin typeface="Cambria Math" panose="02040503050406030204" pitchFamily="18" charset="0"/>
                              <a:cs typeface="Cambria Math" panose="02040503050406030204" pitchFamily="18" charset="0"/>
                            </a:rPr>
                          </m:ctrlPr>
                        </m:fPr>
                        <m:num>
                          <m:r>
                            <a:rPr lang="en-US" altLang="zh-CN" sz="1800" i="1">
                              <a:latin typeface="Cambria Math" panose="02040503050406030204" pitchFamily="18" charset="0"/>
                              <a:cs typeface="Cambria Math" panose="02040503050406030204" pitchFamily="18" charset="0"/>
                            </a:rPr>
                            <m:t>4</m:t>
                          </m:r>
                        </m:num>
                        <m:den>
                          <m:r>
                            <a:rPr lang="en-US" altLang="zh-CN" sz="1800" i="1">
                              <a:latin typeface="Cambria Math" panose="02040503050406030204" pitchFamily="18" charset="0"/>
                              <a:cs typeface="Cambria Math" panose="02040503050406030204" pitchFamily="18" charset="0"/>
                            </a:rPr>
                            <m:t>10</m:t>
                          </m:r>
                        </m:den>
                      </m:f>
                      <m:sSub>
                        <m:sSubPr>
                          <m:ctrlPr>
                            <a:rPr lang="en-US" altLang="zh-CN" sz="1800">
                              <a:latin typeface="Cambria Math" panose="02040503050406030204" pitchFamily="18" charset="0"/>
                              <a:cs typeface="Cambria Math" panose="02040503050406030204" pitchFamily="18" charset="0"/>
                            </a:rPr>
                          </m:ctrlPr>
                        </m:sSubPr>
                        <m:e>
                          <m:r>
                            <m:rPr>
                              <m:sty m:val="p"/>
                            </m:rPr>
                            <a:rPr lang="en-US" altLang="zh-CN" sz="1800">
                              <a:latin typeface="Cambria Math" panose="02040503050406030204" pitchFamily="18" charset="0"/>
                              <a:cs typeface="Cambria Math" panose="02040503050406030204" pitchFamily="18" charset="0"/>
                            </a:rPr>
                            <m:t>log</m:t>
                          </m:r>
                        </m:e>
                        <m:sub>
                          <m:r>
                            <a:rPr lang="en-US" altLang="zh-CN" sz="1800" i="1">
                              <a:latin typeface="Cambria Math" panose="02040503050406030204" pitchFamily="18" charset="0"/>
                              <a:cs typeface="Cambria Math" panose="02040503050406030204" pitchFamily="18" charset="0"/>
                            </a:rPr>
                            <m:t>2</m:t>
                          </m:r>
                        </m:sub>
                      </m:sSub>
                      <m:f>
                        <m:fPr>
                          <m:ctrlPr>
                            <a:rPr lang="en-US" altLang="zh-CN" sz="1800" i="1">
                              <a:latin typeface="Cambria Math" panose="02040503050406030204" pitchFamily="18" charset="0"/>
                              <a:cs typeface="Cambria Math" panose="02040503050406030204" pitchFamily="18" charset="0"/>
                            </a:rPr>
                          </m:ctrlPr>
                        </m:fPr>
                        <m:num>
                          <m:r>
                            <a:rPr lang="en-US" altLang="zh-CN" sz="1800" i="1">
                              <a:latin typeface="Cambria Math" panose="02040503050406030204" pitchFamily="18" charset="0"/>
                              <a:cs typeface="Cambria Math" panose="02040503050406030204" pitchFamily="18" charset="0"/>
                            </a:rPr>
                            <m:t>4</m:t>
                          </m:r>
                        </m:num>
                        <m:den>
                          <m:r>
                            <a:rPr lang="en-US" altLang="zh-CN" sz="1800" i="1">
                              <a:latin typeface="Cambria Math" panose="02040503050406030204" pitchFamily="18" charset="0"/>
                              <a:cs typeface="Cambria Math" panose="02040503050406030204" pitchFamily="18" charset="0"/>
                            </a:rPr>
                            <m:t>10</m:t>
                          </m:r>
                        </m:den>
                      </m:f>
                      <m:r>
                        <a:rPr lang="en-US" altLang="zh-CN" sz="1800" i="1">
                          <a:latin typeface="Cambria Math" panose="02040503050406030204" pitchFamily="18" charset="0"/>
                          <a:cs typeface="Cambria Math" panose="02040503050406030204" pitchFamily="18" charset="0"/>
                        </a:rPr>
                        <m:t>−</m:t>
                      </m:r>
                      <m:f>
                        <m:fPr>
                          <m:ctrlPr>
                            <a:rPr lang="en-US" altLang="zh-CN" sz="1800" i="1">
                              <a:latin typeface="Cambria Math" panose="02040503050406030204" pitchFamily="18" charset="0"/>
                              <a:cs typeface="Cambria Math" panose="02040503050406030204" pitchFamily="18" charset="0"/>
                            </a:rPr>
                          </m:ctrlPr>
                        </m:fPr>
                        <m:num>
                          <m:r>
                            <a:rPr lang="en-US" altLang="zh-CN" sz="1800" i="1">
                              <a:latin typeface="Cambria Math" panose="02040503050406030204" pitchFamily="18" charset="0"/>
                              <a:cs typeface="Cambria Math" panose="02040503050406030204" pitchFamily="18" charset="0"/>
                            </a:rPr>
                            <m:t>2</m:t>
                          </m:r>
                        </m:num>
                        <m:den>
                          <m:r>
                            <a:rPr lang="en-US" altLang="zh-CN" sz="1800" i="1">
                              <a:latin typeface="Cambria Math" panose="02040503050406030204" pitchFamily="18" charset="0"/>
                              <a:cs typeface="Cambria Math" panose="02040503050406030204" pitchFamily="18" charset="0"/>
                            </a:rPr>
                            <m:t>10</m:t>
                          </m:r>
                        </m:den>
                      </m:f>
                      <m:sSub>
                        <m:sSubPr>
                          <m:ctrlPr>
                            <a:rPr lang="en-US" altLang="zh-CN" sz="1800">
                              <a:latin typeface="Cambria Math" panose="02040503050406030204" pitchFamily="18" charset="0"/>
                              <a:cs typeface="Cambria Math" panose="02040503050406030204" pitchFamily="18" charset="0"/>
                            </a:rPr>
                          </m:ctrlPr>
                        </m:sSubPr>
                        <m:e>
                          <m:r>
                            <m:rPr>
                              <m:sty m:val="p"/>
                            </m:rPr>
                            <a:rPr lang="en-US" altLang="zh-CN" sz="1800">
                              <a:latin typeface="Cambria Math" panose="02040503050406030204" pitchFamily="18" charset="0"/>
                              <a:cs typeface="Cambria Math" panose="02040503050406030204" pitchFamily="18" charset="0"/>
                            </a:rPr>
                            <m:t>log</m:t>
                          </m:r>
                        </m:e>
                        <m:sub>
                          <m:r>
                            <a:rPr lang="en-US" altLang="zh-CN" sz="1800" i="1">
                              <a:latin typeface="Cambria Math" panose="02040503050406030204" pitchFamily="18" charset="0"/>
                              <a:cs typeface="Cambria Math" panose="02040503050406030204" pitchFamily="18" charset="0"/>
                            </a:rPr>
                            <m:t>2</m:t>
                          </m:r>
                        </m:sub>
                      </m:sSub>
                      <m:f>
                        <m:fPr>
                          <m:ctrlPr>
                            <a:rPr lang="en-US" altLang="zh-CN" sz="1800" i="1">
                              <a:latin typeface="Cambria Math" panose="02040503050406030204" pitchFamily="18" charset="0"/>
                              <a:cs typeface="Cambria Math" panose="02040503050406030204" pitchFamily="18" charset="0"/>
                            </a:rPr>
                          </m:ctrlPr>
                        </m:fPr>
                        <m:num>
                          <m:r>
                            <a:rPr lang="en-US" altLang="zh-CN" sz="1800" i="1">
                              <a:latin typeface="Cambria Math" panose="02040503050406030204" pitchFamily="18" charset="0"/>
                              <a:cs typeface="Cambria Math" panose="02040503050406030204" pitchFamily="18" charset="0"/>
                            </a:rPr>
                            <m:t>2</m:t>
                          </m:r>
                        </m:num>
                        <m:den>
                          <m:r>
                            <a:rPr lang="en-US" altLang="zh-CN" sz="1800" i="1">
                              <a:latin typeface="Cambria Math" panose="02040503050406030204" pitchFamily="18" charset="0"/>
                              <a:cs typeface="Cambria Math" panose="02040503050406030204" pitchFamily="18" charset="0"/>
                            </a:rPr>
                            <m:t>10</m:t>
                          </m:r>
                        </m:den>
                      </m:f>
                      <m:r>
                        <a:rPr lang="en-US" altLang="zh-CN" sz="1800" i="1">
                          <a:latin typeface="Cambria Math" panose="02040503050406030204" pitchFamily="18" charset="0"/>
                          <a:cs typeface="Cambria Math" panose="02040503050406030204" pitchFamily="18" charset="0"/>
                        </a:rPr>
                        <m:t>=1.</m:t>
                      </m:r>
                      <m:r>
                        <a:rPr lang="en-US" altLang="zh-CN" sz="1800" i="1">
                          <a:latin typeface="Cambria Math" panose="02040503050406030204" pitchFamily="18" charset="0"/>
                          <a:ea typeface="MS Mincho" charset="0"/>
                          <a:cs typeface="Cambria Math" panose="02040503050406030204" pitchFamily="18" charset="0"/>
                        </a:rPr>
                        <m:t>5219</m:t>
                      </m:r>
                    </m:oMath>
                  </m:oMathPara>
                </a14:m>
                <a:endParaRPr lang="en-US" altLang="zh-CN" sz="1800" i="1">
                  <a:latin typeface="Cambria Math" panose="02040503050406030204" pitchFamily="18" charset="0"/>
                  <a:ea typeface="MS Mincho" charset="0"/>
                  <a:cs typeface="Cambria Math" panose="02040503050406030204" pitchFamily="18" charset="0"/>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609536" y="2333244"/>
                <a:ext cx="6268720" cy="605790"/>
              </a:xfrm>
              <a:prstGeom prst="rect">
                <a:avLst/>
              </a:prstGeom>
              <a:blipFill rotWithShape="1">
                <a:blip r:embed="rId2"/>
                <a:stretch>
                  <a:fillRect l="-9" t="-42" r="9" b="4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p:cNvSpPr txBox="1"/>
              <p:nvPr/>
            </p:nvSpPr>
            <p:spPr>
              <a:xfrm>
                <a:off x="6878256" y="2393569"/>
                <a:ext cx="4403725" cy="612140"/>
              </a:xfrm>
              <a:prstGeom prst="rect">
                <a:avLst/>
              </a:prstGeom>
              <a:noFill/>
            </p:spPr>
            <p:txBody>
              <a:bodyPr wrap="none" rtlCol="0" anchor="t">
                <a:spAutoFit/>
              </a:bodyPr>
              <a:lstStyle/>
              <a:p>
                <a:pPr algn="l"/>
                <a14:m>
                  <m:oMathPara xmlns:m="http://schemas.openxmlformats.org/officeDocument/2006/math">
                    <m:oMath>
                      <m:r>
                        <a:rPr lang="en-US" altLang="zh-CN" sz="1800" i="1">
                          <a:latin typeface="Cambria Math" panose="02040503050406030204" pitchFamily="18" charset="0"/>
                          <a:cs typeface="Cambria Math" panose="02040503050406030204" pitchFamily="18" charset="0"/>
                        </a:rPr>
                        <m:t>𝐺𝑎𝑖𝑛</m:t>
                      </m:r>
                      <m:r>
                        <a:rPr lang="en-US" altLang="zh-CN" sz="1800" i="1">
                          <a:latin typeface="Cambria Math" panose="02040503050406030204" pitchFamily="18" charset="0"/>
                          <a:cs typeface="Cambria Math" panose="02040503050406030204" pitchFamily="18" charset="0"/>
                        </a:rPr>
                        <m:t>_</m:t>
                      </m:r>
                      <m:r>
                        <a:rPr lang="en-US" altLang="zh-CN" sz="1800" i="1">
                          <a:latin typeface="Cambria Math" panose="02040503050406030204" pitchFamily="18" charset="0"/>
                          <a:cs typeface="Cambria Math" panose="02040503050406030204" pitchFamily="18" charset="0"/>
                        </a:rPr>
                        <m:t>𝑟𝑎𝑡𝑖𝑜</m:t>
                      </m:r>
                      <m:r>
                        <a:rPr lang="en-US" altLang="zh-CN" sz="1800" i="1">
                          <a:latin typeface="Cambria Math" panose="02040503050406030204" pitchFamily="18" charset="0"/>
                          <a:cs typeface="Cambria Math" panose="02040503050406030204" pitchFamily="18" charset="0"/>
                        </a:rPr>
                        <m:t>(</m:t>
                      </m:r>
                      <m:r>
                        <a:rPr lang="en-US" altLang="zh-CN" sz="1800" i="1">
                          <a:latin typeface="Cambria Math" panose="02040503050406030204" pitchFamily="18" charset="0"/>
                          <a:cs typeface="Cambria Math" panose="02040503050406030204" pitchFamily="18" charset="0"/>
                        </a:rPr>
                        <m:t>𝐷</m:t>
                      </m:r>
                      <m:r>
                        <a:rPr lang="en-US" altLang="zh-CN" sz="1800" i="1">
                          <a:latin typeface="Cambria Math" panose="02040503050406030204" pitchFamily="18" charset="0"/>
                          <a:cs typeface="Cambria Math" panose="02040503050406030204" pitchFamily="18" charset="0"/>
                        </a:rPr>
                        <m:t>,色泽)=</m:t>
                      </m:r>
                      <m:f>
                        <m:fPr>
                          <m:ctrlPr>
                            <a:rPr lang="en-US" altLang="zh-CN" sz="1800" i="1">
                              <a:latin typeface="Cambria Math" panose="02040503050406030204" pitchFamily="18" charset="0"/>
                              <a:cs typeface="Cambria Math" panose="02040503050406030204" pitchFamily="18" charset="0"/>
                            </a:rPr>
                          </m:ctrlPr>
                        </m:fPr>
                        <m:num>
                          <m:r>
                            <a:rPr lang="en-US" altLang="zh-CN" sz="1800" i="1">
                              <a:latin typeface="Cambria Math" panose="02040503050406030204" pitchFamily="18" charset="0"/>
                              <a:cs typeface="Cambria Math" panose="02040503050406030204" pitchFamily="18" charset="0"/>
                            </a:rPr>
                            <m:t>0.2755</m:t>
                          </m:r>
                        </m:num>
                        <m:den>
                          <m:r>
                            <a:rPr lang="en-US" altLang="zh-CN" sz="1800" i="1">
                              <a:latin typeface="Cambria Math" panose="02040503050406030204" pitchFamily="18" charset="0"/>
                              <a:cs typeface="Cambria Math" panose="02040503050406030204" pitchFamily="18" charset="0"/>
                            </a:rPr>
                            <m:t>1.5219</m:t>
                          </m:r>
                        </m:den>
                      </m:f>
                      <m:r>
                        <a:rPr lang="en-US" altLang="zh-CN" sz="1800" i="1">
                          <a:latin typeface="Cambria Math" panose="02040503050406030204" pitchFamily="18" charset="0"/>
                          <a:cs typeface="Cambria Math" panose="02040503050406030204" pitchFamily="18" charset="0"/>
                        </a:rPr>
                        <m:t>=0.</m:t>
                      </m:r>
                      <m:r>
                        <a:rPr lang="en-US" altLang="zh-CN" sz="1800" i="1">
                          <a:latin typeface="Cambria Math" panose="02040503050406030204" pitchFamily="18" charset="0"/>
                          <a:ea typeface="MS Mincho" charset="0"/>
                          <a:cs typeface="Cambria Math" panose="02040503050406030204" pitchFamily="18" charset="0"/>
                        </a:rPr>
                        <m:t>181</m:t>
                      </m:r>
                    </m:oMath>
                  </m:oMathPara>
                </a14:m>
                <a:endParaRPr lang="en-US" altLang="zh-CN" sz="1800" i="1" dirty="0">
                  <a:latin typeface="Cambria Math" panose="02040503050406030204" pitchFamily="18" charset="0"/>
                  <a:ea typeface="MS Mincho" charset="0"/>
                  <a:cs typeface="Cambria Math" panose="02040503050406030204" pitchFamily="18" charset="0"/>
                </a:endParaRPr>
              </a:p>
            </p:txBody>
          </p:sp>
        </mc:Choice>
        <mc:Fallback xmlns="">
          <p:sp>
            <p:nvSpPr>
              <p:cNvPr id="9" name="文本框 8"/>
              <p:cNvSpPr txBox="1">
                <a:spLocks noRot="1" noChangeAspect="1" noMove="1" noResize="1" noEditPoints="1" noAdjustHandles="1" noChangeArrowheads="1" noChangeShapeType="1" noTextEdit="1"/>
              </p:cNvSpPr>
              <p:nvPr/>
            </p:nvSpPr>
            <p:spPr>
              <a:xfrm>
                <a:off x="6878256" y="2393569"/>
                <a:ext cx="4403725" cy="612140"/>
              </a:xfrm>
              <a:prstGeom prst="rect">
                <a:avLst/>
              </a:prstGeom>
              <a:blipFill rotWithShape="1">
                <a:blip r:embed="rId3"/>
                <a:stretch>
                  <a:fillRect l="-13" t="-41" r="13" b="41"/>
                </a:stretch>
              </a:blipFill>
            </p:spPr>
            <p:txBody>
              <a:bodyPr/>
              <a:lstStyle/>
              <a:p>
                <a:r>
                  <a:rPr lang="zh-CN" altLang="en-US">
                    <a:noFill/>
                  </a:rPr>
                  <a:t> </a:t>
                </a:r>
              </a:p>
            </p:txBody>
          </p:sp>
        </mc:Fallback>
      </mc:AlternateContent>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D16908-56BA-420A-AA4D-ECD2487D9C89}"/>
              </a:ext>
            </a:extLst>
          </p:cNvPr>
          <p:cNvSpPr>
            <a:spLocks noGrp="1"/>
          </p:cNvSpPr>
          <p:nvPr>
            <p:ph type="title"/>
          </p:nvPr>
        </p:nvSpPr>
        <p:spPr/>
        <p:txBody>
          <a:bodyPr/>
          <a:lstStyle/>
          <a:p>
            <a:pPr algn="l"/>
            <a:r>
              <a:rPr/>
              <a:t>C4.5算法</a:t>
            </a:r>
          </a:p>
        </p:txBody>
      </p:sp>
      <p:sp>
        <p:nvSpPr>
          <p:cNvPr id="3" name="内容占位符 2">
            <a:extLst>
              <a:ext uri="{FF2B5EF4-FFF2-40B4-BE49-F238E27FC236}">
                <a16:creationId xmlns:a16="http://schemas.microsoft.com/office/drawing/2014/main" id="{D0D622EE-84B8-466C-98D3-3065746D88C8}"/>
              </a:ext>
            </a:extLst>
          </p:cNvPr>
          <p:cNvSpPr>
            <a:spLocks noGrp="1"/>
          </p:cNvSpPr>
          <p:nvPr>
            <p:ph idx="1"/>
          </p:nvPr>
        </p:nvSpPr>
        <p:spPr/>
        <p:txBody>
          <a:bodyPr/>
          <a:lstStyle/>
          <a:p>
            <a:r>
              <a:rPr sz="2800" b="1">
                <a:latin typeface="+mj-ea"/>
                <a:ea typeface="+mj-ea"/>
              </a:rPr>
              <a:t>剪枝处理</a:t>
            </a:r>
          </a:p>
          <a:p>
            <a:pPr>
              <a:lnSpc>
                <a:spcPct val="110000"/>
              </a:lnSpc>
            </a:pPr>
            <a:r>
              <a:rPr sz="2800">
                <a:latin typeface="+mj-ea"/>
                <a:ea typeface="+mj-ea"/>
              </a:rPr>
              <a:t>决策树虽然有算法简单、可解释性强的优点，但是常常会遇到“过拟合”的问题，即为了尽可能正确对样本进行分类，我们不断重复划分节点的过程，有些时候会造成决策树分支过多，此时，会造成把训练集样本的一些特点当作是全部数据都具有的一般性质，从而导致过拟合。为了解决上述问题，我们需要主动剪掉一些不必要的分支来减小过拟合的风险。剪枝有预剪枝和后剪枝两种策略。</a:t>
            </a:r>
          </a:p>
          <a:p>
            <a:r>
              <a:rPr sz="2800"/>
              <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EE937E-6B94-4CDF-ABF9-E488239B6B72}"/>
              </a:ext>
            </a:extLst>
          </p:cNvPr>
          <p:cNvSpPr>
            <a:spLocks noGrp="1"/>
          </p:cNvSpPr>
          <p:nvPr>
            <p:ph type="title"/>
          </p:nvPr>
        </p:nvSpPr>
        <p:spPr/>
        <p:txBody>
          <a:bodyPr/>
          <a:lstStyle/>
          <a:p>
            <a:pPr algn="l"/>
            <a:r>
              <a:rPr lang="zh-CN" altLang="en-US" dirty="0"/>
              <a:t>预剪枝</a:t>
            </a:r>
          </a:p>
        </p:txBody>
      </p:sp>
      <p:sp>
        <p:nvSpPr>
          <p:cNvPr id="3" name="内容占位符 2"/>
          <p:cNvSpPr>
            <a:spLocks noGrp="1"/>
          </p:cNvSpPr>
          <p:nvPr>
            <p:ph idx="1"/>
          </p:nvPr>
        </p:nvSpPr>
        <p:spPr/>
        <p:txBody>
          <a:bodyPr/>
          <a:lstStyle/>
          <a:p>
            <a:r>
              <a:rPr lang="zh-CN" altLang="zh-CN" dirty="0">
                <a:latin typeface="+mj-ea"/>
                <a:ea typeface="+mj-ea"/>
              </a:rPr>
              <a:t>预剪枝需要在决策树生成的过程中，对各个节点在划分之前进行估计，若当前的划分不能带来决策树泛化能力的提升，就不再对当前节点进行划分为叶节点。</a:t>
            </a:r>
            <a:endParaRPr lang="en-US" altLang="zh-CN" dirty="0">
              <a:latin typeface="+mj-ea"/>
              <a:ea typeface="+mj-ea"/>
            </a:endParaRPr>
          </a:p>
          <a:p>
            <a:r>
              <a:rPr lang="zh-CN" altLang="zh-CN" dirty="0">
                <a:latin typeface="+mj-ea"/>
                <a:ea typeface="+mj-ea"/>
              </a:rPr>
              <a:t>预剪枝采用的策略有以下三种：</a:t>
            </a:r>
          </a:p>
          <a:p>
            <a:pPr lvl="1"/>
            <a:r>
              <a:rPr lang="zh-CN" altLang="zh-CN" dirty="0">
                <a:latin typeface="+mj-ea"/>
                <a:ea typeface="+mj-ea"/>
              </a:rPr>
              <a:t>节点内数据样本数低于阈值；</a:t>
            </a:r>
          </a:p>
          <a:p>
            <a:pPr lvl="1"/>
            <a:r>
              <a:rPr lang="zh-CN" altLang="zh-CN" dirty="0">
                <a:latin typeface="+mj-ea"/>
                <a:ea typeface="+mj-ea"/>
              </a:rPr>
              <a:t>所有特征都已用于划分；</a:t>
            </a:r>
          </a:p>
          <a:p>
            <a:pPr lvl="1"/>
            <a:r>
              <a:rPr lang="zh-CN" altLang="zh-CN" dirty="0">
                <a:latin typeface="+mj-ea"/>
                <a:ea typeface="+mj-ea"/>
              </a:rPr>
              <a:t>划分后验证集准确率没有提高。</a:t>
            </a:r>
          </a:p>
          <a:p>
            <a:endParaRPr lang="zh-CN" altLang="en-US" dirty="0">
              <a:latin typeface="+mj-ea"/>
              <a:ea typeface="+mj-ea"/>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074F8E-2254-42C7-8880-30723E4AF93F}"/>
              </a:ext>
            </a:extLst>
          </p:cNvPr>
          <p:cNvSpPr>
            <a:spLocks noGrp="1"/>
          </p:cNvSpPr>
          <p:nvPr>
            <p:ph type="title"/>
          </p:nvPr>
        </p:nvSpPr>
        <p:spPr/>
        <p:txBody>
          <a:bodyPr/>
          <a:lstStyle/>
          <a:p>
            <a:pPr algn="l"/>
            <a:r>
              <a:rPr lang="zh-CN" altLang="en-US" dirty="0"/>
              <a:t>预剪枝</a:t>
            </a:r>
          </a:p>
        </p:txBody>
      </p:sp>
      <p:sp>
        <p:nvSpPr>
          <p:cNvPr id="3" name="内容占位符 2">
            <a:extLst>
              <a:ext uri="{FF2B5EF4-FFF2-40B4-BE49-F238E27FC236}">
                <a16:creationId xmlns:a16="http://schemas.microsoft.com/office/drawing/2014/main" id="{19201E4C-28F5-427B-91D6-A698CE9B654F}"/>
              </a:ext>
            </a:extLst>
          </p:cNvPr>
          <p:cNvSpPr>
            <a:spLocks noGrp="1"/>
          </p:cNvSpPr>
          <p:nvPr>
            <p:ph idx="1"/>
          </p:nvPr>
        </p:nvSpPr>
        <p:spPr>
          <a:xfrm>
            <a:off x="609600" y="1600203"/>
            <a:ext cx="6389594" cy="4525963"/>
          </a:xfrm>
        </p:spPr>
        <p:txBody>
          <a:bodyPr>
            <a:normAutofit/>
          </a:bodyPr>
          <a:lstStyle/>
          <a:p>
            <a:pPr>
              <a:lnSpc>
                <a:spcPct val="150000"/>
              </a:lnSpc>
            </a:pPr>
            <a:r>
              <a:rPr lang="zh-CN" altLang="zh-CN" sz="1800" dirty="0">
                <a:latin typeface="+mj-ea"/>
                <a:ea typeface="+mj-ea"/>
              </a:rPr>
              <a:t>在划分之前，所有的训练数据集全部集中在根节点。如果这个时候不进行划分，根据算法，该节点可以被标注为叶节点，类别标记为训练样本数量最多的类别。假定这个叶节点标注为好瓜</a:t>
            </a:r>
            <a:endParaRPr lang="en-US" altLang="zh-CN" sz="2400" dirty="0">
              <a:latin typeface="+mj-ea"/>
              <a:ea typeface="+mj-ea"/>
            </a:endParaRPr>
          </a:p>
          <a:p>
            <a:pPr>
              <a:lnSpc>
                <a:spcPct val="150000"/>
              </a:lnSpc>
            </a:pPr>
            <a:r>
              <a:rPr lang="zh-CN" altLang="zh-CN" sz="1800" dirty="0">
                <a:latin typeface="+mj-ea"/>
                <a:ea typeface="+mj-ea"/>
              </a:rPr>
              <a:t>利用验证集对这个单点决策树进行评估，那么编号</a:t>
            </a:r>
            <a:r>
              <a:rPr lang="en-US" altLang="zh-CN" sz="1800" dirty="0">
                <a:latin typeface="+mj-ea"/>
                <a:ea typeface="+mj-ea"/>
              </a:rPr>
              <a:t>{4,5,8}</a:t>
            </a:r>
            <a:r>
              <a:rPr lang="zh-CN" altLang="zh-CN" sz="1800" dirty="0">
                <a:latin typeface="+mj-ea"/>
                <a:ea typeface="+mj-ea"/>
              </a:rPr>
              <a:t>的样本可以被正确分类，剩下的几个样本被错分。基于上述结果，验证集的准确率为</a:t>
            </a:r>
            <a:r>
              <a:rPr lang="en-US" altLang="zh-CN" sz="1800" dirty="0">
                <a:latin typeface="+mj-ea"/>
                <a:ea typeface="+mj-ea"/>
              </a:rPr>
              <a:t>3/7=42.8%</a:t>
            </a:r>
            <a:r>
              <a:rPr lang="zh-CN" altLang="zh-CN" sz="1800" dirty="0">
                <a:latin typeface="+mj-ea"/>
                <a:ea typeface="+mj-ea"/>
              </a:rPr>
              <a:t>。</a:t>
            </a:r>
            <a:endParaRPr lang="zh-CN" altLang="en-US" sz="2400" dirty="0">
              <a:latin typeface="+mj-ea"/>
              <a:ea typeface="+mj-ea"/>
            </a:endParaRPr>
          </a:p>
        </p:txBody>
      </p:sp>
      <p:pic>
        <p:nvPicPr>
          <p:cNvPr id="4" name="图片 3" descr="E:\a1.png"/>
          <p:cNvPicPr/>
          <p:nvPr/>
        </p:nvPicPr>
        <p:blipFill>
          <a:blip r:embed="rId2">
            <a:extLst>
              <a:ext uri="{28A0092B-C50C-407E-A947-70E740481C1C}">
                <a14:useLocalDpi xmlns:a14="http://schemas.microsoft.com/office/drawing/2010/main" val="0"/>
              </a:ext>
            </a:extLst>
          </a:blip>
          <a:srcRect/>
          <a:stretch>
            <a:fillRect/>
          </a:stretch>
        </p:blipFill>
        <p:spPr bwMode="auto">
          <a:xfrm>
            <a:off x="6871447" y="1506149"/>
            <a:ext cx="5050133" cy="4450898"/>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6BAE6A-B173-4DF7-A665-EB68FFBB1E10}"/>
              </a:ext>
            </a:extLst>
          </p:cNvPr>
          <p:cNvSpPr>
            <a:spLocks noGrp="1"/>
          </p:cNvSpPr>
          <p:nvPr>
            <p:ph type="title"/>
          </p:nvPr>
        </p:nvSpPr>
        <p:spPr/>
        <p:txBody>
          <a:bodyPr/>
          <a:lstStyle/>
          <a:p>
            <a:pPr algn="l"/>
            <a:r>
              <a:rPr lang="zh-CN" altLang="en-US" dirty="0"/>
              <a:t>预剪枝</a:t>
            </a:r>
          </a:p>
        </p:txBody>
      </p:sp>
      <p:sp>
        <p:nvSpPr>
          <p:cNvPr id="3" name="内容占位符 2">
            <a:extLst>
              <a:ext uri="{FF2B5EF4-FFF2-40B4-BE49-F238E27FC236}">
                <a16:creationId xmlns:a16="http://schemas.microsoft.com/office/drawing/2014/main" id="{311172AE-CF8A-492B-B996-0CE34E80E555}"/>
              </a:ext>
            </a:extLst>
          </p:cNvPr>
          <p:cNvSpPr>
            <a:spLocks noGrp="1"/>
          </p:cNvSpPr>
          <p:nvPr>
            <p:ph idx="1"/>
          </p:nvPr>
        </p:nvSpPr>
        <p:spPr>
          <a:xfrm>
            <a:off x="609600" y="1600203"/>
            <a:ext cx="6254338" cy="4525963"/>
          </a:xfrm>
        </p:spPr>
        <p:txBody>
          <a:bodyPr>
            <a:normAutofit/>
          </a:bodyPr>
          <a:lstStyle/>
          <a:p>
            <a:pPr>
              <a:lnSpc>
                <a:spcPct val="110000"/>
              </a:lnSpc>
            </a:pPr>
            <a:r>
              <a:rPr sz="1800">
                <a:latin typeface="+mj-ea"/>
                <a:ea typeface="+mj-ea"/>
              </a:rPr>
              <a:t>在使用</a:t>
            </a:r>
            <a:r>
              <a:rPr sz="1800">
                <a:latin typeface="+mj-ea"/>
                <a:ea typeface="+mj-ea"/>
              </a:rPr>
              <a:t>“</a:t>
            </a:r>
            <a:r>
              <a:rPr sz="1800">
                <a:latin typeface="+mj-ea"/>
                <a:ea typeface="+mj-ea"/>
              </a:rPr>
              <a:t>脐部</a:t>
            </a:r>
            <a:r>
              <a:rPr sz="1800">
                <a:latin typeface="+mj-ea"/>
                <a:ea typeface="+mj-ea"/>
              </a:rPr>
              <a:t>”</a:t>
            </a:r>
            <a:r>
              <a:rPr sz="1800">
                <a:latin typeface="+mj-ea"/>
                <a:ea typeface="+mj-ea"/>
              </a:rPr>
              <a:t>属性进行划分之后，下图②、③和④三个节点分别被标注为“好瓜”、“好瓜”和“坏瓜”。按照上述的标注，我们可以看到验证集中</a:t>
            </a:r>
            <a:r>
              <a:rPr sz="1800">
                <a:latin typeface="+mj-ea"/>
                <a:ea typeface="+mj-ea"/>
              </a:rPr>
              <a:t>{4,5,8,11,12}</a:t>
            </a:r>
            <a:r>
              <a:rPr sz="1800">
                <a:latin typeface="+mj-ea"/>
                <a:ea typeface="+mj-ea"/>
              </a:rPr>
              <a:t>的样本被正确分类，此时，验证集的准确率是</a:t>
            </a:r>
            <a:r>
              <a:rPr sz="1800">
                <a:latin typeface="+mj-ea"/>
                <a:ea typeface="+mj-ea"/>
              </a:rPr>
              <a:t>5/7=71.4%</a:t>
            </a:r>
            <a:r>
              <a:rPr sz="1800">
                <a:latin typeface="+mj-ea"/>
                <a:ea typeface="+mj-ea"/>
              </a:rPr>
              <a:t>。由此，我们可以得出结论，即基于“脐部”属性进行划分能提高决策树的泛化性能。</a:t>
            </a:r>
          </a:p>
          <a:p>
            <a:pPr>
              <a:lnSpc>
                <a:spcPct val="110000"/>
              </a:lnSpc>
            </a:pPr>
            <a:r>
              <a:rPr sz="1800">
                <a:latin typeface="+mj-ea"/>
                <a:ea typeface="+mj-ea"/>
              </a:rPr>
              <a:t>我们对节点②进行进一步的划分，同样基于信息增益原则选择“色泽”属性进行划分，从中可以看到青绿和乌黑的样本被划分成正例，浅白的样本被划分成为负例。然而，我们使用验证集对上述划分进行准确率的验证，我们发现划分前验证集的准确率是</a:t>
            </a:r>
            <a:r>
              <a:rPr sz="1800">
                <a:latin typeface="+mj-ea"/>
                <a:ea typeface="+mj-ea"/>
              </a:rPr>
              <a:t>71.4%</a:t>
            </a:r>
            <a:r>
              <a:rPr sz="1800">
                <a:latin typeface="+mj-ea"/>
                <a:ea typeface="+mj-ea"/>
              </a:rPr>
              <a:t>，经过了划分，验证集的准确率下降到了</a:t>
            </a:r>
            <a:r>
              <a:rPr sz="1800">
                <a:latin typeface="+mj-ea"/>
                <a:ea typeface="+mj-ea"/>
              </a:rPr>
              <a:t>57.1%</a:t>
            </a:r>
            <a:r>
              <a:rPr sz="1800">
                <a:latin typeface="+mj-ea"/>
                <a:ea typeface="+mj-ea"/>
              </a:rPr>
              <a:t>。因此，基于预剪枝策略，不再进行这次划分。</a:t>
            </a:r>
          </a:p>
          <a:p>
            <a:r>
              <a:rPr sz="1800">
                <a:latin typeface="+mj-ea"/>
                <a:ea typeface="+mj-ea"/>
              </a:rPr>
              <a:t/>
            </a:r>
          </a:p>
        </p:txBody>
      </p:sp>
      <p:pic>
        <p:nvPicPr>
          <p:cNvPr id="4" name="图片 3" descr="E:\a2.png"/>
          <p:cNvPicPr/>
          <p:nvPr/>
        </p:nvPicPr>
        <p:blipFill>
          <a:blip r:embed="rId2">
            <a:extLst>
              <a:ext uri="{28A0092B-C50C-407E-A947-70E740481C1C}">
                <a14:useLocalDpi xmlns:a14="http://schemas.microsoft.com/office/drawing/2010/main" val="0"/>
              </a:ext>
            </a:extLst>
          </a:blip>
          <a:srcRect/>
          <a:stretch>
            <a:fillRect/>
          </a:stretch>
        </p:blipFill>
        <p:spPr bwMode="auto">
          <a:xfrm>
            <a:off x="6863938" y="1857299"/>
            <a:ext cx="4784143" cy="3992171"/>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2FE6D8-7BA3-481F-8D4F-C8F55F326604}"/>
              </a:ext>
            </a:extLst>
          </p:cNvPr>
          <p:cNvSpPr>
            <a:spLocks noGrp="1"/>
          </p:cNvSpPr>
          <p:nvPr>
            <p:ph type="title"/>
          </p:nvPr>
        </p:nvSpPr>
        <p:spPr/>
        <p:txBody>
          <a:bodyPr/>
          <a:lstStyle/>
          <a:p>
            <a:pPr algn="l"/>
            <a:r>
              <a:rPr lang="zh-CN" altLang="en-US" dirty="0"/>
              <a:t>预剪枝</a:t>
            </a:r>
          </a:p>
        </p:txBody>
      </p:sp>
      <p:sp>
        <p:nvSpPr>
          <p:cNvPr id="3" name="内容占位符 2">
            <a:extLst>
              <a:ext uri="{FF2B5EF4-FFF2-40B4-BE49-F238E27FC236}">
                <a16:creationId xmlns:a16="http://schemas.microsoft.com/office/drawing/2014/main" id="{D94EEB50-C8AA-4509-8509-CB84B87F7DFF}"/>
              </a:ext>
            </a:extLst>
          </p:cNvPr>
          <p:cNvSpPr>
            <a:spLocks noGrp="1"/>
          </p:cNvSpPr>
          <p:nvPr>
            <p:ph idx="1"/>
          </p:nvPr>
        </p:nvSpPr>
        <p:spPr>
          <a:xfrm>
            <a:off x="609600" y="1600203"/>
            <a:ext cx="6295901" cy="4525963"/>
          </a:xfrm>
        </p:spPr>
        <p:txBody>
          <a:bodyPr>
            <a:normAutofit/>
          </a:bodyPr>
          <a:lstStyle/>
          <a:p>
            <a:pPr>
              <a:lnSpc>
                <a:spcPct val="120000"/>
              </a:lnSpc>
            </a:pPr>
            <a:r>
              <a:rPr sz="1800">
                <a:latin typeface="+mj-ea"/>
                <a:ea typeface="+mj-ea"/>
              </a:rPr>
              <a:t>在节点③使用“根蒂”属性进行进一步划分，然后利用验证集对划分前后的精度进行了评估，发现划分前后验证集的分类精度不变。因此，上述划分从提升泛化性能的角度来看，显得毫无意义。因此，我们也禁止对上述属性进行划分。</a:t>
            </a:r>
          </a:p>
          <a:p>
            <a:pPr>
              <a:lnSpc>
                <a:spcPct val="120000"/>
              </a:lnSpc>
            </a:pPr>
            <a:r>
              <a:rPr sz="1800">
                <a:latin typeface="+mj-ea"/>
                <a:ea typeface="+mj-ea"/>
              </a:rPr>
              <a:t>对于节点④，我们看到隶属于该节点的所有样本都已经属于一个类别，因此无需进行进一步地划分。</a:t>
            </a:r>
          </a:p>
          <a:p>
            <a:r>
              <a:rPr sz="1800"/>
              <a:t/>
            </a:r>
          </a:p>
        </p:txBody>
      </p:sp>
      <p:pic>
        <p:nvPicPr>
          <p:cNvPr id="4" name="图片 3" descr="E:\a2.png"/>
          <p:cNvPicPr/>
          <p:nvPr/>
        </p:nvPicPr>
        <p:blipFill>
          <a:blip r:embed="rId2">
            <a:extLst>
              <a:ext uri="{28A0092B-C50C-407E-A947-70E740481C1C}">
                <a14:useLocalDpi xmlns:a14="http://schemas.microsoft.com/office/drawing/2010/main" val="0"/>
              </a:ext>
            </a:extLst>
          </a:blip>
          <a:srcRect/>
          <a:stretch>
            <a:fillRect/>
          </a:stretch>
        </p:blipFill>
        <p:spPr bwMode="auto">
          <a:xfrm>
            <a:off x="6810936" y="1441665"/>
            <a:ext cx="4902460" cy="352030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0718CF-A7B7-4D8F-8EC6-20E7C81C5AEB}"/>
              </a:ext>
            </a:extLst>
          </p:cNvPr>
          <p:cNvSpPr>
            <a:spLocks noGrp="1"/>
          </p:cNvSpPr>
          <p:nvPr>
            <p:ph type="title"/>
          </p:nvPr>
        </p:nvSpPr>
        <p:spPr/>
        <p:txBody>
          <a:bodyPr/>
          <a:lstStyle/>
          <a:p>
            <a:pPr algn="l"/>
            <a:r>
              <a:rPr lang="zh-CN" altLang="en-US" dirty="0"/>
              <a:t>后剪枝</a:t>
            </a:r>
          </a:p>
        </p:txBody>
      </p:sp>
      <p:sp>
        <p:nvSpPr>
          <p:cNvPr id="3" name="内容占位符 2">
            <a:extLst>
              <a:ext uri="{FF2B5EF4-FFF2-40B4-BE49-F238E27FC236}">
                <a16:creationId xmlns:a16="http://schemas.microsoft.com/office/drawing/2014/main" id="{0E2FCD1D-33F8-4F33-9590-19E778F965B1}"/>
              </a:ext>
            </a:extLst>
          </p:cNvPr>
          <p:cNvSpPr>
            <a:spLocks noGrp="1"/>
          </p:cNvSpPr>
          <p:nvPr>
            <p:ph idx="1"/>
          </p:nvPr>
        </p:nvSpPr>
        <p:spPr>
          <a:xfrm>
            <a:off x="609600" y="1600203"/>
            <a:ext cx="6509657" cy="4525963"/>
          </a:xfrm>
        </p:spPr>
        <p:txBody>
          <a:bodyPr>
            <a:normAutofit/>
          </a:bodyPr>
          <a:lstStyle/>
          <a:p>
            <a:pPr>
              <a:lnSpc>
                <a:spcPct val="120000"/>
              </a:lnSpc>
            </a:pPr>
            <a:r>
              <a:rPr sz="1800">
                <a:latin typeface="+mj-ea"/>
                <a:ea typeface="+mj-ea"/>
              </a:rPr>
              <a:t>后剪枝则是从训练集中生成一棵完整的决策树，然后自下而上对非叶节点进行逐个评估，若将该节点对应的子树替换成叶节点能提高决策树的泛化性能，就将该子树替换成叶节点。</a:t>
            </a:r>
          </a:p>
          <a:p>
            <a:pPr>
              <a:lnSpc>
                <a:spcPct val="120000"/>
              </a:lnSpc>
            </a:pPr>
            <a:r>
              <a:rPr sz="1800">
                <a:latin typeface="+mj-ea"/>
                <a:ea typeface="+mj-ea"/>
              </a:rPr>
              <a:t>首先利用信息增益训练得到一棵完整的决策树，如下图所示。此时，我们利用验证集对决策树进行验证，并得到验证集的准确率为</a:t>
            </a:r>
            <a:r>
              <a:rPr sz="1800">
                <a:latin typeface="+mj-ea"/>
                <a:ea typeface="+mj-ea"/>
              </a:rPr>
              <a:t>42.9%</a:t>
            </a:r>
            <a:r>
              <a:rPr sz="1800">
                <a:latin typeface="+mj-ea"/>
                <a:ea typeface="+mj-ea"/>
              </a:rPr>
              <a:t>。</a:t>
            </a:r>
          </a:p>
          <a:p>
            <a:r>
              <a:rPr sz="1800">
                <a:latin typeface="+mj-ea"/>
                <a:ea typeface="+mj-ea"/>
              </a:rPr>
              <a:t/>
            </a:r>
          </a:p>
        </p:txBody>
      </p:sp>
      <p:pic>
        <p:nvPicPr>
          <p:cNvPr id="4" name="图片 3" descr="E:\a3.png"/>
          <p:cNvPicPr/>
          <p:nvPr/>
        </p:nvPicPr>
        <p:blipFill>
          <a:blip r:embed="rId2">
            <a:extLst>
              <a:ext uri="{28A0092B-C50C-407E-A947-70E740481C1C}">
                <a14:useLocalDpi xmlns:a14="http://schemas.microsoft.com/office/drawing/2010/main" val="0"/>
              </a:ext>
            </a:extLst>
          </a:blip>
          <a:srcRect/>
          <a:stretch>
            <a:fillRect/>
          </a:stretch>
        </p:blipFill>
        <p:spPr bwMode="auto">
          <a:xfrm>
            <a:off x="6946738" y="1393693"/>
            <a:ext cx="4639945" cy="392811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48A6D2-E825-445C-A580-F9A359791A91}"/>
              </a:ext>
            </a:extLst>
          </p:cNvPr>
          <p:cNvSpPr>
            <a:spLocks noGrp="1"/>
          </p:cNvSpPr>
          <p:nvPr>
            <p:ph type="title"/>
          </p:nvPr>
        </p:nvSpPr>
        <p:spPr/>
        <p:txBody>
          <a:bodyPr/>
          <a:lstStyle/>
          <a:p>
            <a:pPr algn="l"/>
            <a:r>
              <a:rPr lang="zh-CN" altLang="en-US" dirty="0"/>
              <a:t>后剪枝</a:t>
            </a:r>
          </a:p>
        </p:txBody>
      </p:sp>
      <p:sp>
        <p:nvSpPr>
          <p:cNvPr id="3" name="内容占位符 2">
            <a:extLst>
              <a:ext uri="{FF2B5EF4-FFF2-40B4-BE49-F238E27FC236}">
                <a16:creationId xmlns:a16="http://schemas.microsoft.com/office/drawing/2014/main" id="{4E776457-EA99-4E6B-9EB3-C84713DAF894}"/>
              </a:ext>
            </a:extLst>
          </p:cNvPr>
          <p:cNvSpPr>
            <a:spLocks noGrp="1"/>
          </p:cNvSpPr>
          <p:nvPr>
            <p:ph idx="1"/>
          </p:nvPr>
        </p:nvSpPr>
        <p:spPr>
          <a:xfrm>
            <a:off x="609600" y="1600203"/>
            <a:ext cx="5921829" cy="4525963"/>
          </a:xfrm>
        </p:spPr>
        <p:txBody>
          <a:bodyPr>
            <a:normAutofit/>
          </a:bodyPr>
          <a:lstStyle/>
          <a:p>
            <a:pPr>
              <a:lnSpc>
                <a:spcPct val="120000"/>
              </a:lnSpc>
            </a:pPr>
            <a:r>
              <a:rPr lang="zh-CN" altLang="zh-CN" sz="1800" dirty="0">
                <a:latin typeface="+mj-ea"/>
                <a:ea typeface="+mj-ea"/>
              </a:rPr>
              <a:t>基于后剪枝策略，我们首先考察节点⑥，将其包含的分支剪掉。此时，我们将节点⑥替换成为一个子叶节点，里面包含</a:t>
            </a:r>
            <a:r>
              <a:rPr lang="en-US" altLang="zh-CN" sz="1800" dirty="0">
                <a:latin typeface="+mj-ea"/>
                <a:ea typeface="+mj-ea"/>
              </a:rPr>
              <a:t>{7,15}</a:t>
            </a:r>
            <a:r>
              <a:rPr lang="zh-CN" altLang="zh-CN" sz="1800" dirty="0">
                <a:latin typeface="+mj-ea"/>
                <a:ea typeface="+mj-ea"/>
              </a:rPr>
              <a:t>两个训练样本，因此可以被标注为“好瓜”。再利用验证集进行验证可得剪枝之后的精度提升到了</a:t>
            </a:r>
            <a:r>
              <a:rPr lang="en-US" altLang="zh-CN" sz="1800" dirty="0">
                <a:latin typeface="+mj-ea"/>
                <a:ea typeface="+mj-ea"/>
              </a:rPr>
              <a:t>57.1%</a:t>
            </a:r>
            <a:r>
              <a:rPr lang="zh-CN" altLang="zh-CN" sz="1800" dirty="0">
                <a:latin typeface="+mj-ea"/>
                <a:ea typeface="+mj-ea"/>
              </a:rPr>
              <a:t>。因此，可以对节点⑥进行剪枝。</a:t>
            </a:r>
            <a:endParaRPr lang="en-US" altLang="zh-CN" sz="2400" dirty="0">
              <a:latin typeface="+mj-ea"/>
              <a:ea typeface="+mj-ea"/>
            </a:endParaRPr>
          </a:p>
          <a:p>
            <a:pPr>
              <a:lnSpc>
                <a:spcPct val="120000"/>
              </a:lnSpc>
            </a:pPr>
            <a:r>
              <a:rPr lang="zh-CN" altLang="zh-CN" sz="1800" dirty="0">
                <a:latin typeface="+mj-ea"/>
                <a:ea typeface="+mj-ea"/>
              </a:rPr>
              <a:t>考察节点⑤，将其替换为子叶节点，此时，利用验证集进行验证，发现剪枝之后的精度为</a:t>
            </a:r>
            <a:r>
              <a:rPr lang="en-US" altLang="zh-CN" sz="1800" dirty="0">
                <a:latin typeface="+mj-ea"/>
                <a:ea typeface="+mj-ea"/>
              </a:rPr>
              <a:t>57.1%</a:t>
            </a:r>
            <a:r>
              <a:rPr lang="zh-CN" altLang="zh-CN" sz="1800" dirty="0">
                <a:latin typeface="+mj-ea"/>
                <a:ea typeface="+mj-ea"/>
              </a:rPr>
              <a:t>，没有提升，因此，不再对节点⑤进行剪枝。</a:t>
            </a:r>
            <a:endParaRPr lang="zh-CN" altLang="en-US" sz="2400" dirty="0">
              <a:latin typeface="+mj-ea"/>
              <a:ea typeface="+mj-ea"/>
            </a:endParaRPr>
          </a:p>
        </p:txBody>
      </p:sp>
      <p:pic>
        <p:nvPicPr>
          <p:cNvPr id="4" name="图片 3" descr="E:\a4.png"/>
          <p:cNvPicPr/>
          <p:nvPr/>
        </p:nvPicPr>
        <p:blipFill>
          <a:blip r:embed="rId2">
            <a:extLst>
              <a:ext uri="{28A0092B-C50C-407E-A947-70E740481C1C}">
                <a14:useLocalDpi xmlns:a14="http://schemas.microsoft.com/office/drawing/2010/main" val="0"/>
              </a:ext>
            </a:extLst>
          </a:blip>
          <a:srcRect/>
          <a:stretch>
            <a:fillRect/>
          </a:stretch>
        </p:blipFill>
        <p:spPr bwMode="auto">
          <a:xfrm>
            <a:off x="6531429" y="1445063"/>
            <a:ext cx="5285921" cy="4471642"/>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0DFCA0-894B-47CD-B80D-461496E80F43}"/>
              </a:ext>
            </a:extLst>
          </p:cNvPr>
          <p:cNvSpPr>
            <a:spLocks noGrp="1"/>
          </p:cNvSpPr>
          <p:nvPr>
            <p:ph type="title"/>
          </p:nvPr>
        </p:nvSpPr>
        <p:spPr/>
        <p:txBody>
          <a:bodyPr/>
          <a:lstStyle/>
          <a:p>
            <a:pPr algn="l"/>
            <a:r>
              <a:rPr/>
              <a:t>CART算法</a:t>
            </a:r>
          </a:p>
        </p:txBody>
      </p:sp>
      <p:sp>
        <p:nvSpPr>
          <p:cNvPr id="3" name="内容占位符 2"/>
          <p:cNvSpPr>
            <a:spLocks noGrp="1"/>
          </p:cNvSpPr>
          <p:nvPr>
            <p:ph idx="1"/>
          </p:nvPr>
        </p:nvSpPr>
        <p:spPr/>
        <p:txBody>
          <a:bodyPr/>
          <a:lstStyle/>
          <a:p>
            <a:r>
              <a:rPr lang="en-US" altLang="zh-CN" sz="2800" dirty="0">
                <a:latin typeface="+mj-ea"/>
                <a:ea typeface="+mj-ea"/>
              </a:rPr>
              <a:t>CART</a:t>
            </a:r>
            <a:r>
              <a:rPr lang="zh-CN" altLang="zh-CN" sz="2800" dirty="0">
                <a:latin typeface="+mj-ea"/>
                <a:ea typeface="+mj-ea"/>
              </a:rPr>
              <a:t>算法生成的决策树是结构比较简单的二叉树，即把当前样本集划分成两个子样本集，由此生成的每个非叶结点都有两个分支，每次决策都只有</a:t>
            </a:r>
            <a:r>
              <a:rPr lang="en-US" altLang="zh-CN" sz="2800" dirty="0">
                <a:latin typeface="+mj-ea"/>
                <a:ea typeface="+mj-ea"/>
              </a:rPr>
              <a:t>“</a:t>
            </a:r>
            <a:r>
              <a:rPr lang="zh-CN" altLang="zh-CN" sz="2800" dirty="0">
                <a:latin typeface="+mj-ea"/>
                <a:ea typeface="+mj-ea"/>
              </a:rPr>
              <a:t>是</a:t>
            </a:r>
            <a:r>
              <a:rPr lang="en-US" altLang="zh-CN" sz="2800" dirty="0">
                <a:latin typeface="+mj-ea"/>
                <a:ea typeface="+mj-ea"/>
              </a:rPr>
              <a:t>”</a:t>
            </a:r>
            <a:r>
              <a:rPr lang="zh-CN" altLang="zh-CN" sz="2800" dirty="0">
                <a:latin typeface="+mj-ea"/>
                <a:ea typeface="+mj-ea"/>
              </a:rPr>
              <a:t>和</a:t>
            </a:r>
            <a:r>
              <a:rPr lang="en-US" altLang="zh-CN" sz="2800" dirty="0">
                <a:latin typeface="+mj-ea"/>
                <a:ea typeface="+mj-ea"/>
              </a:rPr>
              <a:t>“</a:t>
            </a:r>
            <a:r>
              <a:rPr lang="zh-CN" altLang="zh-CN" sz="2800" dirty="0">
                <a:latin typeface="+mj-ea"/>
                <a:ea typeface="+mj-ea"/>
              </a:rPr>
              <a:t>不是</a:t>
            </a:r>
            <a:r>
              <a:rPr lang="en-US" altLang="zh-CN" sz="2800" dirty="0">
                <a:latin typeface="+mj-ea"/>
                <a:ea typeface="+mj-ea"/>
              </a:rPr>
              <a:t>”</a:t>
            </a:r>
            <a:r>
              <a:rPr lang="zh-CN" altLang="zh-CN" sz="2800" dirty="0">
                <a:latin typeface="+mj-ea"/>
                <a:ea typeface="+mj-ea"/>
              </a:rPr>
              <a:t>两个选项。</a:t>
            </a:r>
            <a:endParaRPr lang="en-US" altLang="zh-CN" sz="2800" dirty="0">
              <a:latin typeface="+mj-ea"/>
              <a:ea typeface="+mj-ea"/>
            </a:endParaRPr>
          </a:p>
          <a:p>
            <a:r>
              <a:rPr lang="en-US" altLang="zh-CN" sz="2800" dirty="0">
                <a:latin typeface="+mj-ea"/>
                <a:ea typeface="+mj-ea"/>
              </a:rPr>
              <a:t>CART</a:t>
            </a:r>
            <a:r>
              <a:rPr lang="zh-CN" altLang="zh-CN" sz="2800" dirty="0">
                <a:latin typeface="+mj-ea"/>
                <a:ea typeface="+mj-ea"/>
              </a:rPr>
              <a:t>分类决策树则使用</a:t>
            </a:r>
            <a:r>
              <a:rPr lang="zh-CN" altLang="zh-CN" sz="2800" b="1" dirty="0">
                <a:solidFill>
                  <a:srgbClr val="FF0000"/>
                </a:solidFill>
                <a:latin typeface="+mj-ea"/>
                <a:ea typeface="+mj-ea"/>
              </a:rPr>
              <a:t>基尼系数</a:t>
            </a:r>
            <a:r>
              <a:rPr lang="zh-CN" altLang="zh-CN" sz="2800" dirty="0">
                <a:latin typeface="+mj-ea"/>
                <a:ea typeface="+mj-ea"/>
              </a:rPr>
              <a:t>来选择划分属性。</a:t>
            </a:r>
            <a:endParaRPr lang="en-US" altLang="zh-CN" sz="2800" dirty="0">
              <a:latin typeface="+mj-ea"/>
              <a:ea typeface="+mj-ea"/>
            </a:endParaRPr>
          </a:p>
          <a:p>
            <a:endParaRPr lang="en-US" altLang="zh-CN" sz="2800" dirty="0">
              <a:latin typeface="+mj-ea"/>
              <a:ea typeface="+mj-ea"/>
            </a:endParaRPr>
          </a:p>
          <a:p>
            <a:endParaRPr lang="en-US" altLang="zh-CN" sz="2800" dirty="0">
              <a:latin typeface="+mj-ea"/>
              <a:ea typeface="+mj-ea"/>
            </a:endParaRPr>
          </a:p>
          <a:p>
            <a:r>
              <a:rPr lang="zh-CN" altLang="zh-CN" sz="2800" dirty="0">
                <a:latin typeface="+mj-ea"/>
                <a:ea typeface="+mj-ea"/>
              </a:rPr>
              <a:t>基尼系数反映了从数据集</a:t>
            </a:r>
            <a:r>
              <a:rPr lang="en-US" altLang="zh-CN" sz="2800" dirty="0">
                <a:latin typeface="+mj-ea"/>
                <a:ea typeface="+mj-ea"/>
              </a:rPr>
              <a:t> D </a:t>
            </a:r>
            <a:r>
              <a:rPr lang="zh-CN" altLang="zh-CN" sz="2800" dirty="0">
                <a:latin typeface="+mj-ea"/>
                <a:ea typeface="+mj-ea"/>
              </a:rPr>
              <a:t>中随机抽取两个样本，其类别标记不一样的概率。</a:t>
            </a:r>
            <a:r>
              <a:rPr lang="zh-CN" altLang="zh-CN" sz="2800" b="1" dirty="0">
                <a:solidFill>
                  <a:srgbClr val="FF0000"/>
                </a:solidFill>
                <a:latin typeface="+mj-ea"/>
                <a:ea typeface="+mj-ea"/>
              </a:rPr>
              <a:t>基尼系数越小，数据集的纯度越高</a:t>
            </a:r>
            <a:endParaRPr lang="zh-CN" altLang="en-US" sz="2800" b="1" dirty="0">
              <a:solidFill>
                <a:srgbClr val="FF0000"/>
              </a:solidFill>
              <a:latin typeface="+mj-ea"/>
              <a:ea typeface="+mj-ea"/>
            </a:endParaRPr>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mc:AlternateContent xmlns:mc="http://schemas.openxmlformats.org/markup-compatibility/2006" xmlns:a14="http://schemas.microsoft.com/office/drawing/2010/main">
        <mc:Choice Requires="a14">
          <p:sp>
            <p:nvSpPr>
              <p:cNvPr id="8" name="文本框 7"/>
              <p:cNvSpPr txBox="1"/>
              <p:nvPr/>
            </p:nvSpPr>
            <p:spPr>
              <a:xfrm>
                <a:off x="2906966" y="3429254"/>
                <a:ext cx="4563745" cy="1058545"/>
              </a:xfrm>
              <a:prstGeom prst="rect">
                <a:avLst/>
              </a:prstGeom>
              <a:noFill/>
            </p:spPr>
            <p:txBody>
              <a:bodyPr wrap="none" rtlCol="0" anchor="t">
                <a:spAutoFit/>
              </a:bodyPr>
              <a:lstStyle/>
              <a:p>
                <a:pPr algn="l"/>
                <a14:m>
                  <m:oMathPara xmlns:m="http://schemas.openxmlformats.org/officeDocument/2006/math">
                    <m:oMath>
                      <m:r>
                        <a:rPr lang="en-US" altLang="zh-CN" sz="2000" i="1">
                          <a:latin typeface="Cambria Math" panose="02040503050406030204" pitchFamily="18" charset="0"/>
                          <a:cs typeface="Cambria Math" panose="02040503050406030204" pitchFamily="18" charset="0"/>
                        </a:rPr>
                        <m:t>𝐺𝑖𝑛𝑖</m:t>
                      </m:r>
                      <m:r>
                        <a:rPr lang="en-US" altLang="zh-CN" sz="2000" i="1">
                          <a:latin typeface="Cambria Math" panose="02040503050406030204" pitchFamily="18" charset="0"/>
                          <a:cs typeface="Cambria Math" panose="02040503050406030204" pitchFamily="18" charset="0"/>
                        </a:rPr>
                        <m:t>(</m:t>
                      </m:r>
                      <m:r>
                        <a:rPr lang="en-US" altLang="zh-CN" sz="2000" i="1">
                          <a:latin typeface="Cambria Math" panose="02040503050406030204" pitchFamily="18" charset="0"/>
                          <a:cs typeface="Cambria Math" panose="02040503050406030204" pitchFamily="18" charset="0"/>
                        </a:rPr>
                        <m:t>𝐷</m:t>
                      </m:r>
                      <m:r>
                        <a:rPr lang="en-US" altLang="zh-CN" sz="2000" i="1">
                          <a:latin typeface="Cambria Math" panose="02040503050406030204" pitchFamily="18" charset="0"/>
                          <a:cs typeface="Cambria Math" panose="02040503050406030204" pitchFamily="18" charset="0"/>
                        </a:rPr>
                        <m:t>)=</m:t>
                      </m:r>
                      <m:nary>
                        <m:naryPr>
                          <m:chr m:val="∑"/>
                          <m:limLoc m:val="undOvr"/>
                          <m:ctrlPr>
                            <a:rPr lang="en-US" altLang="zh-CN" sz="2000" i="1">
                              <a:latin typeface="Cambria Math" panose="02040503050406030204" pitchFamily="18" charset="0"/>
                              <a:cs typeface="Cambria Math" panose="02040503050406030204" pitchFamily="18" charset="0"/>
                            </a:rPr>
                          </m:ctrlPr>
                        </m:naryPr>
                        <m:sub>
                          <m:r>
                            <a:rPr lang="en-US" altLang="zh-CN" sz="2000" i="1">
                              <a:latin typeface="Cambria Math" panose="02040503050406030204" pitchFamily="18" charset="0"/>
                              <a:cs typeface="Cambria Math" panose="02040503050406030204" pitchFamily="18" charset="0"/>
                            </a:rPr>
                            <m:t>𝑘</m:t>
                          </m:r>
                          <m:r>
                            <a:rPr lang="en-US" altLang="zh-CN" sz="2000" i="1">
                              <a:latin typeface="Cambria Math" panose="02040503050406030204" pitchFamily="18" charset="0"/>
                              <a:cs typeface="Cambria Math" panose="02040503050406030204" pitchFamily="18" charset="0"/>
                            </a:rPr>
                            <m:t>=1</m:t>
                          </m:r>
                        </m:sub>
                        <m:sup>
                          <m:r>
                            <a:rPr lang="en-US" altLang="zh-CN" sz="2000" i="1">
                              <a:latin typeface="Cambria Math" panose="02040503050406030204" pitchFamily="18" charset="0"/>
                              <a:cs typeface="Cambria Math" panose="02040503050406030204" pitchFamily="18" charset="0"/>
                            </a:rPr>
                            <m:t>|</m:t>
                          </m:r>
                          <m:r>
                            <a:rPr lang="en-US" altLang="zh-CN" sz="2000" i="1">
                              <a:latin typeface="Cambria Math" panose="02040503050406030204" pitchFamily="18" charset="0"/>
                              <a:cs typeface="Cambria Math" panose="02040503050406030204" pitchFamily="18" charset="0"/>
                            </a:rPr>
                            <m:t>𝑌</m:t>
                          </m:r>
                          <m:r>
                            <a:rPr lang="en-US" altLang="zh-CN" sz="2000" i="1">
                              <a:latin typeface="Cambria Math" panose="02040503050406030204" pitchFamily="18" charset="0"/>
                              <a:cs typeface="Cambria Math" panose="02040503050406030204" pitchFamily="18" charset="0"/>
                            </a:rPr>
                            <m:t>|</m:t>
                          </m:r>
                        </m:sup>
                        <m:e>
                          <m:nary>
                            <m:naryPr>
                              <m:chr m:val="∑"/>
                              <m:limLoc m:val="undOvr"/>
                              <m:supHide m:val="on"/>
                              <m:ctrlPr>
                                <a:rPr lang="en-US" altLang="zh-CN" sz="2000" i="1">
                                  <a:latin typeface="Cambria Math" panose="02040503050406030204" pitchFamily="18" charset="0"/>
                                  <a:cs typeface="Cambria Math" panose="02040503050406030204" pitchFamily="18" charset="0"/>
                                </a:rPr>
                              </m:ctrlPr>
                            </m:naryPr>
                            <m:sub>
                              <m:sSup>
                                <m:sSupPr>
                                  <m:ctrlPr>
                                    <a:rPr lang="en-US" altLang="zh-CN" sz="2000" i="1">
                                      <a:latin typeface="Cambria Math" panose="02040503050406030204" pitchFamily="18" charset="0"/>
                                      <a:cs typeface="Cambria Math" panose="02040503050406030204" pitchFamily="18" charset="0"/>
                                    </a:rPr>
                                  </m:ctrlPr>
                                </m:sSupPr>
                                <m:e>
                                  <m:r>
                                    <a:rPr lang="en-US" altLang="zh-CN" sz="2000" i="1">
                                      <a:latin typeface="Cambria Math" panose="02040503050406030204" pitchFamily="18" charset="0"/>
                                      <a:cs typeface="Cambria Math" panose="02040503050406030204" pitchFamily="18" charset="0"/>
                                    </a:rPr>
                                    <m:t>𝑘</m:t>
                                  </m:r>
                                </m:e>
                                <m:sup>
                                  <m:r>
                                    <a:rPr lang="en-US" altLang="zh-CN" sz="2000" i="1">
                                      <a:latin typeface="Cambria Math" panose="02040503050406030204" pitchFamily="18" charset="0"/>
                                      <a:cs typeface="Cambria Math" panose="02040503050406030204" pitchFamily="18" charset="0"/>
                                    </a:rPr>
                                    <m:t>’</m:t>
                                  </m:r>
                                </m:sup>
                              </m:sSup>
                              <m:r>
                                <a:rPr lang="en-US" altLang="zh-CN" sz="2000" i="1">
                                  <a:latin typeface="Cambria Math" panose="02040503050406030204" pitchFamily="18" charset="0"/>
                                  <a:cs typeface="Cambria Math" panose="02040503050406030204" pitchFamily="18" charset="0"/>
                                </a:rPr>
                                <m:t>≠</m:t>
                              </m:r>
                              <m:r>
                                <a:rPr lang="en-US" altLang="zh-CN" sz="2000" i="1">
                                  <a:latin typeface="Cambria Math" panose="02040503050406030204" pitchFamily="18" charset="0"/>
                                  <a:cs typeface="Cambria Math" panose="02040503050406030204" pitchFamily="18" charset="0"/>
                                </a:rPr>
                                <m:t>𝑘</m:t>
                              </m:r>
                            </m:sub>
                            <m:sup/>
                            <m:e>
                              <m:sSub>
                                <m:sSubPr>
                                  <m:ctrlPr>
                                    <a:rPr lang="en-US" altLang="zh-CN" sz="2000" i="1">
                                      <a:latin typeface="Cambria Math" panose="02040503050406030204" pitchFamily="18" charset="0"/>
                                      <a:cs typeface="Cambria Math" panose="02040503050406030204" pitchFamily="18" charset="0"/>
                                    </a:rPr>
                                  </m:ctrlPr>
                                </m:sSubPr>
                                <m:e>
                                  <m:r>
                                    <a:rPr lang="en-US" altLang="zh-CN" sz="2000" i="1">
                                      <a:latin typeface="Cambria Math" panose="02040503050406030204" pitchFamily="18" charset="0"/>
                                      <a:cs typeface="Cambria Math" panose="02040503050406030204" pitchFamily="18" charset="0"/>
                                    </a:rPr>
                                    <m:t>𝑝</m:t>
                                  </m:r>
                                </m:e>
                                <m:sub>
                                  <m:r>
                                    <a:rPr lang="en-US" altLang="zh-CN" sz="2000" i="1">
                                      <a:latin typeface="Cambria Math" panose="02040503050406030204" pitchFamily="18" charset="0"/>
                                      <a:cs typeface="Cambria Math" panose="02040503050406030204" pitchFamily="18" charset="0"/>
                                    </a:rPr>
                                    <m:t>𝑘</m:t>
                                  </m:r>
                                </m:sub>
                              </m:sSub>
                              <m:sSubSup>
                                <m:sSubSupPr>
                                  <m:ctrlPr>
                                    <a:rPr lang="en-US" altLang="zh-CN" sz="2000" i="1">
                                      <a:latin typeface="Cambria Math" panose="02040503050406030204" pitchFamily="18" charset="0"/>
                                      <a:cs typeface="Cambria Math" panose="02040503050406030204" pitchFamily="18" charset="0"/>
                                    </a:rPr>
                                  </m:ctrlPr>
                                </m:sSubSupPr>
                                <m:e>
                                  <m:r>
                                    <a:rPr lang="en-US" altLang="zh-CN" sz="2000" i="1">
                                      <a:latin typeface="Cambria Math" panose="02040503050406030204" pitchFamily="18" charset="0"/>
                                      <a:cs typeface="Cambria Math" panose="02040503050406030204" pitchFamily="18" charset="0"/>
                                    </a:rPr>
                                    <m:t>𝑝</m:t>
                                  </m:r>
                                </m:e>
                                <m:sub>
                                  <m:r>
                                    <a:rPr lang="en-US" altLang="zh-CN" sz="2000" i="1">
                                      <a:latin typeface="Cambria Math" panose="02040503050406030204" pitchFamily="18" charset="0"/>
                                      <a:cs typeface="Cambria Math" panose="02040503050406030204" pitchFamily="18" charset="0"/>
                                    </a:rPr>
                                    <m:t>𝑘</m:t>
                                  </m:r>
                                </m:sub>
                                <m:sup>
                                  <m:r>
                                    <a:rPr lang="en-US" altLang="zh-CN" sz="2000" i="1">
                                      <a:latin typeface="Cambria Math" panose="02040503050406030204" pitchFamily="18" charset="0"/>
                                      <a:cs typeface="Cambria Math" panose="02040503050406030204" pitchFamily="18" charset="0"/>
                                    </a:rPr>
                                    <m:t>’</m:t>
                                  </m:r>
                                </m:sup>
                              </m:sSubSup>
                            </m:e>
                          </m:nary>
                        </m:e>
                      </m:nary>
                      <m:r>
                        <a:rPr lang="en-US" altLang="zh-CN" sz="2000" i="1">
                          <a:latin typeface="Cambria Math" panose="02040503050406030204" pitchFamily="18" charset="0"/>
                          <a:cs typeface="Cambria Math" panose="02040503050406030204" pitchFamily="18" charset="0"/>
                        </a:rPr>
                        <m:t>=1−</m:t>
                      </m:r>
                      <m:nary>
                        <m:naryPr>
                          <m:chr m:val="∑"/>
                          <m:limLoc m:val="undOvr"/>
                          <m:ctrlPr>
                            <a:rPr lang="en-US" altLang="zh-CN" sz="2000" i="1">
                              <a:latin typeface="Cambria Math" panose="02040503050406030204" pitchFamily="18" charset="0"/>
                              <a:cs typeface="Cambria Math" panose="02040503050406030204" pitchFamily="18" charset="0"/>
                            </a:rPr>
                          </m:ctrlPr>
                        </m:naryPr>
                        <m:sub>
                          <m:r>
                            <a:rPr lang="en-US" altLang="zh-CN" sz="2000" i="1">
                              <a:latin typeface="Cambria Math" panose="02040503050406030204" pitchFamily="18" charset="0"/>
                              <a:cs typeface="Cambria Math" panose="02040503050406030204" pitchFamily="18" charset="0"/>
                            </a:rPr>
                            <m:t>𝑘</m:t>
                          </m:r>
                          <m:r>
                            <a:rPr lang="en-US" altLang="zh-CN" sz="2000" i="1">
                              <a:latin typeface="Cambria Math" panose="02040503050406030204" pitchFamily="18" charset="0"/>
                              <a:cs typeface="Cambria Math" panose="02040503050406030204" pitchFamily="18" charset="0"/>
                            </a:rPr>
                            <m:t>=1</m:t>
                          </m:r>
                        </m:sub>
                        <m:sup>
                          <m:r>
                            <a:rPr lang="en-US" altLang="zh-CN" sz="2000" i="1">
                              <a:latin typeface="Cambria Math" panose="02040503050406030204" pitchFamily="18" charset="0"/>
                              <a:cs typeface="Cambria Math" panose="02040503050406030204" pitchFamily="18" charset="0"/>
                            </a:rPr>
                            <m:t>|</m:t>
                          </m:r>
                          <m:r>
                            <a:rPr lang="en-US" altLang="zh-CN" sz="2000" i="1">
                              <a:latin typeface="Cambria Math" panose="02040503050406030204" pitchFamily="18" charset="0"/>
                              <a:cs typeface="Cambria Math" panose="02040503050406030204" pitchFamily="18" charset="0"/>
                            </a:rPr>
                            <m:t>𝑌</m:t>
                          </m:r>
                          <m:r>
                            <a:rPr lang="en-US" altLang="zh-CN" sz="2000" i="1">
                              <a:latin typeface="Cambria Math" panose="02040503050406030204" pitchFamily="18" charset="0"/>
                              <a:cs typeface="Cambria Math" panose="02040503050406030204" pitchFamily="18" charset="0"/>
                            </a:rPr>
                            <m:t>|</m:t>
                          </m:r>
                        </m:sup>
                        <m:e>
                          <m:sSubSup>
                            <m:sSubSupPr>
                              <m:ctrlPr>
                                <a:rPr lang="en-US" altLang="zh-CN" sz="2000" i="1">
                                  <a:latin typeface="Cambria Math" panose="02040503050406030204" pitchFamily="18" charset="0"/>
                                  <a:cs typeface="Cambria Math" panose="02040503050406030204" pitchFamily="18" charset="0"/>
                                </a:rPr>
                              </m:ctrlPr>
                            </m:sSubSupPr>
                            <m:e>
                              <m:r>
                                <a:rPr lang="en-US" altLang="zh-CN" sz="2000" i="1">
                                  <a:latin typeface="Cambria Math" panose="02040503050406030204" pitchFamily="18" charset="0"/>
                                  <a:cs typeface="Cambria Math" panose="02040503050406030204" pitchFamily="18" charset="0"/>
                                </a:rPr>
                                <m:t>𝑝</m:t>
                              </m:r>
                            </m:e>
                            <m:sub>
                              <m:r>
                                <a:rPr lang="en-US" altLang="zh-CN" sz="2000" i="1">
                                  <a:latin typeface="Cambria Math" panose="02040503050406030204" pitchFamily="18" charset="0"/>
                                  <a:cs typeface="Cambria Math" panose="02040503050406030204" pitchFamily="18" charset="0"/>
                                </a:rPr>
                                <m:t>𝑘</m:t>
                              </m:r>
                            </m:sub>
                            <m:sup>
                              <m:r>
                                <a:rPr lang="en-US" altLang="zh-CN" sz="2000" i="1">
                                  <a:latin typeface="Cambria Math" panose="02040503050406030204" pitchFamily="18" charset="0"/>
                                  <a:cs typeface="Cambria Math" panose="02040503050406030204" pitchFamily="18" charset="0"/>
                                </a:rPr>
                                <m:t>2</m:t>
                              </m:r>
                            </m:sup>
                          </m:sSubSup>
                        </m:e>
                      </m:nary>
                    </m:oMath>
                  </m:oMathPara>
                </a14:m>
                <a:endParaRPr lang="en-US" altLang="zh-CN" sz="2000" i="1" dirty="0">
                  <a:latin typeface="Cambria Math" panose="02040503050406030204" pitchFamily="18" charset="0"/>
                  <a:cs typeface="Cambria Math" panose="02040503050406030204" pitchFamily="18" charset="0"/>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2906966" y="3429254"/>
                <a:ext cx="4563745" cy="1058545"/>
              </a:xfrm>
              <a:prstGeom prst="rect">
                <a:avLst/>
              </a:prstGeom>
              <a:blipFill rotWithShape="1">
                <a:blip r:embed="rId2"/>
                <a:stretch>
                  <a:fillRect l="-13" t="-24" r="13" b="2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p:cNvSpPr txBox="1"/>
              <p:nvPr/>
            </p:nvSpPr>
            <p:spPr>
              <a:xfrm>
                <a:off x="2846006" y="5513959"/>
                <a:ext cx="4603750" cy="965200"/>
              </a:xfrm>
              <a:prstGeom prst="rect">
                <a:avLst/>
              </a:prstGeom>
              <a:noFill/>
            </p:spPr>
            <p:txBody>
              <a:bodyPr wrap="none" rtlCol="0" anchor="t">
                <a:spAutoFit/>
              </a:bodyPr>
              <a:lstStyle/>
              <a:p>
                <a:pPr algn="l"/>
                <a14:m>
                  <m:oMathPara xmlns:m="http://schemas.openxmlformats.org/officeDocument/2006/math">
                    <m:oMath>
                      <m:r>
                        <a:rPr lang="en-US" altLang="zh-CN" sz="2000" i="1">
                          <a:latin typeface="Cambria Math" panose="02040503050406030204" pitchFamily="18" charset="0"/>
                          <a:cs typeface="Cambria Math" panose="02040503050406030204" pitchFamily="18" charset="0"/>
                        </a:rPr>
                        <m:t>𝐺𝑖𝑛𝑖</m:t>
                      </m:r>
                      <m:r>
                        <a:rPr lang="en-US" altLang="zh-CN" sz="2000" i="1">
                          <a:latin typeface="Cambria Math" panose="02040503050406030204" pitchFamily="18" charset="0"/>
                          <a:cs typeface="Cambria Math" panose="02040503050406030204" pitchFamily="18" charset="0"/>
                        </a:rPr>
                        <m:t>_</m:t>
                      </m:r>
                      <m:r>
                        <a:rPr lang="en-US" altLang="zh-CN" sz="2000" i="1">
                          <a:latin typeface="Cambria Math" panose="02040503050406030204" pitchFamily="18" charset="0"/>
                          <a:cs typeface="Cambria Math" panose="02040503050406030204" pitchFamily="18" charset="0"/>
                        </a:rPr>
                        <m:t>𝑖𝑛𝑑𝑒𝑥</m:t>
                      </m:r>
                      <m:r>
                        <a:rPr lang="en-US" altLang="zh-CN" sz="2000" i="1">
                          <a:latin typeface="Cambria Math" panose="02040503050406030204" pitchFamily="18" charset="0"/>
                          <a:cs typeface="Cambria Math" panose="02040503050406030204" pitchFamily="18" charset="0"/>
                        </a:rPr>
                        <m:t>(</m:t>
                      </m:r>
                      <m:r>
                        <a:rPr lang="en-US" altLang="zh-CN" sz="2000" i="1">
                          <a:latin typeface="Cambria Math" panose="02040503050406030204" pitchFamily="18" charset="0"/>
                          <a:cs typeface="Cambria Math" panose="02040503050406030204" pitchFamily="18" charset="0"/>
                        </a:rPr>
                        <m:t>𝐷</m:t>
                      </m:r>
                      <m:r>
                        <a:rPr lang="en-US" altLang="zh-CN" sz="2000" i="1">
                          <a:latin typeface="Cambria Math" panose="02040503050406030204" pitchFamily="18" charset="0"/>
                          <a:cs typeface="Cambria Math" panose="02040503050406030204" pitchFamily="18" charset="0"/>
                        </a:rPr>
                        <m:t>,</m:t>
                      </m:r>
                      <m:r>
                        <a:rPr lang="en-US" altLang="zh-CN" sz="2000" i="1">
                          <a:latin typeface="Cambria Math" panose="02040503050406030204" pitchFamily="18" charset="0"/>
                          <a:cs typeface="Cambria Math" panose="02040503050406030204" pitchFamily="18" charset="0"/>
                        </a:rPr>
                        <m:t>𝑎</m:t>
                      </m:r>
                      <m:r>
                        <a:rPr lang="en-US" altLang="zh-CN" sz="2000" i="1">
                          <a:latin typeface="Cambria Math" panose="02040503050406030204" pitchFamily="18" charset="0"/>
                          <a:cs typeface="Cambria Math" panose="02040503050406030204" pitchFamily="18" charset="0"/>
                        </a:rPr>
                        <m:t>)=</m:t>
                      </m:r>
                      <m:nary>
                        <m:naryPr>
                          <m:chr m:val="∑"/>
                          <m:limLoc m:val="undOvr"/>
                          <m:ctrlPr>
                            <a:rPr lang="en-US" altLang="zh-CN" sz="2000" i="1">
                              <a:latin typeface="Cambria Math" panose="02040503050406030204" pitchFamily="18" charset="0"/>
                              <a:cs typeface="Cambria Math" panose="02040503050406030204" pitchFamily="18" charset="0"/>
                            </a:rPr>
                          </m:ctrlPr>
                        </m:naryPr>
                        <m:sub>
                          <m:r>
                            <a:rPr lang="en-US" altLang="zh-CN" sz="2000" i="1">
                              <a:latin typeface="Cambria Math" panose="02040503050406030204" pitchFamily="18" charset="0"/>
                              <a:cs typeface="Cambria Math" panose="02040503050406030204" pitchFamily="18" charset="0"/>
                            </a:rPr>
                            <m:t>𝑣</m:t>
                          </m:r>
                          <m:r>
                            <a:rPr lang="en-US" altLang="zh-CN" sz="2000" i="1">
                              <a:latin typeface="Cambria Math" panose="02040503050406030204" pitchFamily="18" charset="0"/>
                              <a:cs typeface="Cambria Math" panose="02040503050406030204" pitchFamily="18" charset="0"/>
                            </a:rPr>
                            <m:t>=1</m:t>
                          </m:r>
                        </m:sub>
                        <m:sup>
                          <m:r>
                            <a:rPr lang="en-US" altLang="zh-CN" sz="2000" i="1">
                              <a:latin typeface="Cambria Math" panose="02040503050406030204" pitchFamily="18" charset="0"/>
                              <a:cs typeface="Cambria Math" panose="02040503050406030204" pitchFamily="18" charset="0"/>
                            </a:rPr>
                            <m:t>𝑉</m:t>
                          </m:r>
                        </m:sup>
                        <m:e>
                          <m:f>
                            <m:fPr>
                              <m:ctrlPr>
                                <a:rPr lang="en-US" altLang="zh-CN" sz="2000" i="1">
                                  <a:latin typeface="Cambria Math" panose="02040503050406030204" pitchFamily="18" charset="0"/>
                                  <a:cs typeface="Cambria Math" panose="02040503050406030204" pitchFamily="18" charset="0"/>
                                </a:rPr>
                              </m:ctrlPr>
                            </m:fPr>
                            <m:num>
                              <m:r>
                                <a:rPr lang="en-US" altLang="zh-CN" sz="2000" i="1">
                                  <a:latin typeface="Cambria Math" panose="02040503050406030204" pitchFamily="18" charset="0"/>
                                  <a:cs typeface="Cambria Math" panose="02040503050406030204" pitchFamily="18" charset="0"/>
                                </a:rPr>
                                <m:t>|</m:t>
                              </m:r>
                              <m:sSup>
                                <m:sSupPr>
                                  <m:ctrlPr>
                                    <a:rPr lang="en-US" altLang="zh-CN" sz="2000" i="1">
                                      <a:latin typeface="Cambria Math" panose="02040503050406030204" pitchFamily="18" charset="0"/>
                                      <a:cs typeface="Cambria Math" panose="02040503050406030204" pitchFamily="18" charset="0"/>
                                    </a:rPr>
                                  </m:ctrlPr>
                                </m:sSupPr>
                                <m:e>
                                  <m:r>
                                    <a:rPr lang="en-US" altLang="zh-CN" sz="2000" i="1">
                                      <a:latin typeface="Cambria Math" panose="02040503050406030204" pitchFamily="18" charset="0"/>
                                      <a:cs typeface="Cambria Math" panose="02040503050406030204" pitchFamily="18" charset="0"/>
                                    </a:rPr>
                                    <m:t>𝐷</m:t>
                                  </m:r>
                                </m:e>
                                <m:sup>
                                  <m:r>
                                    <a:rPr lang="en-US" altLang="zh-CN" sz="2000" i="1">
                                      <a:latin typeface="Cambria Math" panose="02040503050406030204" pitchFamily="18" charset="0"/>
                                      <a:cs typeface="Cambria Math" panose="02040503050406030204" pitchFamily="18" charset="0"/>
                                    </a:rPr>
                                    <m:t>𝑣</m:t>
                                  </m:r>
                                </m:sup>
                              </m:sSup>
                              <m:r>
                                <a:rPr lang="en-US" altLang="zh-CN" sz="2000" i="1">
                                  <a:latin typeface="Cambria Math" panose="02040503050406030204" pitchFamily="18" charset="0"/>
                                  <a:cs typeface="Cambria Math" panose="02040503050406030204" pitchFamily="18" charset="0"/>
                                </a:rPr>
                                <m:t>|</m:t>
                              </m:r>
                            </m:num>
                            <m:den>
                              <m:r>
                                <a:rPr lang="en-US" altLang="zh-CN" sz="2000" i="1">
                                  <a:latin typeface="Cambria Math" panose="02040503050406030204" pitchFamily="18" charset="0"/>
                                  <a:cs typeface="Cambria Math" panose="02040503050406030204" pitchFamily="18" charset="0"/>
                                </a:rPr>
                                <m:t>|</m:t>
                              </m:r>
                              <m:r>
                                <a:rPr lang="en-US" altLang="zh-CN" sz="2000" i="1">
                                  <a:latin typeface="Cambria Math" panose="02040503050406030204" pitchFamily="18" charset="0"/>
                                  <a:cs typeface="Cambria Math" panose="02040503050406030204" pitchFamily="18" charset="0"/>
                                </a:rPr>
                                <m:t>𝐷</m:t>
                              </m:r>
                              <m:r>
                                <a:rPr lang="en-US" altLang="zh-CN" sz="2000" i="1">
                                  <a:latin typeface="Cambria Math" panose="02040503050406030204" pitchFamily="18" charset="0"/>
                                  <a:cs typeface="Cambria Math" panose="02040503050406030204" pitchFamily="18" charset="0"/>
                                </a:rPr>
                                <m:t>|</m:t>
                              </m:r>
                            </m:den>
                          </m:f>
                        </m:e>
                      </m:nary>
                      <m:r>
                        <a:rPr lang="en-US" altLang="zh-CN" sz="2000" i="1">
                          <a:latin typeface="Cambria Math" panose="02040503050406030204" pitchFamily="18" charset="0"/>
                          <a:cs typeface="Cambria Math" panose="02040503050406030204" pitchFamily="18" charset="0"/>
                        </a:rPr>
                        <m:t>𝐺𝑖𝑛𝑖</m:t>
                      </m:r>
                      <m:r>
                        <a:rPr lang="en-US" altLang="zh-CN" sz="2000" i="1">
                          <a:latin typeface="Cambria Math" panose="02040503050406030204" pitchFamily="18" charset="0"/>
                          <a:cs typeface="Cambria Math" panose="02040503050406030204" pitchFamily="18" charset="0"/>
                        </a:rPr>
                        <m:t>(</m:t>
                      </m:r>
                      <m:sSup>
                        <m:sSupPr>
                          <m:ctrlPr>
                            <a:rPr lang="en-US" altLang="zh-CN" sz="2000" i="1">
                              <a:latin typeface="Cambria Math" panose="02040503050406030204" pitchFamily="18" charset="0"/>
                              <a:cs typeface="Cambria Math" panose="02040503050406030204" pitchFamily="18" charset="0"/>
                            </a:rPr>
                          </m:ctrlPr>
                        </m:sSupPr>
                        <m:e>
                          <m:r>
                            <a:rPr lang="en-US" altLang="zh-CN" sz="2000" i="1">
                              <a:latin typeface="Cambria Math" panose="02040503050406030204" pitchFamily="18" charset="0"/>
                              <a:cs typeface="Cambria Math" panose="02040503050406030204" pitchFamily="18" charset="0"/>
                            </a:rPr>
                            <m:t>𝐷</m:t>
                          </m:r>
                        </m:e>
                        <m:sup>
                          <m:r>
                            <a:rPr lang="en-US" altLang="zh-CN" sz="2000" i="1">
                              <a:latin typeface="Cambria Math" panose="02040503050406030204" pitchFamily="18" charset="0"/>
                              <a:cs typeface="Cambria Math" panose="02040503050406030204" pitchFamily="18" charset="0"/>
                            </a:rPr>
                            <m:t>𝑣</m:t>
                          </m:r>
                        </m:sup>
                      </m:sSup>
                      <m:r>
                        <a:rPr lang="en-US" altLang="zh-CN" sz="2000" i="1">
                          <a:latin typeface="Cambria Math" panose="02040503050406030204" pitchFamily="18" charset="0"/>
                          <a:ea typeface="MS Mincho" charset="0"/>
                          <a:cs typeface="Cambria Math" panose="02040503050406030204" pitchFamily="18" charset="0"/>
                        </a:rPr>
                        <m:t>)</m:t>
                      </m:r>
                    </m:oMath>
                  </m:oMathPara>
                </a14:m>
                <a:endParaRPr lang="en-US" altLang="zh-CN" sz="2000" i="1" dirty="0">
                  <a:latin typeface="Cambria Math" panose="02040503050406030204" pitchFamily="18" charset="0"/>
                  <a:cs typeface="Cambria Math" panose="02040503050406030204" pitchFamily="18" charset="0"/>
                </a:endParaRPr>
              </a:p>
            </p:txBody>
          </p:sp>
        </mc:Choice>
        <mc:Fallback xmlns="">
          <p:sp>
            <p:nvSpPr>
              <p:cNvPr id="9" name="文本框 8"/>
              <p:cNvSpPr txBox="1">
                <a:spLocks noRot="1" noChangeAspect="1" noMove="1" noResize="1" noEditPoints="1" noAdjustHandles="1" noChangeArrowheads="1" noChangeShapeType="1" noTextEdit="1"/>
              </p:cNvSpPr>
              <p:nvPr/>
            </p:nvSpPr>
            <p:spPr>
              <a:xfrm>
                <a:off x="2846006" y="5513959"/>
                <a:ext cx="4603750" cy="965200"/>
              </a:xfrm>
              <a:prstGeom prst="rect">
                <a:avLst/>
              </a:prstGeom>
              <a:blipFill rotWithShape="1">
                <a:blip r:embed="rId3"/>
                <a:stretch>
                  <a:fillRect l="-12" t="-26" r="12" b="26"/>
                </a:stretch>
              </a:blipFill>
            </p:spPr>
            <p:txBody>
              <a:bodyPr/>
              <a:lstStyle/>
              <a:p>
                <a:r>
                  <a:rPr lang="zh-CN" altLang="en-US">
                    <a:noFill/>
                  </a:rPr>
                  <a:t> </a:t>
                </a:r>
              </a:p>
            </p:txBody>
          </p:sp>
        </mc:Fallback>
      </mc:AlternateContent>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CC14A3-C80A-4D0F-87F0-5BDAD57EB9DE}"/>
              </a:ext>
            </a:extLst>
          </p:cNvPr>
          <p:cNvSpPr>
            <a:spLocks noGrp="1"/>
          </p:cNvSpPr>
          <p:nvPr>
            <p:ph type="title"/>
          </p:nvPr>
        </p:nvSpPr>
        <p:spPr/>
        <p:txBody>
          <a:bodyPr/>
          <a:lstStyle/>
          <a:p>
            <a:pPr algn="l"/>
            <a:r>
              <a:rPr/>
              <a:t>CART算法</a:t>
            </a:r>
          </a:p>
        </p:txBody>
      </p:sp>
      <p:sp>
        <p:nvSpPr>
          <p:cNvPr id="3" name="内容占位符 2"/>
          <p:cNvSpPr>
            <a:spLocks noGrp="1"/>
          </p:cNvSpPr>
          <p:nvPr>
            <p:ph idx="1"/>
          </p:nvPr>
        </p:nvSpPr>
        <p:spPr/>
        <p:txBody>
          <a:bodyPr/>
          <a:lstStyle/>
          <a:p>
            <a:r>
              <a:rPr lang="zh-CN" altLang="zh-CN" dirty="0">
                <a:latin typeface="+mj-ea"/>
                <a:ea typeface="+mj-ea"/>
              </a:rPr>
              <a:t>选择可以使得</a:t>
            </a:r>
            <a:r>
              <a:rPr lang="zh-CN" altLang="zh-CN" b="1" dirty="0">
                <a:solidFill>
                  <a:srgbClr val="FF0000"/>
                </a:solidFill>
                <a:latin typeface="+mj-ea"/>
                <a:ea typeface="+mj-ea"/>
              </a:rPr>
              <a:t>基尼系数最小</a:t>
            </a:r>
            <a:r>
              <a:rPr lang="zh-CN" altLang="zh-CN" dirty="0">
                <a:latin typeface="+mj-ea"/>
                <a:ea typeface="+mj-ea"/>
              </a:rPr>
              <a:t>的属性作为最优划分属性</a:t>
            </a:r>
            <a:endParaRPr lang="en-US" altLang="zh-CN" dirty="0">
              <a:latin typeface="+mj-ea"/>
              <a:ea typeface="+mj-ea"/>
            </a:endParaRPr>
          </a:p>
          <a:p>
            <a:endParaRPr lang="en-US" altLang="zh-CN" dirty="0">
              <a:latin typeface="+mj-ea"/>
              <a:ea typeface="+mj-ea"/>
            </a:endParaRPr>
          </a:p>
          <a:p>
            <a:r>
              <a:rPr lang="zh-CN" altLang="zh-CN" dirty="0">
                <a:latin typeface="+mj-ea"/>
                <a:ea typeface="+mj-ea"/>
              </a:rPr>
              <a:t>计算“触感”属性下硬滑、软粘两种取值的基尼值</a:t>
            </a:r>
            <a:endParaRPr lang="zh-CN" altLang="en-US" dirty="0">
              <a:latin typeface="+mj-ea"/>
              <a:ea typeface="+mj-ea"/>
            </a:endParaRPr>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6"/>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mc:AlternateContent xmlns:mc="http://schemas.openxmlformats.org/markup-compatibility/2006" xmlns:a14="http://schemas.microsoft.com/office/drawing/2010/main">
        <mc:Choice Requires="a14">
          <p:sp>
            <p:nvSpPr>
              <p:cNvPr id="12" name="文本框 11"/>
              <p:cNvSpPr txBox="1"/>
              <p:nvPr/>
            </p:nvSpPr>
            <p:spPr>
              <a:xfrm>
                <a:off x="4593526" y="2241804"/>
                <a:ext cx="4109720" cy="535305"/>
              </a:xfrm>
              <a:prstGeom prst="rect">
                <a:avLst/>
              </a:prstGeom>
              <a:noFill/>
            </p:spPr>
            <p:txBody>
              <a:bodyPr wrap="none" rtlCol="0" anchor="t">
                <a:spAutoFit/>
              </a:bodyPr>
              <a:lstStyle/>
              <a:p>
                <a:pPr algn="l"/>
                <a14:m>
                  <m:oMathPara xmlns:m="http://schemas.openxmlformats.org/officeDocument/2006/math">
                    <m:oMath>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𝑎</m:t>
                          </m:r>
                        </m:e>
                        <m:sup>
                          <m:r>
                            <a:rPr lang="en-US" altLang="zh-CN" i="1">
                              <a:latin typeface="Cambria Math" panose="02040503050406030204" pitchFamily="18" charset="0"/>
                              <a:cs typeface="Cambria Math" panose="02040503050406030204" pitchFamily="18" charset="0"/>
                            </a:rPr>
                            <m:t>∗</m:t>
                          </m:r>
                        </m:sup>
                      </m:sSup>
                      <m:r>
                        <a:rPr lang="en-US" altLang="zh-CN" i="1">
                          <a:latin typeface="Cambria Math" panose="02040503050406030204" pitchFamily="18" charset="0"/>
                          <a:cs typeface="Cambria Math" panose="02040503050406030204" pitchFamily="18" charset="0"/>
                        </a:rPr>
                        <m:t>=</m:t>
                      </m:r>
                      <m:r>
                        <m:rPr>
                          <m:sty m:val="p"/>
                        </m:rPr>
                        <a:rPr lang="en-US" altLang="zh-CN">
                          <a:latin typeface="Cambria Math" panose="02040503050406030204" pitchFamily="18" charset="0"/>
                          <a:cs typeface="Cambria Math" panose="02040503050406030204" pitchFamily="18" charset="0"/>
                        </a:rPr>
                        <m:t>arg</m:t>
                      </m:r>
                      <m:func>
                        <m:funcPr>
                          <m:ctrlPr>
                            <a:rPr lang="en-US" altLang="zh-CN" i="1">
                              <a:latin typeface="Cambria Math" panose="02040503050406030204" pitchFamily="18" charset="0"/>
                              <a:cs typeface="Cambria Math" panose="02040503050406030204" pitchFamily="18" charset="0"/>
                            </a:rPr>
                          </m:ctrlPr>
                        </m:funcPr>
                        <m:fName>
                          <m:limLow>
                            <m:limLowPr>
                              <m:ctrlPr>
                                <a:rPr lang="en-US" altLang="zh-CN">
                                  <a:latin typeface="Cambria Math" panose="02040503050406030204" pitchFamily="18" charset="0"/>
                                  <a:cs typeface="Cambria Math" panose="02040503050406030204" pitchFamily="18" charset="0"/>
                                </a:rPr>
                              </m:ctrlPr>
                            </m:limLowPr>
                            <m:e>
                              <m:r>
                                <m:rPr>
                                  <m:sty m:val="p"/>
                                </m:rPr>
                                <a:rPr lang="en-US" altLang="zh-CN">
                                  <a:latin typeface="Cambria Math" panose="02040503050406030204" pitchFamily="18" charset="0"/>
                                  <a:cs typeface="Cambria Math" panose="02040503050406030204" pitchFamily="18" charset="0"/>
                                </a:rPr>
                                <m:t>min</m:t>
                              </m:r>
                            </m:e>
                            <m:lim>
                              <m:r>
                                <a:rPr lang="en-US" altLang="zh-CN" i="1">
                                  <a:latin typeface="Cambria Math" panose="02040503050406030204" pitchFamily="18" charset="0"/>
                                  <a:cs typeface="Cambria Math" panose="02040503050406030204" pitchFamily="18" charset="0"/>
                                </a:rPr>
                                <m:t>𝑎</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𝐴</m:t>
                              </m:r>
                            </m:lim>
                          </m:limLow>
                        </m:fName>
                        <m:e>
                          <m:r>
                            <a:rPr lang="en-US" altLang="zh-CN" i="1">
                              <a:latin typeface="Cambria Math" panose="02040503050406030204" pitchFamily="18" charset="0"/>
                              <a:cs typeface="Cambria Math" panose="02040503050406030204" pitchFamily="18" charset="0"/>
                            </a:rPr>
                            <m:t>𝐺𝑖𝑛𝑖</m:t>
                          </m:r>
                          <m:r>
                            <a:rPr lang="en-US" altLang="zh-CN" i="1">
                              <a:latin typeface="Cambria Math" panose="02040503050406030204" pitchFamily="18" charset="0"/>
                              <a:cs typeface="Cambria Math" panose="02040503050406030204" pitchFamily="18" charset="0"/>
                            </a:rPr>
                            <m:t>_</m:t>
                          </m:r>
                          <m:r>
                            <a:rPr lang="en-US" altLang="zh-CN" i="1">
                              <a:latin typeface="Cambria Math" panose="02040503050406030204" pitchFamily="18" charset="0"/>
                              <a:cs typeface="Cambria Math" panose="02040503050406030204" pitchFamily="18" charset="0"/>
                            </a:rPr>
                            <m:t>𝑖𝑛𝑑𝑒𝑥</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𝐷</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𝑎</m:t>
                          </m:r>
                          <m:r>
                            <a:rPr lang="en-US" altLang="zh-CN" i="1">
                              <a:latin typeface="Cambria Math" panose="02040503050406030204" pitchFamily="18" charset="0"/>
                              <a:cs typeface="Cambria Math" panose="02040503050406030204" pitchFamily="18" charset="0"/>
                            </a:rPr>
                            <m:t>)</m:t>
                          </m:r>
                        </m:e>
                      </m:func>
                    </m:oMath>
                  </m:oMathPara>
                </a14:m>
                <a:endParaRPr lang="zh-CN" altLang="en-US" dirty="0"/>
              </a:p>
            </p:txBody>
          </p:sp>
        </mc:Choice>
        <mc:Fallback xmlns="">
          <p:sp>
            <p:nvSpPr>
              <p:cNvPr id="12" name="文本框 11"/>
              <p:cNvSpPr txBox="1">
                <a:spLocks noRot="1" noChangeAspect="1" noMove="1" noResize="1" noEditPoints="1" noAdjustHandles="1" noChangeArrowheads="1" noChangeShapeType="1" noTextEdit="1"/>
              </p:cNvSpPr>
              <p:nvPr/>
            </p:nvSpPr>
            <p:spPr>
              <a:xfrm>
                <a:off x="4593526" y="2241804"/>
                <a:ext cx="4109720" cy="535305"/>
              </a:xfrm>
              <a:prstGeom prst="rect">
                <a:avLst/>
              </a:prstGeom>
              <a:blipFill rotWithShape="1">
                <a:blip r:embed="rId2"/>
                <a:stretch>
                  <a:fillRect l="-14" t="-47" r="14" b="4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p:cNvSpPr txBox="1"/>
              <p:nvPr/>
            </p:nvSpPr>
            <p:spPr>
              <a:xfrm>
                <a:off x="718756" y="3508629"/>
                <a:ext cx="4409440" cy="667385"/>
              </a:xfrm>
              <a:prstGeom prst="rect">
                <a:avLst/>
              </a:prstGeom>
              <a:noFill/>
            </p:spPr>
            <p:txBody>
              <a:bodyPr wrap="none" rtlCol="0" anchor="t">
                <a:spAutoFit/>
              </a:bodyPr>
              <a:lstStyle/>
              <a:p>
                <a:pPr algn="l"/>
                <a14:m>
                  <m:oMathPara xmlns:m="http://schemas.openxmlformats.org/officeDocument/2006/math">
                    <m:oMath>
                      <m:r>
                        <a:rPr lang="en-US" altLang="zh-CN" sz="1800" i="1">
                          <a:latin typeface="Cambria Math" panose="02040503050406030204" pitchFamily="18" charset="0"/>
                          <a:cs typeface="Cambria Math" panose="02040503050406030204" pitchFamily="18" charset="0"/>
                        </a:rPr>
                        <m:t>𝐺𝑖𝑛𝑖</m:t>
                      </m:r>
                      <m:r>
                        <a:rPr lang="en-US" altLang="zh-CN" sz="1800" i="1">
                          <a:latin typeface="Cambria Math" panose="02040503050406030204" pitchFamily="18" charset="0"/>
                          <a:cs typeface="Cambria Math" panose="02040503050406030204" pitchFamily="18" charset="0"/>
                        </a:rPr>
                        <m:t>(</m:t>
                      </m:r>
                      <m:r>
                        <a:rPr lang="en-US" altLang="zh-CN" sz="1800" i="1">
                          <a:latin typeface="Cambria Math" panose="02040503050406030204" pitchFamily="18" charset="0"/>
                          <a:cs typeface="Cambria Math" panose="02040503050406030204" pitchFamily="18" charset="0"/>
                        </a:rPr>
                        <m:t>𝐷</m:t>
                      </m:r>
                      <m:r>
                        <a:rPr lang="en-US" altLang="zh-CN" sz="1800" i="1">
                          <a:latin typeface="Cambria Math" panose="02040503050406030204" pitchFamily="18" charset="0"/>
                          <a:cs typeface="Cambria Math" panose="02040503050406030204" pitchFamily="18" charset="0"/>
                        </a:rPr>
                        <m:t>,</m:t>
                      </m:r>
                      <m:sSup>
                        <m:sSupPr>
                          <m:ctrlPr>
                            <a:rPr lang="en-US" altLang="zh-CN" sz="1800" i="1">
                              <a:latin typeface="Cambria Math" panose="02040503050406030204" pitchFamily="18" charset="0"/>
                              <a:cs typeface="Cambria Math" panose="02040503050406030204" pitchFamily="18" charset="0"/>
                            </a:rPr>
                          </m:ctrlPr>
                        </m:sSupPr>
                        <m:e>
                          <m:r>
                            <a:rPr lang="en-US" altLang="zh-CN" sz="1800" i="1">
                              <a:latin typeface="Cambria Math" panose="02040503050406030204" pitchFamily="18" charset="0"/>
                              <a:cs typeface="Cambria Math" panose="02040503050406030204" pitchFamily="18" charset="0"/>
                            </a:rPr>
                            <m:t>𝑎</m:t>
                          </m:r>
                        </m:e>
                        <m:sup>
                          <m:r>
                            <a:rPr lang="en-US" altLang="zh-CN" sz="1800" i="1">
                              <a:latin typeface="Cambria Math" panose="02040503050406030204" pitchFamily="18" charset="0"/>
                              <a:cs typeface="Cambria Math" panose="02040503050406030204" pitchFamily="18" charset="0"/>
                            </a:rPr>
                            <m:t>硬滑</m:t>
                          </m:r>
                        </m:sup>
                      </m:sSup>
                      <m:r>
                        <a:rPr lang="en-US" altLang="zh-CN" sz="1800" i="1">
                          <a:latin typeface="Cambria Math" panose="02040503050406030204" pitchFamily="18" charset="0"/>
                          <a:cs typeface="Cambria Math" panose="02040503050406030204" pitchFamily="18" charset="0"/>
                        </a:rPr>
                        <m:t>)=1−</m:t>
                      </m:r>
                      <m:sSup>
                        <m:sSupPr>
                          <m:ctrlPr>
                            <a:rPr lang="en-US" altLang="zh-CN" sz="1800" i="1">
                              <a:latin typeface="Cambria Math" panose="02040503050406030204" pitchFamily="18" charset="0"/>
                              <a:cs typeface="Cambria Math" panose="02040503050406030204" pitchFamily="18" charset="0"/>
                            </a:rPr>
                          </m:ctrlPr>
                        </m:sSupPr>
                        <m:e>
                          <m:d>
                            <m:dPr>
                              <m:ctrlPr>
                                <a:rPr lang="en-US" altLang="zh-CN" sz="1800" i="1">
                                  <a:latin typeface="Cambria Math" panose="02040503050406030204" pitchFamily="18" charset="0"/>
                                  <a:cs typeface="Cambria Math" panose="02040503050406030204" pitchFamily="18" charset="0"/>
                                </a:rPr>
                              </m:ctrlPr>
                            </m:dPr>
                            <m:e>
                              <m:f>
                                <m:fPr>
                                  <m:ctrlPr>
                                    <a:rPr lang="en-US" altLang="zh-CN" sz="1800" i="1">
                                      <a:latin typeface="Cambria Math" panose="02040503050406030204" pitchFamily="18" charset="0"/>
                                      <a:cs typeface="Cambria Math" panose="02040503050406030204" pitchFamily="18" charset="0"/>
                                    </a:rPr>
                                  </m:ctrlPr>
                                </m:fPr>
                                <m:num>
                                  <m:r>
                                    <a:rPr lang="en-US" altLang="zh-CN" sz="1800" i="1">
                                      <a:latin typeface="Cambria Math" panose="02040503050406030204" pitchFamily="18" charset="0"/>
                                      <a:cs typeface="Cambria Math" panose="02040503050406030204" pitchFamily="18" charset="0"/>
                                    </a:rPr>
                                    <m:t>3</m:t>
                                  </m:r>
                                </m:num>
                                <m:den>
                                  <m:r>
                                    <a:rPr lang="en-US" altLang="zh-CN" sz="1800" i="1">
                                      <a:latin typeface="Cambria Math" panose="02040503050406030204" pitchFamily="18" charset="0"/>
                                      <a:cs typeface="Cambria Math" panose="02040503050406030204" pitchFamily="18" charset="0"/>
                                    </a:rPr>
                                    <m:t>6</m:t>
                                  </m:r>
                                </m:den>
                              </m:f>
                            </m:e>
                          </m:d>
                        </m:e>
                        <m:sup>
                          <m:r>
                            <a:rPr lang="en-US" altLang="zh-CN" sz="1800" i="1">
                              <a:latin typeface="Cambria Math" panose="02040503050406030204" pitchFamily="18" charset="0"/>
                              <a:cs typeface="Cambria Math" panose="02040503050406030204" pitchFamily="18" charset="0"/>
                            </a:rPr>
                            <m:t>2</m:t>
                          </m:r>
                        </m:sup>
                      </m:sSup>
                      <m:r>
                        <a:rPr lang="en-US" altLang="zh-CN" sz="1800" i="1">
                          <a:latin typeface="Cambria Math" panose="02040503050406030204" pitchFamily="18" charset="0"/>
                          <a:cs typeface="Cambria Math" panose="02040503050406030204" pitchFamily="18" charset="0"/>
                        </a:rPr>
                        <m:t>−</m:t>
                      </m:r>
                      <m:sSup>
                        <m:sSupPr>
                          <m:ctrlPr>
                            <a:rPr lang="en-US" altLang="zh-CN" sz="1800" i="1">
                              <a:latin typeface="Cambria Math" panose="02040503050406030204" pitchFamily="18" charset="0"/>
                              <a:cs typeface="Cambria Math" panose="02040503050406030204" pitchFamily="18" charset="0"/>
                            </a:rPr>
                          </m:ctrlPr>
                        </m:sSupPr>
                        <m:e>
                          <m:d>
                            <m:dPr>
                              <m:ctrlPr>
                                <a:rPr lang="en-US" altLang="zh-CN" sz="1800" i="1">
                                  <a:latin typeface="Cambria Math" panose="02040503050406030204" pitchFamily="18" charset="0"/>
                                  <a:cs typeface="Cambria Math" panose="02040503050406030204" pitchFamily="18" charset="0"/>
                                </a:rPr>
                              </m:ctrlPr>
                            </m:dPr>
                            <m:e>
                              <m:f>
                                <m:fPr>
                                  <m:ctrlPr>
                                    <a:rPr lang="en-US" altLang="zh-CN" sz="1800" i="1">
                                      <a:latin typeface="Cambria Math" panose="02040503050406030204" pitchFamily="18" charset="0"/>
                                      <a:cs typeface="Cambria Math" panose="02040503050406030204" pitchFamily="18" charset="0"/>
                                    </a:rPr>
                                  </m:ctrlPr>
                                </m:fPr>
                                <m:num>
                                  <m:r>
                                    <a:rPr lang="en-US" altLang="zh-CN" sz="1800" i="1">
                                      <a:latin typeface="Cambria Math" panose="02040503050406030204" pitchFamily="18" charset="0"/>
                                      <a:cs typeface="Cambria Math" panose="02040503050406030204" pitchFamily="18" charset="0"/>
                                    </a:rPr>
                                    <m:t>3</m:t>
                                  </m:r>
                                </m:num>
                                <m:den>
                                  <m:r>
                                    <a:rPr lang="en-US" altLang="zh-CN" sz="1800" i="1">
                                      <a:latin typeface="Cambria Math" panose="02040503050406030204" pitchFamily="18" charset="0"/>
                                      <a:cs typeface="Cambria Math" panose="02040503050406030204" pitchFamily="18" charset="0"/>
                                    </a:rPr>
                                    <m:t>6</m:t>
                                  </m:r>
                                </m:den>
                              </m:f>
                            </m:e>
                          </m:d>
                        </m:e>
                        <m:sup>
                          <m:r>
                            <a:rPr lang="en-US" altLang="zh-CN" sz="1800" i="1">
                              <a:latin typeface="Cambria Math" panose="02040503050406030204" pitchFamily="18" charset="0"/>
                              <a:cs typeface="Cambria Math" panose="02040503050406030204" pitchFamily="18" charset="0"/>
                            </a:rPr>
                            <m:t>2</m:t>
                          </m:r>
                        </m:sup>
                      </m:sSup>
                      <m:r>
                        <a:rPr lang="en-US" altLang="zh-CN" sz="1800" i="1">
                          <a:latin typeface="Cambria Math" panose="02040503050406030204" pitchFamily="18" charset="0"/>
                          <a:cs typeface="Cambria Math" panose="02040503050406030204" pitchFamily="18" charset="0"/>
                        </a:rPr>
                        <m:t>=0.</m:t>
                      </m:r>
                      <m:r>
                        <a:rPr lang="en-US" altLang="zh-CN" sz="1800" i="1">
                          <a:latin typeface="Cambria Math" panose="02040503050406030204" pitchFamily="18" charset="0"/>
                          <a:ea typeface="MS Mincho" charset="0"/>
                          <a:cs typeface="Cambria Math" panose="02040503050406030204" pitchFamily="18" charset="0"/>
                        </a:rPr>
                        <m:t>5</m:t>
                      </m:r>
                    </m:oMath>
                  </m:oMathPara>
                </a14:m>
                <a:endParaRPr lang="en-US" altLang="zh-CN" sz="1800" i="1">
                  <a:latin typeface="Cambria Math" panose="02040503050406030204" pitchFamily="18" charset="0"/>
                  <a:ea typeface="MS Mincho" charset="0"/>
                  <a:cs typeface="Cambria Math" panose="02040503050406030204" pitchFamily="18" charset="0"/>
                </a:endParaRPr>
              </a:p>
            </p:txBody>
          </p:sp>
        </mc:Choice>
        <mc:Fallback xmlns="">
          <p:sp>
            <p:nvSpPr>
              <p:cNvPr id="13" name="文本框 12"/>
              <p:cNvSpPr txBox="1">
                <a:spLocks noRot="1" noChangeAspect="1" noMove="1" noResize="1" noEditPoints="1" noAdjustHandles="1" noChangeArrowheads="1" noChangeShapeType="1" noTextEdit="1"/>
              </p:cNvSpPr>
              <p:nvPr/>
            </p:nvSpPr>
            <p:spPr>
              <a:xfrm>
                <a:off x="718756" y="3508629"/>
                <a:ext cx="4409440" cy="667385"/>
              </a:xfrm>
              <a:prstGeom prst="rect">
                <a:avLst/>
              </a:prstGeom>
              <a:blipFill rotWithShape="1">
                <a:blip r:embed="rId3"/>
                <a:stretch>
                  <a:fillRect l="-13" t="-38" r="13" b="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p:cNvSpPr txBox="1"/>
              <p:nvPr/>
            </p:nvSpPr>
            <p:spPr>
              <a:xfrm>
                <a:off x="5644451" y="3508629"/>
                <a:ext cx="4023360" cy="666750"/>
              </a:xfrm>
              <a:prstGeom prst="rect">
                <a:avLst/>
              </a:prstGeom>
              <a:noFill/>
            </p:spPr>
            <p:txBody>
              <a:bodyPr wrap="none" rtlCol="0" anchor="t">
                <a:spAutoFit/>
              </a:bodyPr>
              <a:lstStyle/>
              <a:p>
                <a:pPr algn="l"/>
                <a14:m>
                  <m:oMathPara xmlns:m="http://schemas.openxmlformats.org/officeDocument/2006/math">
                    <m:oMath>
                      <m:r>
                        <a:rPr lang="en-US" altLang="zh-CN" sz="1800" i="1">
                          <a:latin typeface="Cambria Math" panose="02040503050406030204" pitchFamily="18" charset="0"/>
                          <a:cs typeface="Cambria Math" panose="02040503050406030204" pitchFamily="18" charset="0"/>
                        </a:rPr>
                        <m:t>𝐺𝑖𝑛𝑖</m:t>
                      </m:r>
                      <m:r>
                        <a:rPr lang="en-US" altLang="zh-CN" sz="1800" i="1">
                          <a:latin typeface="Cambria Math" panose="02040503050406030204" pitchFamily="18" charset="0"/>
                          <a:cs typeface="Cambria Math" panose="02040503050406030204" pitchFamily="18" charset="0"/>
                        </a:rPr>
                        <m:t>(</m:t>
                      </m:r>
                      <m:r>
                        <a:rPr lang="en-US" altLang="zh-CN" sz="1800" i="1">
                          <a:latin typeface="Cambria Math" panose="02040503050406030204" pitchFamily="18" charset="0"/>
                          <a:cs typeface="Cambria Math" panose="02040503050406030204" pitchFamily="18" charset="0"/>
                        </a:rPr>
                        <m:t>𝐷</m:t>
                      </m:r>
                      <m:r>
                        <a:rPr lang="en-US" altLang="zh-CN" sz="1800" i="1">
                          <a:latin typeface="Cambria Math" panose="02040503050406030204" pitchFamily="18" charset="0"/>
                          <a:cs typeface="Cambria Math" panose="02040503050406030204" pitchFamily="18" charset="0"/>
                        </a:rPr>
                        <m:t>,</m:t>
                      </m:r>
                      <m:sSup>
                        <m:sSupPr>
                          <m:ctrlPr>
                            <a:rPr lang="en-US" altLang="zh-CN" sz="1800" i="1">
                              <a:latin typeface="Cambria Math" panose="02040503050406030204" pitchFamily="18" charset="0"/>
                              <a:cs typeface="Cambria Math" panose="02040503050406030204" pitchFamily="18" charset="0"/>
                            </a:rPr>
                          </m:ctrlPr>
                        </m:sSupPr>
                        <m:e>
                          <m:r>
                            <a:rPr lang="en-US" altLang="zh-CN" sz="1800" i="1">
                              <a:latin typeface="Cambria Math" panose="02040503050406030204" pitchFamily="18" charset="0"/>
                              <a:cs typeface="Cambria Math" panose="02040503050406030204" pitchFamily="18" charset="0"/>
                            </a:rPr>
                            <m:t>𝑎</m:t>
                          </m:r>
                        </m:e>
                        <m:sup>
                          <m:r>
                            <a:rPr lang="en-US" altLang="zh-CN" sz="1800" i="1">
                              <a:latin typeface="Cambria Math" panose="02040503050406030204" pitchFamily="18" charset="0"/>
                              <a:cs typeface="Cambria Math" panose="02040503050406030204" pitchFamily="18" charset="0"/>
                            </a:rPr>
                            <m:t>软粘</m:t>
                          </m:r>
                        </m:sup>
                      </m:sSup>
                      <m:r>
                        <a:rPr lang="en-US" altLang="zh-CN" sz="1800" i="1">
                          <a:latin typeface="Cambria Math" panose="02040503050406030204" pitchFamily="18" charset="0"/>
                          <a:cs typeface="Cambria Math" panose="02040503050406030204" pitchFamily="18" charset="0"/>
                        </a:rPr>
                        <m:t>)=1−</m:t>
                      </m:r>
                      <m:sSup>
                        <m:sSupPr>
                          <m:ctrlPr>
                            <a:rPr lang="en-US" altLang="zh-CN" sz="1800" i="1">
                              <a:latin typeface="Cambria Math" panose="02040503050406030204" pitchFamily="18" charset="0"/>
                              <a:cs typeface="Cambria Math" panose="02040503050406030204" pitchFamily="18" charset="0"/>
                            </a:rPr>
                          </m:ctrlPr>
                        </m:sSupPr>
                        <m:e>
                          <m:d>
                            <m:dPr>
                              <m:ctrlPr>
                                <a:rPr lang="en-US" altLang="zh-CN" sz="1800" i="1">
                                  <a:latin typeface="Cambria Math" panose="02040503050406030204" pitchFamily="18" charset="0"/>
                                  <a:cs typeface="Cambria Math" panose="02040503050406030204" pitchFamily="18" charset="0"/>
                                </a:rPr>
                              </m:ctrlPr>
                            </m:dPr>
                            <m:e>
                              <m:f>
                                <m:fPr>
                                  <m:ctrlPr>
                                    <a:rPr lang="en-US" altLang="zh-CN" sz="1800" i="1">
                                      <a:latin typeface="Cambria Math" panose="02040503050406030204" pitchFamily="18" charset="0"/>
                                      <a:cs typeface="Cambria Math" panose="02040503050406030204" pitchFamily="18" charset="0"/>
                                    </a:rPr>
                                  </m:ctrlPr>
                                </m:fPr>
                                <m:num>
                                  <m:r>
                                    <a:rPr lang="en-US" altLang="zh-CN" sz="1800" i="1">
                                      <a:latin typeface="Cambria Math" panose="02040503050406030204" pitchFamily="18" charset="0"/>
                                      <a:cs typeface="Cambria Math" panose="02040503050406030204" pitchFamily="18" charset="0"/>
                                    </a:rPr>
                                    <m:t>2</m:t>
                                  </m:r>
                                </m:num>
                                <m:den>
                                  <m:r>
                                    <a:rPr lang="en-US" altLang="zh-CN" sz="1800" i="1">
                                      <a:latin typeface="Cambria Math" panose="02040503050406030204" pitchFamily="18" charset="0"/>
                                      <a:cs typeface="Cambria Math" panose="02040503050406030204" pitchFamily="18" charset="0"/>
                                    </a:rPr>
                                    <m:t>4</m:t>
                                  </m:r>
                                </m:den>
                              </m:f>
                            </m:e>
                          </m:d>
                        </m:e>
                        <m:sup>
                          <m:r>
                            <a:rPr lang="en-US" altLang="zh-CN" sz="1800" i="1">
                              <a:latin typeface="Cambria Math" panose="02040503050406030204" pitchFamily="18" charset="0"/>
                              <a:cs typeface="Cambria Math" panose="02040503050406030204" pitchFamily="18" charset="0"/>
                            </a:rPr>
                            <m:t>2</m:t>
                          </m:r>
                        </m:sup>
                      </m:sSup>
                      <m:r>
                        <a:rPr lang="en-US" altLang="zh-CN" sz="1800" i="1">
                          <a:latin typeface="Cambria Math" panose="02040503050406030204" pitchFamily="18" charset="0"/>
                          <a:cs typeface="Cambria Math" panose="02040503050406030204" pitchFamily="18" charset="0"/>
                        </a:rPr>
                        <m:t>−</m:t>
                      </m:r>
                      <m:sSup>
                        <m:sSupPr>
                          <m:ctrlPr>
                            <a:rPr lang="en-US" altLang="zh-CN" sz="1800" i="1">
                              <a:latin typeface="Cambria Math" panose="02040503050406030204" pitchFamily="18" charset="0"/>
                              <a:cs typeface="Cambria Math" panose="02040503050406030204" pitchFamily="18" charset="0"/>
                            </a:rPr>
                          </m:ctrlPr>
                        </m:sSupPr>
                        <m:e>
                          <m:d>
                            <m:dPr>
                              <m:ctrlPr>
                                <a:rPr lang="en-US" altLang="zh-CN" sz="1800" i="1">
                                  <a:latin typeface="Cambria Math" panose="02040503050406030204" pitchFamily="18" charset="0"/>
                                  <a:cs typeface="Cambria Math" panose="02040503050406030204" pitchFamily="18" charset="0"/>
                                </a:rPr>
                              </m:ctrlPr>
                            </m:dPr>
                            <m:e>
                              <m:f>
                                <m:fPr>
                                  <m:ctrlPr>
                                    <a:rPr lang="en-US" altLang="zh-CN" sz="1800" i="1">
                                      <a:latin typeface="Cambria Math" panose="02040503050406030204" pitchFamily="18" charset="0"/>
                                      <a:cs typeface="Cambria Math" panose="02040503050406030204" pitchFamily="18" charset="0"/>
                                    </a:rPr>
                                  </m:ctrlPr>
                                </m:fPr>
                                <m:num>
                                  <m:r>
                                    <a:rPr lang="en-US" altLang="zh-CN" sz="1800" i="1">
                                      <a:latin typeface="Cambria Math" panose="02040503050406030204" pitchFamily="18" charset="0"/>
                                      <a:cs typeface="Cambria Math" panose="02040503050406030204" pitchFamily="18" charset="0"/>
                                    </a:rPr>
                                    <m:t>2</m:t>
                                  </m:r>
                                </m:num>
                                <m:den>
                                  <m:r>
                                    <a:rPr lang="en-US" altLang="zh-CN" sz="1800" i="1">
                                      <a:latin typeface="Cambria Math" panose="02040503050406030204" pitchFamily="18" charset="0"/>
                                      <a:cs typeface="Cambria Math" panose="02040503050406030204" pitchFamily="18" charset="0"/>
                                    </a:rPr>
                                    <m:t>4</m:t>
                                  </m:r>
                                </m:den>
                              </m:f>
                            </m:e>
                          </m:d>
                        </m:e>
                        <m:sup>
                          <m:r>
                            <a:rPr lang="en-US" altLang="zh-CN" sz="1800" i="1">
                              <a:latin typeface="Cambria Math" panose="02040503050406030204" pitchFamily="18" charset="0"/>
                              <a:cs typeface="Cambria Math" panose="02040503050406030204" pitchFamily="18" charset="0"/>
                            </a:rPr>
                            <m:t>2</m:t>
                          </m:r>
                        </m:sup>
                      </m:sSup>
                      <m:r>
                        <a:rPr lang="en-US" altLang="zh-CN" sz="1800" i="1">
                          <a:latin typeface="Cambria Math" panose="02040503050406030204" pitchFamily="18" charset="0"/>
                          <a:cs typeface="Cambria Math" panose="02040503050406030204" pitchFamily="18" charset="0"/>
                        </a:rPr>
                        <m:t>=0.</m:t>
                      </m:r>
                      <m:r>
                        <a:rPr lang="en-US" altLang="zh-CN" sz="1800" i="1">
                          <a:latin typeface="Cambria Math" panose="02040503050406030204" pitchFamily="18" charset="0"/>
                          <a:ea typeface="MS Mincho" charset="0"/>
                          <a:cs typeface="Cambria Math" panose="02040503050406030204" pitchFamily="18" charset="0"/>
                        </a:rPr>
                        <m:t>5</m:t>
                      </m:r>
                    </m:oMath>
                  </m:oMathPara>
                </a14:m>
                <a:endParaRPr lang="en-US" altLang="zh-CN" sz="1800" i="1">
                  <a:latin typeface="Cambria Math" panose="02040503050406030204" pitchFamily="18" charset="0"/>
                  <a:ea typeface="MS Mincho" charset="0"/>
                  <a:cs typeface="Cambria Math" panose="02040503050406030204" pitchFamily="18" charset="0"/>
                </a:endParaRPr>
              </a:p>
            </p:txBody>
          </p:sp>
        </mc:Choice>
        <mc:Fallback xmlns="">
          <p:sp>
            <p:nvSpPr>
              <p:cNvPr id="14" name="文本框 13"/>
              <p:cNvSpPr txBox="1">
                <a:spLocks noRot="1" noChangeAspect="1" noMove="1" noResize="1" noEditPoints="1" noAdjustHandles="1" noChangeArrowheads="1" noChangeShapeType="1" noTextEdit="1"/>
              </p:cNvSpPr>
              <p:nvPr/>
            </p:nvSpPr>
            <p:spPr>
              <a:xfrm>
                <a:off x="5644451" y="3508629"/>
                <a:ext cx="4023360" cy="666750"/>
              </a:xfrm>
              <a:prstGeom prst="rect">
                <a:avLst/>
              </a:prstGeom>
              <a:blipFill rotWithShape="1">
                <a:blip r:embed="rId4"/>
                <a:stretch>
                  <a:fillRect l="-14" t="-38" r="14" b="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p:cNvSpPr txBox="1"/>
              <p:nvPr/>
            </p:nvSpPr>
            <p:spPr>
              <a:xfrm>
                <a:off x="2791396" y="4524629"/>
                <a:ext cx="4954270" cy="606425"/>
              </a:xfrm>
              <a:prstGeom prst="rect">
                <a:avLst/>
              </a:prstGeom>
              <a:noFill/>
            </p:spPr>
            <p:txBody>
              <a:bodyPr wrap="none" rtlCol="0" anchor="t">
                <a:spAutoFit/>
              </a:bodyPr>
              <a:lstStyle/>
              <a:p>
                <a:pPr algn="l"/>
                <a14:m>
                  <m:oMathPara xmlns:m="http://schemas.openxmlformats.org/officeDocument/2006/math">
                    <m:oMath>
                      <m:r>
                        <a:rPr lang="en-US" altLang="zh-CN" sz="1800" i="1">
                          <a:latin typeface="Cambria Math" panose="02040503050406030204" pitchFamily="18" charset="0"/>
                          <a:cs typeface="Cambria Math" panose="02040503050406030204" pitchFamily="18" charset="0"/>
                        </a:rPr>
                        <m:t>𝐺𝑖𝑛𝑖</m:t>
                      </m:r>
                      <m:r>
                        <a:rPr lang="en-US" altLang="zh-CN" sz="1800" i="1">
                          <a:latin typeface="Cambria Math" panose="02040503050406030204" pitchFamily="18" charset="0"/>
                          <a:cs typeface="Cambria Math" panose="02040503050406030204" pitchFamily="18" charset="0"/>
                        </a:rPr>
                        <m:t>_</m:t>
                      </m:r>
                      <m:r>
                        <a:rPr lang="en-US" altLang="zh-CN" sz="1800" i="1">
                          <a:latin typeface="Cambria Math" panose="02040503050406030204" pitchFamily="18" charset="0"/>
                          <a:cs typeface="Cambria Math" panose="02040503050406030204" pitchFamily="18" charset="0"/>
                        </a:rPr>
                        <m:t>𝑖𝑛𝑑𝑒𝑥</m:t>
                      </m:r>
                      <m:r>
                        <a:rPr lang="en-US" altLang="zh-CN" sz="1800" i="1">
                          <a:latin typeface="Cambria Math" panose="02040503050406030204" pitchFamily="18" charset="0"/>
                          <a:cs typeface="Cambria Math" panose="02040503050406030204" pitchFamily="18" charset="0"/>
                        </a:rPr>
                        <m:t>(</m:t>
                      </m:r>
                      <m:r>
                        <a:rPr lang="en-US" altLang="zh-CN" sz="1800" i="1">
                          <a:latin typeface="Cambria Math" panose="02040503050406030204" pitchFamily="18" charset="0"/>
                          <a:cs typeface="Cambria Math" panose="02040503050406030204" pitchFamily="18" charset="0"/>
                        </a:rPr>
                        <m:t>𝐷</m:t>
                      </m:r>
                      <m:r>
                        <a:rPr lang="en-US" altLang="zh-CN" sz="1800" i="1">
                          <a:latin typeface="Cambria Math" panose="02040503050406030204" pitchFamily="18" charset="0"/>
                          <a:cs typeface="Cambria Math" panose="02040503050406030204" pitchFamily="18" charset="0"/>
                        </a:rPr>
                        <m:t>,触感)=</m:t>
                      </m:r>
                      <m:f>
                        <m:fPr>
                          <m:ctrlPr>
                            <a:rPr lang="en-US" altLang="zh-CN" sz="1800" i="1">
                              <a:latin typeface="Cambria Math" panose="02040503050406030204" pitchFamily="18" charset="0"/>
                              <a:cs typeface="Cambria Math" panose="02040503050406030204" pitchFamily="18" charset="0"/>
                            </a:rPr>
                          </m:ctrlPr>
                        </m:fPr>
                        <m:num>
                          <m:r>
                            <a:rPr lang="en-US" altLang="zh-CN" sz="1800" i="1">
                              <a:latin typeface="Cambria Math" panose="02040503050406030204" pitchFamily="18" charset="0"/>
                              <a:cs typeface="Cambria Math" panose="02040503050406030204" pitchFamily="18" charset="0"/>
                            </a:rPr>
                            <m:t>6</m:t>
                          </m:r>
                        </m:num>
                        <m:den>
                          <m:r>
                            <a:rPr lang="en-US" altLang="zh-CN" sz="1800" i="1">
                              <a:latin typeface="Cambria Math" panose="02040503050406030204" pitchFamily="18" charset="0"/>
                              <a:cs typeface="Cambria Math" panose="02040503050406030204" pitchFamily="18" charset="0"/>
                            </a:rPr>
                            <m:t>10</m:t>
                          </m:r>
                        </m:den>
                      </m:f>
                      <m:r>
                        <a:rPr lang="en-US" altLang="zh-CN" sz="1800" i="1">
                          <a:latin typeface="Cambria Math" panose="02040503050406030204" pitchFamily="18" charset="0"/>
                          <a:cs typeface="Cambria Math" panose="02040503050406030204" pitchFamily="18" charset="0"/>
                        </a:rPr>
                        <m:t>×0.5+</m:t>
                      </m:r>
                      <m:f>
                        <m:fPr>
                          <m:ctrlPr>
                            <a:rPr lang="en-US" altLang="zh-CN" sz="1800" i="1">
                              <a:latin typeface="Cambria Math" panose="02040503050406030204" pitchFamily="18" charset="0"/>
                              <a:cs typeface="Cambria Math" panose="02040503050406030204" pitchFamily="18" charset="0"/>
                            </a:rPr>
                          </m:ctrlPr>
                        </m:fPr>
                        <m:num>
                          <m:r>
                            <a:rPr lang="en-US" altLang="zh-CN" sz="1800" i="1">
                              <a:latin typeface="Cambria Math" panose="02040503050406030204" pitchFamily="18" charset="0"/>
                              <a:cs typeface="Cambria Math" panose="02040503050406030204" pitchFamily="18" charset="0"/>
                            </a:rPr>
                            <m:t>4</m:t>
                          </m:r>
                        </m:num>
                        <m:den>
                          <m:r>
                            <a:rPr lang="en-US" altLang="zh-CN" sz="1800" i="1">
                              <a:latin typeface="Cambria Math" panose="02040503050406030204" pitchFamily="18" charset="0"/>
                              <a:cs typeface="Cambria Math" panose="02040503050406030204" pitchFamily="18" charset="0"/>
                            </a:rPr>
                            <m:t>10</m:t>
                          </m:r>
                        </m:den>
                      </m:f>
                      <m:r>
                        <a:rPr lang="en-US" altLang="zh-CN" sz="1800" i="1">
                          <a:latin typeface="Cambria Math" panose="02040503050406030204" pitchFamily="18" charset="0"/>
                          <a:cs typeface="Cambria Math" panose="02040503050406030204" pitchFamily="18" charset="0"/>
                        </a:rPr>
                        <m:t>×0.5=0.</m:t>
                      </m:r>
                      <m:r>
                        <a:rPr lang="en-US" altLang="zh-CN" sz="1800" i="1">
                          <a:latin typeface="Cambria Math" panose="02040503050406030204" pitchFamily="18" charset="0"/>
                          <a:ea typeface="MS Mincho" charset="0"/>
                          <a:cs typeface="Cambria Math" panose="02040503050406030204" pitchFamily="18" charset="0"/>
                        </a:rPr>
                        <m:t>5</m:t>
                      </m:r>
                    </m:oMath>
                  </m:oMathPara>
                </a14:m>
                <a:endParaRPr lang="en-US" altLang="zh-CN" sz="1800" i="1" dirty="0">
                  <a:latin typeface="Cambria Math" panose="02040503050406030204" pitchFamily="18" charset="0"/>
                  <a:ea typeface="MS Mincho" charset="0"/>
                  <a:cs typeface="Cambria Math" panose="02040503050406030204" pitchFamily="18" charset="0"/>
                </a:endParaRPr>
              </a:p>
            </p:txBody>
          </p:sp>
        </mc:Choice>
        <mc:Fallback xmlns="">
          <p:sp>
            <p:nvSpPr>
              <p:cNvPr id="15" name="文本框 14"/>
              <p:cNvSpPr txBox="1">
                <a:spLocks noRot="1" noChangeAspect="1" noMove="1" noResize="1" noEditPoints="1" noAdjustHandles="1" noChangeArrowheads="1" noChangeShapeType="1" noTextEdit="1"/>
              </p:cNvSpPr>
              <p:nvPr/>
            </p:nvSpPr>
            <p:spPr>
              <a:xfrm>
                <a:off x="2791396" y="4524629"/>
                <a:ext cx="4954270" cy="606425"/>
              </a:xfrm>
              <a:prstGeom prst="rect">
                <a:avLst/>
              </a:prstGeom>
              <a:blipFill rotWithShape="1">
                <a:blip r:embed="rId5"/>
                <a:stretch>
                  <a:fillRect l="-12" t="-42" r="12" b="42"/>
                </a:stretch>
              </a:blipFill>
            </p:spPr>
            <p:txBody>
              <a:bodyPr/>
              <a:lstStyle/>
              <a:p>
                <a:r>
                  <a:rPr lang="zh-CN" altLang="en-US">
                    <a:noFill/>
                  </a:rPr>
                  <a:t> </a:t>
                </a:r>
              </a:p>
            </p:txBody>
          </p:sp>
        </mc:Fallback>
      </mc:AlternateContent>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396C9C2-A8F0-4EAB-82E6-0F8D180D97D1}"/>
              </a:ext>
            </a:extLst>
          </p:cNvPr>
          <p:cNvSpPr>
            <a:spLocks noGrp="1"/>
          </p:cNvSpPr>
          <p:nvPr>
            <p:ph type="title"/>
          </p:nvPr>
        </p:nvSpPr>
        <p:spPr/>
        <p:txBody>
          <a:bodyPr/>
          <a:lstStyle/>
          <a:p>
            <a:pPr algn="l"/>
            <a:r>
              <a:rPr/>
              <a:t>CART算法</a:t>
            </a:r>
          </a:p>
        </p:txBody>
      </p:sp>
      <p:sp>
        <p:nvSpPr>
          <p:cNvPr id="3" name="内容占位符 2">
            <a:extLst>
              <a:ext uri="{FF2B5EF4-FFF2-40B4-BE49-F238E27FC236}">
                <a16:creationId xmlns:a16="http://schemas.microsoft.com/office/drawing/2014/main" id="{2962F39F-7426-407E-B155-13F86ADA6BA9}"/>
              </a:ext>
            </a:extLst>
          </p:cNvPr>
          <p:cNvSpPr>
            <a:spLocks noGrp="1"/>
          </p:cNvSpPr>
          <p:nvPr>
            <p:ph idx="1"/>
          </p:nvPr>
        </p:nvSpPr>
        <p:spPr>
          <a:xfrm>
            <a:off x="609600" y="1600200"/>
            <a:ext cx="10972800" cy="952500"/>
          </a:xfrm>
        </p:spPr>
        <p:txBody>
          <a:bodyPr>
            <a:normAutofit/>
          </a:bodyPr>
          <a:lstStyle/>
          <a:p>
            <a:r>
              <a:rPr sz="2200" lang="zh-CN" altLang="zh-CN" dirty="0">
                <a:latin typeface="+mj-ea"/>
                <a:ea typeface="+mj-ea"/>
              </a:rPr>
              <a:t>对于某些具有多个取值的属性（比方说“色泽”、“根蒂”、“脐部”等）而言，我们需要不断地进行二值划分</a:t>
            </a:r>
            <a:endParaRPr lang="zh-CN" altLang="en-US" dirty="0">
              <a:latin typeface="+mj-ea"/>
              <a:ea typeface="+mj-ea"/>
            </a:endParaRPr>
          </a:p>
        </p:txBody>
      </p:sp>
      <p:pic>
        <p:nvPicPr>
          <p:cNvPr id="4" name="图片 3" descr="日程表&#10;&#10;描述已自动生成"/>
          <p:cNvPicPr/>
          <p:nvPr/>
        </p:nvPicPr>
        <p:blipFill>
          <a:blip r:embed="rId2" cstate="print"/>
          <a:stretch>
            <a:fillRect/>
          </a:stretch>
        </p:blipFill>
        <p:spPr>
          <a:xfrm>
            <a:off x="1247849" y="2676225"/>
            <a:ext cx="9025704" cy="3516146"/>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97C41-BF0A-4EA6-BE06-3AF199CF98B6}"/>
              </a:ext>
            </a:extLst>
          </p:cNvPr>
          <p:cNvSpPr>
            <a:spLocks noGrp="1"/>
          </p:cNvSpPr>
          <p:nvPr>
            <p:ph type="title"/>
          </p:nvPr>
        </p:nvSpPr>
        <p:spPr/>
        <p:txBody>
          <a:bodyPr/>
          <a:lstStyle/>
          <a:p>
            <a:pPr algn="l"/>
            <a:r>
              <a:rPr/>
              <a:t>CART算法</a:t>
            </a:r>
          </a:p>
        </p:txBody>
      </p:sp>
      <p:sp>
        <p:nvSpPr>
          <p:cNvPr id="3" name="内容占位符 2">
            <a:extLst>
              <a:ext uri="{FF2B5EF4-FFF2-40B4-BE49-F238E27FC236}">
                <a16:creationId xmlns:a16="http://schemas.microsoft.com/office/drawing/2014/main" id="{A7C0BADF-16A4-4C7B-BF13-8DA995780F53}"/>
              </a:ext>
            </a:extLst>
          </p:cNvPr>
          <p:cNvSpPr>
            <a:spLocks noGrp="1"/>
          </p:cNvSpPr>
          <p:nvPr>
            <p:ph idx="1"/>
          </p:nvPr>
        </p:nvSpPr>
        <p:spPr>
          <a:xfrm>
            <a:off x="609600" y="1600200"/>
            <a:ext cx="10972800" cy="952500"/>
          </a:xfrm>
        </p:spPr>
        <p:txBody>
          <a:bodyPr>
            <a:normAutofit/>
          </a:bodyPr>
          <a:lstStyle/>
          <a:p>
            <a:r>
              <a:rPr sz="2200" lang="zh-CN" altLang="zh-CN" dirty="0">
                <a:latin typeface="+mj-ea"/>
                <a:ea typeface="+mj-ea"/>
              </a:rPr>
              <a:t>对于某些具有连续特征值的属性，我们也有方法进行二值划分</a:t>
            </a:r>
            <a:endParaRPr lang="zh-CN" altLang="en-US" dirty="0">
              <a:latin typeface="+mj-ea"/>
              <a:ea typeface="+mj-ea"/>
            </a:endParaRPr>
          </a:p>
        </p:txBody>
      </p:sp>
      <p:pic>
        <p:nvPicPr>
          <p:cNvPr id="4" name="图片 3" descr="日程表&#10;&#10;描述已自动生成"/>
          <p:cNvPicPr/>
          <p:nvPr/>
        </p:nvPicPr>
        <p:blipFill>
          <a:blip r:embed="rId2"/>
          <a:stretch>
            <a:fillRect/>
          </a:stretch>
        </p:blipFill>
        <p:spPr>
          <a:xfrm>
            <a:off x="1721224" y="2622351"/>
            <a:ext cx="8747311" cy="4141519"/>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227D3A-CF6D-46D3-9220-04750DF3D1C0}"/>
              </a:ext>
            </a:extLst>
          </p:cNvPr>
          <p:cNvSpPr>
            <a:spLocks noGrp="1"/>
          </p:cNvSpPr>
          <p:nvPr>
            <p:ph type="title"/>
          </p:nvPr>
        </p:nvSpPr>
        <p:spPr/>
        <p:txBody>
          <a:bodyPr/>
          <a:lstStyle/>
          <a:p>
            <a:pPr algn="l"/>
            <a:r>
              <a:rPr/>
              <a:t>CART算法</a:t>
            </a:r>
          </a:p>
        </p:txBody>
      </p:sp>
      <p:sp>
        <p:nvSpPr>
          <p:cNvPr id="3" name="内容占位符 2">
            <a:extLst>
              <a:ext uri="{FF2B5EF4-FFF2-40B4-BE49-F238E27FC236}">
                <a16:creationId xmlns:a16="http://schemas.microsoft.com/office/drawing/2014/main" id="{2409B295-2FFB-4402-86A0-E17D50AB30B4}"/>
              </a:ext>
            </a:extLst>
          </p:cNvPr>
          <p:cNvSpPr>
            <a:spLocks noGrp="1"/>
          </p:cNvSpPr>
          <p:nvPr>
            <p:ph idx="1"/>
          </p:nvPr>
        </p:nvSpPr>
        <p:spPr/>
        <p:txBody>
          <a:bodyPr>
            <a:normAutofit/>
          </a:bodyPr>
          <a:lstStyle/>
          <a:p>
            <a:pPr>
              <a:lnSpc>
                <a:spcPct val="120000"/>
              </a:lnSpc>
            </a:pPr>
            <a:r>
              <a:rPr sz="2200">
                <a:latin typeface="+mj-ea"/>
                <a:ea typeface="+mj-ea"/>
              </a:rPr>
              <a:t>CART</a:t>
            </a:r>
            <a:r>
              <a:rPr sz="2200">
                <a:latin typeface="+mj-ea"/>
                <a:ea typeface="+mj-ea"/>
              </a:rPr>
              <a:t>回归树需要遍历所有的特征，然后使用二分法划分数据子集，然后计算各个数据子集的总方差用于衡量</a:t>
            </a:r>
            <a:r>
              <a:rPr sz="2200" b="1">
                <a:solidFill>
                  <a:srgbClr val="FF0000"/>
                </a:solidFill>
                <a:latin typeface="+mj-ea"/>
                <a:ea typeface="+mj-ea"/>
              </a:rPr>
              <a:t>数据子集的混乱程度</a:t>
            </a:r>
            <a:r>
              <a:rPr sz="2200">
                <a:latin typeface="+mj-ea"/>
                <a:ea typeface="+mj-ea"/>
              </a:rPr>
              <a:t>，方差越小的数据子集“纯度”越高。最后我们选择</a:t>
            </a:r>
            <a:r>
              <a:rPr sz="2200" b="1">
                <a:solidFill>
                  <a:srgbClr val="FF0000"/>
                </a:solidFill>
                <a:latin typeface="+mj-ea"/>
                <a:ea typeface="+mj-ea"/>
              </a:rPr>
              <a:t>方差最小的属性</a:t>
            </a:r>
            <a:r>
              <a:rPr sz="2200">
                <a:latin typeface="+mj-ea"/>
                <a:ea typeface="+mj-ea"/>
              </a:rPr>
              <a:t>进行决策树的划分。最终的输出结果取决于各个子叶节点的输出均值。</a:t>
            </a:r>
          </a:p>
          <a:p>
            <a:pPr>
              <a:lnSpc>
                <a:spcPct val="120000"/>
              </a:lnSpc>
            </a:pPr>
            <a:r>
              <a:rPr sz="2200">
                <a:latin typeface="+mj-ea"/>
                <a:ea typeface="+mj-ea"/>
              </a:rPr>
              <a:t>CART</a:t>
            </a:r>
            <a:r>
              <a:rPr sz="2200">
                <a:latin typeface="+mj-ea"/>
                <a:ea typeface="+mj-ea"/>
              </a:rPr>
              <a:t>回归树的剪枝流程如下</a:t>
            </a:r>
          </a:p>
          <a:p>
            <a:pPr lvl="1">
              <a:lnSpc>
                <a:spcPct val="120000"/>
              </a:lnSpc>
            </a:pPr>
            <a:r>
              <a:rPr sz="2200">
                <a:latin typeface="+mj-ea"/>
                <a:ea typeface="+mj-ea"/>
              </a:rPr>
              <a:t>计算每个节点的损失函数值（回归树用平方误差）。</a:t>
            </a:r>
          </a:p>
          <a:p>
            <a:pPr lvl="1">
              <a:lnSpc>
                <a:spcPct val="120000"/>
              </a:lnSpc>
            </a:pPr>
            <a:r>
              <a:rPr sz="2200">
                <a:latin typeface="+mj-ea"/>
                <a:ea typeface="+mj-ea"/>
              </a:rPr>
              <a:t>递归地从子叶节点开始向上遍历，并剪掉叶节点，然后判断损失函数的值是否减少。如果减少，则将父节点作为新的子叶节点。</a:t>
            </a:r>
          </a:p>
          <a:p>
            <a:pPr lvl="1">
              <a:lnSpc>
                <a:spcPct val="120000"/>
              </a:lnSpc>
            </a:pPr>
            <a:r>
              <a:rPr sz="2200">
                <a:latin typeface="+mj-ea"/>
                <a:ea typeface="+mj-ea"/>
              </a:rPr>
              <a:t>重复上述步骤，直到不能继续剪枝为止。</a:t>
            </a:r>
          </a:p>
          <a:p>
            <a:r>
              <a:rPr sz="2200">
                <a:latin typeface="+mj-ea"/>
                <a:ea typeface="+mj-ea"/>
              </a:rPr>
              <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FCC6A3-C20C-4EF7-A00B-140F055BC323}"/>
              </a:ext>
            </a:extLst>
          </p:cNvPr>
          <p:cNvSpPr>
            <a:spLocks noGrp="1"/>
          </p:cNvSpPr>
          <p:nvPr>
            <p:ph type="title"/>
          </p:nvPr>
        </p:nvSpPr>
        <p:spPr/>
        <p:txBody>
          <a:bodyPr/>
          <a:lstStyle/>
          <a:p>
            <a:pPr algn="l"/>
            <a:r>
              <a:rPr/>
              <a:t>4.决策树</a:t>
            </a:r>
          </a:p>
        </p:txBody>
      </p:sp>
      <p:sp>
        <p:nvSpPr>
          <p:cNvPr id="3" name="内容占位符 2">
            <a:extLst>
              <a:ext uri="{FF2B5EF4-FFF2-40B4-BE49-F238E27FC236}">
                <a16:creationId xmlns:a16="http://schemas.microsoft.com/office/drawing/2014/main" id="{1F9A56EB-A3E9-4EBB-9088-B8D94FAED527}"/>
              </a:ext>
            </a:extLst>
          </p:cNvPr>
          <p:cNvSpPr>
            <a:spLocks noGrp="1"/>
          </p:cNvSpPr>
          <p:nvPr>
            <p:ph idx="1"/>
          </p:nvPr>
        </p:nvSpPr>
        <p:spPr>
          <a:xfrm>
            <a:off x="413657" y="1618016"/>
            <a:ext cx="11627922" cy="4525963"/>
          </a:xfrm>
        </p:spPr>
        <p:txBody>
          <a:bodyPr>
            <a:normAutofit/>
          </a:bodyPr>
          <a:lstStyle/>
          <a:p>
            <a:r>
              <a:rPr sz="2000" b="1">
                <a:solidFill>
                  <a:srgbClr val="FF0000"/>
                </a:solidFill>
                <a:latin typeface="+mj-ea"/>
                <a:ea typeface="+mj-ea"/>
              </a:rPr>
              <a:t>优点：</a:t>
            </a:r>
          </a:p>
          <a:p>
            <a:pPr lvl="1"/>
            <a:r>
              <a:rPr sz="2000">
                <a:latin typeface="+mj-ea"/>
                <a:ea typeface="+mj-ea"/>
              </a:rPr>
              <a:t>可解释性强，计算容易。</a:t>
            </a:r>
          </a:p>
          <a:p>
            <a:pPr lvl="1"/>
            <a:r>
              <a:rPr sz="2000">
                <a:latin typeface="+mj-ea"/>
                <a:ea typeface="+mj-ea"/>
              </a:rPr>
              <a:t>不需要对数据进行归一化。</a:t>
            </a:r>
          </a:p>
          <a:p>
            <a:pPr lvl="1"/>
            <a:r>
              <a:rPr sz="2000">
                <a:latin typeface="+mj-ea"/>
                <a:ea typeface="+mj-ea"/>
              </a:rPr>
              <a:t>能够用于处理有缺失属性的样本</a:t>
            </a:r>
          </a:p>
          <a:p>
            <a:pPr lvl="1"/>
            <a:r>
              <a:rPr sz="2000">
                <a:latin typeface="+mj-ea"/>
                <a:ea typeface="+mj-ea"/>
              </a:rPr>
              <a:t>可评估各个属性变量的重要性，自动剔除对生成决策树没有贡献的属性。</a:t>
            </a:r>
          </a:p>
          <a:p>
            <a:r>
              <a:rPr sz="2000" b="1">
                <a:solidFill>
                  <a:srgbClr val="FF0000"/>
                </a:solidFill>
                <a:latin typeface="+mj-ea"/>
                <a:ea typeface="+mj-ea"/>
              </a:rPr>
              <a:t>缺点：</a:t>
            </a:r>
          </a:p>
          <a:p>
            <a:pPr lvl="1"/>
            <a:r>
              <a:rPr sz="2000">
                <a:latin typeface="+mj-ea"/>
                <a:ea typeface="+mj-ea"/>
              </a:rPr>
              <a:t>忽略了数据之间的关联性</a:t>
            </a:r>
          </a:p>
          <a:p>
            <a:pPr lvl="1"/>
            <a:r>
              <a:rPr sz="2000">
                <a:latin typeface="+mj-ea"/>
                <a:ea typeface="+mj-ea"/>
              </a:rPr>
              <a:t>容易过拟合，需要进行额外的剪枝操作</a:t>
            </a:r>
          </a:p>
          <a:p>
            <a:pPr lvl="1"/>
            <a:r>
              <a:rPr sz="2000">
                <a:latin typeface="+mj-ea"/>
                <a:ea typeface="+mj-ea"/>
              </a:rPr>
              <a:t>不能用于处理流数据，对于新加入的样本，需要重新训练决策树，由此带来额外的计算开销。</a:t>
            </a:r>
          </a:p>
          <a:p>
            <a:r>
              <a:rPr sz="2000"/>
              <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a:extLst>
              <a:ext uri="{FF2B5EF4-FFF2-40B4-BE49-F238E27FC236}">
                <a16:creationId xmlns:a16="http://schemas.microsoft.com/office/drawing/2014/main" id="{BB2B902B-7CB2-454D-B10B-6206FBA5A4C6}"/>
              </a:ext>
            </a:extLst>
          </p:cNvPr>
          <p:cNvSpPr/>
          <p:nvPr/>
        </p:nvSpPr>
        <p:spPr>
          <a:xfrm>
            <a:off x="0" y="1000125"/>
            <a:ext cx="647700" cy="266700"/>
          </a:xfrm>
          <a:prstGeom prst="rect">
            <a:avLst/>
          </a:prstGeom>
          <a:solidFill>
            <a:srgbClr val="A50021"/>
          </a:solidFill>
        </p:spPr>
        <p:txBody>
          <a:bodyPr wrap="square" rtlCol="0"/>
          <a:lstStyle/>
          <a:p>
            <a:r>
              <a:rPr/>
              <a:t/>
            </a:r>
          </a:p>
        </p:txBody>
      </p:sp>
      <p:sp>
        <p:nvSpPr>
          <p:cNvPr id="4" name="Shape 4">
            <a:extLst>
              <a:ext uri="{FF2B5EF4-FFF2-40B4-BE49-F238E27FC236}">
                <a16:creationId xmlns:a16="http://schemas.microsoft.com/office/drawing/2014/main" id="{0A9A96CE-CA97-4B8F-8900-2835610692C8}"/>
              </a:ext>
            </a:extLst>
          </p:cNvPr>
          <p:cNvSpPr/>
          <p:nvPr/>
        </p:nvSpPr>
        <p:spPr>
          <a:xfrm>
            <a:off x="704850" y="1000125"/>
            <a:ext cx="11487150" cy="266700"/>
          </a:xfrm>
          <a:prstGeom prst="rect">
            <a:avLst/>
          </a:prstGeom>
          <a:solidFill>
            <a:srgbClr val="0066CC"/>
          </a:solidFill>
        </p:spPr>
        <p:txBody>
          <a:bodyPr wrap="square" rtlCol="0"/>
          <a:lstStyle/>
          <a:p>
            <a:r>
              <a:rPr/>
              <a:t/>
            </a:r>
          </a:p>
        </p:txBody>
      </p:sp>
      <p:sp>
        <p:nvSpPr>
          <p:cNvPr id="5" name="TextBox 5">
            <a:extLst>
              <a:ext uri="{FF2B5EF4-FFF2-40B4-BE49-F238E27FC236}">
                <a16:creationId xmlns:a16="http://schemas.microsoft.com/office/drawing/2014/main" id="{4DCEEA3E-5AB8-4466-A811-481A6263E851}"/>
              </a:ext>
            </a:extLst>
          </p:cNvPr>
          <p:cNvSpPr txBox="1"/>
          <p:nvPr/>
        </p:nvSpPr>
        <p:spPr>
          <a:xfrm>
            <a:off x="9334500" y="1038225"/>
            <a:ext cx="2762250" cy="190500"/>
          </a:xfrm>
        </p:spPr>
        <p:txBody>
          <a:bodyPr wrap="square" rtlCol="0" lIns="0" tIns="0" rIns="0" bIns="0" anchor="ctr"/>
          <a:lstStyle/>
          <a:p>
            <a:pPr algn="r"/>
            <a:r>
              <a:rPr sz="1200" b="1">
                <a:solidFill>
                  <a:srgbClr val="FFFFFF"/>
                </a:solidFill>
                <a:latin typeface="Microsoft YaHei"/>
                <a:ea typeface="Microsoft YaHei"/>
              </a:rPr>
              <a:t>决策树 · 图解 1</a:t>
            </a:r>
          </a:p>
        </p:txBody>
      </p:sp>
      <p:sp>
        <p:nvSpPr>
          <p:cNvPr id="6" name="TextBox 6">
            <a:extLst>
              <a:ext uri="{FF2B5EF4-FFF2-40B4-BE49-F238E27FC236}">
                <a16:creationId xmlns:a16="http://schemas.microsoft.com/office/drawing/2014/main" id="{31E556D3-7954-4BBF-A720-8823D1BBEB7E}"/>
              </a:ext>
            </a:extLst>
          </p:cNvPr>
          <p:cNvSpPr txBox="1"/>
          <p:nvPr/>
        </p:nvSpPr>
        <p:spPr>
          <a:xfrm>
            <a:off x="295275" y="219075"/>
            <a:ext cx="10953750" cy="619125"/>
          </a:xfrm>
        </p:spPr>
        <p:txBody>
          <a:bodyPr wrap="square" rtlCol="0" lIns="0" tIns="0" rIns="0" bIns="0" anchor="t"/>
          <a:lstStyle/>
          <a:p>
            <a:pPr algn="l"/>
            <a:r>
              <a:rPr sz="3400" b="1">
                <a:solidFill>
                  <a:srgbClr val="000000"/>
                </a:solidFill>
                <a:latin typeface="Microsoft YaHei"/>
                <a:ea typeface="Microsoft YaHei"/>
              </a:rPr>
              <a:t>先问哪个问题</a:t>
            </a:r>
          </a:p>
        </p:txBody>
      </p:sp>
      <p:sp>
        <p:nvSpPr>
          <p:cNvPr id="7" name="TextBox 7">
            <a:extLst>
              <a:ext uri="{FF2B5EF4-FFF2-40B4-BE49-F238E27FC236}">
                <a16:creationId xmlns:a16="http://schemas.microsoft.com/office/drawing/2014/main" id="{D2382D45-187A-47C6-927C-B222245D8440}"/>
              </a:ext>
            </a:extLst>
          </p:cNvPr>
          <p:cNvSpPr txBox="1"/>
          <p:nvPr/>
        </p:nvSpPr>
        <p:spPr>
          <a:xfrm>
            <a:off x="609600" y="1333500"/>
            <a:ext cx="10953750" cy="381000"/>
          </a:xfrm>
        </p:spPr>
        <p:txBody>
          <a:bodyPr wrap="square" rtlCol="0" lIns="0" tIns="0" rIns="0" bIns="0" anchor="t"/>
          <a:lstStyle/>
          <a:p>
            <a:pPr algn="l"/>
            <a:r>
              <a:rPr sz="2000">
                <a:solidFill>
                  <a:srgbClr val="333333"/>
                </a:solidFill>
                <a:latin typeface="Microsoft YaHei"/>
                <a:ea typeface="Microsoft YaHei"/>
              </a:rPr>
              <a:t>四个候选问题各切一刀：负债收入比最干净，有房几乎没用。</a:t>
            </a:r>
          </a:p>
        </p:txBody>
      </p:sp>
      <p:pic>
        <p:nvPicPr>
          <p:cNvPr id="8" name="Picture 8">
            <a:extLst>
              <a:ext uri="{FF2B5EF4-FFF2-40B4-BE49-F238E27FC236}">
                <a16:creationId xmlns:a16="http://schemas.microsoft.com/office/drawing/2014/main" id="{A9F63F0D-8B1E-4FB3-9CC8-7946287EDA7E}"/>
              </a:ext>
            </a:extLst>
          </p:cNvPr>
          <p:cNvPicPr/>
          <p:nvPr/>
        </p:nvPicPr>
        <p:blipFill>
          <a:blip r:embed="rId2"/>
          <a:stretch>
            <a:fillRect/>
          </a:stretch>
        </p:blipFill>
        <p:spPr>
          <a:xfrm>
            <a:off x="762000" y="1809750"/>
            <a:ext cx="10668000" cy="4162425"/>
          </a:xfrm>
          <a:prstGeom prst="rect">
            <a:avLst/>
          </a:prstGeom>
        </p:spPr>
      </p:pic>
      <p:sp>
        <p:nvSpPr>
          <p:cNvPr id="9" name="TextBox 9">
            <a:extLst>
              <a:ext uri="{FF2B5EF4-FFF2-40B4-BE49-F238E27FC236}">
                <a16:creationId xmlns:a16="http://schemas.microsoft.com/office/drawing/2014/main" id="{7A8FCAD2-40A1-400B-9943-6731AA0A5021}"/>
              </a:ext>
            </a:extLst>
          </p:cNvPr>
          <p:cNvSpPr txBox="1"/>
          <p:nvPr/>
        </p:nvSpPr>
        <p:spPr>
          <a:xfrm>
            <a:off x="762000" y="6286500"/>
            <a:ext cx="10668000" cy="228600"/>
          </a:xfrm>
        </p:spPr>
        <p:txBody>
          <a:bodyPr wrap="square" rtlCol="0" lIns="0" tIns="0" rIns="0" bIns="0" anchor="t"/>
          <a:lstStyle/>
          <a:p>
            <a:pPr algn="l"/>
            <a:r>
              <a:rPr sz="1400">
                <a:solidFill>
                  <a:srgbClr val="666666"/>
                </a:solidFill>
                <a:latin typeface="Microsoft YaHei"/>
                <a:ea typeface="Microsoft YaHei"/>
              </a:rPr>
              <a:t>案例：14 位历史借款人；绿色正常，红色违约（教学构造数据）。</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a:extLst>
              <a:ext uri="{FF2B5EF4-FFF2-40B4-BE49-F238E27FC236}">
                <a16:creationId xmlns:a16="http://schemas.microsoft.com/office/drawing/2014/main" id="{B926EAB6-AF2E-4098-979A-25EA9D16A0D3}"/>
              </a:ext>
            </a:extLst>
          </p:cNvPr>
          <p:cNvSpPr/>
          <p:nvPr/>
        </p:nvSpPr>
        <p:spPr>
          <a:xfrm>
            <a:off x="0" y="1000125"/>
            <a:ext cx="647700" cy="266700"/>
          </a:xfrm>
          <a:prstGeom prst="rect">
            <a:avLst/>
          </a:prstGeom>
          <a:solidFill>
            <a:srgbClr val="A50021"/>
          </a:solidFill>
        </p:spPr>
        <p:txBody>
          <a:bodyPr wrap="square" rtlCol="0"/>
          <a:lstStyle/>
          <a:p>
            <a:r>
              <a:rPr/>
              <a:t/>
            </a:r>
          </a:p>
        </p:txBody>
      </p:sp>
      <p:sp>
        <p:nvSpPr>
          <p:cNvPr id="4" name="Shape 4">
            <a:extLst>
              <a:ext uri="{FF2B5EF4-FFF2-40B4-BE49-F238E27FC236}">
                <a16:creationId xmlns:a16="http://schemas.microsoft.com/office/drawing/2014/main" id="{18B9D7D4-985B-4706-A305-505AECD67A6E}"/>
              </a:ext>
            </a:extLst>
          </p:cNvPr>
          <p:cNvSpPr/>
          <p:nvPr/>
        </p:nvSpPr>
        <p:spPr>
          <a:xfrm>
            <a:off x="704850" y="1000125"/>
            <a:ext cx="11487150" cy="266700"/>
          </a:xfrm>
          <a:prstGeom prst="rect">
            <a:avLst/>
          </a:prstGeom>
          <a:solidFill>
            <a:srgbClr val="0066CC"/>
          </a:solidFill>
        </p:spPr>
        <p:txBody>
          <a:bodyPr wrap="square" rtlCol="0"/>
          <a:lstStyle/>
          <a:p>
            <a:r>
              <a:rPr/>
              <a:t/>
            </a:r>
          </a:p>
        </p:txBody>
      </p:sp>
      <p:sp>
        <p:nvSpPr>
          <p:cNvPr id="5" name="TextBox 5">
            <a:extLst>
              <a:ext uri="{FF2B5EF4-FFF2-40B4-BE49-F238E27FC236}">
                <a16:creationId xmlns:a16="http://schemas.microsoft.com/office/drawing/2014/main" id="{CCBF22DB-A5EC-496B-9EB7-62E2C9007232}"/>
              </a:ext>
            </a:extLst>
          </p:cNvPr>
          <p:cNvSpPr txBox="1"/>
          <p:nvPr/>
        </p:nvSpPr>
        <p:spPr>
          <a:xfrm>
            <a:off x="9334500" y="1038225"/>
            <a:ext cx="2762250" cy="190500"/>
          </a:xfrm>
        </p:spPr>
        <p:txBody>
          <a:bodyPr wrap="square" rtlCol="0" lIns="0" tIns="0" rIns="0" bIns="0" anchor="ctr"/>
          <a:lstStyle/>
          <a:p>
            <a:pPr algn="r"/>
            <a:r>
              <a:rPr sz="1200" b="1">
                <a:solidFill>
                  <a:srgbClr val="FFFFFF"/>
                </a:solidFill>
                <a:latin typeface="Microsoft YaHei"/>
                <a:ea typeface="Microsoft YaHei"/>
              </a:rPr>
              <a:t>决策树 · 图解 2</a:t>
            </a:r>
          </a:p>
        </p:txBody>
      </p:sp>
      <p:sp>
        <p:nvSpPr>
          <p:cNvPr id="6" name="TextBox 6">
            <a:extLst>
              <a:ext uri="{FF2B5EF4-FFF2-40B4-BE49-F238E27FC236}">
                <a16:creationId xmlns:a16="http://schemas.microsoft.com/office/drawing/2014/main" id="{37A768A0-F6BC-4531-9D3F-2490C5789F8E}"/>
              </a:ext>
            </a:extLst>
          </p:cNvPr>
          <p:cNvSpPr txBox="1"/>
          <p:nvPr/>
        </p:nvSpPr>
        <p:spPr>
          <a:xfrm>
            <a:off x="295275" y="219075"/>
            <a:ext cx="10953750" cy="619125"/>
          </a:xfrm>
        </p:spPr>
        <p:txBody>
          <a:bodyPr wrap="square" rtlCol="0" lIns="0" tIns="0" rIns="0" bIns="0" anchor="t"/>
          <a:lstStyle/>
          <a:p>
            <a:pPr algn="l"/>
            <a:r>
              <a:rPr sz="3400" b="1">
                <a:solidFill>
                  <a:srgbClr val="000000"/>
                </a:solidFill>
                <a:latin typeface="Microsoft YaHei"/>
                <a:ea typeface="Microsoft YaHei"/>
              </a:rPr>
              <a:t>完整树与剪枝树</a:t>
            </a:r>
          </a:p>
        </p:txBody>
      </p:sp>
      <p:sp>
        <p:nvSpPr>
          <p:cNvPr id="7" name="TextBox 7">
            <a:extLst>
              <a:ext uri="{FF2B5EF4-FFF2-40B4-BE49-F238E27FC236}">
                <a16:creationId xmlns:a16="http://schemas.microsoft.com/office/drawing/2014/main" id="{78BC24B7-45A1-4E04-A936-49DA4A82D660}"/>
              </a:ext>
            </a:extLst>
          </p:cNvPr>
          <p:cNvSpPr txBox="1"/>
          <p:nvPr/>
        </p:nvSpPr>
        <p:spPr>
          <a:xfrm>
            <a:off x="609600" y="1333500"/>
            <a:ext cx="10953750" cy="381000"/>
          </a:xfrm>
        </p:spPr>
        <p:txBody>
          <a:bodyPr wrap="square" rtlCol="0" lIns="0" tIns="0" rIns="0" bIns="0" anchor="t"/>
          <a:lstStyle/>
          <a:p>
            <a:pPr algn="l"/>
            <a:r>
              <a:rPr sz="2000">
                <a:solidFill>
                  <a:srgbClr val="333333"/>
                </a:solidFill>
                <a:latin typeface="Microsoft YaHei"/>
                <a:ea typeface="Microsoft YaHei"/>
              </a:rPr>
              <a:t>不限深度：6 个叶子，训练集 100%；max_depth=2：4 个叶子，训练集 85.7%。</a:t>
            </a:r>
          </a:p>
        </p:txBody>
      </p:sp>
      <p:pic>
        <p:nvPicPr>
          <p:cNvPr id="8" name="Picture 8">
            <a:extLst>
              <a:ext uri="{FF2B5EF4-FFF2-40B4-BE49-F238E27FC236}">
                <a16:creationId xmlns:a16="http://schemas.microsoft.com/office/drawing/2014/main" id="{2E163660-A554-413F-A514-5D2A34223F3F}"/>
              </a:ext>
            </a:extLst>
          </p:cNvPr>
          <p:cNvPicPr/>
          <p:nvPr/>
        </p:nvPicPr>
        <p:blipFill>
          <a:blip r:embed="rId2"/>
          <a:stretch>
            <a:fillRect/>
          </a:stretch>
        </p:blipFill>
        <p:spPr>
          <a:xfrm>
            <a:off x="1343025" y="1809750"/>
            <a:ext cx="9505950" cy="4572000"/>
          </a:xfrm>
          <a:prstGeom prst="rect">
            <a:avLst/>
          </a:prstGeom>
        </p:spPr>
      </p:pic>
      <p:sp>
        <p:nvSpPr>
          <p:cNvPr id="9" name="TextBox 9">
            <a:extLst>
              <a:ext uri="{FF2B5EF4-FFF2-40B4-BE49-F238E27FC236}">
                <a16:creationId xmlns:a16="http://schemas.microsoft.com/office/drawing/2014/main" id="{2E87D8F1-8E9F-40A0-9C12-AA01B4DC7DA8}"/>
              </a:ext>
            </a:extLst>
          </p:cNvPr>
          <p:cNvSpPr txBox="1"/>
          <p:nvPr/>
        </p:nvSpPr>
        <p:spPr>
          <a:xfrm>
            <a:off x="762000" y="6477000"/>
            <a:ext cx="10668000" cy="285750"/>
          </a:xfrm>
        </p:spPr>
        <p:txBody>
          <a:bodyPr wrap="square" rtlCol="0" lIns="0" tIns="0" rIns="0" bIns="0" anchor="t"/>
          <a:lstStyle/>
          <a:p>
            <a:pPr algn="l"/>
            <a:r>
              <a:rPr sz="1800">
                <a:solidFill>
                  <a:srgbClr val="333333"/>
                </a:solidFill>
                <a:latin typeface="Microsoft YaHei"/>
                <a:ea typeface="Microsoft YaHei"/>
              </a:rPr>
              <a:t>剪枝用少量训练误差换取更稳的规则；每个叶子至少有 2 人支撑。</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a:extLst>
              <a:ext uri="{FF2B5EF4-FFF2-40B4-BE49-F238E27FC236}">
                <a16:creationId xmlns:a16="http://schemas.microsoft.com/office/drawing/2014/main" id="{67CC195C-1D1D-4843-83CF-24B404801C18}"/>
              </a:ext>
            </a:extLst>
          </p:cNvPr>
          <p:cNvSpPr/>
          <p:nvPr/>
        </p:nvSpPr>
        <p:spPr>
          <a:xfrm>
            <a:off x="0" y="1000125"/>
            <a:ext cx="647700" cy="266700"/>
          </a:xfrm>
          <a:prstGeom prst="rect">
            <a:avLst/>
          </a:prstGeom>
          <a:solidFill>
            <a:srgbClr val="A50021"/>
          </a:solidFill>
        </p:spPr>
        <p:txBody>
          <a:bodyPr wrap="square" rtlCol="0"/>
          <a:lstStyle/>
          <a:p>
            <a:r>
              <a:rPr/>
              <a:t/>
            </a:r>
          </a:p>
        </p:txBody>
      </p:sp>
      <p:sp>
        <p:nvSpPr>
          <p:cNvPr id="4" name="Shape 4">
            <a:extLst>
              <a:ext uri="{FF2B5EF4-FFF2-40B4-BE49-F238E27FC236}">
                <a16:creationId xmlns:a16="http://schemas.microsoft.com/office/drawing/2014/main" id="{75DA542C-8E51-499A-BBDF-F0188EFB0B97}"/>
              </a:ext>
            </a:extLst>
          </p:cNvPr>
          <p:cNvSpPr/>
          <p:nvPr/>
        </p:nvSpPr>
        <p:spPr>
          <a:xfrm>
            <a:off x="704850" y="1000125"/>
            <a:ext cx="11487150" cy="266700"/>
          </a:xfrm>
          <a:prstGeom prst="rect">
            <a:avLst/>
          </a:prstGeom>
          <a:solidFill>
            <a:srgbClr val="0066CC"/>
          </a:solidFill>
        </p:spPr>
        <p:txBody>
          <a:bodyPr wrap="square" rtlCol="0"/>
          <a:lstStyle/>
          <a:p>
            <a:r>
              <a:rPr/>
              <a:t/>
            </a:r>
          </a:p>
        </p:txBody>
      </p:sp>
      <p:sp>
        <p:nvSpPr>
          <p:cNvPr id="5" name="TextBox 5">
            <a:extLst>
              <a:ext uri="{FF2B5EF4-FFF2-40B4-BE49-F238E27FC236}">
                <a16:creationId xmlns:a16="http://schemas.microsoft.com/office/drawing/2014/main" id="{E449EE4F-715A-4B0F-B9BC-16E694EC0476}"/>
              </a:ext>
            </a:extLst>
          </p:cNvPr>
          <p:cNvSpPr txBox="1"/>
          <p:nvPr/>
        </p:nvSpPr>
        <p:spPr>
          <a:xfrm>
            <a:off x="9334500" y="1038225"/>
            <a:ext cx="2762250" cy="190500"/>
          </a:xfrm>
        </p:spPr>
        <p:txBody>
          <a:bodyPr wrap="square" rtlCol="0" lIns="0" tIns="0" rIns="0" bIns="0" anchor="ctr"/>
          <a:lstStyle/>
          <a:p>
            <a:pPr algn="r"/>
            <a:r>
              <a:rPr sz="1200" b="1">
                <a:solidFill>
                  <a:srgbClr val="FFFFFF"/>
                </a:solidFill>
                <a:latin typeface="Microsoft YaHei"/>
                <a:ea typeface="Microsoft YaHei"/>
              </a:rPr>
              <a:t>决策树 · 图解 3</a:t>
            </a:r>
          </a:p>
        </p:txBody>
      </p:sp>
      <p:sp>
        <p:nvSpPr>
          <p:cNvPr id="6" name="TextBox 6">
            <a:extLst>
              <a:ext uri="{FF2B5EF4-FFF2-40B4-BE49-F238E27FC236}">
                <a16:creationId xmlns:a16="http://schemas.microsoft.com/office/drawing/2014/main" id="{DC8B36B3-18C5-4D7A-B094-0A59D1FBC4A6}"/>
              </a:ext>
            </a:extLst>
          </p:cNvPr>
          <p:cNvSpPr txBox="1"/>
          <p:nvPr/>
        </p:nvSpPr>
        <p:spPr>
          <a:xfrm>
            <a:off x="295275" y="219075"/>
            <a:ext cx="10953750" cy="619125"/>
          </a:xfrm>
        </p:spPr>
        <p:txBody>
          <a:bodyPr wrap="square" rtlCol="0" lIns="0" tIns="0" rIns="0" bIns="0" anchor="t"/>
          <a:lstStyle/>
          <a:p>
            <a:pPr algn="l"/>
            <a:r>
              <a:rPr sz="3400" b="1">
                <a:solidFill>
                  <a:srgbClr val="000000"/>
                </a:solidFill>
                <a:latin typeface="Microsoft YaHei"/>
                <a:ea typeface="Microsoft YaHei"/>
              </a:rPr>
              <a:t>决策树在切什么</a:t>
            </a:r>
          </a:p>
        </p:txBody>
      </p:sp>
      <p:sp>
        <p:nvSpPr>
          <p:cNvPr id="7" name="TextBox 7">
            <a:extLst>
              <a:ext uri="{FF2B5EF4-FFF2-40B4-BE49-F238E27FC236}">
                <a16:creationId xmlns:a16="http://schemas.microsoft.com/office/drawing/2014/main" id="{81EE7C3B-81AF-4E48-B480-B9144FC6EC85}"/>
              </a:ext>
            </a:extLst>
          </p:cNvPr>
          <p:cNvSpPr txBox="1"/>
          <p:nvPr/>
        </p:nvSpPr>
        <p:spPr>
          <a:xfrm>
            <a:off x="609600" y="1333500"/>
            <a:ext cx="10953750" cy="381000"/>
          </a:xfrm>
        </p:spPr>
        <p:txBody>
          <a:bodyPr wrap="square" rtlCol="0" lIns="0" tIns="0" rIns="0" bIns="0" anchor="t"/>
          <a:lstStyle/>
          <a:p>
            <a:pPr algn="l"/>
            <a:r>
              <a:rPr sz="2000">
                <a:solidFill>
                  <a:srgbClr val="333333"/>
                </a:solidFill>
                <a:latin typeface="Microsoft YaHei"/>
                <a:ea typeface="Microsoft YaHei"/>
              </a:rPr>
              <a:t>每问一个“是否超过某个值”，就在平面上划一条横线或竖线。</a:t>
            </a:r>
          </a:p>
        </p:txBody>
      </p:sp>
      <p:pic>
        <p:nvPicPr>
          <p:cNvPr id="8" name="Picture 8">
            <a:extLst>
              <a:ext uri="{FF2B5EF4-FFF2-40B4-BE49-F238E27FC236}">
                <a16:creationId xmlns:a16="http://schemas.microsoft.com/office/drawing/2014/main" id="{B1DD35C1-05BB-48C0-9326-A74CDB1B4D0F}"/>
              </a:ext>
            </a:extLst>
          </p:cNvPr>
          <p:cNvPicPr/>
          <p:nvPr/>
        </p:nvPicPr>
        <p:blipFill>
          <a:blip r:embed="rId2"/>
          <a:stretch>
            <a:fillRect/>
          </a:stretch>
        </p:blipFill>
        <p:spPr>
          <a:xfrm>
            <a:off x="762000" y="1809750"/>
            <a:ext cx="10668000" cy="4457700"/>
          </a:xfrm>
          <a:prstGeom prst="rect">
            <a:avLst/>
          </a:prstGeom>
        </p:spPr>
      </p:pic>
      <p:sp>
        <p:nvSpPr>
          <p:cNvPr id="9" name="TextBox 9">
            <a:extLst>
              <a:ext uri="{FF2B5EF4-FFF2-40B4-BE49-F238E27FC236}">
                <a16:creationId xmlns:a16="http://schemas.microsoft.com/office/drawing/2014/main" id="{4AFC1AC1-23DE-46EF-9EDF-7D4034129540}"/>
              </a:ext>
            </a:extLst>
          </p:cNvPr>
          <p:cNvSpPr txBox="1"/>
          <p:nvPr/>
        </p:nvSpPr>
        <p:spPr>
          <a:xfrm>
            <a:off x="762000" y="6381750"/>
            <a:ext cx="10668000" cy="285750"/>
          </a:xfrm>
        </p:spPr>
        <p:txBody>
          <a:bodyPr wrap="square" rtlCol="0" lIns="0" tIns="0" rIns="0" bIns="0" anchor="t"/>
          <a:lstStyle/>
          <a:p>
            <a:pPr algn="l"/>
            <a:r>
              <a:rPr sz="1800">
                <a:solidFill>
                  <a:srgbClr val="333333"/>
                </a:solidFill>
                <a:latin typeface="Microsoft YaHei"/>
                <a:ea typeface="Microsoft YaHei"/>
              </a:rPr>
              <a:t>深度 3 能切出“负债高并且收入低”的交互区域；不限深度会把平面切碎。</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a:extLst>
              <a:ext uri="{FF2B5EF4-FFF2-40B4-BE49-F238E27FC236}">
                <a16:creationId xmlns:a16="http://schemas.microsoft.com/office/drawing/2014/main" id="{6B95F903-BD39-4F27-B7FD-68A85E4BC279}"/>
              </a:ext>
            </a:extLst>
          </p:cNvPr>
          <p:cNvSpPr/>
          <p:nvPr/>
        </p:nvSpPr>
        <p:spPr>
          <a:xfrm>
            <a:off x="0" y="1000125"/>
            <a:ext cx="647700" cy="266700"/>
          </a:xfrm>
          <a:prstGeom prst="rect">
            <a:avLst/>
          </a:prstGeom>
          <a:solidFill>
            <a:srgbClr val="A50021"/>
          </a:solidFill>
        </p:spPr>
        <p:txBody>
          <a:bodyPr wrap="square" rtlCol="0"/>
          <a:lstStyle/>
          <a:p>
            <a:r>
              <a:rPr/>
              <a:t/>
            </a:r>
          </a:p>
        </p:txBody>
      </p:sp>
      <p:sp>
        <p:nvSpPr>
          <p:cNvPr id="4" name="Shape 4">
            <a:extLst>
              <a:ext uri="{FF2B5EF4-FFF2-40B4-BE49-F238E27FC236}">
                <a16:creationId xmlns:a16="http://schemas.microsoft.com/office/drawing/2014/main" id="{B42656A9-BAF9-4D8D-8C0F-D5F6A9FBA1A5}"/>
              </a:ext>
            </a:extLst>
          </p:cNvPr>
          <p:cNvSpPr/>
          <p:nvPr/>
        </p:nvSpPr>
        <p:spPr>
          <a:xfrm>
            <a:off x="704850" y="1000125"/>
            <a:ext cx="11487150" cy="266700"/>
          </a:xfrm>
          <a:prstGeom prst="rect">
            <a:avLst/>
          </a:prstGeom>
          <a:solidFill>
            <a:srgbClr val="0066CC"/>
          </a:solidFill>
        </p:spPr>
        <p:txBody>
          <a:bodyPr wrap="square" rtlCol="0"/>
          <a:lstStyle/>
          <a:p>
            <a:r>
              <a:rPr/>
              <a:t/>
            </a:r>
          </a:p>
        </p:txBody>
      </p:sp>
      <p:sp>
        <p:nvSpPr>
          <p:cNvPr id="5" name="TextBox 5">
            <a:extLst>
              <a:ext uri="{FF2B5EF4-FFF2-40B4-BE49-F238E27FC236}">
                <a16:creationId xmlns:a16="http://schemas.microsoft.com/office/drawing/2014/main" id="{248CD71F-861E-4A30-87F8-6588B6A017D5}"/>
              </a:ext>
            </a:extLst>
          </p:cNvPr>
          <p:cNvSpPr txBox="1"/>
          <p:nvPr/>
        </p:nvSpPr>
        <p:spPr>
          <a:xfrm>
            <a:off x="9334500" y="1038225"/>
            <a:ext cx="2762250" cy="190500"/>
          </a:xfrm>
        </p:spPr>
        <p:txBody>
          <a:bodyPr wrap="square" rtlCol="0" lIns="0" tIns="0" rIns="0" bIns="0" anchor="ctr"/>
          <a:lstStyle/>
          <a:p>
            <a:pPr algn="r"/>
            <a:r>
              <a:rPr sz="1200" b="1">
                <a:solidFill>
                  <a:srgbClr val="FFFFFF"/>
                </a:solidFill>
                <a:latin typeface="Microsoft YaHei"/>
                <a:ea typeface="Microsoft YaHei"/>
              </a:rPr>
              <a:t>决策树 · 图解 4</a:t>
            </a:r>
          </a:p>
        </p:txBody>
      </p:sp>
      <p:sp>
        <p:nvSpPr>
          <p:cNvPr id="6" name="TextBox 6">
            <a:extLst>
              <a:ext uri="{FF2B5EF4-FFF2-40B4-BE49-F238E27FC236}">
                <a16:creationId xmlns:a16="http://schemas.microsoft.com/office/drawing/2014/main" id="{986E30DE-76FD-441C-88C3-2C6CD380D447}"/>
              </a:ext>
            </a:extLst>
          </p:cNvPr>
          <p:cNvSpPr txBox="1"/>
          <p:nvPr/>
        </p:nvSpPr>
        <p:spPr>
          <a:xfrm>
            <a:off x="295275" y="219075"/>
            <a:ext cx="10953750" cy="619125"/>
          </a:xfrm>
        </p:spPr>
        <p:txBody>
          <a:bodyPr wrap="square" rtlCol="0" lIns="0" tIns="0" rIns="0" bIns="0" anchor="t"/>
          <a:lstStyle/>
          <a:p>
            <a:pPr algn="l"/>
            <a:r>
              <a:rPr sz="3200" b="1">
                <a:solidFill>
                  <a:srgbClr val="000000"/>
                </a:solidFill>
                <a:latin typeface="Microsoft YaHei"/>
                <a:ea typeface="Microsoft YaHei"/>
              </a:rPr>
              <a:t>过拟合：训练集越准，新客户未必越好</a:t>
            </a:r>
          </a:p>
        </p:txBody>
      </p:sp>
      <p:sp>
        <p:nvSpPr>
          <p:cNvPr id="7" name="TextBox 7">
            <a:extLst>
              <a:ext uri="{FF2B5EF4-FFF2-40B4-BE49-F238E27FC236}">
                <a16:creationId xmlns:a16="http://schemas.microsoft.com/office/drawing/2014/main" id="{8A96BC7C-CC5B-416A-8E65-98C12CD87B6F}"/>
              </a:ext>
            </a:extLst>
          </p:cNvPr>
          <p:cNvSpPr txBox="1"/>
          <p:nvPr/>
        </p:nvSpPr>
        <p:spPr>
          <a:xfrm>
            <a:off x="609600" y="1333500"/>
            <a:ext cx="10953750" cy="381000"/>
          </a:xfrm>
        </p:spPr>
        <p:txBody>
          <a:bodyPr wrap="square" rtlCol="0" lIns="0" tIns="0" rIns="0" bIns="0" anchor="t"/>
          <a:lstStyle/>
          <a:p>
            <a:pPr algn="l"/>
            <a:r>
              <a:rPr sz="2000">
                <a:solidFill>
                  <a:srgbClr val="333333"/>
                </a:solidFill>
                <a:latin typeface="Microsoft YaHei"/>
                <a:ea typeface="Microsoft YaHei"/>
              </a:rPr>
              <a:t>蓝线训练集一路升到 100%，橙线测试集在深度 4 后下滑。</a:t>
            </a:r>
          </a:p>
        </p:txBody>
      </p:sp>
      <p:pic>
        <p:nvPicPr>
          <p:cNvPr id="8" name="Picture 8">
            <a:extLst>
              <a:ext uri="{FF2B5EF4-FFF2-40B4-BE49-F238E27FC236}">
                <a16:creationId xmlns:a16="http://schemas.microsoft.com/office/drawing/2014/main" id="{CAF2974D-9E92-484D-9729-B36F63492AE0}"/>
              </a:ext>
            </a:extLst>
          </p:cNvPr>
          <p:cNvPicPr/>
          <p:nvPr/>
        </p:nvPicPr>
        <p:blipFill>
          <a:blip r:embed="rId2"/>
          <a:stretch>
            <a:fillRect/>
          </a:stretch>
        </p:blipFill>
        <p:spPr>
          <a:xfrm>
            <a:off x="762000" y="1809750"/>
            <a:ext cx="6667500" cy="3743325"/>
          </a:xfrm>
          <a:prstGeom prst="rect">
            <a:avLst/>
          </a:prstGeom>
        </p:spPr>
      </p:pic>
      <p:sp>
        <p:nvSpPr>
          <p:cNvPr id="9" name="TextBox 9">
            <a:extLst>
              <a:ext uri="{FF2B5EF4-FFF2-40B4-BE49-F238E27FC236}">
                <a16:creationId xmlns:a16="http://schemas.microsoft.com/office/drawing/2014/main" id="{891E6257-349A-4ED1-9E4D-A9A301FC2D99}"/>
              </a:ext>
            </a:extLst>
          </p:cNvPr>
          <p:cNvSpPr txBox="1"/>
          <p:nvPr/>
        </p:nvSpPr>
        <p:spPr>
          <a:xfrm>
            <a:off x="7715250" y="1809750"/>
            <a:ext cx="3810000" cy="3810000"/>
          </a:xfrm>
        </p:spPr>
        <p:txBody>
          <a:bodyPr wrap="square" rtlCol="0" lIns="0" tIns="0" rIns="0" bIns="0" anchor="t"/>
          <a:lstStyle/>
          <a:p>
            <a:pPr algn="l">
              <a:lnSpc>
                <a:spcPct val="120000"/>
              </a:lnSpc>
              <a:spcAft>
                <a:spcPts val="1000"/>
              </a:spcAft>
            </a:pPr>
            <a:r>
              <a:rPr sz="2000">
                <a:solidFill>
                  <a:srgbClr val="000000"/>
                </a:solidFill>
                <a:latin typeface="Microsoft YaHei"/>
                <a:ea typeface="Microsoft YaHei"/>
              </a:rPr>
              <a:t>• 两条线分开的地方，就是模型开始“背答案”的地方。</a:t>
            </a:r>
          </a:p>
          <a:p>
            <a:pPr algn="l">
              <a:lnSpc>
                <a:spcPct val="120000"/>
              </a:lnSpc>
              <a:spcAft>
                <a:spcPts val="1000"/>
              </a:spcAft>
            </a:pPr>
            <a:r>
              <a:rPr sz="2000">
                <a:solidFill>
                  <a:srgbClr val="000000"/>
                </a:solidFill>
                <a:latin typeface="Microsoft YaHei"/>
                <a:ea typeface="Microsoft YaHei"/>
              </a:rPr>
              <a:t>• 训练集准确率下降，不等于模型变差；要看没见过的新客户。</a:t>
            </a:r>
          </a:p>
          <a:p>
            <a:pPr algn="l">
              <a:lnSpc>
                <a:spcPct val="120000"/>
              </a:lnSpc>
              <a:spcAft>
                <a:spcPts val="1000"/>
              </a:spcAft>
            </a:pPr>
            <a:r>
              <a:rPr sz="2000">
                <a:solidFill>
                  <a:srgbClr val="000000"/>
                </a:solidFill>
                <a:latin typeface="Microsoft YaHei"/>
                <a:ea typeface="Microsoft YaHei"/>
              </a:rPr>
              <a:t>• 剪枝和限制深度，就是把树停在测试集最好的位置附近。</a:t>
            </a:r>
          </a:p>
        </p:txBody>
      </p:sp>
      <p:sp>
        <p:nvSpPr>
          <p:cNvPr id="10" name="TextBox 10">
            <a:extLst>
              <a:ext uri="{FF2B5EF4-FFF2-40B4-BE49-F238E27FC236}">
                <a16:creationId xmlns:a16="http://schemas.microsoft.com/office/drawing/2014/main" id="{809CAF0C-7112-4161-9E74-A1FAC7FA3C18}"/>
              </a:ext>
            </a:extLst>
          </p:cNvPr>
          <p:cNvSpPr txBox="1"/>
          <p:nvPr/>
        </p:nvSpPr>
        <p:spPr>
          <a:xfrm>
            <a:off x="762000" y="6286500"/>
            <a:ext cx="10477500" cy="228600"/>
          </a:xfrm>
        </p:spPr>
        <p:txBody>
          <a:bodyPr wrap="square" rtlCol="0" lIns="0" tIns="0" rIns="0" bIns="0" anchor="t"/>
          <a:lstStyle/>
          <a:p>
            <a:pPr algn="l"/>
            <a:r>
              <a:rPr sz="1400">
                <a:solidFill>
                  <a:srgbClr val="666666"/>
                </a:solidFill>
                <a:latin typeface="Microsoft YaHei"/>
                <a:ea typeface="Microsoft YaHei"/>
              </a:rPr>
              <a:t>模拟 2,000 位借款人，60% 训练、40% 测试，另加 6 个噪声特征。</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a:extLst>
              <a:ext uri="{FF2B5EF4-FFF2-40B4-BE49-F238E27FC236}">
                <a16:creationId xmlns:a16="http://schemas.microsoft.com/office/drawing/2014/main" id="{6C0FC4D1-E5D2-4D48-A757-50B8D2F343BA}"/>
              </a:ext>
            </a:extLst>
          </p:cNvPr>
          <p:cNvSpPr/>
          <p:nvPr/>
        </p:nvSpPr>
        <p:spPr>
          <a:xfrm>
            <a:off x="0" y="1000125"/>
            <a:ext cx="647700" cy="266700"/>
          </a:xfrm>
          <a:prstGeom prst="rect">
            <a:avLst/>
          </a:prstGeom>
          <a:solidFill>
            <a:srgbClr val="A50021"/>
          </a:solidFill>
        </p:spPr>
        <p:txBody>
          <a:bodyPr wrap="square" rtlCol="0"/>
          <a:lstStyle/>
          <a:p>
            <a:r>
              <a:rPr/>
              <a:t/>
            </a:r>
          </a:p>
        </p:txBody>
      </p:sp>
      <p:sp>
        <p:nvSpPr>
          <p:cNvPr id="4" name="Shape 4">
            <a:extLst>
              <a:ext uri="{FF2B5EF4-FFF2-40B4-BE49-F238E27FC236}">
                <a16:creationId xmlns:a16="http://schemas.microsoft.com/office/drawing/2014/main" id="{9D5432C3-3409-443B-ADE9-13B7215977B4}"/>
              </a:ext>
            </a:extLst>
          </p:cNvPr>
          <p:cNvSpPr/>
          <p:nvPr/>
        </p:nvSpPr>
        <p:spPr>
          <a:xfrm>
            <a:off x="704850" y="1000125"/>
            <a:ext cx="11487150" cy="266700"/>
          </a:xfrm>
          <a:prstGeom prst="rect">
            <a:avLst/>
          </a:prstGeom>
          <a:solidFill>
            <a:srgbClr val="0066CC"/>
          </a:solidFill>
        </p:spPr>
        <p:txBody>
          <a:bodyPr wrap="square" rtlCol="0"/>
          <a:lstStyle/>
          <a:p>
            <a:r>
              <a:rPr/>
              <a:t/>
            </a:r>
          </a:p>
        </p:txBody>
      </p:sp>
      <p:sp>
        <p:nvSpPr>
          <p:cNvPr id="5" name="TextBox 5">
            <a:extLst>
              <a:ext uri="{FF2B5EF4-FFF2-40B4-BE49-F238E27FC236}">
                <a16:creationId xmlns:a16="http://schemas.microsoft.com/office/drawing/2014/main" id="{D4315335-9A6B-4110-8B84-F8A21D0743BF}"/>
              </a:ext>
            </a:extLst>
          </p:cNvPr>
          <p:cNvSpPr txBox="1"/>
          <p:nvPr/>
        </p:nvSpPr>
        <p:spPr>
          <a:xfrm>
            <a:off x="9334500" y="1038225"/>
            <a:ext cx="2762250" cy="190500"/>
          </a:xfrm>
        </p:spPr>
        <p:txBody>
          <a:bodyPr wrap="square" rtlCol="0" lIns="0" tIns="0" rIns="0" bIns="0" anchor="ctr"/>
          <a:lstStyle/>
          <a:p>
            <a:pPr algn="r"/>
            <a:r>
              <a:rPr sz="1200" b="1">
                <a:solidFill>
                  <a:srgbClr val="FFFFFF"/>
                </a:solidFill>
                <a:latin typeface="Microsoft YaHei"/>
                <a:ea typeface="Microsoft YaHei"/>
              </a:rPr>
              <a:t>决策树 · 图解 5</a:t>
            </a:r>
          </a:p>
        </p:txBody>
      </p:sp>
      <p:sp>
        <p:nvSpPr>
          <p:cNvPr id="6" name="TextBox 6">
            <a:extLst>
              <a:ext uri="{FF2B5EF4-FFF2-40B4-BE49-F238E27FC236}">
                <a16:creationId xmlns:a16="http://schemas.microsoft.com/office/drawing/2014/main" id="{8A9E1B95-E0DF-40CB-BE1B-909900C7C519}"/>
              </a:ext>
            </a:extLst>
          </p:cNvPr>
          <p:cNvSpPr txBox="1"/>
          <p:nvPr/>
        </p:nvSpPr>
        <p:spPr>
          <a:xfrm>
            <a:off x="295275" y="219075"/>
            <a:ext cx="10953750" cy="619125"/>
          </a:xfrm>
        </p:spPr>
        <p:txBody>
          <a:bodyPr wrap="square" rtlCol="0" lIns="0" tIns="0" rIns="0" bIns="0" anchor="t"/>
          <a:lstStyle/>
          <a:p>
            <a:pPr algn="l"/>
            <a:r>
              <a:rPr sz="3400" b="1">
                <a:solidFill>
                  <a:srgbClr val="000000"/>
                </a:solidFill>
                <a:latin typeface="Microsoft YaHei"/>
                <a:ea typeface="Microsoft YaHei"/>
              </a:rPr>
              <a:t>一棵树，一片森林</a:t>
            </a:r>
          </a:p>
        </p:txBody>
      </p:sp>
      <p:sp>
        <p:nvSpPr>
          <p:cNvPr id="7" name="TextBox 7">
            <a:extLst>
              <a:ext uri="{FF2B5EF4-FFF2-40B4-BE49-F238E27FC236}">
                <a16:creationId xmlns:a16="http://schemas.microsoft.com/office/drawing/2014/main" id="{2B6B38C2-FCD3-47E7-A317-530FA5AFBC06}"/>
              </a:ext>
            </a:extLst>
          </p:cNvPr>
          <p:cNvSpPr txBox="1"/>
          <p:nvPr/>
        </p:nvSpPr>
        <p:spPr>
          <a:xfrm>
            <a:off x="609600" y="1333500"/>
            <a:ext cx="10953750" cy="381000"/>
          </a:xfrm>
        </p:spPr>
        <p:txBody>
          <a:bodyPr wrap="square" rtlCol="0" lIns="0" tIns="0" rIns="0" bIns="0" anchor="t"/>
          <a:lstStyle/>
          <a:p>
            <a:pPr algn="l"/>
            <a:r>
              <a:rPr sz="2000">
                <a:solidFill>
                  <a:srgbClr val="333333"/>
                </a:solidFill>
                <a:latin typeface="Microsoft YaHei"/>
                <a:ea typeface="Microsoft YaHei"/>
              </a:rPr>
              <a:t>随机森林和梯度提升把许多棵树的结果合在一起。</a:t>
            </a:r>
          </a:p>
        </p:txBody>
      </p:sp>
      <p:pic>
        <p:nvPicPr>
          <p:cNvPr id="8" name="Picture 8">
            <a:extLst>
              <a:ext uri="{FF2B5EF4-FFF2-40B4-BE49-F238E27FC236}">
                <a16:creationId xmlns:a16="http://schemas.microsoft.com/office/drawing/2014/main" id="{ECA0D698-E303-4980-A8C6-DCEEC792B8E4}"/>
              </a:ext>
            </a:extLst>
          </p:cNvPr>
          <p:cNvPicPr/>
          <p:nvPr/>
        </p:nvPicPr>
        <p:blipFill>
          <a:blip r:embed="rId2"/>
          <a:stretch>
            <a:fillRect/>
          </a:stretch>
        </p:blipFill>
        <p:spPr>
          <a:xfrm>
            <a:off x="762000" y="1809750"/>
            <a:ext cx="10668000" cy="4457700"/>
          </a:xfrm>
          <a:prstGeom prst="rect">
            <a:avLst/>
          </a:prstGeom>
        </p:spPr>
      </p:pic>
      <p:sp>
        <p:nvSpPr>
          <p:cNvPr id="9" name="TextBox 9">
            <a:extLst>
              <a:ext uri="{FF2B5EF4-FFF2-40B4-BE49-F238E27FC236}">
                <a16:creationId xmlns:a16="http://schemas.microsoft.com/office/drawing/2014/main" id="{4CEB697F-43F3-4F78-9821-5A1CFB7CC1AD}"/>
              </a:ext>
            </a:extLst>
          </p:cNvPr>
          <p:cNvSpPr txBox="1"/>
          <p:nvPr/>
        </p:nvSpPr>
        <p:spPr>
          <a:xfrm>
            <a:off x="762000" y="6381750"/>
            <a:ext cx="10668000" cy="285750"/>
          </a:xfrm>
        </p:spPr>
        <p:txBody>
          <a:bodyPr wrap="square" rtlCol="0" lIns="0" tIns="0" rIns="0" bIns="0" anchor="t"/>
          <a:lstStyle/>
          <a:p>
            <a:pPr algn="l"/>
            <a:r>
              <a:rPr sz="1800">
                <a:solidFill>
                  <a:srgbClr val="333333"/>
                </a:solidFill>
                <a:latin typeface="Microsoft YaHei"/>
                <a:ea typeface="Microsoft YaHei"/>
              </a:rPr>
              <a:t>集成通常更准，但可解释性下降：100 棵树的投票结果很难写成几条规则。</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a:extLst>
              <a:ext uri="{FF2B5EF4-FFF2-40B4-BE49-F238E27FC236}">
                <a16:creationId xmlns:a16="http://schemas.microsoft.com/office/drawing/2014/main" id="{8B3EDDAD-6FC5-4278-A35C-A442053DC6E8}"/>
              </a:ext>
            </a:extLst>
          </p:cNvPr>
          <p:cNvSpPr/>
          <p:nvPr/>
        </p:nvSpPr>
        <p:spPr>
          <a:xfrm>
            <a:off x="0" y="1000125"/>
            <a:ext cx="647700" cy="266700"/>
          </a:xfrm>
          <a:prstGeom prst="rect">
            <a:avLst/>
          </a:prstGeom>
          <a:solidFill>
            <a:srgbClr val="A50021"/>
          </a:solidFill>
        </p:spPr>
        <p:txBody>
          <a:bodyPr wrap="square" rtlCol="0"/>
          <a:lstStyle/>
          <a:p>
            <a:r>
              <a:rPr/>
              <a:t/>
            </a:r>
          </a:p>
        </p:txBody>
      </p:sp>
      <p:sp>
        <p:nvSpPr>
          <p:cNvPr id="4" name="Shape 4">
            <a:extLst>
              <a:ext uri="{FF2B5EF4-FFF2-40B4-BE49-F238E27FC236}">
                <a16:creationId xmlns:a16="http://schemas.microsoft.com/office/drawing/2014/main" id="{C87C4B32-FFAD-435A-A3AF-B2D726A09716}"/>
              </a:ext>
            </a:extLst>
          </p:cNvPr>
          <p:cNvSpPr/>
          <p:nvPr/>
        </p:nvSpPr>
        <p:spPr>
          <a:xfrm>
            <a:off x="704850" y="1000125"/>
            <a:ext cx="11487150" cy="266700"/>
          </a:xfrm>
          <a:prstGeom prst="rect">
            <a:avLst/>
          </a:prstGeom>
          <a:solidFill>
            <a:srgbClr val="0066CC"/>
          </a:solidFill>
        </p:spPr>
        <p:txBody>
          <a:bodyPr wrap="square" rtlCol="0"/>
          <a:lstStyle/>
          <a:p>
            <a:r>
              <a:rPr/>
              <a:t/>
            </a:r>
          </a:p>
        </p:txBody>
      </p:sp>
      <p:sp>
        <p:nvSpPr>
          <p:cNvPr id="5" name="TextBox 5">
            <a:extLst>
              <a:ext uri="{FF2B5EF4-FFF2-40B4-BE49-F238E27FC236}">
                <a16:creationId xmlns:a16="http://schemas.microsoft.com/office/drawing/2014/main" id="{3DC95276-553E-4D82-B11D-FA9473E00693}"/>
              </a:ext>
            </a:extLst>
          </p:cNvPr>
          <p:cNvSpPr txBox="1"/>
          <p:nvPr/>
        </p:nvSpPr>
        <p:spPr>
          <a:xfrm>
            <a:off x="9334500" y="1038225"/>
            <a:ext cx="2762250" cy="190500"/>
          </a:xfrm>
        </p:spPr>
        <p:txBody>
          <a:bodyPr wrap="square" rtlCol="0" lIns="0" tIns="0" rIns="0" bIns="0" anchor="ctr"/>
          <a:lstStyle/>
          <a:p>
            <a:pPr algn="r"/>
            <a:r>
              <a:rPr sz="1200" b="1">
                <a:solidFill>
                  <a:srgbClr val="FFFFFF"/>
                </a:solidFill>
                <a:latin typeface="Microsoft YaHei"/>
                <a:ea typeface="Microsoft YaHei"/>
              </a:rPr>
              <a:t>决策树 · 图解 6</a:t>
            </a:r>
          </a:p>
        </p:txBody>
      </p:sp>
      <p:sp>
        <p:nvSpPr>
          <p:cNvPr id="6" name="TextBox 6">
            <a:extLst>
              <a:ext uri="{FF2B5EF4-FFF2-40B4-BE49-F238E27FC236}">
                <a16:creationId xmlns:a16="http://schemas.microsoft.com/office/drawing/2014/main" id="{FAE2EE34-BD00-4869-9255-4ED86723DF1D}"/>
              </a:ext>
            </a:extLst>
          </p:cNvPr>
          <p:cNvSpPr txBox="1"/>
          <p:nvPr/>
        </p:nvSpPr>
        <p:spPr>
          <a:xfrm>
            <a:off x="295275" y="219075"/>
            <a:ext cx="10953750" cy="619125"/>
          </a:xfrm>
        </p:spPr>
        <p:txBody>
          <a:bodyPr wrap="square" rtlCol="0" lIns="0" tIns="0" rIns="0" bIns="0" anchor="t"/>
          <a:lstStyle/>
          <a:p>
            <a:pPr algn="l"/>
            <a:r>
              <a:rPr sz="3400" b="1">
                <a:solidFill>
                  <a:srgbClr val="000000"/>
                </a:solidFill>
                <a:latin typeface="Microsoft YaHei"/>
                <a:ea typeface="Microsoft YaHei"/>
              </a:rPr>
              <a:t>回归树不擅长外推</a:t>
            </a:r>
          </a:p>
        </p:txBody>
      </p:sp>
      <p:sp>
        <p:nvSpPr>
          <p:cNvPr id="7" name="TextBox 7">
            <a:extLst>
              <a:ext uri="{FF2B5EF4-FFF2-40B4-BE49-F238E27FC236}">
                <a16:creationId xmlns:a16="http://schemas.microsoft.com/office/drawing/2014/main" id="{F807ACF2-5BCD-4BD8-922F-0327DD361323}"/>
              </a:ext>
            </a:extLst>
          </p:cNvPr>
          <p:cNvSpPr txBox="1"/>
          <p:nvPr/>
        </p:nvSpPr>
        <p:spPr>
          <a:xfrm>
            <a:off x="609600" y="1333500"/>
            <a:ext cx="10953750" cy="381000"/>
          </a:xfrm>
        </p:spPr>
        <p:txBody>
          <a:bodyPr wrap="square" rtlCol="0" lIns="0" tIns="0" rIns="0" bIns="0" anchor="t"/>
          <a:lstStyle/>
          <a:p>
            <a:pPr algn="l"/>
            <a:r>
              <a:rPr sz="2000">
                <a:solidFill>
                  <a:srgbClr val="333333"/>
                </a:solidFill>
                <a:latin typeface="Microsoft YaHei"/>
                <a:ea typeface="Microsoft YaHei"/>
              </a:rPr>
              <a:t>叶子输出一个数；训练区间外只能沿用最右边一级台阶。</a:t>
            </a:r>
          </a:p>
        </p:txBody>
      </p:sp>
      <p:pic>
        <p:nvPicPr>
          <p:cNvPr id="8" name="Picture 8">
            <a:extLst>
              <a:ext uri="{FF2B5EF4-FFF2-40B4-BE49-F238E27FC236}">
                <a16:creationId xmlns:a16="http://schemas.microsoft.com/office/drawing/2014/main" id="{F977041F-DD0C-4779-9E4A-68421AA685B2}"/>
              </a:ext>
            </a:extLst>
          </p:cNvPr>
          <p:cNvPicPr/>
          <p:nvPr/>
        </p:nvPicPr>
        <p:blipFill>
          <a:blip r:embed="rId2"/>
          <a:stretch>
            <a:fillRect/>
          </a:stretch>
        </p:blipFill>
        <p:spPr>
          <a:xfrm>
            <a:off x="762000" y="1809750"/>
            <a:ext cx="6667500" cy="3714750"/>
          </a:xfrm>
          <a:prstGeom prst="rect">
            <a:avLst/>
          </a:prstGeom>
        </p:spPr>
      </p:pic>
      <p:sp>
        <p:nvSpPr>
          <p:cNvPr id="9" name="TextBox 9">
            <a:extLst>
              <a:ext uri="{FF2B5EF4-FFF2-40B4-BE49-F238E27FC236}">
                <a16:creationId xmlns:a16="http://schemas.microsoft.com/office/drawing/2014/main" id="{7D404DA4-B53B-47E1-87E7-103A5A3456E8}"/>
              </a:ext>
            </a:extLst>
          </p:cNvPr>
          <p:cNvSpPr txBox="1"/>
          <p:nvPr/>
        </p:nvSpPr>
        <p:spPr>
          <a:xfrm>
            <a:off x="7715250" y="1809750"/>
            <a:ext cx="3810000" cy="3810000"/>
          </a:xfrm>
        </p:spPr>
        <p:txBody>
          <a:bodyPr wrap="square" rtlCol="0" lIns="0" tIns="0" rIns="0" bIns="0" anchor="t"/>
          <a:lstStyle/>
          <a:p>
            <a:pPr algn="l">
              <a:lnSpc>
                <a:spcPct val="120000"/>
              </a:lnSpc>
              <a:spcAft>
                <a:spcPts val="1000"/>
              </a:spcAft>
            </a:pPr>
            <a:r>
              <a:rPr sz="2000">
                <a:solidFill>
                  <a:srgbClr val="000000"/>
                </a:solidFill>
                <a:latin typeface="Microsoft YaHei"/>
                <a:ea typeface="Microsoft YaHei"/>
              </a:rPr>
              <a:t>• 区间内用一级级台阶逼近斜线，还算准。</a:t>
            </a:r>
          </a:p>
          <a:p>
            <a:pPr algn="l">
              <a:lnSpc>
                <a:spcPct val="120000"/>
              </a:lnSpc>
              <a:spcAft>
                <a:spcPts val="1000"/>
              </a:spcAft>
            </a:pPr>
            <a:r>
              <a:rPr sz="2000">
                <a:solidFill>
                  <a:srgbClr val="000000"/>
                </a:solidFill>
                <a:latin typeface="Microsoft YaHei"/>
                <a:ea typeface="Microsoft YaHei"/>
              </a:rPr>
              <a:t>• 区间外，比如月收入 4 万，预测额度停在约 47 万。</a:t>
            </a:r>
          </a:p>
          <a:p>
            <a:pPr algn="l">
              <a:lnSpc>
                <a:spcPct val="120000"/>
              </a:lnSpc>
              <a:spcAft>
                <a:spcPts val="1000"/>
              </a:spcAft>
            </a:pPr>
            <a:r>
              <a:rPr sz="2000">
                <a:solidFill>
                  <a:srgbClr val="000000"/>
                </a:solidFill>
                <a:latin typeface="Microsoft YaHei"/>
                <a:ea typeface="Microsoft YaHei"/>
              </a:rPr>
              <a:t>• 决策树只会在见过的情况里挑答案，不会顺着趋势往外画线。</a:t>
            </a:r>
          </a:p>
        </p:txBody>
      </p:sp>
      <p:sp>
        <p:nvSpPr>
          <p:cNvPr id="10" name="TextBox 10">
            <a:extLst>
              <a:ext uri="{FF2B5EF4-FFF2-40B4-BE49-F238E27FC236}">
                <a16:creationId xmlns:a16="http://schemas.microsoft.com/office/drawing/2014/main" id="{7F155B3E-9F92-4A7B-925B-A9BB46EBE9C7}"/>
              </a:ext>
            </a:extLst>
          </p:cNvPr>
          <p:cNvSpPr txBox="1"/>
          <p:nvPr/>
        </p:nvSpPr>
        <p:spPr>
          <a:xfrm>
            <a:off x="762000" y="6286500"/>
            <a:ext cx="10477500" cy="228600"/>
          </a:xfrm>
        </p:spPr>
        <p:txBody>
          <a:bodyPr wrap="square" rtlCol="0" lIns="0" tIns="0" rIns="0" bIns="0" anchor="t"/>
          <a:lstStyle/>
          <a:p>
            <a:pPr algn="l"/>
            <a:r>
              <a:rPr sz="1400">
                <a:solidFill>
                  <a:srgbClr val="666666"/>
                </a:solidFill>
                <a:latin typeface="Microsoft YaHei"/>
                <a:ea typeface="Microsoft YaHei"/>
              </a:rPr>
              <a:t>模拟 80 位客户，真实额度约为月收入的 2 倍。</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a:extLst>
              <a:ext uri="{FF2B5EF4-FFF2-40B4-BE49-F238E27FC236}">
                <a16:creationId xmlns:a16="http://schemas.microsoft.com/office/drawing/2014/main" id="{4DA8C708-E95D-461D-B90A-B0DF075CE0F9}"/>
              </a:ext>
            </a:extLst>
          </p:cNvPr>
          <p:cNvSpPr/>
          <p:nvPr/>
        </p:nvSpPr>
        <p:spPr>
          <a:xfrm>
            <a:off x="0" y="1000125"/>
            <a:ext cx="647700" cy="266700"/>
          </a:xfrm>
          <a:prstGeom prst="rect">
            <a:avLst/>
          </a:prstGeom>
          <a:solidFill>
            <a:srgbClr val="A50021"/>
          </a:solidFill>
        </p:spPr>
        <p:txBody>
          <a:bodyPr wrap="square" rtlCol="0"/>
          <a:lstStyle/>
          <a:p>
            <a:r>
              <a:rPr/>
              <a:t/>
            </a:r>
          </a:p>
        </p:txBody>
      </p:sp>
      <p:sp>
        <p:nvSpPr>
          <p:cNvPr id="4" name="Shape 4">
            <a:extLst>
              <a:ext uri="{FF2B5EF4-FFF2-40B4-BE49-F238E27FC236}">
                <a16:creationId xmlns:a16="http://schemas.microsoft.com/office/drawing/2014/main" id="{A95A5718-1A45-47BD-A296-D0285134A41B}"/>
              </a:ext>
            </a:extLst>
          </p:cNvPr>
          <p:cNvSpPr/>
          <p:nvPr/>
        </p:nvSpPr>
        <p:spPr>
          <a:xfrm>
            <a:off x="704850" y="1000125"/>
            <a:ext cx="11487150" cy="266700"/>
          </a:xfrm>
          <a:prstGeom prst="rect">
            <a:avLst/>
          </a:prstGeom>
          <a:solidFill>
            <a:srgbClr val="0066CC"/>
          </a:solidFill>
        </p:spPr>
        <p:txBody>
          <a:bodyPr wrap="square" rtlCol="0"/>
          <a:lstStyle/>
          <a:p>
            <a:r>
              <a:rPr/>
              <a:t/>
            </a:r>
          </a:p>
        </p:txBody>
      </p:sp>
      <p:sp>
        <p:nvSpPr>
          <p:cNvPr id="5" name="TextBox 5">
            <a:extLst>
              <a:ext uri="{FF2B5EF4-FFF2-40B4-BE49-F238E27FC236}">
                <a16:creationId xmlns:a16="http://schemas.microsoft.com/office/drawing/2014/main" id="{94D07C13-EE63-4A9B-AD82-D28170867253}"/>
              </a:ext>
            </a:extLst>
          </p:cNvPr>
          <p:cNvSpPr txBox="1"/>
          <p:nvPr/>
        </p:nvSpPr>
        <p:spPr>
          <a:xfrm>
            <a:off x="9334500" y="1038225"/>
            <a:ext cx="2762250" cy="190500"/>
          </a:xfrm>
        </p:spPr>
        <p:txBody>
          <a:bodyPr wrap="square" rtlCol="0" lIns="0" tIns="0" rIns="0" bIns="0" anchor="ctr"/>
          <a:lstStyle/>
          <a:p>
            <a:pPr algn="r"/>
            <a:r>
              <a:rPr sz="1200" b="1">
                <a:solidFill>
                  <a:srgbClr val="FFFFFF"/>
                </a:solidFill>
                <a:latin typeface="Microsoft YaHei"/>
                <a:ea typeface="Microsoft YaHei"/>
              </a:rPr>
              <a:t>小结</a:t>
            </a:r>
          </a:p>
        </p:txBody>
      </p:sp>
      <p:sp>
        <p:nvSpPr>
          <p:cNvPr id="6" name="TextBox 6">
            <a:extLst>
              <a:ext uri="{FF2B5EF4-FFF2-40B4-BE49-F238E27FC236}">
                <a16:creationId xmlns:a16="http://schemas.microsoft.com/office/drawing/2014/main" id="{8491B171-FC08-460B-A4DB-E6F23D9FEB4C}"/>
              </a:ext>
            </a:extLst>
          </p:cNvPr>
          <p:cNvSpPr txBox="1"/>
          <p:nvPr/>
        </p:nvSpPr>
        <p:spPr>
          <a:xfrm>
            <a:off x="295275" y="219075"/>
            <a:ext cx="10953750" cy="619125"/>
          </a:xfrm>
        </p:spPr>
        <p:txBody>
          <a:bodyPr wrap="square" rtlCol="0" lIns="0" tIns="0" rIns="0" bIns="0" anchor="t"/>
          <a:lstStyle/>
          <a:p>
            <a:pPr algn="l"/>
            <a:r>
              <a:rPr sz="3400" b="1">
                <a:solidFill>
                  <a:srgbClr val="000000"/>
                </a:solidFill>
                <a:latin typeface="Microsoft YaHei"/>
                <a:ea typeface="Microsoft YaHei"/>
              </a:rPr>
              <a:t>三模型对照</a:t>
            </a:r>
          </a:p>
        </p:txBody>
      </p:sp>
      <p:sp>
        <p:nvSpPr>
          <p:cNvPr id="7" name="TextBox 7">
            <a:extLst>
              <a:ext uri="{FF2B5EF4-FFF2-40B4-BE49-F238E27FC236}">
                <a16:creationId xmlns:a16="http://schemas.microsoft.com/office/drawing/2014/main" id="{81547C57-A0D6-4E1D-B814-6A42DC950490}"/>
              </a:ext>
            </a:extLst>
          </p:cNvPr>
          <p:cNvSpPr txBox="1"/>
          <p:nvPr/>
        </p:nvSpPr>
        <p:spPr>
          <a:xfrm>
            <a:off x="609600" y="1333500"/>
            <a:ext cx="10953750" cy="381000"/>
          </a:xfrm>
        </p:spPr>
        <p:txBody>
          <a:bodyPr wrap="square" rtlCol="0" lIns="0" tIns="0" rIns="0" bIns="0" anchor="t"/>
          <a:lstStyle/>
          <a:p>
            <a:pPr algn="l"/>
            <a:r>
              <a:rPr sz="2000">
                <a:solidFill>
                  <a:srgbClr val="333333"/>
                </a:solidFill>
                <a:latin typeface="Microsoft YaHei"/>
                <a:ea typeface="Microsoft YaHei"/>
              </a:rPr>
              <a:t>三种模型没有绝对优劣，关键是问题、数据形态和解释要求。</a:t>
            </a:r>
          </a:p>
        </p:txBody>
      </p:sp>
      <p:sp>
        <p:nvSpPr>
          <p:cNvPr id="8" name="Shape 8">
            <a:extLst>
              <a:ext uri="{FF2B5EF4-FFF2-40B4-BE49-F238E27FC236}">
                <a16:creationId xmlns:a16="http://schemas.microsoft.com/office/drawing/2014/main" id="{3DD59D61-8F8B-4EC6-A23F-987664872582}"/>
              </a:ext>
            </a:extLst>
          </p:cNvPr>
          <p:cNvSpPr/>
          <p:nvPr/>
        </p:nvSpPr>
        <p:spPr>
          <a:xfrm>
            <a:off x="571500" y="1809750"/>
            <a:ext cx="3429000" cy="4095750"/>
          </a:xfrm>
          <a:prstGeom prst="roundRect">
            <a:avLst/>
          </a:prstGeom>
          <a:solidFill>
            <a:srgbClr val="F2F5FA"/>
          </a:solidFill>
          <a:ln w="12700">
            <a:solidFill>
              <a:srgbClr val="B9C8DE"/>
            </a:solidFill>
          </a:ln>
        </p:spPr>
        <p:txBody>
          <a:bodyPr wrap="square" rtlCol="0"/>
          <a:lstStyle/>
          <a:p>
            <a:r>
              <a:rPr/>
              <a:t/>
            </a:r>
          </a:p>
        </p:txBody>
      </p:sp>
      <p:sp>
        <p:nvSpPr>
          <p:cNvPr id="9" name="Shape 9">
            <a:extLst>
              <a:ext uri="{FF2B5EF4-FFF2-40B4-BE49-F238E27FC236}">
                <a16:creationId xmlns:a16="http://schemas.microsoft.com/office/drawing/2014/main" id="{377678DA-AD8C-48C7-BEAF-76C9879A4FA9}"/>
              </a:ext>
            </a:extLst>
          </p:cNvPr>
          <p:cNvSpPr/>
          <p:nvPr/>
        </p:nvSpPr>
        <p:spPr>
          <a:xfrm>
            <a:off x="4381500" y="1809750"/>
            <a:ext cx="3429000" cy="4095750"/>
          </a:xfrm>
          <a:prstGeom prst="roundRect">
            <a:avLst/>
          </a:prstGeom>
          <a:solidFill>
            <a:srgbClr val="F2F5FA"/>
          </a:solidFill>
          <a:ln w="12700">
            <a:solidFill>
              <a:srgbClr val="B9C8DE"/>
            </a:solidFill>
          </a:ln>
        </p:spPr>
        <p:txBody>
          <a:bodyPr wrap="square" rtlCol="0"/>
          <a:lstStyle/>
          <a:p>
            <a:r>
              <a:rPr/>
              <a:t/>
            </a:r>
          </a:p>
        </p:txBody>
      </p:sp>
      <p:sp>
        <p:nvSpPr>
          <p:cNvPr id="10" name="Shape 10">
            <a:extLst>
              <a:ext uri="{FF2B5EF4-FFF2-40B4-BE49-F238E27FC236}">
                <a16:creationId xmlns:a16="http://schemas.microsoft.com/office/drawing/2014/main" id="{E0C34E11-ED1A-408E-B935-FFE503CFE433}"/>
              </a:ext>
            </a:extLst>
          </p:cNvPr>
          <p:cNvSpPr/>
          <p:nvPr/>
        </p:nvSpPr>
        <p:spPr>
          <a:xfrm>
            <a:off x="8191500" y="1809750"/>
            <a:ext cx="3429000" cy="4095750"/>
          </a:xfrm>
          <a:prstGeom prst="roundRect">
            <a:avLst/>
          </a:prstGeom>
          <a:solidFill>
            <a:srgbClr val="F2F5FA"/>
          </a:solidFill>
          <a:ln w="12700">
            <a:solidFill>
              <a:srgbClr val="B9C8DE"/>
            </a:solidFill>
          </a:ln>
        </p:spPr>
        <p:txBody>
          <a:bodyPr wrap="square" rtlCol="0"/>
          <a:lstStyle/>
          <a:p>
            <a:r>
              <a:rPr/>
              <a:t/>
            </a:r>
          </a:p>
        </p:txBody>
      </p:sp>
      <p:sp>
        <p:nvSpPr>
          <p:cNvPr id="11" name="TextBox 11">
            <a:extLst>
              <a:ext uri="{FF2B5EF4-FFF2-40B4-BE49-F238E27FC236}">
                <a16:creationId xmlns:a16="http://schemas.microsoft.com/office/drawing/2014/main" id="{CEBB4D0B-EFFC-4FB8-9CCB-79FBE57B0D8E}"/>
              </a:ext>
            </a:extLst>
          </p:cNvPr>
          <p:cNvSpPr txBox="1"/>
          <p:nvPr/>
        </p:nvSpPr>
        <p:spPr>
          <a:xfrm>
            <a:off x="762000" y="2000250"/>
            <a:ext cx="3048000" cy="3714750"/>
          </a:xfrm>
        </p:spPr>
        <p:txBody>
          <a:bodyPr wrap="square" rtlCol="0" lIns="0" tIns="0" rIns="0" bIns="0" anchor="t"/>
          <a:lstStyle/>
          <a:p>
            <a:pPr algn="l">
              <a:spcAft>
                <a:spcPts val="800"/>
              </a:spcAft>
            </a:pPr>
            <a:r>
              <a:rPr sz="2600" b="1">
                <a:solidFill>
                  <a:srgbClr val="0066CC"/>
                </a:solidFill>
                <a:latin typeface="Microsoft YaHei"/>
                <a:ea typeface="Microsoft YaHei"/>
              </a:rPr>
              <a:t>kNN</a:t>
            </a:r>
          </a:p>
          <a:p>
            <a:pPr algn="l">
              <a:lnSpc>
                <a:spcPct val="120000"/>
              </a:lnSpc>
              <a:spcAft>
                <a:spcPts val="600"/>
              </a:spcAft>
            </a:pPr>
            <a:r>
              <a:rPr sz="1800">
                <a:solidFill>
                  <a:srgbClr val="000000"/>
                </a:solidFill>
                <a:latin typeface="Microsoft YaHei"/>
                <a:ea typeface="Microsoft YaHei"/>
              </a:rPr>
              <a:t>核心：看新样本像谁</a:t>
            </a:r>
          </a:p>
          <a:p>
            <a:pPr algn="l">
              <a:lnSpc>
                <a:spcPct val="120000"/>
              </a:lnSpc>
              <a:spcAft>
                <a:spcPts val="600"/>
              </a:spcAft>
            </a:pPr>
            <a:r>
              <a:rPr sz="1800">
                <a:solidFill>
                  <a:srgbClr val="000000"/>
                </a:solidFill>
                <a:latin typeface="Microsoft YaHei"/>
                <a:ea typeface="Microsoft YaHei"/>
              </a:rPr>
              <a:t>训练：存样本，无参数</a:t>
            </a:r>
          </a:p>
          <a:p>
            <a:pPr algn="l">
              <a:lnSpc>
                <a:spcPct val="120000"/>
              </a:lnSpc>
              <a:spcAft>
                <a:spcPts val="600"/>
              </a:spcAft>
            </a:pPr>
            <a:r>
              <a:rPr sz="1800">
                <a:solidFill>
                  <a:srgbClr val="000000"/>
                </a:solidFill>
                <a:latin typeface="Microsoft YaHei"/>
                <a:ea typeface="Microsoft YaHei"/>
              </a:rPr>
              <a:t>解释：和这几位客户像</a:t>
            </a:r>
          </a:p>
          <a:p>
            <a:pPr algn="l">
              <a:lnSpc>
                <a:spcPct val="120000"/>
              </a:lnSpc>
              <a:spcAft>
                <a:spcPts val="600"/>
              </a:spcAft>
            </a:pPr>
            <a:r>
              <a:rPr sz="1800">
                <a:solidFill>
                  <a:srgbClr val="000000"/>
                </a:solidFill>
                <a:latin typeface="Microsoft YaHei"/>
                <a:ea typeface="Microsoft YaHei"/>
              </a:rPr>
              <a:t>关键风险：量纲、维数灾难</a:t>
            </a:r>
          </a:p>
          <a:p>
            <a:pPr algn="l">
              <a:lnSpc>
                <a:spcPct val="120000"/>
              </a:lnSpc>
              <a:spcAft>
                <a:spcPts val="600"/>
              </a:spcAft>
            </a:pPr>
            <a:r>
              <a:rPr sz="1800" b="1">
                <a:solidFill>
                  <a:srgbClr val="A50021"/>
                </a:solidFill>
                <a:latin typeface="Microsoft YaHei"/>
                <a:ea typeface="Microsoft YaHei"/>
              </a:rPr>
              <a:t>标准化：必须</a:t>
            </a:r>
          </a:p>
        </p:txBody>
      </p:sp>
      <p:sp>
        <p:nvSpPr>
          <p:cNvPr id="12" name="TextBox 12">
            <a:extLst>
              <a:ext uri="{FF2B5EF4-FFF2-40B4-BE49-F238E27FC236}">
                <a16:creationId xmlns:a16="http://schemas.microsoft.com/office/drawing/2014/main" id="{EACD5B90-D291-4677-8574-30328FF351A6}"/>
              </a:ext>
            </a:extLst>
          </p:cNvPr>
          <p:cNvSpPr txBox="1"/>
          <p:nvPr/>
        </p:nvSpPr>
        <p:spPr>
          <a:xfrm>
            <a:off x="4572000" y="2000250"/>
            <a:ext cx="3048000" cy="3714750"/>
          </a:xfrm>
        </p:spPr>
        <p:txBody>
          <a:bodyPr wrap="square" rtlCol="0" lIns="0" tIns="0" rIns="0" bIns="0" anchor="t"/>
          <a:lstStyle/>
          <a:p>
            <a:pPr algn="l">
              <a:spcAft>
                <a:spcPts val="800"/>
              </a:spcAft>
            </a:pPr>
            <a:r>
              <a:rPr sz="2600" b="1">
                <a:solidFill>
                  <a:srgbClr val="0066CC"/>
                </a:solidFill>
                <a:latin typeface="Microsoft YaHei"/>
                <a:ea typeface="Microsoft YaHei"/>
              </a:rPr>
              <a:t>朴素贝叶斯</a:t>
            </a:r>
          </a:p>
          <a:p>
            <a:pPr algn="l">
              <a:lnSpc>
                <a:spcPct val="120000"/>
              </a:lnSpc>
              <a:spcAft>
                <a:spcPts val="600"/>
              </a:spcAft>
            </a:pPr>
            <a:r>
              <a:rPr sz="1800">
                <a:solidFill>
                  <a:srgbClr val="000000"/>
                </a:solidFill>
                <a:latin typeface="Microsoft YaHei"/>
                <a:ea typeface="Microsoft YaHei"/>
              </a:rPr>
              <a:t>核心：证据叠加概率</a:t>
            </a:r>
          </a:p>
          <a:p>
            <a:pPr algn="l">
              <a:lnSpc>
                <a:spcPct val="120000"/>
              </a:lnSpc>
              <a:spcAft>
                <a:spcPts val="600"/>
              </a:spcAft>
            </a:pPr>
            <a:r>
              <a:rPr sz="1800">
                <a:solidFill>
                  <a:srgbClr val="000000"/>
                </a:solidFill>
                <a:latin typeface="Microsoft YaHei"/>
                <a:ea typeface="Microsoft YaHei"/>
              </a:rPr>
              <a:t>训练：一张概率表</a:t>
            </a:r>
          </a:p>
          <a:p>
            <a:pPr algn="l">
              <a:lnSpc>
                <a:spcPct val="120000"/>
              </a:lnSpc>
              <a:spcAft>
                <a:spcPts val="600"/>
              </a:spcAft>
            </a:pPr>
            <a:r>
              <a:rPr sz="1800">
                <a:solidFill>
                  <a:srgbClr val="000000"/>
                </a:solidFill>
                <a:latin typeface="Microsoft YaHei"/>
                <a:ea typeface="Microsoft YaHei"/>
              </a:rPr>
              <a:t>解释：哪几条证据让概率升高</a:t>
            </a:r>
          </a:p>
          <a:p>
            <a:pPr algn="l">
              <a:lnSpc>
                <a:spcPct val="120000"/>
              </a:lnSpc>
              <a:spcAft>
                <a:spcPts val="600"/>
              </a:spcAft>
            </a:pPr>
            <a:r>
              <a:rPr sz="1800">
                <a:solidFill>
                  <a:srgbClr val="000000"/>
                </a:solidFill>
                <a:latin typeface="Microsoft YaHei"/>
                <a:ea typeface="Microsoft YaHei"/>
              </a:rPr>
              <a:t>关键风险：独立性不成立</a:t>
            </a:r>
          </a:p>
          <a:p>
            <a:pPr algn="l">
              <a:lnSpc>
                <a:spcPct val="120000"/>
              </a:lnSpc>
              <a:spcAft>
                <a:spcPts val="600"/>
              </a:spcAft>
            </a:pPr>
            <a:r>
              <a:rPr sz="1800" b="1">
                <a:solidFill>
                  <a:srgbClr val="A50021"/>
                </a:solidFill>
                <a:latin typeface="Microsoft YaHei"/>
                <a:ea typeface="Microsoft YaHei"/>
              </a:rPr>
              <a:t>标准化：不需要</a:t>
            </a:r>
          </a:p>
        </p:txBody>
      </p:sp>
      <p:sp>
        <p:nvSpPr>
          <p:cNvPr id="13" name="TextBox 13">
            <a:extLst>
              <a:ext uri="{FF2B5EF4-FFF2-40B4-BE49-F238E27FC236}">
                <a16:creationId xmlns:a16="http://schemas.microsoft.com/office/drawing/2014/main" id="{DF26C939-03B8-4024-848C-699C0E82C2D8}"/>
              </a:ext>
            </a:extLst>
          </p:cNvPr>
          <p:cNvSpPr txBox="1"/>
          <p:nvPr/>
        </p:nvSpPr>
        <p:spPr>
          <a:xfrm>
            <a:off x="8382000" y="2000250"/>
            <a:ext cx="3048000" cy="3714750"/>
          </a:xfrm>
        </p:spPr>
        <p:txBody>
          <a:bodyPr wrap="square" rtlCol="0" lIns="0" tIns="0" rIns="0" bIns="0" anchor="t"/>
          <a:lstStyle/>
          <a:p>
            <a:pPr algn="l">
              <a:spcAft>
                <a:spcPts val="800"/>
              </a:spcAft>
            </a:pPr>
            <a:r>
              <a:rPr sz="2600" b="1">
                <a:solidFill>
                  <a:srgbClr val="0066CC"/>
                </a:solidFill>
                <a:latin typeface="Microsoft YaHei"/>
                <a:ea typeface="Microsoft YaHei"/>
              </a:rPr>
              <a:t>决策树</a:t>
            </a:r>
          </a:p>
          <a:p>
            <a:pPr algn="l">
              <a:lnSpc>
                <a:spcPct val="120000"/>
              </a:lnSpc>
              <a:spcAft>
                <a:spcPts val="600"/>
              </a:spcAft>
            </a:pPr>
            <a:r>
              <a:rPr sz="1800">
                <a:solidFill>
                  <a:srgbClr val="000000"/>
                </a:solidFill>
                <a:latin typeface="Microsoft YaHei"/>
                <a:ea typeface="Microsoft YaHei"/>
              </a:rPr>
              <a:t>核心：一连串是或否的问题</a:t>
            </a:r>
          </a:p>
          <a:p>
            <a:pPr algn="l">
              <a:lnSpc>
                <a:spcPct val="120000"/>
              </a:lnSpc>
              <a:spcAft>
                <a:spcPts val="600"/>
              </a:spcAft>
            </a:pPr>
            <a:r>
              <a:rPr sz="1800">
                <a:solidFill>
                  <a:srgbClr val="000000"/>
                </a:solidFill>
                <a:latin typeface="Microsoft YaHei"/>
                <a:ea typeface="Microsoft YaHei"/>
              </a:rPr>
              <a:t>训练：一棵规则树</a:t>
            </a:r>
          </a:p>
          <a:p>
            <a:pPr algn="l">
              <a:lnSpc>
                <a:spcPct val="120000"/>
              </a:lnSpc>
              <a:spcAft>
                <a:spcPts val="600"/>
              </a:spcAft>
            </a:pPr>
            <a:r>
              <a:rPr sz="1800">
                <a:solidFill>
                  <a:srgbClr val="000000"/>
                </a:solidFill>
                <a:latin typeface="Microsoft YaHei"/>
                <a:ea typeface="Microsoft YaHei"/>
              </a:rPr>
              <a:t>解释：因为负债高且工作未满 3 年</a:t>
            </a:r>
          </a:p>
          <a:p>
            <a:pPr algn="l">
              <a:lnSpc>
                <a:spcPct val="120000"/>
              </a:lnSpc>
              <a:spcAft>
                <a:spcPts val="600"/>
              </a:spcAft>
            </a:pPr>
            <a:r>
              <a:rPr sz="1800">
                <a:solidFill>
                  <a:srgbClr val="000000"/>
                </a:solidFill>
                <a:latin typeface="Microsoft YaHei"/>
                <a:ea typeface="Microsoft YaHei"/>
              </a:rPr>
              <a:t>关键风险：过拟合、不稳定</a:t>
            </a:r>
          </a:p>
          <a:p>
            <a:pPr algn="l">
              <a:lnSpc>
                <a:spcPct val="120000"/>
              </a:lnSpc>
              <a:spcAft>
                <a:spcPts val="600"/>
              </a:spcAft>
            </a:pPr>
            <a:r>
              <a:rPr sz="1800" b="1">
                <a:solidFill>
                  <a:srgbClr val="A50021"/>
                </a:solidFill>
                <a:latin typeface="Microsoft YaHei"/>
                <a:ea typeface="Microsoft YaHei"/>
              </a:rPr>
              <a:t>标准化：不需要</a:t>
            </a:r>
          </a:p>
        </p:txBody>
      </p:sp>
      <p:sp>
        <p:nvSpPr>
          <p:cNvPr id="14" name="TextBox 14">
            <a:extLst>
              <a:ext uri="{FF2B5EF4-FFF2-40B4-BE49-F238E27FC236}">
                <a16:creationId xmlns:a16="http://schemas.microsoft.com/office/drawing/2014/main" id="{164AF907-7F47-4D02-9427-E92682750644}"/>
              </a:ext>
            </a:extLst>
          </p:cNvPr>
          <p:cNvSpPr txBox="1"/>
          <p:nvPr/>
        </p:nvSpPr>
        <p:spPr>
          <a:xfrm>
            <a:off x="571500" y="6191250"/>
            <a:ext cx="11049000" cy="335280"/>
          </a:xfrm>
        </p:spPr>
        <p:txBody>
          <a:bodyPr wrap="square" rtlCol="0" lIns="0" tIns="0" rIns="0" bIns="0" anchor="t"/>
          <a:lstStyle/>
          <a:p>
            <a:pPr algn="l"/>
            <a:r>
              <a:rPr sz="2200" b="1">
                <a:solidFill>
                  <a:srgbClr val="000000"/>
                </a:solidFill>
                <a:latin typeface="Microsoft YaHei"/>
                <a:ea typeface="Microsoft YaHei"/>
              </a:rPr>
              <a:t>一句话：kNN 靠相似，朴素贝叶斯靠概率，决策树靠规则。</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a:extLst>
              <a:ext uri="{FF2B5EF4-FFF2-40B4-BE49-F238E27FC236}">
                <a16:creationId xmlns:a16="http://schemas.microsoft.com/office/drawing/2014/main" id="{9718FD3B-D42D-47D8-9749-BB69670D94F3}"/>
              </a:ext>
            </a:extLst>
          </p:cNvPr>
          <p:cNvSpPr/>
          <p:nvPr/>
        </p:nvSpPr>
        <p:spPr>
          <a:xfrm>
            <a:off x="0" y="1000125"/>
            <a:ext cx="647700" cy="266700"/>
          </a:xfrm>
          <a:prstGeom prst="rect">
            <a:avLst/>
          </a:prstGeom>
          <a:solidFill>
            <a:srgbClr val="A50021"/>
          </a:solidFill>
        </p:spPr>
        <p:txBody>
          <a:bodyPr wrap="square" rtlCol="0"/>
          <a:lstStyle/>
          <a:p>
            <a:r>
              <a:rPr/>
              <a:t/>
            </a:r>
          </a:p>
        </p:txBody>
      </p:sp>
      <p:sp>
        <p:nvSpPr>
          <p:cNvPr id="4" name="Shape 4">
            <a:extLst>
              <a:ext uri="{FF2B5EF4-FFF2-40B4-BE49-F238E27FC236}">
                <a16:creationId xmlns:a16="http://schemas.microsoft.com/office/drawing/2014/main" id="{E0855131-C29B-473B-91B2-D61DD2A28DB3}"/>
              </a:ext>
            </a:extLst>
          </p:cNvPr>
          <p:cNvSpPr/>
          <p:nvPr/>
        </p:nvSpPr>
        <p:spPr>
          <a:xfrm>
            <a:off x="704850" y="1000125"/>
            <a:ext cx="11487150" cy="266700"/>
          </a:xfrm>
          <a:prstGeom prst="rect">
            <a:avLst/>
          </a:prstGeom>
          <a:solidFill>
            <a:srgbClr val="0066CC"/>
          </a:solidFill>
        </p:spPr>
        <p:txBody>
          <a:bodyPr wrap="square" rtlCol="0"/>
          <a:lstStyle/>
          <a:p>
            <a:r>
              <a:rPr/>
              <a:t/>
            </a:r>
          </a:p>
        </p:txBody>
      </p:sp>
      <p:sp>
        <p:nvSpPr>
          <p:cNvPr id="5" name="TextBox 5">
            <a:extLst>
              <a:ext uri="{FF2B5EF4-FFF2-40B4-BE49-F238E27FC236}">
                <a16:creationId xmlns:a16="http://schemas.microsoft.com/office/drawing/2014/main" id="{F3633E10-D352-47CF-BCA6-C27FD07B8148}"/>
              </a:ext>
            </a:extLst>
          </p:cNvPr>
          <p:cNvSpPr txBox="1"/>
          <p:nvPr/>
        </p:nvSpPr>
        <p:spPr>
          <a:xfrm>
            <a:off x="9334500" y="1038225"/>
            <a:ext cx="2762250" cy="190500"/>
          </a:xfrm>
        </p:spPr>
        <p:txBody>
          <a:bodyPr wrap="square" rtlCol="0" lIns="0" tIns="0" rIns="0" bIns="0" anchor="ctr"/>
          <a:lstStyle/>
          <a:p>
            <a:pPr algn="r"/>
            <a:r>
              <a:rPr sz="1200" b="1">
                <a:solidFill>
                  <a:srgbClr val="FFFFFF"/>
                </a:solidFill>
                <a:latin typeface="Microsoft YaHei"/>
                <a:ea typeface="Microsoft YaHei"/>
              </a:rPr>
              <a:t>讨论</a:t>
            </a:r>
          </a:p>
        </p:txBody>
      </p:sp>
      <p:sp>
        <p:nvSpPr>
          <p:cNvPr id="6" name="TextBox 6">
            <a:extLst>
              <a:ext uri="{FF2B5EF4-FFF2-40B4-BE49-F238E27FC236}">
                <a16:creationId xmlns:a16="http://schemas.microsoft.com/office/drawing/2014/main" id="{D52A0DA7-4930-4453-8638-E23D939AFB7E}"/>
              </a:ext>
            </a:extLst>
          </p:cNvPr>
          <p:cNvSpPr txBox="1"/>
          <p:nvPr/>
        </p:nvSpPr>
        <p:spPr>
          <a:xfrm>
            <a:off x="295275" y="219075"/>
            <a:ext cx="10953750" cy="619125"/>
          </a:xfrm>
        </p:spPr>
        <p:txBody>
          <a:bodyPr wrap="square" rtlCol="0" lIns="0" tIns="0" rIns="0" bIns="0" anchor="t"/>
          <a:lstStyle/>
          <a:p>
            <a:pPr algn="l"/>
            <a:r>
              <a:rPr sz="3400" b="1">
                <a:solidFill>
                  <a:srgbClr val="000000"/>
                </a:solidFill>
                <a:latin typeface="Microsoft YaHei"/>
                <a:ea typeface="Microsoft YaHei"/>
              </a:rPr>
              <a:t>课堂讨论</a:t>
            </a:r>
          </a:p>
        </p:txBody>
      </p:sp>
      <p:sp>
        <p:nvSpPr>
          <p:cNvPr id="7" name="TextBox 7">
            <a:extLst>
              <a:ext uri="{FF2B5EF4-FFF2-40B4-BE49-F238E27FC236}">
                <a16:creationId xmlns:a16="http://schemas.microsoft.com/office/drawing/2014/main" id="{12B74AF5-FAE1-4AC0-A04E-2F0067027499}"/>
              </a:ext>
            </a:extLst>
          </p:cNvPr>
          <p:cNvSpPr txBox="1"/>
          <p:nvPr/>
        </p:nvSpPr>
        <p:spPr>
          <a:xfrm>
            <a:off x="609600" y="1333500"/>
            <a:ext cx="10953750" cy="381000"/>
          </a:xfrm>
        </p:spPr>
        <p:txBody>
          <a:bodyPr wrap="square" rtlCol="0" lIns="0" tIns="0" rIns="0" bIns="0" anchor="t"/>
          <a:lstStyle/>
          <a:p>
            <a:pPr algn="l"/>
            <a:r>
              <a:rPr sz="2000">
                <a:solidFill>
                  <a:srgbClr val="333333"/>
                </a:solidFill>
                <a:latin typeface="Microsoft YaHei"/>
                <a:ea typeface="Microsoft YaHei"/>
              </a:rPr>
              <a:t>任选两题，用本讲的概念回答。</a:t>
            </a:r>
          </a:p>
        </p:txBody>
      </p:sp>
      <p:sp>
        <p:nvSpPr>
          <p:cNvPr id="8" name="Shape 8">
            <a:extLst>
              <a:ext uri="{FF2B5EF4-FFF2-40B4-BE49-F238E27FC236}">
                <a16:creationId xmlns:a16="http://schemas.microsoft.com/office/drawing/2014/main" id="{1D551D80-E20B-481B-8FDE-B7FA8823779B}"/>
              </a:ext>
            </a:extLst>
          </p:cNvPr>
          <p:cNvSpPr/>
          <p:nvPr/>
        </p:nvSpPr>
        <p:spPr>
          <a:xfrm>
            <a:off x="762000" y="1905000"/>
            <a:ext cx="10668000" cy="1047750"/>
          </a:xfrm>
          <a:prstGeom prst="roundRect">
            <a:avLst/>
          </a:prstGeom>
          <a:solidFill>
            <a:srgbClr val="F2F5FA"/>
          </a:solidFill>
          <a:ln w="12700">
            <a:solidFill>
              <a:srgbClr val="B9C8DE"/>
            </a:solidFill>
          </a:ln>
        </p:spPr>
        <p:txBody>
          <a:bodyPr wrap="square" rtlCol="0"/>
          <a:lstStyle/>
          <a:p>
            <a:r>
              <a:rPr/>
              <a:t/>
            </a:r>
          </a:p>
        </p:txBody>
      </p:sp>
      <p:sp>
        <p:nvSpPr>
          <p:cNvPr id="9" name="TextBox 9">
            <a:extLst>
              <a:ext uri="{FF2B5EF4-FFF2-40B4-BE49-F238E27FC236}">
                <a16:creationId xmlns:a16="http://schemas.microsoft.com/office/drawing/2014/main" id="{DDCC4968-7262-4198-B261-B7001D9A5CE2}"/>
              </a:ext>
            </a:extLst>
          </p:cNvPr>
          <p:cNvSpPr txBox="1"/>
          <p:nvPr/>
        </p:nvSpPr>
        <p:spPr>
          <a:xfrm>
            <a:off x="952500" y="2047875"/>
            <a:ext cx="10287000" cy="762000"/>
          </a:xfrm>
        </p:spPr>
        <p:txBody>
          <a:bodyPr wrap="square" rtlCol="0" lIns="0" tIns="0" rIns="0" bIns="0" anchor="t"/>
          <a:lstStyle/>
          <a:p>
            <a:pPr algn="l">
              <a:lnSpc>
                <a:spcPct val="120000"/>
              </a:lnSpc>
            </a:pPr>
            <a:r>
              <a:rPr sz="2000">
                <a:solidFill>
                  <a:srgbClr val="000000"/>
                </a:solidFill>
                <a:latin typeface="Microsoft YaHei"/>
                <a:ea typeface="Microsoft YaHei"/>
              </a:rPr>
              <a:t>01  如果把“客户身份证号”作为特征放进 ID3，会发生什么？C4.5 怎么防止？</a:t>
            </a:r>
          </a:p>
        </p:txBody>
      </p:sp>
      <p:sp>
        <p:nvSpPr>
          <p:cNvPr id="10" name="Shape 10">
            <a:extLst>
              <a:ext uri="{FF2B5EF4-FFF2-40B4-BE49-F238E27FC236}">
                <a16:creationId xmlns:a16="http://schemas.microsoft.com/office/drawing/2014/main" id="{42542112-7F95-4672-8489-F6939C556997}"/>
              </a:ext>
            </a:extLst>
          </p:cNvPr>
          <p:cNvSpPr/>
          <p:nvPr/>
        </p:nvSpPr>
        <p:spPr>
          <a:xfrm>
            <a:off x="762000" y="3238500"/>
            <a:ext cx="10668000" cy="1047750"/>
          </a:xfrm>
          <a:prstGeom prst="roundRect">
            <a:avLst/>
          </a:prstGeom>
          <a:solidFill>
            <a:srgbClr val="F2F5FA"/>
          </a:solidFill>
          <a:ln w="12700">
            <a:solidFill>
              <a:srgbClr val="B9C8DE"/>
            </a:solidFill>
          </a:ln>
        </p:spPr>
        <p:txBody>
          <a:bodyPr wrap="square" rtlCol="0"/>
          <a:lstStyle/>
          <a:p>
            <a:r>
              <a:rPr/>
              <a:t/>
            </a:r>
          </a:p>
        </p:txBody>
      </p:sp>
      <p:sp>
        <p:nvSpPr>
          <p:cNvPr id="11" name="TextBox 11">
            <a:extLst>
              <a:ext uri="{FF2B5EF4-FFF2-40B4-BE49-F238E27FC236}">
                <a16:creationId xmlns:a16="http://schemas.microsoft.com/office/drawing/2014/main" id="{45F7621B-78B2-497B-8652-804EED1F9256}"/>
              </a:ext>
            </a:extLst>
          </p:cNvPr>
          <p:cNvSpPr txBox="1"/>
          <p:nvPr/>
        </p:nvSpPr>
        <p:spPr>
          <a:xfrm>
            <a:off x="952500" y="3381375"/>
            <a:ext cx="10287000" cy="762000"/>
          </a:xfrm>
        </p:spPr>
        <p:txBody>
          <a:bodyPr wrap="square" rtlCol="0" lIns="0" tIns="0" rIns="0" bIns="0" anchor="t"/>
          <a:lstStyle/>
          <a:p>
            <a:pPr algn="l">
              <a:lnSpc>
                <a:spcPct val="120000"/>
              </a:lnSpc>
            </a:pPr>
            <a:r>
              <a:rPr sz="2000">
                <a:solidFill>
                  <a:srgbClr val="000000"/>
                </a:solidFill>
                <a:latin typeface="Microsoft YaHei"/>
                <a:ea typeface="Microsoft YaHei"/>
              </a:rPr>
              <a:t>02  单棵决策树可解释，XGBoost 更准；银行风控该怎么选？</a:t>
            </a:r>
          </a:p>
        </p:txBody>
      </p:sp>
      <p:sp>
        <p:nvSpPr>
          <p:cNvPr id="12" name="Shape 12">
            <a:extLst>
              <a:ext uri="{FF2B5EF4-FFF2-40B4-BE49-F238E27FC236}">
                <a16:creationId xmlns:a16="http://schemas.microsoft.com/office/drawing/2014/main" id="{FE04A94F-3D97-4E16-BF76-08B6A2FCF519}"/>
              </a:ext>
            </a:extLst>
          </p:cNvPr>
          <p:cNvSpPr/>
          <p:nvPr/>
        </p:nvSpPr>
        <p:spPr>
          <a:xfrm>
            <a:off x="762000" y="4572000"/>
            <a:ext cx="10668000" cy="1047750"/>
          </a:xfrm>
          <a:prstGeom prst="roundRect">
            <a:avLst/>
          </a:prstGeom>
          <a:solidFill>
            <a:srgbClr val="F2F5FA"/>
          </a:solidFill>
          <a:ln w="12700">
            <a:solidFill>
              <a:srgbClr val="B9C8DE"/>
            </a:solidFill>
          </a:ln>
        </p:spPr>
        <p:txBody>
          <a:bodyPr wrap="square" rtlCol="0"/>
          <a:lstStyle/>
          <a:p>
            <a:r>
              <a:rPr/>
              <a:t/>
            </a:r>
          </a:p>
        </p:txBody>
      </p:sp>
      <p:sp>
        <p:nvSpPr>
          <p:cNvPr id="13" name="TextBox 13">
            <a:extLst>
              <a:ext uri="{FF2B5EF4-FFF2-40B4-BE49-F238E27FC236}">
                <a16:creationId xmlns:a16="http://schemas.microsoft.com/office/drawing/2014/main" id="{265AFB90-7535-4AF6-9CC1-1B7BB28AD232}"/>
              </a:ext>
            </a:extLst>
          </p:cNvPr>
          <p:cNvSpPr txBox="1"/>
          <p:nvPr/>
        </p:nvSpPr>
        <p:spPr>
          <a:xfrm>
            <a:off x="952500" y="4714875"/>
            <a:ext cx="10287000" cy="762000"/>
          </a:xfrm>
        </p:spPr>
        <p:txBody>
          <a:bodyPr wrap="square" rtlCol="0" lIns="0" tIns="0" rIns="0" bIns="0" anchor="t"/>
          <a:lstStyle/>
          <a:p>
            <a:pPr algn="l">
              <a:lnSpc>
                <a:spcPct val="120000"/>
              </a:lnSpc>
            </a:pPr>
            <a:r>
              <a:rPr sz="2000">
                <a:solidFill>
                  <a:srgbClr val="000000"/>
                </a:solidFill>
                <a:latin typeface="Microsoft YaHei"/>
                <a:ea typeface="Microsoft YaHei"/>
              </a:rPr>
              <a:t>03  标准化前后 kNN 对同一位客户给出相反判决，业务上该信哪一个？</a:t>
            </a:r>
          </a:p>
        </p:txBody>
      </p:sp>
      <p:sp>
        <p:nvSpPr>
          <p:cNvPr id="14" name="TextBox 14">
            <a:extLst>
              <a:ext uri="{FF2B5EF4-FFF2-40B4-BE49-F238E27FC236}">
                <a16:creationId xmlns:a16="http://schemas.microsoft.com/office/drawing/2014/main" id="{18A867FB-282F-4CDB-AEEA-55207D3717D9}"/>
              </a:ext>
            </a:extLst>
          </p:cNvPr>
          <p:cNvSpPr txBox="1"/>
          <p:nvPr/>
        </p:nvSpPr>
        <p:spPr>
          <a:xfrm>
            <a:off x="762000" y="6096000"/>
            <a:ext cx="10668000" cy="285750"/>
          </a:xfrm>
        </p:spPr>
        <p:txBody>
          <a:bodyPr wrap="square" rtlCol="0" lIns="0" tIns="0" rIns="0" bIns="0" anchor="t"/>
          <a:lstStyle/>
          <a:p>
            <a:pPr algn="l"/>
            <a:r>
              <a:rPr sz="1600">
                <a:solidFill>
                  <a:srgbClr val="666666"/>
                </a:solidFill>
                <a:latin typeface="Microsoft YaHei"/>
                <a:ea typeface="Microsoft YaHei"/>
              </a:rPr>
              <a:t>结合讲义与案例图，说明你的判断依据和适用条件。</a:t>
            </a:r>
          </a:p>
        </p:txBody>
      </p:sp>
    </p:spTree>
  </p:cSld>
  <p:clrMapOvr>
    <a:masterClrMapping/>
  </p:clrMapOvr>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微软雅黑"/>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TotalTime>
  <Words>10411</Words>
  <Application>Microsoft Office PowerPoint</Application>
  <PresentationFormat>宽屏</PresentationFormat>
  <Paragraphs>1008</Paragraphs>
  <Slides>90</Slides>
  <Notes>8</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1</vt:i4>
      </vt:variant>
      <vt:variant>
        <vt:lpstr>幻灯片标题</vt:lpstr>
      </vt:variant>
      <vt:variant>
        <vt:i4>90</vt:i4>
      </vt:variant>
    </vt:vector>
  </HeadingPairs>
  <TitlesOfParts>
    <vt:vector size="104" baseType="lpstr">
      <vt:lpstr>PingFang SC</vt:lpstr>
      <vt:lpstr>宋体</vt:lpstr>
      <vt:lpstr>微软雅黑</vt:lpstr>
      <vt:lpstr>Arial</vt:lpstr>
      <vt:lpstr>Calibri</vt:lpstr>
      <vt:lpstr>Cambria Math</vt:lpstr>
      <vt:lpstr>Impact</vt:lpstr>
      <vt:lpstr>Symbol</vt:lpstr>
      <vt:lpstr>Tahoma</vt:lpstr>
      <vt:lpstr>Times New Roman</vt:lpstr>
      <vt:lpstr>Verdana</vt:lpstr>
      <vt:lpstr>Wingdings</vt:lpstr>
      <vt:lpstr>默认设计模板</vt:lpstr>
      <vt:lpstr>Equation</vt:lpstr>
      <vt:lpstr>分类算法  </vt:lpstr>
      <vt:lpstr>本章目录</vt:lpstr>
      <vt:lpstr>PowerPoint 演示文稿</vt:lpstr>
      <vt:lpstr>1.前言</vt:lpstr>
      <vt:lpstr>1、前言</vt:lpstr>
      <vt:lpstr>1.前言</vt:lpstr>
      <vt:lpstr>1.前言</vt:lpstr>
      <vt:lpstr>PowerPoint 演示文稿</vt:lpstr>
      <vt:lpstr>2.逻辑回归</vt:lpstr>
      <vt:lpstr>2.逻辑回归</vt:lpstr>
      <vt:lpstr>2.逻辑回归</vt:lpstr>
      <vt:lpstr>2. 逻辑回归</vt:lpstr>
      <vt:lpstr>2.逻辑回归</vt:lpstr>
      <vt:lpstr>2.逻辑回归</vt:lpstr>
      <vt:lpstr>PowerPoint 演示文稿</vt:lpstr>
      <vt:lpstr>3.kNN算法</vt:lpstr>
      <vt:lpstr>3.kNN算法</vt:lpstr>
      <vt:lpstr>3.kNN算法</vt:lpstr>
      <vt:lpstr>3.kNN算法</vt:lpstr>
      <vt:lpstr>3.kNN算法</vt:lpstr>
      <vt:lpstr>3.kNN算法</vt:lpstr>
      <vt:lpstr>3.kNN算法</vt:lpstr>
      <vt:lpstr>3.kNN算法</vt:lpstr>
      <vt:lpstr>3.kNN算法</vt:lpstr>
      <vt:lpstr>PowerPoint 演示文稿</vt:lpstr>
      <vt:lpstr>4.贝叶斯分类器</vt:lpstr>
      <vt:lpstr>4.贝叶斯分类器</vt:lpstr>
      <vt:lpstr>4.贝叶斯分类器</vt:lpstr>
      <vt:lpstr>4.贝叶斯分类器</vt:lpstr>
      <vt:lpstr>4.贝叶斯分类器</vt:lpstr>
      <vt:lpstr>4.贝叶斯分类器</vt:lpstr>
      <vt:lpstr>4.贝叶斯分类器</vt:lpstr>
      <vt:lpstr>4.贝叶斯分类器</vt:lpstr>
      <vt:lpstr>4.贝叶斯分类器</vt:lpstr>
      <vt:lpstr>4.贝叶斯分类器</vt:lpstr>
      <vt:lpstr>4.贝叶斯分类器</vt:lpstr>
      <vt:lpstr>4.贝叶斯分类器</vt:lpstr>
      <vt:lpstr>4.贝叶斯分类器</vt:lpstr>
      <vt:lpstr>半朴素贝叶斯分类器</vt:lpstr>
      <vt:lpstr>PowerPoint 演示文稿</vt:lpstr>
      <vt:lpstr>5.决策树</vt:lpstr>
      <vt:lpstr>5.决策树</vt:lpstr>
      <vt:lpstr>5.决策树</vt:lpstr>
      <vt:lpstr>5.决策树</vt:lpstr>
      <vt:lpstr>ID3算法</vt:lpstr>
      <vt:lpstr>ID3算法</vt:lpstr>
      <vt:lpstr>ID3算法</vt:lpstr>
      <vt:lpstr>ID3算法—案例</vt:lpstr>
      <vt:lpstr>ID3算法—案例</vt:lpstr>
      <vt:lpstr>ID3算法</vt:lpstr>
      <vt:lpstr>C4.5算法</vt:lpstr>
      <vt:lpstr>C4.5算法</vt:lpstr>
      <vt:lpstr>C4.5算法</vt:lpstr>
      <vt:lpstr>预剪枝</vt:lpstr>
      <vt:lpstr>预剪枝</vt:lpstr>
      <vt:lpstr>预剪枝</vt:lpstr>
      <vt:lpstr>预剪枝</vt:lpstr>
      <vt:lpstr>后剪枝</vt:lpstr>
      <vt:lpstr>后剪枝</vt:lpstr>
      <vt:lpstr>CART算法</vt:lpstr>
      <vt:lpstr>CART算法</vt:lpstr>
      <vt:lpstr>CART算法</vt:lpstr>
      <vt:lpstr>CART算法</vt:lpstr>
      <vt:lpstr>CART算法</vt:lpstr>
      <vt:lpstr>5.决策树</vt:lpstr>
      <vt:lpstr>PowerPoint 演示文稿</vt:lpstr>
      <vt:lpstr>6.支持向量机</vt:lpstr>
      <vt:lpstr>6.支持向量机</vt:lpstr>
      <vt:lpstr>6.支持向量机</vt:lpstr>
      <vt:lpstr>PowerPoint 演示文稿</vt:lpstr>
      <vt:lpstr>6. 支持向量机</vt:lpstr>
      <vt:lpstr>6.支持向量机</vt:lpstr>
      <vt:lpstr>6.支持向量机</vt:lpstr>
      <vt:lpstr>6.支持向量机</vt:lpstr>
      <vt:lpstr>6.支持向量机</vt:lpstr>
      <vt:lpstr>6. 支持向量机</vt:lpstr>
      <vt:lpstr>6.支持向量机</vt:lpstr>
      <vt:lpstr>6.支持向量机</vt:lpstr>
      <vt:lpstr>6.支持向量机</vt:lpstr>
      <vt:lpstr>6.支持向量机</vt:lpstr>
      <vt:lpstr>6.支持向量机</vt:lpstr>
      <vt:lpstr>6.支持向量机</vt:lpstr>
      <vt:lpstr>PowerPoint 演示文稿</vt:lpstr>
      <vt:lpstr>7.分类指标</vt:lpstr>
      <vt:lpstr>7.分类指标</vt:lpstr>
      <vt:lpstr>7.分类指标</vt:lpstr>
      <vt:lpstr>7.分类指标</vt:lpstr>
      <vt:lpstr>7.分类指标</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机器学习</dc:title>
  <dc:creator>黄海广</dc:creator>
  <cp:lastModifiedBy>Author</cp:lastModifiedBy>
  <cp:revision>3412</cp:revision>
  <cp:lastPrinted>2018-06-09T17:02:00Z</cp:lastPrinted>
  <dcterms:created xsi:type="dcterms:W3CDTF">2016-05-18T20:32:00Z</dcterms:created>
  <dcterms:modified xsi:type="dcterms:W3CDTF">2026-08-13T16:57:22Z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ICV">
    <vt:lpwstr>D3DCF83B4D444293A3CF8186E6E07B57_12</vt:lpwstr>
  </property>
</Properties>
</file>