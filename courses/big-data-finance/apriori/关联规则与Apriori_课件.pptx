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strictFirstAndLastChars="0" saveSubsetFonts="1" autoCompressPictures="0">
  <p:sldMasterIdLst>
    <p:sldMasterId xmlns:r="http://schemas.openxmlformats.org/officeDocument/2006/relationships" id="2147483648" r:id="rId4"/>
    <p:sldMasterId xmlns:r="http://schemas.openxmlformats.org/officeDocument/2006/relationships" id="2147483649" r:id="rId6"/>
    <p:sldMasterId xmlns:r="http://schemas.openxmlformats.org/officeDocument/2006/relationships" id="2147483650" r:id="rId7"/>
  </p:sldMasterIdLst>
  <p:notesMasterIdLst>
    <p:notesMasterId xmlns:r="http://schemas.openxmlformats.org/officeDocument/2006/relationships" r:id="rId41"/>
  </p:notesMasterIdLst>
  <p:sldIdLst>
    <p:sldId xmlns:r="http://schemas.openxmlformats.org/officeDocument/2006/relationships" id="256" r:id="rId8"/>
    <p:sldId xmlns:r="http://schemas.openxmlformats.org/officeDocument/2006/relationships" id="257" r:id="rId9"/>
    <p:sldId xmlns:r="http://schemas.openxmlformats.org/officeDocument/2006/relationships" id="258" r:id="rId10"/>
    <p:sldId xmlns:r="http://schemas.openxmlformats.org/officeDocument/2006/relationships" id="259" r:id="rId11"/>
    <p:sldId xmlns:r="http://schemas.openxmlformats.org/officeDocument/2006/relationships" id="260" r:id="rId12"/>
    <p:sldId xmlns:r="http://schemas.openxmlformats.org/officeDocument/2006/relationships" id="261" r:id="rId13"/>
    <p:sldId xmlns:r="http://schemas.openxmlformats.org/officeDocument/2006/relationships" id="262" r:id="rId14"/>
    <p:sldId xmlns:r="http://schemas.openxmlformats.org/officeDocument/2006/relationships" id="263" r:id="rId15"/>
    <p:sldId xmlns:r="http://schemas.openxmlformats.org/officeDocument/2006/relationships" id="264" r:id="rId16"/>
    <p:sldId xmlns:r="http://schemas.openxmlformats.org/officeDocument/2006/relationships" id="265" r:id="rId17"/>
    <p:sldId xmlns:r="http://schemas.openxmlformats.org/officeDocument/2006/relationships" id="266" r:id="rId18"/>
    <p:sldId xmlns:r="http://schemas.openxmlformats.org/officeDocument/2006/relationships" id="267" r:id="rId19"/>
    <p:sldId xmlns:r="http://schemas.openxmlformats.org/officeDocument/2006/relationships" id="268" r:id="rId20"/>
    <p:sldId xmlns:r="http://schemas.openxmlformats.org/officeDocument/2006/relationships" id="269" r:id="rId21"/>
    <p:sldId xmlns:r="http://schemas.openxmlformats.org/officeDocument/2006/relationships" id="270" r:id="rId22"/>
    <p:sldId xmlns:r="http://schemas.openxmlformats.org/officeDocument/2006/relationships" id="271" r:id="rId23"/>
    <p:sldId xmlns:r="http://schemas.openxmlformats.org/officeDocument/2006/relationships" id="272" r:id="rId24"/>
    <p:sldId xmlns:r="http://schemas.openxmlformats.org/officeDocument/2006/relationships" id="273" r:id="rId25"/>
    <p:sldId xmlns:r="http://schemas.openxmlformats.org/officeDocument/2006/relationships" id="274" r:id="rId26"/>
    <p:sldId xmlns:r="http://schemas.openxmlformats.org/officeDocument/2006/relationships" id="275" r:id="rId27"/>
    <p:sldId xmlns:r="http://schemas.openxmlformats.org/officeDocument/2006/relationships" id="276" r:id="rId28"/>
    <p:sldId xmlns:r="http://schemas.openxmlformats.org/officeDocument/2006/relationships" id="277" r:id="rId29"/>
    <p:sldId xmlns:r="http://schemas.openxmlformats.org/officeDocument/2006/relationships" id="278" r:id="rId30"/>
    <p:sldId xmlns:r="http://schemas.openxmlformats.org/officeDocument/2006/relationships" id="279" r:id="rId31"/>
    <p:sldId xmlns:r="http://schemas.openxmlformats.org/officeDocument/2006/relationships" id="280" r:id="rId32"/>
    <p:sldId xmlns:r="http://schemas.openxmlformats.org/officeDocument/2006/relationships" id="281" r:id="rId33"/>
    <p:sldId xmlns:r="http://schemas.openxmlformats.org/officeDocument/2006/relationships" id="282" r:id="rId34"/>
    <p:sldId xmlns:r="http://schemas.openxmlformats.org/officeDocument/2006/relationships" id="283" r:id="rId35"/>
    <p:sldId xmlns:r="http://schemas.openxmlformats.org/officeDocument/2006/relationships" id="284" r:id="rId36"/>
    <p:sldId xmlns:r="http://schemas.openxmlformats.org/officeDocument/2006/relationships" id="285" r:id="rId37"/>
    <p:sldId xmlns:r="http://schemas.openxmlformats.org/officeDocument/2006/relationships" id="286" r:id="rId38"/>
    <p:sldId xmlns:r="http://schemas.openxmlformats.org/officeDocument/2006/relationships" id="287" r:id="rId39"/>
    <p:sldId xmlns:r="http://schemas.openxmlformats.org/officeDocument/2006/relationships" id="288" r:id="rId40"/>
  </p:sldIdLst>
  <p:sldSz cx="12192000" cy="6858000"/>
  <p:notesSz cx="6858000" cy="9144000"/>
  <p:extLst>
    <p:ext uri="{EFAFB233-063F-42B5-8137-9DF3F51BA10A}">
      <p15:sldGuideLst xmlns:p15="http://schemas.microsoft.com/office/powerpoint/2012/main">
        <p15:guide id="1" orient="horz" pos="1620">
          <p15:clr>
            <a:srgbClr xmlns:a="http://schemas.openxmlformats.org/drawingml/2006/main" val="747775"/>
          </p15:clr>
        </p15:guide>
        <p15:guide id="2" pos="2880">
          <p15:clr>
            <a:srgbClr xmlns:a="http://schemas.openxmlformats.org/drawingml/2006/main" val="747775"/>
          </p15:clr>
        </p15:guide>
      </p15:sldGuideLst>
    </p:ext>
  </p:ex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>
  <p:cSld name="Notes Master 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  <a:p xmlns:a="http://schemas.openxmlformats.org/drawingml/2006/main">
            <a:pPr lvl="1"/>
            <a:r>
              <a:rPr lang="en-US">
                <a:solidFill>
                  <a:schemeClr val="tx1"/>
                </a:solidFill>
              </a:rPr>
              <a:t>Second level</a:t>
            </a:r>
          </a:p>
          <a:p xmlns:a="http://schemas.openxmlformats.org/drawingml/2006/main">
            <a:pPr lvl="2"/>
            <a:r>
              <a:rPr lang="en-US">
                <a:solidFill>
                  <a:schemeClr val="tx1"/>
                </a:solidFill>
              </a:rPr>
              <a:t>Third level</a:t>
            </a:r>
          </a:p>
          <a:p xmlns:a="http://schemas.openxmlformats.org/drawingml/2006/main">
            <a:pPr lvl="3"/>
            <a:r>
              <a:rPr lang="en-US">
                <a:solidFill>
                  <a:schemeClr val="tx1"/>
                </a:solidFill>
              </a:rPr>
              <a:t>Fourth level</a:t>
            </a:r>
          </a:p>
          <a:p xmlns:a="http://schemas.openxmlformats.org/drawingml/2006/main">
            <a:pPr lvl="4"/>
            <a:r>
              <a:rPr lang="en-US">
                <a:solidFill>
                  <a:schemeClr val="tx1"/>
                </a:solidFill>
              </a:rPr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p="http://schemas.openxmlformats.org/presentationml/2006/main">
  <p:cSld name="Notes Slide 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支持度是第一层筛子，衡量普遍性。先给绝对计数与相对比例两个公式，再用主数据把三个单项的支持度算出来：存款4、基金5、保险4，都达到 50%（≥3次），全部保留进 L1。强调分母是 N。</a:t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出处（教师用）：定义依据见大纲 4.1 定义 1、定义 2；计数来自大纲 4.5 主数据 L₁ 表。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 name="Notes Slide 2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出处（教师用）：茶叶—咖啡反例来自本地实战教学材料（第三方），见大纲 8.4。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 name="Notes Slide 3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出处（教师用）：定义依据见大纲 4.2 先验性质与剪枝规则。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 name="Notes Slide 4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全景页先给两步结构，不在此页展开细节。第一步广度优先逐层找频繁项集，第二步枚举真子集按置信度出规则。标出当前位置，预告后面几页就是第一步的逐层手算。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 name="Notes Slide 5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第二次迭代：L1 两两配对得到三个候选，先验剪枝在这里没有剪掉任何项（单项都在 L1），计数各3次、恰好50%，三对全部进入 L2。强调"恰好压门槛"的临界感。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 name="Notes Slide 6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这份5笔订单是唯一能对照候选剪枝与规则筛选的数据。左：候选剪枝在计数前，靠先验性质删掉含非频繁子集{1,2}的两个3-项集；右：规则筛选在置信度阶段，删掉两条50%的规则。强调两者对象、时机都不同。</a:t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出处（教师用）：5 笔订单数据来源为本地课件 [S23]。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 name="Notes Slide 7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出处（教师用）：伪代码与复杂度口径来自大纲 4.3、4.4。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 name="Notes Slide 8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出处（教师用）：局限清单来自大纲 4.4。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 name="Notes Slide 9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出处（教师用）：对比表由本地课件 [S23] 第 39 页转述。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 name="Notes Slide 10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出处（教师用）：预处理与事务清单见大纲 6.1–6.3。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 name="Notes Slide 1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出处（教师用）：逐层数据来自大纲 6.5。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 sz="quarter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先问学生：置信度80%，推销1,000人能卖出多少？</a:t>
            </a:r>
          </a:p>
          <a:p>
            <a:r>
              <a:t>让学生说出"800人"这个直觉答案。</a:t>
            </a:r>
          </a:p>
          <a:p>
            <a:r>
              <a:t>指出这800人已经有Y，没法再卖给他们。</a:t>
            </a:r>
          </a:p>
          <a:p>
            <a:r>
              <a:t>推销只能针对剩下的200人，而且其中只有一部分会买。</a:t>
            </a:r>
          </a:p>
          <a:p>
            <a:r>
              <a:t>再指出买的人里有一部分本来就会买，营销真正带来的只是两组之差。</a:t>
            </a:r>
          </a:p>
          <a:p>
            <a:r>
              <a:t>收尾：置信度高，往往说明剩下能卖的空间小。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matchingName="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ctr" defTabSz="914400">
              <a:lnSpc>
                <a:spcPct val="90000"/>
              </a:lnSpc>
              <a:buNone/>
              <a:defRPr sz="45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ctr" defTabSz="914400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subTitle" sz="quarter" idx="1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ctr" defTabSz="914400">
              <a:lnSpc>
                <a:spcPct val="90000"/>
              </a:lnSpc>
              <a:buNone/>
              <a:defRPr sz="18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61950" algn="ctr" defTabSz="914400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CF868EF1-115D-4F14-A175-975F44B0EC72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438AE007-C80D-4905-912E-8A5A2F267CB5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45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18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2286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EFAD96C1-380E-4772-BABB-C9DDC6240764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5A6A03F4-8692-4AEE-A5BA-9C6B5E832415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1800" b="1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2286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1800" b="1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2286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4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032B95A9-35CA-46A1-BB43-EFD189DFC933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C4D53EE9-9645-4618-8C12-D7D317A85C6C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D21BD3EC-933C-43D1-848F-F127B3B527B5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4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4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810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12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2286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7DED762E-21CE-4059-8BA9-5940A7878EF6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4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>
            <p:ph type="pic" sz="quarter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12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2286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CEB073FD-5097-4F4C-846C-26EAD528E4DB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B9E56E8E-E5CE-4A45-A9C2-5FD5E3973FCD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9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457200" marR="0" indent="-317500" algn="l" defTabSz="914400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26387F90-8761-4D82-A58D-686EC6AE9A02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matchingName="标题幻灯片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914400" y="2130428"/>
            <a:ext cx="103632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2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单击此处编辑母版副标题样式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matchingName="标题和内容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4" hasCustomPrompt="1"/>
          </p:nvPr>
        </p:nvSpPr>
        <p:spPr>
          <a:xfrm xmlns:a="http://schemas.openxmlformats.org/drawingml/2006/main">
            <a:off x="293688" y="222250"/>
            <a:ext cx="11523662" cy="677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5" hasCustomPrompt="1"/>
          </p:nvPr>
        </p:nvSpPr>
        <p:spPr>
          <a:xfrm xmlns:a="http://schemas.openxmlformats.org/drawingml/2006/main">
            <a:off x="609600" y="1600203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32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matchingName="节标题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6" hasCustomPrompt="1"/>
          </p:nvPr>
        </p:nvSpPr>
        <p:spPr>
          <a:xfrm xmlns:a="http://schemas.openxmlformats.org/drawingml/2006/main">
            <a:off x="963084" y="4406903"/>
            <a:ext cx="10363200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40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40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7" hasCustomPrompt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0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6.xml><?xml version="1.0" encoding="utf-8"?>
<p:sldLayout xmlns:p="http://schemas.openxmlformats.org/presentationml/2006/main" matchingName="两栏内容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8" hasCustomPrompt="1"/>
          </p:nvPr>
        </p:nvSpPr>
        <p:spPr>
          <a:xfrm xmlns:a="http://schemas.openxmlformats.org/drawingml/2006/main">
            <a:off x="293688" y="222250"/>
            <a:ext cx="11523662" cy="677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9" hasCustomPrompt="1"/>
          </p:nvPr>
        </p:nvSpPr>
        <p:spPr>
          <a:xfrm xmlns:a="http://schemas.openxmlformats.org/drawingml/2006/main">
            <a:off x="609600" y="1600203"/>
            <a:ext cx="5384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28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197600" y="1600203"/>
            <a:ext cx="5384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28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7.xml><?xml version="1.0" encoding="utf-8"?>
<p:sldLayout xmlns:p="http://schemas.openxmlformats.org/presentationml/2006/main" matchingName="比较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09600" y="1535113"/>
            <a:ext cx="5386917" cy="639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400" b="1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3" hasCustomPrompt="1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24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4" hasCustomPrompt="1"/>
          </p:nvPr>
        </p:nvSpPr>
        <p:spPr>
          <a:xfrm xmlns:a="http://schemas.openxmlformats.org/drawingml/2006/main">
            <a:off x="6193369" y="1535113"/>
            <a:ext cx="5389033" cy="639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400" b="1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5" hasCustomPrompt="1"/>
          </p:nvPr>
        </p:nvSpPr>
        <p:spPr>
          <a:xfrm xmlns:a="http://schemas.openxmlformats.org/drawingml/2006/main">
            <a:off x="6193369" y="2174875"/>
            <a:ext cx="5389033" cy="3951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24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8.xml><?xml version="1.0" encoding="utf-8"?>
<p:sldLayout xmlns:p="http://schemas.openxmlformats.org/presentationml/2006/main" matchingName="仅标题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6" hasCustomPrompt="1"/>
          </p:nvPr>
        </p:nvSpPr>
        <p:spPr>
          <a:xfrm xmlns:a="http://schemas.openxmlformats.org/drawingml/2006/main">
            <a:off x="293688" y="222250"/>
            <a:ext cx="11523662" cy="677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19.xml><?xml version="1.0" encoding="utf-8"?>
<p:sldLayout xmlns:p="http://schemas.openxmlformats.org/presentationml/2006/main" matchingName="空白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20.xml><?xml version="1.0" encoding="utf-8"?>
<p:sldLayout xmlns:p="http://schemas.openxmlformats.org/presentationml/2006/main" matchingName="内容与标题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7" hasCustomPrompt="1"/>
          </p:nvPr>
        </p:nvSpPr>
        <p:spPr>
          <a:xfrm xmlns:a="http://schemas.openxmlformats.org/drawingml/2006/main">
            <a:off x="609602" y="273050"/>
            <a:ext cx="4011084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0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20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8" hasCustomPrompt="1"/>
          </p:nvPr>
        </p:nvSpPr>
        <p:spPr>
          <a:xfrm xmlns:a="http://schemas.openxmlformats.org/drawingml/2006/main">
            <a:off x="4766733" y="273053"/>
            <a:ext cx="6815667" cy="5853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32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9" hasCustomPrompt="1"/>
          </p:nvPr>
        </p:nvSpPr>
        <p:spPr>
          <a:xfrm xmlns:a="http://schemas.openxmlformats.org/drawingml/2006/main">
            <a:off x="609602" y="1435103"/>
            <a:ext cx="4011084" cy="4691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14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21.xml><?xml version="1.0" encoding="utf-8"?>
<p:sldLayout xmlns:p="http://schemas.openxmlformats.org/presentationml/2006/main" matchingName="图片与标题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20" hasCustomPrompt="1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0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20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>
            <p:ph type="pic" sz="quarter" idx="21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2" hasCustomPrompt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14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0" marR="0" indent="-228600" algn="l" defTabSz="9144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22.xml><?xml version="1.0" encoding="utf-8"?>
<p:sldLayout xmlns:p="http://schemas.openxmlformats.org/presentationml/2006/main" matchingName="标题和竖排文字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23" hasCustomPrompt="1"/>
          </p:nvPr>
        </p:nvSpPr>
        <p:spPr>
          <a:xfrm xmlns:a="http://schemas.openxmlformats.org/drawingml/2006/main">
            <a:off x="293688" y="222250"/>
            <a:ext cx="11523662" cy="677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24" hasCustomPrompt="1"/>
          </p:nvPr>
        </p:nvSpPr>
        <p:spPr>
          <a:xfrm xmlns:a="http://schemas.openxmlformats.org/drawingml/2006/main">
            <a:off x="609600" y="1600203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32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</p:spTree>
  </p:cSld>
  <p:clrMapOvr>
    <a:masterClrMapping xmlns:a="http://schemas.openxmlformats.org/drawingml/2006/main"/>
  </p:clrMapOvr>
</p:sldLayout>
</file>

<file path=ppt/slideLayouts/slideLayout23.xml><?xml version="1.0" encoding="utf-8"?>
<p:sldLayout xmlns:p="http://schemas.openxmlformats.org/presentationml/2006/main" matchingName="垂直排列标题与文本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25" hasCustomPrompt="1"/>
          </p:nvPr>
        </p:nvSpPr>
        <p:spPr>
          <a:xfrm xmlns:a="http://schemas.openxmlformats.org/drawingml/2006/main">
            <a:off x="8936567" y="222253"/>
            <a:ext cx="2880784" cy="590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26" hasCustomPrompt="1"/>
          </p:nvPr>
        </p:nvSpPr>
        <p:spPr>
          <a:xfrm xmlns:a="http://schemas.openxmlformats.org/drawingml/2006/main">
            <a:off x="294219" y="222253"/>
            <a:ext cx="8439149" cy="590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wrap="square" lIns="91440" tIns="45720" rIns="91440" bIns="45720" rtlCol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defRPr sz="3200" b="0" i="0" u="none" strike="noStrike">
                <a:solidFill>
                  <a:srgbClr val="000000"/>
                </a:solidFill>
                <a:latin typeface="Songti SC"/>
              </a:defRPr>
            </a:lvl1pPr>
          </a:lstStyle>
          <a:p xmlns:a="http://schemas.openxmlformats.org/drawingml/2006/main">
            <a:pPr marL="341629" marR="0" indent="-34163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</a:p>
          <a:p xmlns:a="http://schemas.openxmlformats.org/drawingml/2006/main">
            <a:pPr marL="741680" marR="0" lvl="1" indent="-284480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</a:p>
          <a:p xmlns:a="http://schemas.openxmlformats.org/drawingml/2006/main">
            <a:pPr marL="1141730" marR="0" lvl="2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</a:p>
          <a:p xmlns:a="http://schemas.openxmlformats.org/drawingml/2006/main">
            <a:pPr marL="1598930" marR="0" lvl="3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</a:p>
          <a:p xmlns:a="http://schemas.openxmlformats.org/drawingml/2006/main">
            <a:pPr marL="2056129" marR="0" lvl="4" indent="-227329" algn="l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13" Type="http://schemas.openxmlformats.org/officeDocument/2006/relationships/slideLayout" Target="../slideLayouts/slideLayout2.xml"/><Relationship Id="rId14" Type="http://schemas.openxmlformats.org/officeDocument/2006/relationships/slideLayout" Target="../slideLayouts/slideLayout3.xml"/><Relationship Id="rId15" Type="http://schemas.openxmlformats.org/officeDocument/2006/relationships/slideLayout" Target="../slideLayouts/slideLayout4.xml"/><Relationship Id="rId16" Type="http://schemas.openxmlformats.org/officeDocument/2006/relationships/slideLayout" Target="../slideLayouts/slideLayout5.xml"/><Relationship Id="rId17" Type="http://schemas.openxmlformats.org/officeDocument/2006/relationships/slideLayout" Target="../slideLayouts/slideLayout6.xml"/><Relationship Id="rId18" Type="http://schemas.openxmlformats.org/officeDocument/2006/relationships/slideLayout" Target="../slideLayouts/slideLayout7.xml"/><Relationship Id="rId19" Type="http://schemas.openxmlformats.org/officeDocument/2006/relationships/slideLayout" Target="../slideLayouts/slideLayout8.xml"/><Relationship Id="rId2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/Relationships>
</file>

<file path=ppt/slideMasters/slideMaster1.xml><?xml version="1.0" encoding="utf-8"?>
<p:sldMaster xmlns:p="http://schemas.openxmlformats.org/presentationml/2006/main" preserve="1">
  <p:cSld name="自定义主题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699" r:id="rId3"/>
  </p:sldLayoutIdLst>
</p:sldMaster>
</file>

<file path=ppt/slideMasters/slideMaster2.xml><?xml version="1.0" encoding="utf-8"?>
<p:sldMaster xmlns:p="http://schemas.openxmlformats.org/presentationml/2006/main" preserve="1">
  <p:cSld name="Office 主题​​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idx="110372416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33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2100" b="0" i="0" u="none" strike="noStrike">
                <a:solidFill>
                  <a:srgbClr val="000000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l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22860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 defTabSz="914400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indent="-228600" algn="r" defTabSz="914400">
              <a:lnSpc>
                <a:spcPct val="100000"/>
              </a:lnSpc>
              <a:spcBef>
                <a:spcPts val="1000"/>
              </a:spcBef>
            </a:pPr>
            <a:fld id="{275BD4FF-A7E8-4AF7-9A02-36B0AF78CD07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700" r:id="rId13"/>
    <p:sldLayoutId xmlns:r="http://schemas.openxmlformats.org/officeDocument/2006/relationships" id="2157483701" r:id="rId14"/>
    <p:sldLayoutId xmlns:r="http://schemas.openxmlformats.org/officeDocument/2006/relationships" id="2157483702" r:id="rId15"/>
    <p:sldLayoutId xmlns:r="http://schemas.openxmlformats.org/officeDocument/2006/relationships" id="2157483703" r:id="rId16"/>
    <p:sldLayoutId xmlns:r="http://schemas.openxmlformats.org/officeDocument/2006/relationships" id="2157483704" r:id="rId17"/>
    <p:sldLayoutId xmlns:r="http://schemas.openxmlformats.org/officeDocument/2006/relationships" id="2157483705" r:id="rId18"/>
    <p:sldLayoutId xmlns:r="http://schemas.openxmlformats.org/officeDocument/2006/relationships" id="2157483706" r:id="rId19"/>
    <p:sldLayoutId xmlns:r="http://schemas.openxmlformats.org/officeDocument/2006/relationships" id="2157483707" r:id="rId20"/>
    <p:sldLayoutId xmlns:r="http://schemas.openxmlformats.org/officeDocument/2006/relationships" id="2157483708" r:id="rId21"/>
    <p:sldLayoutId xmlns:r="http://schemas.openxmlformats.org/officeDocument/2006/relationships" id="2157483709" r:id="rId22"/>
    <p:sldLayoutId xmlns:r="http://schemas.openxmlformats.org/officeDocument/2006/relationships" id="2157483710" r:id="rId23"/>
  </p:sldLayoutIdLst>
</p:sldMaster>
</file>

<file path=ppt/slideMasters/slideMaster3.xml><?xml version="1.0" encoding="utf-8"?>
<p:sldMaster xmlns:p="http://schemas.openxmlformats.org/presentationml/2006/main" preserve="1">
  <p:cSld name="默认设计模板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8" y="963613"/>
            <a:ext cx="403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91440" tIns="45720" rIns="91440" bIns="45720" rtlCol="0" anchor="t">
            <a:spAutoFit/>
          </a:bodyPr>
          <a:lstStyle xmlns:a="http://schemas.openxmlformats.org/drawingml/2006/main">
            <a:lvl1pPr algn="r" defTabSz="914400"/>
          </a:lstStyle>
          <a:p xmlns:a="http://schemas.openxmlformats.org/drawingml/2006/main">
            <a:pPr marL="0" marR="0" algn="r" defTabSz="914400">
              <a:lnSpc>
                <a:spcPct val="100000"/>
              </a:lnSpc>
            </a:pPr>
            <a:fld id="{16273177-DA42-4A6E-A047-8045348B6670}" type="slidenum">
              <a:rPr sz="1400" b="1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293688" y="222250"/>
            <a:ext cx="11523662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>
              <a:lnSpc>
                <a:spcPct val="100000"/>
              </a:lnSpc>
              <a:buNone/>
              <a:defRPr sz="3600" b="1" i="0" u="none" strike="noStrike">
                <a:solidFill>
                  <a:srgbClr val="000000"/>
                </a:solidFill>
                <a:latin typeface="微软雅黑"/>
              </a:defRPr>
            </a:lvl1pPr>
          </a:lstStyle>
          <a:p xmlns:a="http://schemas.openxmlformats.org/drawingml/2006/main">
            <a:pPr marL="0" marR="0" indent="-228600" algn="ctr" defTabSz="914400">
              <a:lnSpc>
                <a:spcPct val="100000"/>
              </a:lnSpc>
              <a:spcBef>
                <a:spcPts val="1000"/>
              </a:spcBef>
            </a:pPr>
            <a:r>
              <a:rPr lang="en-US" sz="3600" b="1" i="0" u="none" strike="noStrike" spc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711" r:id="rId13"/>
    <p:sldLayoutId xmlns:r="http://schemas.openxmlformats.org/officeDocument/2006/relationships" id="2157483712" r:id="rId14"/>
    <p:sldLayoutId xmlns:r="http://schemas.openxmlformats.org/officeDocument/2006/relationships" id="2157483713" r:id="rId15"/>
    <p:sldLayoutId xmlns:r="http://schemas.openxmlformats.org/officeDocument/2006/relationships" id="2157483714" r:id="rId16"/>
    <p:sldLayoutId xmlns:r="http://schemas.openxmlformats.org/officeDocument/2006/relationships" id="2157483715" r:id="rId17"/>
    <p:sldLayoutId xmlns:r="http://schemas.openxmlformats.org/officeDocument/2006/relationships" id="2157483716" r:id="rId18"/>
    <p:sldLayoutId xmlns:r="http://schemas.openxmlformats.org/officeDocument/2006/relationships" id="2157483717" r:id="rId19"/>
    <p:sldLayoutId xmlns:r="http://schemas.openxmlformats.org/officeDocument/2006/relationships" id="2157483718" r:id="rId20"/>
    <p:sldLayoutId xmlns:r="http://schemas.openxmlformats.org/officeDocument/2006/relationships" id="2157483719" r:id="rId21"/>
    <p:sldLayoutId xmlns:r="http://schemas.openxmlformats.org/officeDocument/2006/relationships" id="2157483720" r:id="rId22"/>
    <p:sldLayoutId xmlns:r="http://schemas.openxmlformats.org/officeDocument/2006/relationships" id="2157483721" r:id="rId2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sv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svg"/><Relationship Id="rId2" Type="http://schemas.openxmlformats.org/officeDocument/2006/relationships/image" Target="../media/image9.sv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sv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svg"/><Relationship Id="rId2" Type="http://schemas.openxmlformats.org/officeDocument/2006/relationships/image" Target="../media/image13.sv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svg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svg"/><Relationship Id="rId2" Type="http://schemas.openxmlformats.org/officeDocument/2006/relationships/image" Target="../media/image18.svg"/><Relationship Id="rId3" Type="http://schemas.openxmlformats.org/officeDocument/2006/relationships/image" Target="../media/image19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sv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svg"/><Relationship Id="rId2" Type="http://schemas.openxmlformats.org/officeDocument/2006/relationships/image" Target="../media/image18.svg"/><Relationship Id="rId3" Type="http://schemas.openxmlformats.org/officeDocument/2006/relationships/image" Target="../media/image2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sv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svg"/><Relationship Id="rId2" Type="http://schemas.openxmlformats.org/officeDocument/2006/relationships/image" Target="../media/image14.svg"/><Relationship Id="rId3" Type="http://schemas.openxmlformats.org/officeDocument/2006/relationships/image" Target="../media/image23.svg"/><Relationship Id="rId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svg"/><Relationship Id="rId2" Type="http://schemas.openxmlformats.org/officeDocument/2006/relationships/image" Target="../media/image24.svg"/><Relationship Id="rId3" Type="http://schemas.openxmlformats.org/officeDocument/2006/relationships/image" Target="../media/image25.svg"/><Relationship Id="rId4" Type="http://schemas.openxmlformats.org/officeDocument/2006/relationships/image" Target="../media/image23.svg"/><Relationship Id="rId5" Type="http://schemas.openxmlformats.org/officeDocument/2006/relationships/image" Target="../media/image1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svg"/><Relationship Id="rId2" Type="http://schemas.openxmlformats.org/officeDocument/2006/relationships/image" Target="../media/image25.svg"/><Relationship Id="rId3" Type="http://schemas.openxmlformats.org/officeDocument/2006/relationships/image" Target="../media/image21.svg"/><Relationship Id="rId4" Type="http://schemas.openxmlformats.org/officeDocument/2006/relationships/image" Target="../media/image23.svg"/><Relationship Id="rId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sv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svg"/><Relationship Id="rId2" Type="http://schemas.openxmlformats.org/officeDocument/2006/relationships/image" Target="../media/image28.svg"/><Relationship Id="rId3" Type="http://schemas.openxmlformats.org/officeDocument/2006/relationships/image" Target="../media/image29.svg"/><Relationship Id="rId4" Type="http://schemas.openxmlformats.org/officeDocument/2006/relationships/image" Target="../media/image26.svg"/><Relationship Id="rId5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sv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sv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svg"/><Relationship Id="rId2" Type="http://schemas.openxmlformats.org/officeDocument/2006/relationships/image" Target="../media/image3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svg"/><Relationship Id="rId2" Type="http://schemas.openxmlformats.org/officeDocument/2006/relationships/image" Target="../media/image32.sv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svg"/><Relationship Id="rId2" Type="http://schemas.openxmlformats.org/officeDocument/2006/relationships/image" Target="../media/image16.svg"/><Relationship Id="rId3" Type="http://schemas.openxmlformats.org/officeDocument/2006/relationships/image" Target="../media/image25.svg"/><Relationship Id="rId4" Type="http://schemas.openxmlformats.org/officeDocument/2006/relationships/image" Target="../media/image21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jpg"/><Relationship Id="rId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4" name="Picture 3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87" t="0" r="87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26035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4" y="2668905"/>
            <a:ext cx="12199426" cy="2234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 cap="flat" cmpd="sng">
            <a:noFill/>
            <a:round/>
          </a:ln>
          <a:effectLst xmlns:a="http://schemas.openxmlformats.org/drawingml/2006/main">
            <a:outerShdw blurRad="50800" dist="38100" dir="2700000" algn="tl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vert="horz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8333"/>
              </a:lnSpc>
            </a:pPr>
            <a:r>
              <a:rPr lang="zh-CN" sz="44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关联规则与 Apriori 算法</a:t>
            </a:r>
          </a:p>
          <a:p xmlns:a="http://schemas.openxmlformats.org/drawingml/2006/main">
            <a:pPr marL="0" marR="0" algn="ctr" defTabSz="914400">
              <a:lnSpc>
                <a:spcPct val="108333"/>
              </a:lnSpc>
            </a:pPr>
            <a:r>
              <a:rPr lang="zh-CN" sz="2200" b="1" i="0" u="none" strike="noStrike" spc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大数据金融 · 第 01 次课（90 分钟）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3810000" cy="4603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91440" tIns="45720" rIns="91440" bIns="45720" rtlCol="0" anchor="t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zh-CN" sz="2200" b="1" i="0" u="none" strike="noStrike" spc="0">
                <a:solidFill>
                  <a:srgbClr val="3333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 年 10 月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课程定位：第一堂课为什么从关联规则开始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本次课承担的三个作用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905000"/>
            <a:ext cx="47244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4604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558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en-US" sz="2000" b="1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978400" y="2336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032000"/>
            <a:ext cx="33528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建立数据到决策的完整闭环</a:t>
            </a:r>
          </a:p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把原始交易流水变成可执行的业务规则，看到数据挖掘完整闭环。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276600"/>
            <a:ext cx="47244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4604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58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en-US" sz="2000" b="1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978400" y="37084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403600"/>
            <a:ext cx="33528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引入后续课程的通用词汇</a:t>
            </a:r>
          </a:p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支持度、置信度、提升度，是后续评价指标与特征筛选的基础词汇。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648200"/>
            <a:ext cx="4724400" cy="1168400"/>
          </a:xfrm>
          <a:prstGeom xmlns:a="http://schemas.openxmlformats.org/drawingml/2006/main" prst="roundRect">
            <a:avLst>
              <a:gd name="adj" fmla="val 6521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4604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558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en-US" sz="2000" b="1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6" name="Picture 15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978400" y="5080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4749800"/>
            <a:ext cx="335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给出可完整手算的最小算法</a:t>
            </a:r>
          </a:p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6～10 条事务即可手工推演每一步，不只调包、真正理解。</a:t>
            </a:r>
          </a:p>
        </p:txBody>
      </p:sp>
      <p:pic>
        <p:nvPicPr>
          <p:cNvPr id="18" name="Picture 17"/>
          <p:cNvPicPr/>
          <p:nvPr/>
        </p:nvPicPr>
        <p:blipFill>
          <a:blip xmlns:a="http://schemas.openxmlformats.org/drawingml/2006/main"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4478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19" name="Text Box 1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1422400"/>
            <a:ext cx="541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金融行业的四类事务型任务</a:t>
            </a:r>
          </a:p>
        </p:txBody>
      </p:sp>
      <p:graphicFrame>
        <p:nvGraphicFramePr>
          <p:cNvPr id="20" name="Table"/>
          <p:cNvGraphicFramePr/>
          <p:nvPr/>
        </p:nvGraphicFramePr>
        <p:xfrm>
          <a:off xmlns:a="http://schemas.openxmlformats.org/drawingml/2006/main" x="5740400" y="1905000"/>
          <a:ext xmlns:a="http://schemas.openxmlformats.org/drawingml/2006/main" cx="5791200" cy="368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05200"/>
              </a:tblGrid>
              <a:tr h="508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金融业务场景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关联规则的作用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零售银行产品交叉销售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找到「持有 A 的客户常同时持有 B」，指导下一次营销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客户流失预警辅助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发现易流失客户的共同行为组合，供人工复核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银行卡交易模式分析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刻画正常交易组合，为异常交易提供对照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8128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反欺诈与可疑交易线索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输出可疑组合规则，交给人工与合规流程判断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21" name="Auto Shape 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8674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76200" rIns="177800" bIns="762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关联规则刻画共现关系，不直接推断因果；课堂示例均为脱敏或构造数据。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38" y="235898"/>
            <a:ext cx="11523662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36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本次课目录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07" y="1828800"/>
            <a:ext cx="5105475" cy="615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01 </a:t>
            </a:r>
            <a:r>
              <a:rPr lang="zh-CN" sz="3000" b="0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从购物篮到金融场景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08" y="2587752"/>
            <a:ext cx="8890000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02 </a:t>
            </a:r>
            <a:r>
              <a:rPr lang="zh-CN" sz="3000" b="0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三个度量：支持度·置信度·提升度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07" y="3346704"/>
            <a:ext cx="6297591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03 </a:t>
            </a:r>
            <a:r>
              <a:rPr lang="zh-CN" sz="3000" b="0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Apriori 逐层搜索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07" y="4105656"/>
            <a:ext cx="6297591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04 </a:t>
            </a:r>
            <a:r>
              <a:rPr lang="zh-CN" sz="3000" b="0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银行产品组合案例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07" y="4864608"/>
            <a:ext cx="6297591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en-US"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05 </a:t>
            </a:r>
            <a:r>
              <a:rPr lang="zh-CN" sz="3000" b="0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参数、读法与业务落地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5623559"/>
            <a:ext cx="6400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3200" b="0" i="0" u="none" strike="noStrike" spc="0">
                <a:solidFill>
                  <a:srgbClr val="333399"/>
                </a:solidFill>
                <a:latin typeface="Impact"/>
                <a:ea typeface="Impact"/>
                <a:cs typeface="Impact"/>
                <a:sym typeface="Impact"/>
              </a:rPr>
              <a:t>06 </a:t>
            </a:r>
            <a:r>
              <a:rPr sz="30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局限、改进与课后任务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98600"/>
            <a:ext cx="635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1 章 · 从购物篮到金融场景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362200"/>
            <a:ext cx="1041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16666"/>
              </a:lnSpc>
            </a:pPr>
            <a:r>
              <a:rPr lang="zh-CN" sz="32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银行客户经理如何知道，该向哪类客户推荐哪款产品？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962400"/>
            <a:ext cx="10414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333399">
                    <a:alpha val="74902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你在电商里见过的「经常一起购买」，就是同一类问题：哪些商品、服务常一起出现？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381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先看两种朴素做法，各自卡在哪里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2200"/>
            <a:ext cx="41910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4604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308600" y="50038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03800"/>
            <a:ext cx="38862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3080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做法 A：靠个人经验，谁熟推谁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经验覆盖不了几万客户，客户偏好也随群体变化，无法复核。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2200"/>
            <a:ext cx="41910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4604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261600" y="50038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03800"/>
            <a:ext cx="38862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3080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做法 B：批量推销，广撒网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成本高、打扰客户，还容易把不合适的产品推给错误的人。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6350000"/>
            <a:ext cx="1041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本章要找的答案：从历史交易的共现中，得到可复核、可比较的推荐依据。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购物车分析：从「共现」走到「第三步推荐」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50000"/>
            <a:ext cx="10871200" cy="113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定义：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购物车分析（market basket analysis，市场篮子分析）是超市揭示商品间关联的关键技术，找出可一起销售的组合。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背景：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顾客常有「冲动购买」，买得比计划多，零售商利用这一倾向做营销。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743200"/>
            <a:ext cx="26670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101600" rIns="4096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找共现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买面包的人，通常也买黄油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200400" y="2844800"/>
            <a:ext cx="228600" cy="228600"/>
          </a:xfrm>
          <a:prstGeom xmlns:a="http://schemas.openxmlformats.org/drawingml/2006/main" prst="rect">
            <a:avLst/>
          </a:prstGeom>
        </p:spPr>
      </p:pic>
      <p:cxnSp>
        <p:nvCxnSpPr>
          <p:cNvPr id="8" name="Connector"/>
          <p:cNvCxnSpPr/>
          <p:nvPr/>
        </p:nvCxnSpPr>
        <p:spPr>
          <a:xfrm xmlns:a="http://schemas.openxmlformats.org/drawingml/2006/main" rot="-81835">
            <a:off x="3657676" y="3397250"/>
            <a:ext cx="5334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743200"/>
            <a:ext cx="26670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101600" rIns="4096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瞄准客群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锁定同时买面包、黄油的顾客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04000" y="2844800"/>
            <a:ext cx="228600" cy="228600"/>
          </a:xfrm>
          <a:prstGeom xmlns:a="http://schemas.openxmlformats.org/drawingml/2006/main" prst="rect">
            <a:avLst/>
          </a:prstGeom>
        </p:spPr>
      </p:pic>
      <p:cxnSp>
        <p:nvCxnSpPr>
          <p:cNvPr id="11" name="Connector"/>
          <p:cNvCxnSpPr/>
          <p:nvPr/>
        </p:nvCxnSpPr>
        <p:spPr>
          <a:xfrm xmlns:a="http://schemas.openxmlformats.org/drawingml/2006/main" rot="-81835">
            <a:off x="7061276" y="3397250"/>
            <a:ext cx="5334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43200"/>
            <a:ext cx="2667000" cy="1320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101600" rIns="4096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第三品优惠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向其提供鸡蛋折扣，促成第三笔消费</a:t>
            </a:r>
          </a:p>
        </p:txBody>
      </p:sp>
      <p:pic>
        <p:nvPicPr>
          <p:cNvPr id="13" name="Picture 12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007600" y="2844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8712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66CC">
              <a:alpha val="8000"/>
            </a:srgbClr>
          </a:solidFill>
          <a:ln xmlns:a="http://schemas.openxmlformats.org/drawingml/2006/main" w="12700" cap="flat" cmpd="sng">
            <a:solidFill>
              <a:srgbClr val="0066CC"/>
            </a:solidFill>
            <a:round/>
          </a:ln>
        </p:spPr>
        <p:txBody>
          <a:bodyPr xmlns:a="http://schemas.openxmlformats.org/drawingml/2006/main" vert="horz" wrap="none" lIns="203200" tIns="76200" rIns="203200" bIns="7620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en-US" sz="1800" b="0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顾客同时购买面包与黄油</a:t>
            </a:r>
            <a:r>
              <a:rPr lang="en-US" sz="1800" b="0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向其提供鸡蛋的折扣优惠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054600"/>
            <a:ext cx="108712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结果：看到鸡蛋优惠的面包黄油顾客，更倾向于多花些钱买鸡蛋——这就是购物车分析的意义所在。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8674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76200" rIns="177800" bIns="762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三步逻辑：先找共现模式，再锁定客群，最后用优惠促成第三笔消费——把随机推销变成基于数据的精准推荐。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金融数据天然是事务型数据：四类任务的映射</a:t>
            </a:r>
          </a:p>
        </p:txBody>
      </p: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0400" y="14351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422400"/>
            <a:ext cx="1061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一名客户在观察窗口内的产品、一个交易日内的交易，都可以写成一个项集。</a:t>
            </a:r>
          </a:p>
        </p:txBody>
      </p:sp>
      <p:graphicFrame>
        <p:nvGraphicFramePr>
          <p:cNvPr id="7" name="Table"/>
          <p:cNvGraphicFramePr/>
          <p:nvPr/>
        </p:nvGraphicFramePr>
        <p:xfrm>
          <a:off xmlns:a="http://schemas.openxmlformats.org/drawingml/2006/main" x="660400" y="1930400"/>
          <a:ext xmlns:a="http://schemas.openxmlformats.org/drawingml/2006/main" cx="10871200" cy="363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2489200"/>
                <a:gridCol w="2895600"/>
                <a:gridCol w="3352800"/>
              </a:tblGrid>
              <a:tr h="508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金融业务场景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事务的含义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项的含义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关联规则的作用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零售银行产品交叉销售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一名客户的持有产品组合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存款、基金、理财、信用卡、保险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找到「持有 A 常同时持有 B」，指导下次营销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客户流失预警辅助规则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一名客户某一期的行为组合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交易频次下降、理财到期、网银登录减少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发现易流失客户的共同行为组合，供人工复核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87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银行卡交易模式分析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一笔交易或一名客户一日交易集合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商户类别、金额区间、交易时段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刻画正常交易组合，为异常交易提供对照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62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反欺诈可疑交易线索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同一账户短期内的交易集合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收款方类型、地域、金额档位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输出可疑组合规则，交人工与合规流程判断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562600"/>
            <a:ext cx="10871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76200" rIns="177800" bIns="762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sz="1800" b="0" i="0" u="none" strike="noStrike" spc="0">
                <a:solidFill>
                  <a:srgbClr val="333399">
                    <a:alpha val="85098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事务口径取决于观察单位：持有组合、一期行为、一日交易是三种常见切法；口径不同，支持度数值不可直接比较，报告须注明口径。</a:t>
            </a:r>
          </a:p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共现≠因果：「持有 A 也持有 B」描述的是相关性，不是「推 A 就能带来 B」的营销因果。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基本概念：项、事务、项集与关联规则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46200"/>
            <a:ext cx="5461000" cy="1066800"/>
          </a:xfrm>
          <a:prstGeom xmlns:a="http://schemas.openxmlformats.org/drawingml/2006/main" prst="roundRect">
            <a:avLst>
              <a:gd name="adj" fmla="val 7142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1778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项（item）与项基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：最小可分析单元；项基为全部项的集合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cr m:val="script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d>
                    <m:dPr>
                      <m:begChr m:val="{"/>
                      <m:endChr m:val="}"/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dPr>
                    <m:e>
                      <m:r>
                        <m:rPr>
                          <m:nor m:val="1"/>
                        </m:r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存款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,</m:t>
                      </m:r>
                      <m:r>
                        <m:rPr>
                          <m:nor m:val="1"/>
                        </m:r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基金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,</m:t>
                      </m:r>
                      <m:r>
                        <m:rPr>
                          <m:nor m:val="1"/>
                        </m:r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保险</m:t>
                      </m:r>
                    </m:e>
                  </m:d>
                </m:oMath>
              </m:oMathPara>
            </a14:m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489200"/>
            <a:ext cx="5461000" cy="1066800"/>
          </a:xfrm>
          <a:prstGeom xmlns:a="http://schemas.openxmlformats.org/drawingml/2006/main" prst="roundRect">
            <a:avLst>
              <a:gd name="adj" fmla="val 7142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1778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事务（transaction）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：一名客户观察窗口内的完整持有组合，用 tid 标记；总数 N=6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t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j</m:t>
                      </m:r>
                    </m:sub>
                  </m:sSub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⊆</m:t>
                  </m:r>
                  <m:r>
                    <m:rPr>
                      <m:scr m:val="script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</m:oMath>
              </m:oMathPara>
            </a14:m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32200"/>
            <a:ext cx="5461000" cy="1066800"/>
          </a:xfrm>
          <a:prstGeom xmlns:a="http://schemas.openxmlformats.org/drawingml/2006/main" prst="roundRect">
            <a:avLst>
              <a:gd name="adj" fmla="val 7142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1778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项集（itemset）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：项的任意子集；元素个数记为 |X|，长度为 k 称 k-项集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例：{存款, 基金} 就是一个 2-项集。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775200"/>
            <a:ext cx="5461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50800" rIns="177800" bIns="508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关联规则 X → Y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X、Y ⊆ I，X ∩ Y = ∅，|Y| ≥ 1；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 为前件，Y 为后件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例：存款 → 保险：持有存款的客户，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再推荐保险。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20800"/>
            <a:ext cx="508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课堂主数据：6 名客户持有产品组合（构造数据）</a:t>
            </a:r>
          </a:p>
        </p:txBody>
      </p:sp>
      <p:graphicFrame>
        <p:nvGraphicFramePr>
          <p:cNvPr id="10" name="Table"/>
          <p:cNvGraphicFramePr/>
          <p:nvPr/>
        </p:nvGraphicFramePr>
        <p:xfrm>
          <a:off xmlns:a="http://schemas.openxmlformats.org/drawingml/2006/main" x="6477000" y="1930400"/>
          <a:ext xmlns:a="http://schemas.openxmlformats.org/drawingml/2006/main" cx="50546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7000"/>
                <a:gridCol w="3657600"/>
              </a:tblGrid>
              <a:tr h="5588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事务 ID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持有产品组合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存款，基金，保险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T2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存款，基金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T3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基金，保险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T4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存款，保险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T5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存款，基金，保险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T6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基金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4800"/>
            <a:ext cx="5054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76200" rIns="177800" bIns="762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阈值：最小支持度 supp_min = 50%（至少出现 3 次）；最小置信度 conf_min = 60%。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度量一 · 支持度：这个组合有多普遍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546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绝对支持度（计数）</a:t>
            </a:r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a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b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</m:sub>
                  </m:sSub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d>
                    <m:dPr>
                      <m:begChr m:val="|"/>
                      <m:endChr m:val="|"/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dPr>
                    <m:e>
                      <m:d>
                        <m:dPr>
                          <m:begChr m:val="{"/>
                          <m:endChr m:val="}"/>
                          <m:ctrlP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</m:ctrlPr>
                        </m:dPr>
                        <m:e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∈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∣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S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⊆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</m:e>
                      </m:d>
                    </m:e>
                  </m:d>
                </m:oMath>
              </m:oMathPara>
            </a14:m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549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95600"/>
            <a:ext cx="546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相对支持度（除以事务总数 N）</a:t>
            </a:r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f>
                    <m:f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fPr>
                    <m:num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|</m:t>
                      </m:r>
                      <m:d>
                        <m:dPr>
                          <m:begChr m:val="{"/>
                          <m:endChr m:val="}"/>
                          <m:ctrlP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</m:ctrlPr>
                        </m:dPr>
                        <m:e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∈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∣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S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⊆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t</m:t>
                          </m:r>
                        </m:e>
                      </m:d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|</m:t>
                      </m:r>
                    </m:num>
                    <m:den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</m:den>
                  </m:f>
                </m:oMath>
              </m:oMathPara>
            </a14:m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3022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68800"/>
            <a:ext cx="5461000" cy="1512000"/>
          </a:xfrm>
          <a:prstGeom xmlns:a="http://schemas.openxmlformats.org/drawingml/2006/main" prst="roundRect">
            <a:avLst>
              <a:gd name="adj" fmla="val 6976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4350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频繁项集：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supp(S) ≥ supp_min 即为频繁项集。本页 supp_min = 50%，即计数至少 3 次。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例：{存款} 出现 4 次，supp = 4/6 ≈ 66.7% ≥ 50%，是频繁项集。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4495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1 层 L₁：单项计数（主数据 N=6）</a:t>
            </a:r>
          </a:p>
        </p:txBody>
      </p:sp>
      <p:graphicFrame>
        <p:nvGraphicFramePr>
          <p:cNvPr id="12" name="Table"/>
          <p:cNvGraphicFramePr/>
          <p:nvPr/>
        </p:nvGraphicFramePr>
        <p:xfrm>
          <a:off xmlns:a="http://schemas.openxmlformats.org/drawingml/2006/main" x="6477000" y="1930400"/>
          <a:ext xmlns:a="http://schemas.openxmlformats.org/drawingml/2006/main" cx="50546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143000"/>
                <a:gridCol w="1371600"/>
                <a:gridCol w="1016000"/>
              </a:tblGrid>
              <a:tr h="596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是否保留</a:t>
                      </a:r>
                    </a:p>
                  </a:txBody>
                  <a:tcPr marL="101600" marR="1016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635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存款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4/6 ≈ 66.7%</a:t>
                      </a: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635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5/6 ≈ 83.3%</a:t>
                      </a: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6223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保险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4/6 ≈ 66.7%</a:t>
                      </a:r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5054600" cy="1080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三个单项计数都 ≥ 3，全部进入 L₁。支持度回答「这个组合普不普遍」，先把冷门组合筛掉。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度量二 · 置信度：前件成立时，后件有多可信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32000"/>
            <a:ext cx="5461000" cy="18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52400" rIns="435000" bIns="1524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置信度（条件概率）</a:t>
            </a:r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c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o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n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f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X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Y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Y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∣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X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f>
                    <m:f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fPr>
                    <m:num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∪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num>
                    <m:den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den>
                  </m:f>
                </m:oMath>
              </m:oMathPara>
            </a14:m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前件成立的场合中，规则预测正确的比例；前件不成立的事务不进分母。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458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276000"/>
            <a:ext cx="5461000" cy="1944000"/>
          </a:xfrm>
          <a:prstGeom xmlns:a="http://schemas.openxmlformats.org/drawingml/2006/main" prst="roundRect">
            <a:avLst>
              <a:gd name="adj" fmla="val 508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高频错误：把分母写成总事务数 N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条件概率 P(Y|X) 的分母是前件 X 的支持度，不是 N。板书时把分母圈出。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错例：误把分母写成 N=6，会把 3/4 错算成 3/6=50%，数值和判定都错。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3403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328000"/>
            <a:ext cx="5461000" cy="1260000"/>
          </a:xfrm>
          <a:prstGeom xmlns:a="http://schemas.openxmlformats.org/drawingml/2006/main" prst="roundRect">
            <a:avLst>
              <a:gd name="adj" fmla="val 5084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规则有方向：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X→Y 与 Y→X 的分母不同，置信度也不同，不能默认相等。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5454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主数据对照：分母换了，置信度就变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0400"/>
            <a:ext cx="5054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2032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存款 → 基金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前件「存款」计数 4，同时买基金的 3 笔：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3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/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4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7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5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</m:oMath>
              </m:oMathPara>
            </a14:m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54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2032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基金 → 存款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前件「基金」计数 5，同时存款的 3 笔：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3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/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5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6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</m:oMath>
              </m:oMathPara>
            </a14:m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88000"/>
            <a:ext cx="5054600" cy="1092200"/>
          </a:xfrm>
          <a:prstGeom xmlns:a="http://schemas.openxmlformats.org/drawingml/2006/main" prst="roundRect">
            <a:avLst>
              <a:gd name="adj" fmla="val 697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同一对商品，两个方向的置信度分别是 75% 与 60%——这就是分母（前件支持度）决定的。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度量三 · 提升度：高置信度就一定有增益吗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260000"/>
            <a:ext cx="5461000" cy="2376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4350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提升度（相对独立假设的倍数）</a:t>
            </a:r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l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f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t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X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Y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f>
                    <m:f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fPr>
                    <m:num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∣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num>
                    <m:den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den>
                  </m:f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f>
                    <m:f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fPr>
                    <m:num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c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o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f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→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num>
                    <m:den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den>
                  </m:f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f>
                    <m:f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fPr>
                    <m:num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∪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num>
                    <m:den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⋅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s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u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Y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)</m:t>
                      </m:r>
                    </m:den>
                  </m:f>
                </m:oMath>
              </m:oMathPara>
            </a14:m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5A5A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其中 P(Y) = supp(Y)，即后件 Y 的整体支持度。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386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780000"/>
            <a:ext cx="5461000" cy="720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4350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en-US" sz="1800" b="1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lift &gt; 1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：有前件时后件更常见，正相关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3906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608000"/>
            <a:ext cx="5461000" cy="720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en-US" sz="1800" b="1" i="0" u="none" strike="noStrike" spc="0">
                <a:solidFill>
                  <a:srgbClr val="5A5A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lift = 1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：两者相互独立，规则没有增益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36000"/>
            <a:ext cx="5461000" cy="720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4350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en-US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lift &lt; 1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：有前件时后件更少见，负相关</a:t>
            </a:r>
          </a:p>
        </p:txBody>
      </p:sp>
      <p:pic>
        <p:nvPicPr>
          <p:cNvPr id="11" name="Picture 10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5562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反例：90% 置信度，提升度却是 1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0400"/>
            <a:ext cx="5054600" cy="24892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52400" rIns="228600" bIns="1524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9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1000 名消费者：500 人买茶叶，其中 450 人同时买咖啡；另外 500 人不买茶叶，其中也有 450 人买咖啡。</a:t>
            </a:r>
          </a:p>
          <a:p xmlns:a="http://schemas.openxmlformats.org/drawingml/2006/main">
            <a:pPr marL="0" marR="0" algn="l" defTabSz="914400">
              <a:lnSpc>
                <a:spcPct val="129166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c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o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n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f</m:t>
                  </m:r>
                  <m:d>
                    <m:dPr>
                      <m:begChr m:val="("/>
                      <m:endChr m:val=")"/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dPr>
                    <m:e>
                      <m:r>
                        <m:rPr>
                          <m:nor m:val="1"/>
                        </m:r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茶叶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→</m:t>
                      </m:r>
                      <m:r>
                        <m:rPr>
                          <m:nor m:val="1"/>
                        </m:r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咖啡</m:t>
                      </m:r>
                    </m:e>
                  </m:d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4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5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/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5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9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</m:oMath>
              </m:oMathPara>
            </a14:m>
          </a:p>
          <a:p xmlns:a="http://schemas.openxmlformats.org/drawingml/2006/main">
            <a:pPr marL="0" marR="0" algn="l" defTabSz="914400">
              <a:lnSpc>
                <a:spcPct val="129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咖啡整体占比 = (450+450)/1000 = 90%</a:t>
            </a:r>
          </a:p>
          <a:p xmlns:a="http://schemas.openxmlformats.org/drawingml/2006/main">
            <a:pPr marL="0" marR="0" algn="l" defTabSz="914400">
              <a:lnSpc>
                <a:spcPct val="129166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l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f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t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9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÷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9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=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1</m:t>
                  </m:r>
                </m:oMath>
              </m:oMathPara>
            </a14:m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5054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27000" rIns="2286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结论：</a:t>
            </a: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高置信度只是「条件下常见」，提升度才回答「比平均多多少」；它是倍数，不是百分点。两者独立，必须分开看。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23000"/>
            <a:ext cx="505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反例改编自第三方教学材料。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三个度量组成三层筛子：从普遍到可信再到有增益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625600"/>
            <a:ext cx="660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54000" tIns="101600" rIns="4604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第一层</a:t>
            </a:r>
            <a:r>
              <a:rPr lang="en-US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支持度</a:t>
            </a:r>
            <a:r>
              <a:rPr lang="en-US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supp ≥ 50%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筛掉冷门组合：先只留下普遍出现的项集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13600" y="1752600"/>
            <a:ext cx="228600" cy="228600"/>
          </a:xfrm>
          <a:prstGeom xmlns:a="http://schemas.openxmlformats.org/drawingml/2006/main" prst="rect">
            <a:avLst/>
          </a:prstGeom>
        </p:spPr>
      </p:pic>
      <p:cxnSp>
        <p:nvCxnSpPr>
          <p:cNvPr id="7" name="Connector"/>
          <p:cNvCxnSpPr/>
          <p:nvPr/>
        </p:nvCxnSpPr>
        <p:spPr>
          <a:xfrm xmlns:a="http://schemas.openxmlformats.org/drawingml/2006/main" rot="5209210">
            <a:off x="4203700" y="2698926"/>
            <a:ext cx="2286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2870200"/>
            <a:ext cx="533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54000" tIns="101600" rIns="4604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第二层</a:t>
            </a:r>
            <a:r>
              <a:rPr lang="en-US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置信度</a:t>
            </a:r>
            <a:r>
              <a:rPr lang="en-US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conf ≥ 60%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筛掉不可信规则：前件成立时后件要足够常见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578600" y="2997200"/>
            <a:ext cx="228600" cy="228600"/>
          </a:xfrm>
          <a:prstGeom xmlns:a="http://schemas.openxmlformats.org/drawingml/2006/main" prst="rect">
            <a:avLst/>
          </a:prstGeom>
        </p:spPr>
      </p:pic>
      <p:cxnSp>
        <p:nvCxnSpPr>
          <p:cNvPr id="10" name="Connector"/>
          <p:cNvCxnSpPr/>
          <p:nvPr/>
        </p:nvCxnSpPr>
        <p:spPr>
          <a:xfrm xmlns:a="http://schemas.openxmlformats.org/drawingml/2006/main" rot="5209210">
            <a:off x="4203700" y="3943526"/>
            <a:ext cx="2286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406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54000" tIns="101600" rIns="4604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第三层 · 提升度 lift &gt; 1</a:t>
            </a:r>
          </a:p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FAEBE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筛掉高置信度但无增益的规则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943600" y="4241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25600"/>
            <a:ext cx="3124200" cy="32004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03200" rIns="228600" bIns="2032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强关联规则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同时满足两条：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X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Y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≥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m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c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o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n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f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X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Y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≥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c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o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n</m:t>
                  </m:r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f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m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不满足则为弱关联规则。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例：存款→保险 supp 50%、conf 75%、过前两关即为强规则；lift 1.125 &gt; 1，还有增益。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461000"/>
            <a:ext cx="102362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01600" rIns="2286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其他相关性度量：Leverage（取值 [−0.25, 0.25]，可为负：&gt;0 正相关，=0 独立，&lt;0 负相关）与 Conviction（独立假设下的错误预测率 ÷ 实际错误率，规则完全成立时为 ∞）。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先验性质（向下封闭性）：剪枝为什么合法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546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基本性质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：项集扩大，支持度不会上升</a:t>
            </a:r>
          </a:p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J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⊆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 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J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≥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</m:oMath>
              </m:oMathPara>
            </a14:m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549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95600"/>
            <a:ext cx="5461000" cy="1475999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正向：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一个项集频繁，则它的所有非空子集都频繁。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例：{存款, 基金} 频繁 ⇒ {存款}、{基金} 两个子集都频繁。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3022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70400"/>
            <a:ext cx="5461000" cy="1475999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反向（剪枝依据）：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一个项集非频繁，则它的所有超集都非频繁。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例：某个单项低于阈值被删，含它的全部超集不必再计数。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4597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安全剪枝规则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0400"/>
            <a:ext cx="5054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52400" rIns="228600" bIns="15240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&lt;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m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</m:sub>
                  </m:sSub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⇒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∀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J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⊇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: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J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&lt;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sSub>
                    <m:sSubPr>
                      <m:ctrlP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</m:ctrlPr>
                    </m:sSubPr>
                    <m:e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</m:e>
                    <m:sub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m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sz="1800" b="0" i="0" u="none" strike="noStrike" spc="0">
                          <a:solidFill>
                            <a:srgbClr val="1F2329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m:t>n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遇到非频繁项集，直接完全跳过它的全部超集，不必访问。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54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52400" rIns="228600" bIns="1524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为什么这是效率来源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穷举法要检查全部 2ⁿ−1 个项集；Apriori 用先验性质在计数前就剪掉大批候选，这也是它区别于穷举的关键。</a:t>
            </a:r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Apriori 全景：两大步，先找频繁项集，再生成规则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5080000" cy="3810000"/>
          </a:xfrm>
          <a:prstGeom xmlns:a="http://schemas.openxmlformats.org/drawingml/2006/main" prst="roundRect">
            <a:avLst>
              <a:gd name="adj" fmla="val 266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6636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6256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4604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第一步 · 频繁项集逐层搜索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130800" y="1676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235200"/>
            <a:ext cx="46736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初始化：扫描一次，统计单项，得 L₁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921000"/>
            <a:ext cx="46736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连接：Lₖ₋₁ 自连接生成候选 Cₖ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606800"/>
            <a:ext cx="46736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剪枝：先验性质删掉含非频繁子集的候选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292600"/>
            <a:ext cx="46736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④ 计数过滤：再扫描得 Lₖ，到空层为止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422400"/>
            <a:ext cx="5080000" cy="3810000"/>
          </a:xfrm>
          <a:prstGeom xmlns:a="http://schemas.openxmlformats.org/drawingml/2006/main" prst="roundRect">
            <a:avLst>
              <a:gd name="adj" fmla="val 266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2572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16256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第二步 · 基于置信度生成规则</a:t>
            </a:r>
          </a:p>
        </p:txBody>
      </p:sp>
      <p:pic>
        <p:nvPicPr>
          <p:cNvPr id="14" name="Picture 13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28400" y="1676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2336800"/>
            <a:ext cx="4673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对每个频繁项集 Z，枚举它的非空真子集 X 作前件，Y = Z＼X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3251200"/>
            <a:ext cx="4673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8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计算 conf(X→Y)，≥ conf_min 才输出为规则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165600"/>
            <a:ext cx="467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规则生成同样可用先验性质的反向形式：X→Y 不达置信度，后件任何超集对应的规则也不达。</a:t>
            </a:r>
          </a:p>
        </p:txBody>
      </p:sp>
      <p:sp>
        <p:nvSpPr>
          <p:cNvPr id="18" name="Auto Shape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6134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066CC">
              <a:alpha val="8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当前位置：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已学完三个度量与先验性质，下面用主数据把第一步逐层手算一遍，再进入规则生成。</a:t>
            </a:r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1 次迭代：C₁ → L₁，扫描一次统计单项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546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4350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输入：主数据 6 条事务（N=6）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Table"/>
          <p:cNvGraphicFramePr/>
          <p:nvPr/>
        </p:nvGraphicFramePr>
        <p:xfrm>
          <a:off xmlns:a="http://schemas.openxmlformats.org/drawingml/2006/main" x="660400" y="1930400"/>
          <a:ext xmlns:a="http://schemas.openxmlformats.org/drawingml/2006/main" cx="5461000" cy="254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4318000"/>
              </a:tblGrid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事务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持有产品组合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T1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存款，基金，保险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T2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存款，基金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T3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基金，保险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T4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存款，保险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T5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存款，基金，保险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T6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</a:t>
                      </a:r>
                    </a:p>
                  </a:txBody>
                  <a:tcPr marL="101600" marR="101600" marT="44450" marB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724400"/>
            <a:ext cx="546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2032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本步动作：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候选 C₁ 就是全部单项；扫描一遍统计每个单项出现次数，计数 ≥ 3（50%）即保留。</a:t>
            </a:r>
          </a:p>
          <a:p xmlns:a="http://schemas.openxmlformats.org/drawingml/2006/main">
            <a:pPr marL="0" marR="0" algn="l" defTabSz="914400">
              <a:lnSpc>
                <a:spcPct val="116666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c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o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n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t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≥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3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⇔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s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u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p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(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i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)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≥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5</m:t>
                  </m:r>
                  <m: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0</m:t>
                  </m:r>
                  <m:r>
                    <m:rPr>
                      <m:lit m:val="1"/>
                    </m:rPr>
                    <a:rPr sz="1800" b="0" i="0" u="none" strike="noStrike" spc="0">
                      <a:solidFill>
                        <a:srgbClr val="1F2329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rPr>
                    <m:t>%</m:t>
                  </m:r>
                </m:oMath>
              </m:oMathPara>
            </a14:m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5112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C₁ 计数与过滤（supp_min = 50%）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0744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6477000" y="1930400"/>
          <a:ext xmlns:a="http://schemas.openxmlformats.org/drawingml/2006/main" cx="50546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143000"/>
                <a:gridCol w="1371600"/>
                <a:gridCol w="1016000"/>
              </a:tblGrid>
              <a:tr h="596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635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4/6 ≈ 66.7%</a:t>
                      </a: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635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5/6 ≈ 83.3%</a:t>
                      </a: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6223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4/6 ≈ 66.7%</a:t>
                      </a:r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5054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604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本步结论：</a:t>
            </a: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L₁ = {存款, 基金, 保险}，三项全部保留；下一步由 L₁ 连接生成候选 C₂。</a:t>
            </a:r>
          </a:p>
        </p:txBody>
      </p:sp>
      <p:pic>
        <p:nvPicPr>
          <p:cNvPr id="13" name="Picture 12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25200" y="4826000"/>
            <a:ext cx="254000" cy="254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2 次迭代：C₂ → L₂，连接生成两两组合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546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4350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连接：由 L₁ 两两配对，得到 3 个候选 2-项集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40400" y="1473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930400"/>
            <a:ext cx="5461000" cy="889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203200" tIns="0" rIns="35880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候选：{存款,基金}　{存款,保险}　{基金,保险}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16600" y="2184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098800"/>
            <a:ext cx="5461000" cy="154800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3588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剪枝检查：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每个候选的 1-子集（三个单项）都在 L₁ 中，没有可剪的候选，全部进入计数。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例：{存款, 基金} 的 1-子集 {存款}、{基金} 都在 L₁，通过检查。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16600" y="3200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724400"/>
            <a:ext cx="546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3588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本步结论：</a:t>
            </a: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L₂ = {{存款,基金}, {存款,保险}, {基金,保险}}，三对全部频繁。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16600" y="48514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2400"/>
            <a:ext cx="505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5112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计数与过滤（3/6 = 50% 达标）</a:t>
            </a:r>
          </a:p>
        </p:txBody>
      </p:sp>
      <p:pic>
        <p:nvPicPr>
          <p:cNvPr id="14" name="Picture 13"/>
          <p:cNvPicPr/>
          <p:nvPr/>
        </p:nvPicPr>
        <p:blipFill>
          <a:blip xmlns:a="http://schemas.openxmlformats.org/drawingml/2006/main"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0744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Table"/>
          <p:cNvGraphicFramePr/>
          <p:nvPr/>
        </p:nvGraphicFramePr>
        <p:xfrm>
          <a:off xmlns:a="http://schemas.openxmlformats.org/drawingml/2006/main" x="6477000" y="1930400"/>
          <a:ext xmlns:a="http://schemas.openxmlformats.org/drawingml/2006/main" cx="5054600" cy="279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016000"/>
                <a:gridCol w="1143000"/>
                <a:gridCol w="990600"/>
              </a:tblGrid>
              <a:tr h="6477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 2-项集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{存款, 基金}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3/6 = 50%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{存款, 保险}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3/6 = 50%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23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{基金, 保险}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3/6 = 50%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4600"/>
            <a:ext cx="5054600" cy="889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203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三对各出现在 3 条事务中，恰好压在 50% 门槛上；下一步由 L₂ 连接尝试生成 3-项集 C₃。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3 次迭代：C₃ 计数不达标，L₃ = ∅，搜索终止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256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384200" bIns="10160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连接</a:t>
            </a:r>
          </a:p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由 L₂ 连接得唯一候选 C₃ = {存款,基金,保险}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530600" y="1727200"/>
            <a:ext cx="203200" cy="203200"/>
          </a:xfrm>
          <a:prstGeom xmlns:a="http://schemas.openxmlformats.org/drawingml/2006/main" prst="rect">
            <a:avLst/>
          </a:prstGeom>
        </p:spPr>
      </p:pic>
      <p:cxnSp>
        <p:nvCxnSpPr>
          <p:cNvPr id="7" name="Connector"/>
          <p:cNvCxnSpPr/>
          <p:nvPr/>
        </p:nvCxnSpPr>
        <p:spPr>
          <a:xfrm xmlns:a="http://schemas.openxmlformats.org/drawingml/2006/main" rot="-114549">
            <a:off x="3962506" y="22288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256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384200" bIns="10160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子集剪枝</a:t>
            </a:r>
          </a:p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 2-子集都在 L₂，通过，进入计数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89800" y="1727200"/>
            <a:ext cx="203200" cy="203200"/>
          </a:xfrm>
          <a:prstGeom xmlns:a="http://schemas.openxmlformats.org/drawingml/2006/main" prst="rect">
            <a:avLst/>
          </a:prstGeom>
        </p:spPr>
      </p:pic>
      <p:cxnSp>
        <p:nvCxnSpPr>
          <p:cNvPr id="10" name="Connector"/>
          <p:cNvCxnSpPr/>
          <p:nvPr/>
        </p:nvCxnSpPr>
        <p:spPr>
          <a:xfrm xmlns:a="http://schemas.openxmlformats.org/drawingml/2006/main" rot="-114549">
            <a:off x="7721706" y="22288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333399"/>
            </a:solidFill>
            <a:round/>
            <a:tailEnd type="arrow" w="lg" len="lg"/>
          </a:ln>
        </p:spPr>
      </p:cxn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6256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77800" tIns="101600" rIns="384200" bIns="10160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计数淘汰</a:t>
            </a:r>
          </a:p>
          <a:p xmlns:a="http://schemas.openxmlformats.org/drawingml/2006/main">
            <a:pPr marL="0" marR="0" algn="ctr" defTabSz="914400">
              <a:lnSpc>
                <a:spcPct val="112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仅 T1、T5 同时持有，计数 2 = 33.3% &lt; 50%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049000" y="1727200"/>
            <a:ext cx="203200" cy="203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Table"/>
          <p:cNvGraphicFramePr/>
          <p:nvPr/>
        </p:nvGraphicFramePr>
        <p:xfrm>
          <a:off xmlns:a="http://schemas.openxmlformats.org/drawingml/2006/main" x="660400" y="3454400"/>
          <a:ext xmlns:a="http://schemas.openxmlformats.org/drawingml/2006/main" cx="10871200" cy="149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94000"/>
                <a:gridCol w="1905000"/>
                <a:gridCol w="1905000"/>
                <a:gridCol w="1905000"/>
                <a:gridCol w="2362200"/>
              </a:tblGrid>
              <a:tr h="508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 C₃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出现事务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990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{存款,基金,保险}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T1、T5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2/6 ≈ 33.3%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丢弃（&lt; 50%）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308600"/>
            <a:ext cx="53086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2032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循环终止：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L₃ = ∅，没有频繁 3-项集，无法再向上连接，频繁项集搜索结束。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终止条件：任一层 Lₖ = ∅ 即停止，不再生成更高层候选。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308600"/>
            <a:ext cx="53086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27000" rIns="4604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频繁项集集合 = L₁ ∪ L₂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 个单项 + 3 个 2-项集，共 6 个频繁项集，供下一步生成规则。</a:t>
            </a:r>
          </a:p>
        </p:txBody>
      </p:sp>
      <p:pic>
        <p:nvPicPr>
          <p:cNvPr id="16" name="Picture 15"/>
          <p:cNvPicPr/>
          <p:nvPr/>
        </p:nvPicPr>
        <p:blipFill>
          <a:blip xmlns:a="http://schemas.openxmlformats.org/drawingml/2006/main"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25200" y="5461000"/>
            <a:ext cx="254000" cy="254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规则生成：对 3 个 2-项集枚举双向，逐条算置信度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20800"/>
            <a:ext cx="10871200" cy="5842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每个频繁 2-项集 Z，枚举两个方向的非空真子集：前件取其中一项，后件为另一项；conf</a:t>
            </a:r>
            <a:r>
              <a:rPr lang="en-US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= supp(Z) ÷ supp(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前件)，门槛</a:t>
            </a:r>
            <a:r>
              <a:rPr lang="en-US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conf_min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= 60%。</a:t>
            </a:r>
          </a:p>
        </p:txBody>
      </p:sp>
      <p:graphicFrame>
        <p:nvGraphicFramePr>
          <p:cNvPr id="6" name="Table"/>
          <p:cNvGraphicFramePr/>
          <p:nvPr/>
        </p:nvGraphicFramePr>
        <p:xfrm>
          <a:off xmlns:a="http://schemas.openxmlformats.org/drawingml/2006/main" x="660400" y="2159000"/>
          <a:ext xmlns:a="http://schemas.openxmlformats.org/drawingml/2006/main" cx="108712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5200"/>
                <a:gridCol w="1905000"/>
                <a:gridCol w="1905000"/>
                <a:gridCol w="1524000"/>
                <a:gridCol w="1524000"/>
                <a:gridCol w="1778000"/>
              </a:tblGrid>
              <a:tr h="5334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规则 X → Y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分子/分母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置信度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提升度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 → 基金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4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&lt;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 → 存款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5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&lt;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 → 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4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1.125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&gt;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保险 → 存款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4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1.125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&gt;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 → 保险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5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&lt;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保险 → 基金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/ 4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75%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lift &lt; 1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7404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0" rIns="4096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「强规则」= 过了支持度 + 置信度两道门槛；要不要落地，还要看提升度是否大于 1。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5842000"/>
            <a:ext cx="228600" cy="2286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同一张规则表，三种容易读错的读法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73200"/>
            <a:ext cx="3505200" cy="36322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28600" rIns="358800" bIns="2032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读法一 · 项集派生多条规则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本例 3 个频繁 2-项集，每个拆成两个方向，共 6 条规则。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k-项集最多派生 2ᵏ − 2 条规则：k = 2 时 2 条，k = 3 时 6 条，k = 4 时 14 条。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不要以为找到几个频繁项集就只有几条规则。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60800" y="1701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73200"/>
            <a:ext cx="3505200" cy="36322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28600" rIns="358800" bIns="2032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读法二 · 强规则 ≠ 有增益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 条全过 conf 门槛，但 4 条 lift = 0.9 &lt; 1，只有存款↔保险两条 lift = 1.125；本数据没有增益明显突出的规则。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过了置信度，还要看提升度才知道是否值得推荐。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43800" y="1701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473200"/>
            <a:ext cx="3505200" cy="36322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28600" rIns="358800" bIns="2032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读法三 · 规则有方向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存款→基金 conf 75%，反向 基金→存款 只有 60%；前件换方向，置信度要重算，不能照搬。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X→Y 成立不代表 Y→X 同样成立。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26800" y="1701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871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27000" rIns="3588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三个度量各管一件事：支持度答「常见吗」，置信度答「可信吗」，提升度答「比平均多吗」。</a:t>
            </a:r>
          </a:p>
        </p:txBody>
      </p:sp>
      <p:pic>
        <p:nvPicPr>
          <p:cNvPr id="12" name="Picture 11"/>
          <p:cNvPicPr/>
          <p:nvPr/>
        </p:nvPicPr>
        <p:blipFill>
          <a:blip xmlns:a="http://schemas.openxmlformats.org/drawingml/2006/main"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26800" y="5740400"/>
            <a:ext cx="228600" cy="2286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7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 笔订单对照：候选剪枝与规则筛选不是一回事</a:t>
            </a:r>
          </a:p>
        </p:txBody>
      </p:sp>
      <p:graphicFrame>
        <p:nvGraphicFramePr>
          <p:cNvPr id="5" name="Table"/>
          <p:cNvGraphicFramePr/>
          <p:nvPr/>
        </p:nvGraphicFramePr>
        <p:xfrm>
          <a:off xmlns:a="http://schemas.openxmlformats.org/drawingml/2006/main" x="660400" y="1295400"/>
          <a:ext xmlns:a="http://schemas.openxmlformats.org/drawingml/2006/main" cx="10871200" cy="71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90700"/>
                <a:gridCol w="1790700"/>
                <a:gridCol w="1790700"/>
                <a:gridCol w="1790700"/>
                <a:gridCol w="1803400"/>
              </a:tblGrid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笔订单</a:t>
                      </a:r>
                    </a:p>
                  </a:txBody>
                  <a:tcPr marL="101600" marR="1016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T1：1,3,4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T2：2,3,5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T3：1,2,3,5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T4：2,5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T5：1,3,5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159000"/>
            <a:ext cx="5308600" cy="2286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27000" rIns="358800" bIns="1016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95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候选剪枝 · 发生在计数之前，对象是项集</a:t>
            </a:r>
          </a:p>
          <a:p xmlns:a="http://schemas.openxmlformats.org/drawingml/2006/main">
            <a:pPr marL="0" marR="0" algn="l" defTabSz="914400">
              <a:lnSpc>
                <a:spcPct val="95833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前置（计数门槛 2，教师已算好）：L₁ = {1,2,3,5}；L₂ = {{1,3},{1,5},{2,3},{2,5},{3,5}}。</a:t>
            </a:r>
          </a:p>
          <a:p xmlns:a="http://schemas.openxmlformats.org/drawingml/2006/main">
            <a:pPr marL="0" marR="0" algn="l" defTabSz="914400">
              <a:lnSpc>
                <a:spcPct val="95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C₃ 候选 {1,2,3}、{1,2,5} 都含子集 {1,2}，而 {1,2} 计数仅 1、非频繁。</a:t>
            </a:r>
          </a:p>
          <a:p xmlns:a="http://schemas.openxmlformats.org/drawingml/2006/main">
            <a:pPr marL="0" marR="0" algn="l" defTabSz="914400">
              <a:lnSpc>
                <a:spcPct val="95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按先验性质，含非频繁子集的候选不必扫描计数，直接剪掉。</a:t>
            </a:r>
          </a:p>
          <a:p xmlns:a="http://schemas.openxmlformats.org/drawingml/2006/main">
            <a:pPr marL="0" marR="0" algn="l" defTabSz="914400">
              <a:lnSpc>
                <a:spcPct val="95833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结果：L₃ 只保留 {1,3,5}、{2,3,5}。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64200" y="2463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521200"/>
            <a:ext cx="2565400" cy="7366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{1,2,3} ✂ 含非频繁 {1,2}，剪掉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21200"/>
            <a:ext cx="2616200" cy="7366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{1,2,5} ✂ 含非频繁 {1,2}，剪掉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384800"/>
            <a:ext cx="25654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5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{1,3,5} 保留入 L₃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84800"/>
            <a:ext cx="26162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5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{2,3,5} 保留入 L₃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159000"/>
            <a:ext cx="5308600" cy="2286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01600" rIns="358800" bIns="762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90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规则筛选 · 发生在置信度阶段，对象是规则</a:t>
            </a:r>
          </a:p>
          <a:p xmlns:a="http://schemas.openxmlformats.org/drawingml/2006/main">
            <a:pPr marL="0" marR="0" algn="l" defTabSz="914400">
              <a:lnSpc>
                <a:spcPct val="90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对 {1,3,5} 派生 6 条规则，前 3 条与 {1}→{3,5} 均 ≥60% 保留。</a:t>
            </a:r>
          </a:p>
          <a:p xmlns:a="http://schemas.openxmlformats.org/drawingml/2006/main">
            <a:pPr marL="0" marR="0" algn="l" defTabSz="914400">
              <a:lnSpc>
                <a:spcPct val="90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{3}→{1,5} conf = 2/4 = 50%、{5}→{1,3} conf = 2/4 = 50%，均 &lt; 60% 拒绝。</a:t>
            </a:r>
          </a:p>
          <a:p xmlns:a="http://schemas.openxmlformats.org/drawingml/2006/main">
            <a:pPr marL="0" marR="0" algn="l" defTabSz="914400">
              <a:lnSpc>
                <a:spcPct val="90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这一步只按置信度逐条淘汰；被拒两条的后件已是 2 项，没有更大后件可剪。</a:t>
            </a:r>
          </a:p>
        </p:txBody>
      </p:sp>
      <p:pic>
        <p:nvPicPr>
          <p:cNvPr id="13" name="Picture 12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26800" y="2463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521200"/>
            <a:ext cx="2565400" cy="7366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{3}→{1,5} conf 50%，拒绝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4521200"/>
            <a:ext cx="2565400" cy="7366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{5}→{1,3} conf 50%，拒绝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384800"/>
            <a:ext cx="52070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5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1524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altLang="en-US" sz="1800" b="0" i="0" u="none" strike="noStrike" spc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其余 4 条 conf ≥ 60%，保留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6045200"/>
            <a:ext cx="10871200" cy="7366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区别：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候选剪枝在「找频繁项集」阶段，靠先验性质删项集；规则筛选在「生成规则」阶段，靠置信度删规则。两者对象不同、时机不同，不能互相替代。</a:t>
            </a:r>
          </a:p>
        </p:txBody>
      </p:sp>
    </p:spTree>
  </p:cSld>
  <p:clrMapOvr>
    <a:masterClrMapping xmlns:a="http://schemas.openxmlformats.org/drawingml/2006/main"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伪代码：逐层「连接—剪枝—计数—过滤」直到空层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6172200" cy="4495800"/>
          </a:xfrm>
          <a:prstGeom xmlns:a="http://schemas.openxmlformats.org/drawingml/2006/main" prst="roundRect">
            <a:avLst>
              <a:gd name="adj" fmla="val 1694"/>
            </a:avLst>
          </a:prstGeom>
          <a:solidFill xmlns:a="http://schemas.openxmlformats.org/drawingml/2006/main">
            <a:srgbClr val="F2F4F8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03200" rIns="177800" bIns="2032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Apriori(T, ε)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L₁ ← {长度为 1 的频繁项集}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k ← 2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while L_{k−1} 不为空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C_k ← Generate_candidates(L_{k−1}, k)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for 每个事务 t ∈ T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　D_t ← { c ∈ C_k : c ⊆ t }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　for c ∈ D_t : count[c] += 1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L_k ← { c ∈ C_k : count[c] ≥ ε }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　k ← k + 1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　return 各层 L_k 的并集</a:t>
            </a:r>
          </a:p>
          <a:p xmlns:a="http://schemas.openxmlformats.org/drawingml/2006/main">
            <a:pPr marL="0" marR="0" algn="l" defTabSz="914400">
              <a:lnSpc>
                <a:spcPct val="1041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Generate_candidates(L, k)：自连接 + 子集全在 L 中才保留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1422400"/>
            <a:ext cx="469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27000" rIns="435000" bIns="1270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最坏复杂度 </a:t>
            </a:r>
            <a14:m xmlns:a14="http://schemas.microsoft.com/office/drawing/2010/main">
              <m:oMath xmlns:m="http://schemas.openxmlformats.org/officeDocument/2006/math">
                <m:r>
                  <a:rPr sz="1800" b="1" i="0" u="none" strike="noStrike" spc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m:t>O</m:t>
                </m:r>
                <m:d>
                  <m:dPr>
                    <m:begChr m:val="("/>
                    <m:endChr m:val=")"/>
                    <m:ctrlPr>
                      <a:rPr sz="1800" b="1" i="0" u="none" strike="noStrike" spc="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</m:ctrlPr>
                  </m:dPr>
                  <m:e>
                    <m:sSup>
                      <m:sSupPr>
                        <m:ctrlPr>
                          <a:rPr sz="1800" b="1" i="0" u="none" strike="noStrike" spc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</m:ctrlPr>
                      </m:sSupPr>
                      <m:e>
                        <m:r>
                          <a:rPr sz="1800" b="1" i="0" u="none" strike="noStrike" spc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>2</m:t>
                        </m:r>
                      </m:e>
                      <m:sup>
                        <m:r>
                          <a:rPr sz="1800" b="1" i="0" u="none" strike="noStrike" spc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>n</m:t>
                        </m:r>
                      </m:sup>
                    </m:sSup>
                  </m:e>
                </m:d>
              </m:oMath>
            </a14:m>
            <a:r>
              <a:rPr lang="zh-CN" sz="1800" b="1" i="0" u="none" strike="noStrike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，指数级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 是项的个数（项基大小），非空项集共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sz="1800" b="0" i="0" u="none" strike="noStrike" spc="0">
                        <a:solidFill>
                          <a:srgbClr val="E8E8E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</m:ctrlPr>
                  </m:sSupPr>
                  <m:e>
                    <m:r>
                      <a:rPr sz="1800" b="0" i="0" u="none" strike="noStrike" spc="0">
                        <a:solidFill>
                          <a:srgbClr val="E8E8E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>2</m:t>
                    </m:r>
                  </m:e>
                  <m:sup>
                    <m:r>
                      <a:rPr sz="1800" b="0" i="0" u="none" strike="noStrike" spc="0">
                        <a:solidFill>
                          <a:srgbClr val="E8E8E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>n</m:t>
                    </m:r>
                  </m:sup>
                </m:sSup>
                <m:r>
                  <a:rPr sz="1800" b="0" i="0" u="none" strike="noStrike" spc="0">
                    <a:solidFill>
                      <a:srgbClr val="E8E8E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m:t>-</m:t>
                </m:r>
                <m:r>
                  <a:rPr sz="1800" b="0" i="0" u="none" strike="noStrike" spc="0">
                    <a:solidFill>
                      <a:srgbClr val="E8E8E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m:t>1</m:t>
                </m:r>
              </m:oMath>
            </a14:m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个；时间与空间最坏均为 </a:t>
            </a:r>
            <a14:m xmlns:a14="http://schemas.microsoft.com/office/drawing/2010/main">
              <m:oMath xmlns:m="http://schemas.openxmlformats.org/officeDocument/2006/math">
                <m:r>
                  <a:rPr sz="1800" b="0" i="0" u="none" strike="noStrike" spc="0">
                    <a:solidFill>
                      <a:srgbClr val="E8E8E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m:t>O</m:t>
                </m:r>
                <m:d>
                  <m:dPr>
                    <m:begChr m:val="("/>
                    <m:endChr m:val=")"/>
                    <m:ctrlPr>
                      <a:rPr sz="1800" b="0" i="0" u="none" strike="noStrike" spc="0">
                        <a:solidFill>
                          <a:srgbClr val="E8E8E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</m:ctrlPr>
                  </m:dPr>
                  <m:e>
                    <m:sSup>
                      <m:sSupPr>
                        <m:ctrlPr>
                          <a:rPr sz="1800" b="0" i="0" u="none" strike="noStrike" spc="0">
                            <a:solidFill>
                              <a:srgbClr val="E8E8E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</m:ctrlPr>
                      </m:sSupPr>
                      <m:e>
                        <m:r>
                          <a:rPr sz="1800" b="0" i="0" u="none" strike="noStrike" spc="0">
                            <a:solidFill>
                              <a:srgbClr val="E8E8E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>2</m:t>
                        </m:r>
                      </m:e>
                      <m:sup>
                        <m:r>
                          <a:rPr sz="1800" b="0" i="0" u="none" strike="noStrike" spc="0">
                            <a:solidFill>
                              <a:srgbClr val="E8E8E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>n</m:t>
                        </m:r>
                      </m:sup>
                    </m:sSup>
                  </m:e>
                </m:d>
              </m:oMath>
            </a14:m>
            <a:r>
              <a:rPr lang="zh-CN" sz="1800" b="0" i="0" u="none" strike="noStrike" spc="0">
                <a:solidFill>
                  <a:srgbClr val="E8E8E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1549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3200400"/>
            <a:ext cx="469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77800" rIns="4350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实际开销受四个因素影响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最小支持度阈值：阈值越低，频繁项集激增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事务总数 N：每层都要全量扫描一遍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平均事务宽度：越宽命中候选越多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④ 项基大小 n：项越多候选空间越大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3327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918200"/>
            <a:ext cx="10871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复杂度的自变量是项数 n，不是输出的项集数量。</a:t>
            </a:r>
          </a:p>
        </p:txBody>
      </p:sp>
    </p:spTree>
  </p:cSld>
  <p:clrMapOvr>
    <a:masterClrMapping xmlns:a="http://schemas.openxmlformats.org/drawingml/2006/main"/>
  </p:clrMapOvr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Apriori 的五项主要局限</a:t>
            </a:r>
          </a:p>
        </p:txBody>
      </p:sp>
      <p:graphicFrame>
        <p:nvGraphicFramePr>
          <p:cNvPr id="5" name="Table"/>
          <p:cNvGraphicFramePr/>
          <p:nvPr/>
        </p:nvGraphicFramePr>
        <p:xfrm>
          <a:off xmlns:a="http://schemas.openxmlformats.org/drawingml/2006/main" x="660400" y="1473200"/>
          <a:ext xmlns:a="http://schemas.openxmlformats.org/drawingml/2006/main" cx="10871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04200"/>
              </a:tblGrid>
              <a:tr h="609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局限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具体说明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6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多次扫描数据库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每产生一层频繁项集就要完整扫描一次事务集；数据大于内存时，磁盘 I/O 成为瓶颈。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6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候选集数量爆炸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频繁 1-项集若有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1</m:t>
                          </m:r>
                          <m:sSup>
                            <m:sSupPr>
                              <m:ctrlP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4</m:t>
                              </m:r>
                            </m:sup>
                          </m:sSup>
                        </m:oMath>
                      </a14:m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个，候选 2-项集理论规模约 </a:t>
                      </a:r>
                      <a14:m xmlns:a14="http://schemas.microsoft.com/office/drawing/2010/main">
                        <m:oMath xmlns:m="http://schemas.openxmlformats.org/officeDocument/2006/math">
                          <m:d>
                            <m:dPr>
                              <m:begChr m:val="("/>
                              <m:endChr m:val=")"/>
                              <m:ctrlP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</m:ctrlPr>
                            </m:dPr>
                            <m:e>
                              <m:eqArr>
                                <m:e>
                                  <m:r>
                                    <a:rPr sz="1800" b="0" i="0" u="none" strike="noStrike" spc="0">
                                      <a:solidFill>
                                        <a:srgbClr val="1F2329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1</m:t>
                                  </m:r>
                                  <m:sSup>
                                    <m:sSupPr>
                                      <m:ctrlPr>
                                        <a:rPr sz="1800" b="0" i="0" u="none" strike="noStrike" spc="0">
                                          <a:solidFill>
                                            <a:srgbClr val="1F2329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  <a:sym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b="0" i="0" u="none" strike="noStrike" spc="0">
                                          <a:solidFill>
                                            <a:srgbClr val="1F2329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  <a:sym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sz="1800" b="0" i="0" u="none" strike="noStrike" spc="0">
                                          <a:solidFill>
                                            <a:srgbClr val="1F2329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  <a:sym typeface="Cambria Math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sz="1800" b="0" i="0" u="none" strike="noStrike" spc="0">
                                      <a:solidFill>
                                        <a:srgbClr val="1F2329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≈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5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×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1</m:t>
                          </m:r>
                          <m:sSup>
                            <m:sSupPr>
                              <m:ctrlP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7</m:t>
                              </m:r>
                            </m:sup>
                          </m:sSup>
                        </m:oMath>
                      </a14:m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，已在千万量级。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6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逐层搜索的固有代价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广度优先遍历子集格，发现极大子集 S 前必须先访问它全部 </a:t>
                      </a:r>
                      <a14:m xmlns:a14="http://schemas.microsoft.com/office/drawing/2010/main">
                        <m:oMath xmlns:m="http://schemas.openxmlformats.org/officeDocument/2006/math">
                          <m:sSup>
                            <m:sSupPr>
                              <m:ctrlP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|</m:t>
                              </m:r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S</m:t>
                              </m:r>
                              <m:r>
                                <a:rPr sz="1800" b="0" i="0" u="none" strike="noStrike" spc="0">
                                  <a:solidFill>
                                    <a:srgbClr val="1F232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|</m:t>
                              </m:r>
                            </m:sup>
                          </m:sSup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-</m:t>
                          </m:r>
                          <m:r>
                            <a:rPr sz="1800" b="0" i="0" u="none" strike="noStrike" spc="0">
                              <a:solidFill>
                                <a:srgbClr val="1F2329"/>
                              </a:solidFill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m:t>1</m:t>
                          </m:r>
                        </m:oMath>
                      </a14:m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个真子集。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11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6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内存开销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候选集及其计数需放入内存；候选集过大时，内存成为瓶颈。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36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6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度量本身的局限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6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支持度-置信度筛出的强规则可能只是显而易见的统计规律，也可能因后件高频而误导；提升度可部分缓解，但不能证明因果。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9182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3588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知道局限，才知道什么时候该上 FP-Growth 等更快的算法。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26800" y="6070600"/>
            <a:ext cx="228600" cy="2286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改进方向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73200"/>
            <a:ext cx="5054600" cy="4191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03200" rIns="3842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41666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四条改进思路（知道思路即可）</a:t>
            </a:r>
          </a:p>
          <a:p xmlns:a="http://schemas.openxmlformats.org/drawingml/2006/main">
            <a:pPr marL="0" marR="0" algn="l" defTabSz="914400">
              <a:lnSpc>
                <a:spcPct val="141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减少扫描：位向量 / 向量矩阵压缩，一次装载多次复用</a:t>
            </a:r>
          </a:p>
          <a:p xmlns:a="http://schemas.openxmlformats.org/drawingml/2006/main">
            <a:pPr marL="0" marR="0" algn="l" defTabSz="914400">
              <a:lnSpc>
                <a:spcPct val="141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不生成候选集：FP-Growth 压缩成 FP-Tree，扫库两次直接挖频繁项集</a:t>
            </a:r>
          </a:p>
          <a:p xmlns:a="http://schemas.openxmlformats.org/drawingml/2006/main">
            <a:pPr marL="0" marR="0" algn="l" defTabSz="914400">
              <a:lnSpc>
                <a:spcPct val="141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垂直数据格式：ECLAT 用倒排集合交集求支持度，免扫库</a:t>
            </a:r>
          </a:p>
          <a:p xmlns:a="http://schemas.openxmlformats.org/drawingml/2006/main">
            <a:pPr marL="0" marR="0" algn="l" defTabSz="914400">
              <a:lnSpc>
                <a:spcPct val="141666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④ 增加度量：提升度、确信度、χ²、Kulczynski 过滤无趣规则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384800" y="1625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73200"/>
            <a:ext cx="581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5112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FP-Growth 与 Apriori 的定性对比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84000" y="14986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Table"/>
          <p:cNvGraphicFramePr/>
          <p:nvPr/>
        </p:nvGraphicFramePr>
        <p:xfrm>
          <a:off xmlns:a="http://schemas.openxmlformats.org/drawingml/2006/main" x="6324600" y="1981200"/>
          <a:ext xmlns:a="http://schemas.openxmlformats.org/drawingml/2006/main" cx="5207000" cy="363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8600"/>
                <a:gridCol w="1905000"/>
                <a:gridCol w="1803400"/>
              </a:tblGrid>
              <a:tr h="584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FP-Growth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Apriori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762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模式生成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 FP-Tree 后挖掘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配对逐层组合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62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不生成候选集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依赖候选集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762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运行时间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更快，近似线性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较慢，项基大时指数增长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762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内存使用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存数据库压缩版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候选集全存内存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918200"/>
            <a:ext cx="10871200" cy="6604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「指数增长」按项数 n 表述，不按输出项集数量。FP-Growth、ECLAT 的完整流程属后续课次。</a:t>
            </a:r>
          </a:p>
        </p:txBody>
      </p:sp>
    </p:spTree>
  </p:cSld>
  <p:clrMapOvr>
    <a:masterClrMapping xmlns:a="http://schemas.openxmlformats.org/drawingml/2006/main"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银行案例：先把长表清洗成 10 条事务清单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4902200" cy="1332000"/>
          </a:xfrm>
          <a:prstGeom xmlns:a="http://schemas.openxmlformats.org/drawingml/2006/main" prst="roundRect">
            <a:avLst>
              <a:gd name="adj" fmla="val 697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101600" rIns="384200" bIns="10160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业务问题：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观察期内哪些产品常被同一客户同时持有，能否作为交叉营销搭配依据？N = 10，supp_min = 30%（≥3 次），conf_min = 60%。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232400" y="1549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26000"/>
            <a:ext cx="4902200" cy="392400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203200" rIns="3842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预处理四步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定观察窗口：只取截止日仍持有（hold_flag=1）的记录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清洗：删空记录、去重、剔除 TEST 测试账户、同类子产品合并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口径检查：一名客户只作一条事务，口径须写入报告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④ 转事务清单：按 cust_id 分组聚合为项集</a:t>
            </a:r>
          </a:p>
          <a:p xmlns:a="http://schemas.openxmlformats.org/drawingml/2006/main">
            <a:pPr marL="0" marR="0" algn="l" defTabSz="914400">
              <a:lnSpc>
                <a:spcPct val="120833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教学构造数据；项基显式给出 5 项，意外险未出现也计入（支持度 0）。</a:t>
            </a:r>
          </a:p>
        </p:txBody>
      </p:sp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232400" y="2970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422400"/>
            <a:ext cx="530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 条事务（客户 → 持有产品）</a:t>
            </a:r>
          </a:p>
        </p:txBody>
      </p:sp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840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6070600" y="1930400"/>
          <a:ext xmlns:a="http://schemas.openxmlformats.org/drawingml/2006/main" cx="54610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  <a:gridCol w="4241800"/>
              </a:tblGrid>
              <a:tr h="4318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</a:t>
                      </a:r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持有产品组合</a:t>
                      </a:r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C0001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活期存款，货币基金，银行理财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C0002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活期存款，货币基金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C0003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活期存款，信用卡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C0004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货币基金，银行理财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C0005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活期存款，货币基金，银行理财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C0006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活期存款，银行理财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C0007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活期存款，货币基金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C0008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货币基金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C0009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活期存款，货币基金，信用卡</a:t>
                      </a:r>
                    </a:p>
                  </a:txBody>
                  <a:tcPr marL="101600" marR="101600" marT="82550" marB="825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C0010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l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活期存款，银行理财</a:t>
                      </a:r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案例逐层：先验把 C₂ 从 10 个候选压到 3 个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3334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1 层 L₁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9210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Table"/>
          <p:cNvGraphicFramePr/>
          <p:nvPr/>
        </p:nvGraphicFramePr>
        <p:xfrm>
          <a:off xmlns:a="http://schemas.openxmlformats.org/drawingml/2006/main" x="660400" y="1905000"/>
          <a:ext xmlns:a="http://schemas.openxmlformats.org/drawingml/2006/main" cx="5308600" cy="292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219200"/>
                <a:gridCol w="1168400"/>
                <a:gridCol w="1016000"/>
              </a:tblGrid>
              <a:tr h="5080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活期存款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货币基金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银行理财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信用卡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删除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意外险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A5002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删除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130800"/>
            <a:ext cx="5308600" cy="1092200"/>
          </a:xfrm>
          <a:prstGeom xmlns:a="http://schemas.openxmlformats.org/drawingml/2006/main" prst="roundRect">
            <a:avLst>
              <a:gd name="adj" fmla="val 6976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0" rIns="5620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16666"/>
              </a:lnSpc>
            </a:pP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按先验性质，含信用卡、意外险的项集连算都不必算：C₂ 由 10 个理论候选直接降到 3 个。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461000" y="5257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2400"/>
            <a:ext cx="325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2、3 层 C₂/L₂ 与 C₃</a:t>
            </a:r>
          </a:p>
        </p:txBody>
      </p:sp>
      <p:pic>
        <p:nvPicPr>
          <p:cNvPr id="11" name="Picture 10"/>
          <p:cNvPicPr/>
          <p:nvPr/>
        </p:nvPicPr>
        <p:blipFill>
          <a:blip xmlns:a="http://schemas.openxmlformats.org/drawingml/2006/main"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430000" y="1473200"/>
            <a:ext cx="228600" cy="22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" name="Table"/>
          <p:cNvGraphicFramePr/>
          <p:nvPr/>
        </p:nvGraphicFramePr>
        <p:xfrm>
          <a:off xmlns:a="http://schemas.openxmlformats.org/drawingml/2006/main" x="6324600" y="1905000"/>
          <a:ext xmlns:a="http://schemas.openxmlformats.org/drawingml/2006/main" cx="52070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9000"/>
                <a:gridCol w="1016000"/>
                <a:gridCol w="1016000"/>
                <a:gridCol w="1016000"/>
              </a:tblGrid>
              <a:tr h="5207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候选 C₂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支持度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57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存款, 基金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572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存款, 理财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69900"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基金, 理财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L="0" marR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 spc="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9400"/>
            <a:ext cx="5207000" cy="1651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03200" tIns="0" rIns="46040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C₃ = {存款,基金,理财}：</a:t>
            </a: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仅 C0001、C0005 持有，计数 2 = 20% &lt; 30%，丢弃；L₃ = ∅，搜索终止。</a:t>
            </a:r>
          </a:p>
        </p:txBody>
      </p:sp>
      <p:pic>
        <p:nvPicPr>
          <p:cNvPr id="14" name="Picture 13"/>
          <p:cNvPicPr/>
          <p:nvPr/>
        </p:nvPicPr>
        <p:blipFill>
          <a:blip xmlns:a="http://schemas.openxmlformats.org/drawingml/2006/main"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25200" y="4216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6172200"/>
            <a:ext cx="10871200" cy="5842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0" rIns="0" bIns="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区分「算完被判死」（信用卡）与「根本不是候选」（含信用卡的组合）。</a:t>
            </a:r>
          </a:p>
        </p:txBody>
      </p:sp>
    </p:spTree>
  </p:cSld>
  <p:clrMapOvr>
    <a:masterClrMapping xmlns:a="http://schemas.openxmlformats.org/drawingml/2006/main"/>
  </p:clrMapOvr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案例规则表：4 条强规则，0 条提供增量信息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20800"/>
            <a:ext cx="10871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3399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320800"/>
            <a:ext cx="292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规则 X → Y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20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支持度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208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置信度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20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提升度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20800"/>
            <a:ext cx="287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7780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7780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存款 → 基金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80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780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5/8 = 62.5%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780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0.893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7780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008000"/>
                </a:solidFill>
                <a:latin typeface="Noto Sans SC"/>
                <a:ea typeface="Noto Sans SC"/>
                <a:cs typeface="Noto Sans SC"/>
                <a:sym typeface="Noto Sans SC"/>
              </a:rPr>
              <a:t>强规则，lift&lt;1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098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098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基金 → 存款</a:t>
            </a:r>
          </a:p>
        </p:txBody>
      </p:sp>
      <p:sp>
        <p:nvSpPr>
          <p:cNvPr id="19" name="Text Box 1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98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</a:p>
        </p:txBody>
      </p:sp>
      <p:sp>
        <p:nvSpPr>
          <p:cNvPr id="20" name="Text Box 1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5/7 ≈ 71.4%</a:t>
            </a:r>
          </a:p>
        </p:txBody>
      </p:sp>
      <p:sp>
        <p:nvSpPr>
          <p:cNvPr id="21" name="Text Box 2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0.893</a:t>
            </a:r>
          </a:p>
        </p:txBody>
      </p:sp>
      <p:sp>
        <p:nvSpPr>
          <p:cNvPr id="22" name="Text Box 2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2098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008000"/>
                </a:solidFill>
                <a:latin typeface="Noto Sans SC"/>
                <a:ea typeface="Noto Sans SC"/>
                <a:cs typeface="Noto Sans SC"/>
                <a:sym typeface="Noto Sans SC"/>
              </a:rPr>
              <a:t>强规则，lift&lt;1</a:t>
            </a:r>
          </a:p>
        </p:txBody>
      </p:sp>
      <p:sp>
        <p:nvSpPr>
          <p:cNvPr id="23" name="Auto Shape 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" name="Text Box 2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存款 → 理财</a:t>
            </a:r>
          </a:p>
        </p:txBody>
      </p:sp>
      <p:sp>
        <p:nvSpPr>
          <p:cNvPr id="25" name="Text Box 2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16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</a:p>
        </p:txBody>
      </p:sp>
      <p:sp>
        <p:nvSpPr>
          <p:cNvPr id="26" name="Text Box 2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16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4/8 = 50%</a:t>
            </a:r>
          </a:p>
        </p:txBody>
      </p:sp>
      <p:sp>
        <p:nvSpPr>
          <p:cNvPr id="27" name="Text Box 2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16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1.0</a:t>
            </a:r>
          </a:p>
        </p:txBody>
      </p:sp>
      <p:sp>
        <p:nvSpPr>
          <p:cNvPr id="28" name="Text Box 2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6416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Noto Sans SC"/>
                <a:ea typeface="Noto Sans SC"/>
                <a:cs typeface="Noto Sans SC"/>
                <a:sym typeface="Noto Sans SC"/>
              </a:rPr>
              <a:t>丢弃（不足60%）</a:t>
            </a:r>
          </a:p>
        </p:txBody>
      </p:sp>
      <p:sp>
        <p:nvSpPr>
          <p:cNvPr id="29" name="Auto Shape 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0734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0" name="Text Box 2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0734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理财 → 存款</a:t>
            </a:r>
          </a:p>
        </p:txBody>
      </p:sp>
      <p:sp>
        <p:nvSpPr>
          <p:cNvPr id="31" name="Text Box 3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734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</a:p>
        </p:txBody>
      </p:sp>
      <p:sp>
        <p:nvSpPr>
          <p:cNvPr id="32" name="Text Box 3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734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4/5 = 80%</a:t>
            </a:r>
          </a:p>
        </p:txBody>
      </p:sp>
      <p:sp>
        <p:nvSpPr>
          <p:cNvPr id="33" name="Text Box 3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734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1.0</a:t>
            </a:r>
          </a:p>
        </p:txBody>
      </p:sp>
      <p:sp>
        <p:nvSpPr>
          <p:cNvPr id="34" name="Text Box 3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30734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008000"/>
                </a:solidFill>
                <a:latin typeface="Noto Sans SC"/>
                <a:ea typeface="Noto Sans SC"/>
                <a:cs typeface="Noto Sans SC"/>
                <a:sym typeface="Noto Sans SC"/>
              </a:rPr>
              <a:t>强规则，lift=1 独立</a:t>
            </a:r>
          </a:p>
        </p:txBody>
      </p:sp>
      <p:sp>
        <p:nvSpPr>
          <p:cNvPr id="35" name="Auto Shape 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5052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DCDD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6" name="Text Box 3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5052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基金 → 理财</a:t>
            </a:r>
          </a:p>
        </p:txBody>
      </p:sp>
      <p:sp>
        <p:nvSpPr>
          <p:cNvPr id="37" name="Text Box 3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</a:p>
        </p:txBody>
      </p:sp>
      <p:sp>
        <p:nvSpPr>
          <p:cNvPr id="38" name="Text Box 3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052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3/7 ≈ 42.9%</a:t>
            </a:r>
          </a:p>
        </p:txBody>
      </p:sp>
      <p:sp>
        <p:nvSpPr>
          <p:cNvPr id="39" name="Text Box 3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052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0.857</a:t>
            </a:r>
          </a:p>
        </p:txBody>
      </p:sp>
      <p:sp>
        <p:nvSpPr>
          <p:cNvPr id="40" name="Text Box 3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35052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Noto Sans SC"/>
                <a:ea typeface="Noto Sans SC"/>
                <a:cs typeface="Noto Sans SC"/>
                <a:sym typeface="Noto Sans SC"/>
              </a:rPr>
              <a:t>丢弃（不足60%）</a:t>
            </a:r>
          </a:p>
        </p:txBody>
      </p:sp>
      <p:sp>
        <p:nvSpPr>
          <p:cNvPr id="41" name="Auto Shape 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937000"/>
            <a:ext cx="10871200" cy="43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2" name="Text Box 4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937000"/>
            <a:ext cx="292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理财 → 基金</a:t>
            </a:r>
          </a:p>
        </p:txBody>
      </p:sp>
      <p:sp>
        <p:nvSpPr>
          <p:cNvPr id="43" name="Text Box 4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37000"/>
            <a:ext cx="152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</a:p>
        </p:txBody>
      </p:sp>
      <p:sp>
        <p:nvSpPr>
          <p:cNvPr id="44" name="Text Box 4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37000"/>
            <a:ext cx="190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3/5 = 60%</a:t>
            </a:r>
          </a:p>
        </p:txBody>
      </p:sp>
      <p:sp>
        <p:nvSpPr>
          <p:cNvPr id="45" name="Text Box 4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37000"/>
            <a:ext cx="1651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en-US" sz="1800" b="0" i="0" u="none" strike="noStrike" spc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0.857</a:t>
            </a:r>
          </a:p>
        </p:txBody>
      </p:sp>
      <p:sp>
        <p:nvSpPr>
          <p:cNvPr id="46" name="Text Box 4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3937000"/>
            <a:ext cx="2870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25000"/>
              </a:lnSpc>
            </a:pPr>
            <a:r>
              <a:rPr lang="zh-CN" sz="1800" b="1" i="0" u="none" strike="noStrike" spc="0">
                <a:solidFill>
                  <a:srgbClr val="008000"/>
                </a:solidFill>
                <a:latin typeface="Noto Sans SC"/>
                <a:ea typeface="Noto Sans SC"/>
                <a:cs typeface="Noto Sans SC"/>
                <a:sym typeface="Noto Sans SC"/>
              </a:rPr>
              <a:t>强规则，lift&lt;1</a:t>
            </a:r>
          </a:p>
        </p:txBody>
      </p:sp>
      <p:sp>
        <p:nvSpPr>
          <p:cNvPr id="47" name="Auto Shape 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70400"/>
            <a:ext cx="5308600" cy="23876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A50021"/>
            </a:solidFill>
            <a:round/>
          </a:ln>
        </p:spPr>
        <p:txBody>
          <a:bodyPr xmlns:a="http://schemas.openxmlformats.org/drawingml/2006/main" vert="horz" wrap="square" lIns="228600" tIns="127000" rIns="228600" bIns="1270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核心解读：</a:t>
            </a:r>
            <a:r>
              <a:rPr lang="zh-CN" sz="1800" b="0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80% 的客户本就持有活期存款，后件高频会把置信度天然推高；只看置信度，会把「产品本身普及」误读成「产品之间绑定」。</a:t>
            </a:r>
          </a:p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理财 → 存款：conf 80% 全表最高，但 lift = 1.0，与全体 80% 的存款普及率相同，二者独立，不能据此做交叉营销。</a:t>
            </a:r>
          </a:p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基金 → 存款：lift 0.893 &lt; 1，基金客户的存款渗透反而低于平均，不宜反向推荐存款。</a:t>
            </a:r>
          </a:p>
        </p:txBody>
      </p:sp>
      <p:sp>
        <p:nvSpPr>
          <p:cNvPr id="48" name="Auto Shape 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470400"/>
            <a:ext cx="5308600" cy="23876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333399"/>
            </a:solidFill>
            <a:round/>
          </a:ln>
        </p:spPr>
        <p:txBody>
          <a:bodyPr xmlns:a="http://schemas.openxmlformats.org/drawingml/2006/main" vert="horz" wrap="square" lIns="228600" tIns="152400" rIns="228600" bIns="1270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使用本案例数据时记住四点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10 条记录用于演示流程，不做统计推断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结论只反映共现，不含因果方向与时间先后</a:t>
            </a:r>
          </a:p>
          <a:p xmlns:a="http://schemas.openxmlformats.org/drawingml/2006/main">
            <a:pPr marL="0"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换事务口径需重算；④ 报告时阈值与规则必须一起给出</a:t>
            </a:r>
          </a:p>
        </p:txBody>
      </p:sp>
    </p:spTree>
  </p:cSld>
  <p:clrMapOvr>
    <a:masterClrMapping xmlns:a="http://schemas.openxmlformats.org/drawingml/2006/main"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17936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最小支持度怎么选：从经验值起步，按结果数量调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3502152" cy="22402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25400" cap="flat" cmpd="sng">
            <a:noFill/>
            <a:round/>
          </a:ln>
        </p:spPr>
        <p:txBody>
          <a:bodyPr xmlns:a="http://schemas.openxmlformats.org/drawingml/2006/main" vert="horz" wrap="square" lIns="228600" tIns="182880" rIns="356616" bIns="164592" rtlCol="0" anchor="t" anchorCtr="0">
            <a:noAutofit/>
          </a:bodyPr>
          <a:lstStyle xmlns:a="http://schemas.openxmlformats.org/drawingml/2006/main">
            <a:lvl1pPr algn="l" defTabSz="914400">
              <a:buNone/>
              <a:defRPr sz="1800" i="0" u="none" strike="noStrike">
                <a:solidFill>
                  <a:srgbClr val="1F2329"/>
                </a:solidFill>
                <a:latin typeface="Microsoft YaHei"/>
              </a:defRPr>
            </a:lvl1pPr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2000" b="1" i="0" u="none" strike="noStrike" spc="0">
                <a:solidFill>
                  <a:srgbClr val="2B3A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第一步 · 选起点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按数据集大小选经验值：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小数据（&lt;1万笔）：0.05–0.1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中等数据（1–10万笔）：0.01–0.05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大数据（&gt;10万笔）：0.001–0.01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325880"/>
            <a:ext cx="3502152" cy="22402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25400" cap="flat" cmpd="sng">
            <a:noFill/>
            <a:round/>
          </a:ln>
        </p:spPr>
        <p:txBody>
          <a:bodyPr xmlns:a="http://schemas.openxmlformats.org/drawingml/2006/main" vert="horz" wrap="square" lIns="228600" tIns="182880" rIns="356616" bIns="164592" rtlCol="0" anchor="t" anchorCtr="0">
            <a:noAutofit/>
          </a:bodyPr>
          <a:lstStyle xmlns:a="http://schemas.openxmlformats.org/drawingml/2006/main">
            <a:lvl1pPr algn="l" defTabSz="914400">
              <a:buNone/>
              <a:defRPr sz="1800" i="0" u="none" strike="noStrike">
                <a:solidFill>
                  <a:srgbClr val="1F2329"/>
                </a:solidFill>
                <a:latin typeface="Microsoft YaHei"/>
              </a:defRPr>
            </a:lvl1pPr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2000" b="1" i="0" u="none" strike="noStrike" spc="0">
                <a:solidFill>
                  <a:srgbClr val="2B3A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第二步 · 跑一次，看数量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运行 Apriori，看两个数：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频繁项集有多少个？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生成了多少条规则？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目标：人工能复核（20–50 条）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25880"/>
            <a:ext cx="3502152" cy="22402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25400" cap="flat" cmpd="sng">
            <a:noFill/>
            <a:round/>
          </a:ln>
        </p:spPr>
        <p:txBody>
          <a:bodyPr xmlns:a="http://schemas.openxmlformats.org/drawingml/2006/main" vert="horz" wrap="square" lIns="228600" tIns="182880" rIns="356616" bIns="164592" rtlCol="0" anchor="t" anchorCtr="0">
            <a:noAutofit/>
          </a:bodyPr>
          <a:lstStyle xmlns:a="http://schemas.openxmlformats.org/drawingml/2006/main">
            <a:lvl1pPr algn="l" defTabSz="914400">
              <a:buNone/>
              <a:defRPr sz="1800" i="0" u="none" strike="noStrike">
                <a:solidFill>
                  <a:srgbClr val="1F2329"/>
                </a:solidFill>
                <a:latin typeface="Microsoft YaHei"/>
              </a:defRPr>
            </a:lvl1pPr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2000" b="1" i="0" u="none" strike="noStrike" spc="0">
                <a:solidFill>
                  <a:srgbClr val="2B3A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第三步 · 按结果调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太多 → 提高阈值（往上收）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太少/漏了组合 → 降低阈值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 xmlns:a="http://schemas.openxmlformats.org/drawingml/2006/main">
            <a:pPr algn="l" defTabSz="914400">
              <a:lnSpc>
                <a:spcPct val="100000"/>
              </a:lnSpc>
            </a:pPr>
            <a:r>
              <a:rPr sz="1800" b="0" i="0" u="none" strike="noStrike" spc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范围合适后，按置信度、提升度筛</a:t>
            </a:r>
          </a:p>
        </p:txBody>
      </p:sp>
      <p:graphicFrame>
        <p:nvGraphicFramePr>
          <p:cNvPr id="8" name="Table"/>
          <p:cNvGraphicFramePr/>
          <p:nvPr/>
        </p:nvGraphicFramePr>
        <p:xfrm>
          <a:off xmlns:a="http://schemas.openxmlformats.org/drawingml/2006/main" x="658368" y="3767328"/>
          <a:ext xmlns:a="http://schemas.openxmlformats.org/drawingml/2006/main" cx="10872216" cy="171907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9696"/>
                <a:gridCol w="2139696"/>
                <a:gridCol w="6592824"/>
              </a:tblGrid>
              <a:tr h="457200"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4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最小支持度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4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频繁项集数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4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结果意味着什么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20624"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合适：人工逐条复核无压力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20624"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合适：稍多但可接受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20624"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sz="1300" b="0" i="0" u="none" strike="noStrik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偏多：需脚本先过滤一轮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04688"/>
            <a:ext cx="10872216" cy="896112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300" b="0" i="0" u="none" strike="noStrike" spc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Groceries 实测：9,835 笔交易、169 个品类。支持度从 0.1 往下试，0.06 出 21 条、0.05 出 31 条——落在可复核范围，停。再低就爆炸到上百条，不必继续。</a:t>
            </a:r>
          </a:p>
        </p:txBody>
      </p:sp>
    </p:spTree>
  </p:cSld>
  <p:clrMapOvr>
    <a:masterClrMapping xmlns:a="http://schemas.openxmlformats.org/drawingml/2006/main"/>
  </p:clrMapOvr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17936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置信度与提升度：两步筛选，两个经验值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5312664" cy="22860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第一步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置信度生成候选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常用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0.6—0.8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。低于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0.5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意味着前件出现时后件不到一半概率，单次营销难以据此决策。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取值越高，留下的规则越少；配提升度过滤后往往所剩无几。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25880"/>
            <a:ext cx="5312664" cy="22860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第二步</a:t>
            </a:r>
            <a:r>
              <a:rPr sz="1800" b="1" i="0" u="none" strike="noStrike" spc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提升度过滤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先按置信度出候选，再只留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lift &gt; 1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1.2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是常见起点，不是统计判据。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样本小时</a:t>
            </a:r>
            <a:r>
              <a:rPr sz="1800" b="0" i="0" u="none" strike="noStrike" spc="0">
                <a:solidFill>
                  <a:srgbClr val="7878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lift </a:t>
            </a: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波动大，要看支持度的绝对计数，不能只比倍数。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67328"/>
            <a:ext cx="10872216" cy="1207008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两个值都要写清取法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报告里要附试算过程与取值理由。只写「按经验设为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0.6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」，评审无法复核，也无法判断结论是否随阈值翻转。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02352"/>
            <a:ext cx="10872216" cy="1133856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阈值是决策工具，不是装饰。换口径（交易明细 / 客户宽表 / 日期窗口）后，支持度、置信度、提升度都要重新计算。</a:t>
            </a:r>
          </a:p>
        </p:txBody>
      </p:sp>
    </p:spTree>
  </p:cSld>
  <p:clrMapOvr>
    <a:masterClrMapping xmlns:a="http://schemas.openxmlformats.org/drawingml/2006/main"/>
  </p:clrMapOvr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2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三个度量</a:t>
            </a: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测度存在差异</a:t>
            </a:r>
          </a:p>
        </p:txBody>
      </p:sp>
      <p:graphicFrame>
        <p:nvGraphicFramePr>
          <p:cNvPr id="5" name="Table"/>
          <p:cNvGraphicFramePr/>
          <p:nvPr/>
        </p:nvGraphicFramePr>
        <p:xfrm>
          <a:off xmlns:a="http://schemas.openxmlformats.org/drawingml/2006/main" x="658368" y="1325880"/>
          <a:ext xmlns:a="http://schemas.openxmlformats.org/drawingml/2006/main" cx="10872215" cy="188366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4754880"/>
                <a:gridCol w="4014215"/>
              </a:tblGrid>
              <a:tr h="457200"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度量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回答的问题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1" i="0" u="none" strike="noStrik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常被误读为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99"/>
                    </a:solidFill>
                  </a:tcPr>
                </a:tc>
              </a:tr>
              <a:tr h="475488"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支持度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这个组合有多常见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这个组合有多重要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  <a:tr h="475488"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置信度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有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X 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的客户中，多少也有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Y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推荐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Y 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后会有多少人买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F"/>
                    </a:solidFill>
                  </a:tcPr>
                </a:tc>
              </a:tr>
              <a:tr h="475488"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提升度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比「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 </a:t>
                      </a: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本来就流行」高出多少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>
                      <a:lvl1pPr defTabSz="914400"/>
                    </a:lstStyle>
                    <a:p>
                      <a:pPr marR="0" algn="ctr" defTabSz="914400">
                        <a:lnSpc>
                          <a:spcPct val="110000"/>
                        </a:lnSpc>
                      </a:pPr>
                      <a:r>
                        <a:rPr sz="1800" b="0" i="0" u="none" strike="noStrike" spc="0">
                          <a:solidFill>
                            <a:srgbClr val="1F23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提升了多少百分点</a:t>
                      </a:r>
                    </a:p>
                  </a:txBody>
                  <a:tcPr marL="100584" marR="10058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CDDE"/>
                    </a:solidFill>
                  </a:tcPr>
                </a:tc>
              </a:tr>
            </a:tbl>
          </a:graphicData>
        </a:graphic>
      </p:graphicFrame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11880"/>
            <a:ext cx="10872216" cy="173736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一例读通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主数据里的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{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存款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} → {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基金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}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置信度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75%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，看似可靠；但基金本身的支持度是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5/6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，提升度只有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0.9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，低于独立假设。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不加规则、向全体客户推荐基金，命中率为 83.3%，反而高于这条规则的 75%。6 条规则中有 4 条提升度低于 1。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86400"/>
            <a:ext cx="10872216" cy="8686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E8E8E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判定顺序：先看支持度是否过门槛，再看置信度，最后一定看提升度。少任何一步，都会把「常见」当成「有效」。</a:t>
            </a:r>
          </a:p>
        </p:txBody>
      </p:sp>
    </p:spTree>
  </p:cSld>
  <p:clrMapOvr>
    <a:masterClrMapping xmlns:a="http://schemas.openxmlformats.org/drawingml/2006/main"/>
  </p:clrMapOvr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17936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提升度大于</a:t>
            </a:r>
            <a:r>
              <a:rPr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 </a:t>
            </a: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只是起点，还要过三道检查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3502152" cy="29718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检查一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绝对人数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支持度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1%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在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10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万客户里是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1,000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人，可以做；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在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200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客户里是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2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人，不能做。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倍数好看不等于有足够的人可以触达。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3502152" cy="29718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检查二</a:t>
            </a:r>
            <a:r>
              <a:rPr sz="1800" b="1" i="0" u="none" strike="noStrike" spc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稳定性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换一个月的数据，提升度是否仍大于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只在一期成立的组合，落地后多半失效。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做法：两期对比，看倍数与人数是否稳定。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1325880"/>
            <a:ext cx="3502152" cy="297180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检查三</a:t>
            </a:r>
            <a:r>
              <a:rPr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sz="1800" b="1" i="0" u="none" strike="noStrike" spc="0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可解释性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能否用一句业务语言说清两类产品为什么一起出现。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说不清的规则无法向业务交代，也无法判断效果来自规则还是其他活动。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787882"/>
                </a:solidFill>
                <a:latin typeface="Arial"/>
                <a:ea typeface="Arial"/>
                <a:cs typeface="Arial"/>
                <a:sym typeface="Arial"/>
              </a:rPr>
              <a:t>解释不了，就不要上线。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07408"/>
            <a:ext cx="10872216" cy="1764792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低支持度的规则不必直接丢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私人银行、家族信托这类小众高价值客户，新兴产品组合，长尾场景，都只在低支持度层出现。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处理方式：单独看提升度、绝对人数与两期对比。只出现过一期、人数是个位数的组合，更像巧合而不是机会。</a:t>
            </a:r>
          </a:p>
        </p:txBody>
      </p:sp>
    </p:spTree>
  </p:cSld>
  <p:clrMapOvr>
    <a:masterClrMapping xmlns:a="http://schemas.openxmlformats.org/drawingml/2006/main"/>
  </p:clrMapOvr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17936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从规则到动作：四步，顺序不能换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2578608" cy="306324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r>
              <a:rPr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1" i="0" u="none" strike="noStrike" spc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筛选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支持度、置信度、提升度设下限。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三个值按前两页的方法定，不套固定数字。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325880"/>
            <a:ext cx="2578608" cy="306324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r>
              <a:rPr sz="1800" b="1" i="0" u="none" strike="noStrike" spc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1" i="0" u="none" strike="noStrike" spc="0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解读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把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X → Y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翻成一个具体动作。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例：已持有信用卡与基金的客户，在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APP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首页看到意外险入口。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325880"/>
            <a:ext cx="2578608" cy="306324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r>
              <a:rPr sz="1800" b="1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1" i="0" u="none" strike="noStrike" spc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验证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随机分组，触达组与对照组同规模，比较观察期内新增购买。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示例：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1,000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人对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1,000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人。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325880"/>
            <a:ext cx="2578608" cy="306324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r>
              <a:rPr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1" i="0" u="none" strike="noStrike" spc="0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推广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验证达标后全量推送，保留小比例对照组，监控衰减。</a:t>
            </a:r>
          </a:p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衰减到不可接受时回到第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步重测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0288"/>
            <a:ext cx="10872216" cy="1536192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四步里只有第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步能回答「有没有用」。跳过它直接推广，效果无法归因：卖得多了不知道是规则起作用，还是季节性、活动或客群本身在变。</a:t>
            </a:r>
          </a:p>
        </p:txBody>
      </p:sp>
    </p:spTree>
  </p:cSld>
  <p:clrMapOvr>
    <a:masterClrMapping xmlns:a="http://schemas.openxmlformats.org/drawingml/2006/main"/>
  </p:clrMapOvr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6696"/>
            <a:ext cx="64922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21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996696"/>
            <a:ext cx="1148486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"/>
            <a:ext cx="10917936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rtlCol="0" anchor="t">
            <a:sp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sz="2800" b="1">
                <a:solidFill>
                  <a:srgbClr val="1F2329"/>
                </a:solidFill>
                <a:latin typeface="Microsoft YaHei"/>
              </a:rPr>
              <a:t>置信度 80%，不等于推销后 80% 的人会买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5312664" cy="31546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>
                <a:solidFill>
                  <a:srgbClr val="2B3A8C"/>
                </a:solidFill>
                <a:latin typeface="Microsoft YaHei"/>
              </a:rPr>
              <a:t>把 1,000 位 X 持有者拆开</a:t>
            </a:r>
          </a:p>
          <a:p xmlns:a="http://schemas.openxmlformats.org/drawingml/2006/main"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持有 X：1,000 人</a:t>
            </a:r>
          </a:p>
          <a:p xmlns:a="http://schemas.openxmlformats.org/drawingml/2006/main"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├─ 已有 Y：800 人 → 置信度 80%</a:t>
            </a:r>
          </a:p>
          <a:p xmlns:a="http://schemas.openxmlformats.org/drawingml/2006/main">
            <a:pPr algn="l"/>
            <a:r>
              <a:rPr sz="1800" b="0">
                <a:solidFill>
                  <a:srgbClr val="888888"/>
                </a:solidFill>
                <a:latin typeface="Microsoft YaHei"/>
              </a:rPr>
              <a:t>│   （已买过，推销对他们没用）</a:t>
            </a:r>
          </a:p>
          <a:p xmlns:a="http://schemas.openxmlformats.org/drawingml/2006/main"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└─ 没有 Y：200 人 → 只能推销这 200 人</a:t>
            </a:r>
          </a:p>
          <a:p xmlns:a="http://schemas.openxmlformats.org/drawingml/2006/main"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    ├─ 新买：20 人 → 转化率 10%</a:t>
            </a:r>
          </a:p>
          <a:p xmlns:a="http://schemas.openxmlformats.org/drawingml/2006/main">
            <a:pPr algn="l"/>
            <a:r>
              <a:rPr sz="1800" b="0">
                <a:solidFill>
                  <a:srgbClr val="888888"/>
                </a:solidFill>
                <a:latin typeface="Microsoft YaHei"/>
              </a:rPr>
              <a:t>    │   ├─ 不推也买：10 人</a:t>
            </a:r>
          </a:p>
          <a:p xmlns:a="http://schemas.openxmlformats.org/drawingml/2006/main">
            <a:pPr algn="l"/>
            <a:r>
              <a:rPr sz="1800" b="1">
                <a:solidFill>
                  <a:srgbClr val="C0392B"/>
                </a:solidFill>
                <a:latin typeface="Microsoft YaHei"/>
              </a:rPr>
              <a:t>    │   └─ 因推才买：10 人 → 增量</a:t>
            </a:r>
          </a:p>
          <a:p xmlns:a="http://schemas.openxmlformats.org/drawingml/2006/main">
            <a:pPr algn="l"/>
            <a:r>
              <a:rPr sz="1800" b="0">
                <a:solidFill>
                  <a:srgbClr val="888888"/>
                </a:solidFill>
                <a:latin typeface="Microsoft YaHei"/>
              </a:rPr>
              <a:t>    └─ 不买：180 人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25880"/>
            <a:ext cx="5312664" cy="315468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>
                <a:solidFill>
                  <a:srgbClr val="2B3A8C"/>
                </a:solidFill>
                <a:latin typeface="Microsoft YaHei"/>
              </a:rPr>
              <a:t>三个比例，答三个问题</a:t>
            </a:r>
          </a:p>
          <a:p xmlns:a="http://schemas.openxmlformats.org/drawingml/2006/main"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  <a:p xmlns:a="http://schemas.openxmlformats.org/drawingml/2006/main">
            <a:pPr algn="l"/>
            <a:r>
              <a:rPr sz="1800" b="1">
                <a:solidFill>
                  <a:srgbClr val="333333"/>
                </a:solidFill>
                <a:latin typeface="Microsoft YaHei"/>
              </a:rPr>
              <a:t>置信度：已有Y/已有X</a:t>
            </a:r>
          </a:p>
          <a:p xmlns:a="http://schemas.openxmlformats.org/drawingml/2006/main">
            <a:pPr algn="l"/>
            <a:r>
              <a:rPr sz="1800" b="0">
                <a:solidFill>
                  <a:srgbClr val="555555"/>
                </a:solidFill>
                <a:latin typeface="Microsoft YaHei"/>
              </a:rPr>
              <a:t>X和Y常一起出现？ → 80%</a:t>
            </a:r>
          </a:p>
          <a:p xmlns:a="http://schemas.openxmlformats.org/drawingml/2006/main"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  <a:p xmlns:a="http://schemas.openxmlformats.org/drawingml/2006/main">
            <a:pPr algn="l"/>
            <a:r>
              <a:rPr sz="1800" b="1">
                <a:solidFill>
                  <a:srgbClr val="333333"/>
                </a:solidFill>
                <a:latin typeface="Microsoft YaHei"/>
              </a:rPr>
              <a:t>转化率：新买Y/触达未持有者</a:t>
            </a:r>
          </a:p>
          <a:p xmlns:a="http://schemas.openxmlformats.org/drawingml/2006/main">
            <a:pPr algn="l"/>
            <a:r>
              <a:rPr sz="1800" b="0">
                <a:solidFill>
                  <a:srgbClr val="555555"/>
                </a:solidFill>
                <a:latin typeface="Microsoft YaHei"/>
              </a:rPr>
              <a:t>推销后多少人买？ → 10%</a:t>
            </a:r>
          </a:p>
          <a:p xmlns:a="http://schemas.openxmlformats.org/drawingml/2006/main"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  <a:p xmlns:a="http://schemas.openxmlformats.org/drawingml/2006/main">
            <a:pPr algn="l"/>
            <a:r>
              <a:rPr sz="1800" b="1">
                <a:solidFill>
                  <a:srgbClr val="C0392B"/>
                </a:solidFill>
                <a:latin typeface="Microsoft YaHei"/>
              </a:rPr>
              <a:t>增量：触达组−对照组</a:t>
            </a:r>
          </a:p>
          <a:p xmlns:a="http://schemas.openxmlformats.org/drawingml/2006/main">
            <a:pPr algn="l"/>
            <a:r>
              <a:rPr sz="1800" b="1">
                <a:solidFill>
                  <a:srgbClr val="C0392B"/>
                </a:solidFill>
                <a:latin typeface="Microsoft YaHei"/>
              </a:rPr>
              <a:t>推销多带来多少？ → 10 人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81728"/>
            <a:ext cx="10872216" cy="1417320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82880" rIns="356616" bIns="164592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>
                <a:solidFill>
                  <a:srgbClr val="C0392B"/>
                </a:solidFill>
                <a:latin typeface="Microsoft YaHei"/>
              </a:rPr>
              <a:t>按 80%×1,000 人估算得 800 人；推销实际带来只有 10 人。</a:t>
            </a:r>
          </a:p>
          <a:p xmlns:a="http://schemas.openxmlformats.org/drawingml/2006/main">
            <a:pPr algn="l"/>
            <a:r>
              <a:rPr sz="1800" b="1">
                <a:solidFill>
                  <a:srgbClr val="C0392B"/>
                </a:solidFill>
                <a:latin typeface="Microsoft YaHei"/>
              </a:rPr>
              <a:t>置信度选方向，增量必须用随机对照实验测量。</a:t>
            </a:r>
          </a:p>
        </p:txBody>
      </p:sp>
    </p:spTree>
  </p:cSld>
  <p:clrMapOvr>
    <a:masterClrMapping xmlns:a="http://schemas.openxmlformats.org/drawingml/2006/main"/>
  </p:clrMapOvr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8600"/>
            <a:ext cx="10922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本章小</a:t>
            </a:r>
            <a:r>
              <a:rPr lang="zh-CN" sz="2800" b="1" i="0" u="none" strike="noStrike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节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097280"/>
            <a:ext cx="3505200" cy="17830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solidFill>
              <a:srgbClr val="333399"/>
            </a:solidFill>
            <a:round/>
          </a:ln>
        </p:spPr>
        <p:txBody>
          <a:bodyPr xmlns:a="http://schemas.openxmlformats.org/drawingml/2006/main" vert="horz" wrap="square" lIns="228600" tIns="203200" rIns="2032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三个度量筛规则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支持度看共现频率，置信度看条件概率，提升度判断是否真正正相关。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97280"/>
            <a:ext cx="3505200" cy="17830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solidFill>
              <a:srgbClr val="333399"/>
            </a:solidFill>
            <a:round/>
          </a:ln>
        </p:spPr>
        <p:txBody>
          <a:bodyPr xmlns:a="http://schemas.openxmlformats.org/drawingml/2006/main" vert="horz" wrap="square" lIns="228600" tIns="203200" rIns="2032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两步算法找频繁项集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Apriori 逐层生成候选 Ck，用先验性质剪枝，留下频繁项集 Lk，再生成规则。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097280"/>
            <a:ext cx="3505200" cy="17830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E9EB"/>
          </a:solidFill>
          <a:ln xmlns:a="http://schemas.openxmlformats.org/drawingml/2006/main" w="12700" cap="flat" cmpd="sng">
            <a:solidFill>
              <a:srgbClr val="A50021"/>
            </a:solidFill>
            <a:round/>
          </a:ln>
        </p:spPr>
        <p:txBody>
          <a:bodyPr xmlns:a="http://schemas.openxmlformats.org/drawingml/2006/main" vert="horz" wrap="square" lIns="228600" tIns="203200" rIns="2032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sz="1800" b="1" i="0" u="none" strike="noStrike" spc="0">
                <a:solidFill>
                  <a:srgbClr val="A5002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共现 ≠ 因果</a:t>
            </a:r>
          </a:p>
          <a:p xmlns:a="http://schemas.openxmlformats.org/drawingml/2006/main">
            <a:pPr marL="0" marR="0" algn="l" defTabSz="914400">
              <a:lnSpc>
                <a:spcPct val="133333"/>
              </a:lnSpc>
            </a:pPr>
            <a:r>
              <a:rPr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规则描述的是相关性，不含时间方向；报告必须同时给出阈值。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566160"/>
            <a:ext cx="5308600" cy="2487168"/>
          </a:xfrm>
          <a:prstGeom xmlns:a="http://schemas.openxmlformats.org/drawingml/2006/main" prst="roundRect">
            <a:avLst>
              <a:gd name="adj" fmla="val 3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66CC"/>
            </a:solidFill>
            <a:round/>
          </a:ln>
        </p:spPr>
        <p:txBody>
          <a:bodyPr xmlns:a="http://schemas.openxmlformats.org/drawingml/2006/main" vert="horz" wrap="square" lIns="254000" tIns="203200" rIns="2286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7500"/>
              </a:lnSpc>
            </a:pPr>
            <a:r>
              <a:rPr lang="zh-CN" sz="1800" b="1" i="0" u="none" strike="noStrike" spc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课后任务</a:t>
            </a:r>
          </a:p>
          <a:p xmlns:a="http://schemas.openxmlformats.org/drawingml/2006/main">
            <a:pPr marL="0" marR="0" algn="l" defTabSz="914400">
              <a:lnSpc>
                <a:spcPct val="137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练习二：conf_min=90% 下的强规则；阈值降到 33.3% 后 L₁/L₂/C₃/L₃ 是否改变；Apriori 三局限 + 改进思路。</a:t>
            </a:r>
          </a:p>
          <a:p xmlns:a="http://schemas.openxmlformats.org/drawingml/2006/main">
            <a:pPr marL="0" marR="0" algn="l" defTabSz="914400">
              <a:lnSpc>
                <a:spcPct val="137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练习三（选做）：按季度交易事件定义事务与项，比较口径变化。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566160"/>
            <a:ext cx="5308600" cy="2487168"/>
          </a:xfrm>
          <a:prstGeom xmlns:a="http://schemas.openxmlformats.org/drawingml/2006/main" prst="roundRect">
            <a:avLst>
              <a:gd name="adj" fmla="val 329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 cap="flat" cmpd="sng">
            <a:solidFill>
              <a:srgbClr val="333399"/>
            </a:solidFill>
            <a:round/>
          </a:ln>
        </p:spPr>
        <p:txBody>
          <a:bodyPr xmlns:a="http://schemas.openxmlformats.org/drawingml/2006/main" vert="horz" wrap="square" lIns="254000" tIns="203200" rIns="228600" bIns="17780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37500"/>
              </a:lnSpc>
            </a:pPr>
            <a:r>
              <a:rPr lang="zh-CN" sz="1800" b="1" i="0" u="none" strike="noStrike" spc="0">
                <a:solidFill>
                  <a:srgbClr val="333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下次课预告：FP-Growth</a:t>
            </a:r>
          </a:p>
          <a:p xmlns:a="http://schemas.openxmlformats.org/drawingml/2006/main">
            <a:pPr marL="0" marR="0" algn="l" defTabSz="914400">
              <a:lnSpc>
                <a:spcPct val="137500"/>
              </a:lnSpc>
            </a:pPr>
            <a:r>
              <a:rPr lang="zh-CN" sz="1800" b="0" i="0" u="none" strike="noStrike" spc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Apriori 反复扫描数据库、候选集爆炸；FP-Growth 压缩成 FP-Tree，只扫两次数据库，递归挖掘频繁项集。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10872216" cy="530352"/>
          </a:xfrm>
          <a:prstGeom xmlns:a="http://schemas.openxmlformats.org/drawingml/2006/main" prst="roundRect">
            <a:avLst>
              <a:gd name="adj" fmla="val 289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228600" tIns="128016" rIns="356616" bIns="109728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25000"/>
              </a:lnSpc>
            </a:pPr>
            <a:r>
              <a:rPr sz="1800" b="1" i="0" u="none" strike="noStrike" spc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r>
              <a:rPr sz="1800" b="1" i="0" u="none" strike="noStrike" spc="0">
                <a:solidFill>
                  <a:srgbClr val="008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1800" b="1" i="0" u="none" strike="noStrike" spc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参数与落地决定能不能用：</a:t>
            </a:r>
            <a:r>
              <a:rPr sz="1800" b="0" i="0" u="none" strike="noStrike" spc="0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阈值反推、提升度过滤、随机对照验证；置信度不等于转化率。</a:t>
            </a:r>
          </a:p>
        </p:txBody>
      </p:sp>
    </p:spTree>
  </p:cSld>
  <p:clrMapOvr>
    <a:masterClrMapping xmlns:a="http://schemas.openxmlformats.org/drawingml/2006/main"/>
  </p:clrMapOvr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646113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50021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3" y="996950"/>
            <a:ext cx="11488737" cy="26193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ctr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R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4" name="Picture 3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1000">
                <a:srgbClr val="FFFFFF"/>
              </a:gs>
              <a:gs pos="77000">
                <a:srgbClr val="FFFFFF">
                  <a:alpha val="54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91440" tIns="45720" rIns="91440" bIns="45720" rtlCol="0" anchor="ctr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R="0" algn="ctr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216" y="2622965"/>
            <a:ext cx="3195105" cy="110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t">
            <a:noAutofit/>
          </a:bodyPr>
          <a:lstStyle xmlns:a="http://schemas.openxmlformats.org/drawingml/2006/main">
            <a:lvl1pPr algn="l" defTabSz="914400"/>
          </a:lstStyle>
          <a:p xmlns:a="http://schemas.openxmlformats.org/drawingml/2006/main">
            <a:pPr marL="0" marR="0" algn="l" defTabSz="914400">
              <a:lnSpc>
                <a:spcPct val="100000"/>
              </a:lnSpc>
            </a:pPr>
            <a:r>
              <a:rPr lang="zh-CN" sz="6600" b="1" i="0" u="none" strike="noStrike" spc="0">
                <a:solidFill>
                  <a:srgbClr val="4B64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谢</a:t>
            </a:r>
            <a:r>
              <a:rPr lang="en-US" sz="6600" b="1" i="0" u="none" strike="noStrike" spc="0">
                <a:solidFill>
                  <a:srgbClr val="4B649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CN" sz="6600" b="1" i="0" u="none" strike="noStrike" spc="0">
                <a:solidFill>
                  <a:srgbClr val="4B64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谢！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62400"/>
            <a:ext cx="609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none" lIns="91440" tIns="45720" rIns="91440" bIns="45720" rtlCol="0" anchor="t">
            <a:noAutofit/>
          </a:bodyPr>
          <a:lstStyle xmlns:a="http://schemas.openxmlformats.org/drawingml/2006/main">
            <a:lvl1pPr algn="ctr" defTabSz="914400"/>
          </a:lstStyle>
          <a:p xmlns:a="http://schemas.openxmlformats.org/drawingml/2006/main">
            <a:pPr marL="0" marR="0" algn="ctr" defTabSz="914400">
              <a:lnSpc>
                <a:spcPct val="100000"/>
              </a:lnSpc>
            </a:pPr>
            <a:r>
              <a:rPr lang="zh-CN" sz="1800" b="0" i="0" u="none" strike="noStrike" spc="0">
                <a:solidFill>
                  <a:srgbClr val="4B64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大数据金融 · 第 01 次课：关联规则与 Apriori</a:t>
            </a:r>
          </a:p>
        </p:txBody>
      </p:sp>
    </p:spTree>
  </p:cSld>
  <p:clrMapOvr>
    <a:masterClrMapping xmlns:a="http://schemas.openxmlformats.org/drawingml/2006/main"/>
  </p:clrMapOvr>
</p:sld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默认设计模板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33</Slides>
  <Notes>0</Notes>
  <HiddenSlides>0</HiddenSlides>
  <ScaleCrop>false</ScaleCrop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